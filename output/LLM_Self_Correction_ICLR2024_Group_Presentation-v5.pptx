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(CoT)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(GPT-3.5)</c:v>
                  </c:pt>
                  <c:pt idx="1">
                    <c:v>CSQA (GPT-3.5)</c:v>
                  </c:pt>
                  <c:pt idx="2">
                    <c:v>Hotpot (GPT-3.5)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</c:v>
                </c:pt>
                <c:pt idx="1">
                  <c:v>72.5</c:v>
                </c:pt>
                <c:pt idx="2">
                  <c:v>29</c:v>
                </c:pt>
                <c:pt idx="3">
                  <c:v>92</c:v>
                </c:pt>
                <c:pt idx="4">
                  <c:v>78.5</c:v>
                </c:pt>
                <c:pt idx="5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Self-Correct R1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(GPT-3.5)</c:v>
                  </c:pt>
                  <c:pt idx="1">
                    <c:v>CSQA (GPT-3.5)</c:v>
                  </c:pt>
                  <c:pt idx="2">
                    <c:v>Hotpot (GPT-3.5)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75.2</c:v>
                </c:pt>
                <c:pt idx="1">
                  <c:v>63.5</c:v>
                </c:pt>
                <c:pt idx="2">
                  <c:v>26</c:v>
                </c:pt>
                <c:pt idx="3">
                  <c:v>88.5</c:v>
                </c:pt>
                <c:pt idx="4">
                  <c:v>72.5</c:v>
                </c:pt>
                <c:pt idx="5">
                  <c:v>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Self-Correct R2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(GPT-3.5)</c:v>
                  </c:pt>
                  <c:pt idx="1">
                    <c:v>CSQA (GPT-3.5)</c:v>
                  </c:pt>
                  <c:pt idx="2">
                    <c:v>Hotpot (GPT-3.5)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72.6</c:v>
                </c:pt>
                <c:pt idx="1">
                  <c:v>55.3</c:v>
                </c:pt>
                <c:pt idx="2">
                  <c:v>25</c:v>
                </c:pt>
                <c:pt idx="3">
                  <c:v>88</c:v>
                </c:pt>
                <c:pt idx="4">
                  <c:v>72</c:v>
                </c:pt>
                <c:pt idx="5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Answer Transitions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bubble3D val="0"/>
            <c:spPr>
              <a:solidFill>
                <a:srgbClr val="166534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Unchanged (74.7%)</c:v>
                </c:pt>
                <c:pt idx="1">
                  <c:v>Flipped to Wrong (8.9%)</c:v>
                </c:pt>
                <c:pt idx="2">
                  <c:v>Fixed Error (7.6%)</c:v>
                </c:pt>
                <c:pt idx="3">
                  <c:v>Remained Wrong (8.8%)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74.7</c:v>
                </c:pt>
                <c:pt idx="1">
                  <c:v>8.9</c:v>
                </c:pt>
                <c:pt idx="2">
                  <c:v>7.6</c:v>
                </c:pt>
                <c:pt idx="3">
                  <c:v>8.8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the paper 'Large Language Models Cannot Self-Correct Reasoning Yet' (ICLR 2024) by Google DeepMind and UIUC researchers, and introduce the six group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overview: Walk the audience through the 6 core sections. Explain how the presentation moves logically from foundational concepts to empirical results, deep-dive analysis, and constructive future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Nafis Islam Kabbo. Introduce LLMs and Chain-of-Thought prompting. Explain how intermediate reasoning steps allow models to solve math, but early errors cascade through the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Nafis Islam Kabbo. Explain the standard self-correction refinement loop. Discuss why the AI research community hoped models could self-refine.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Nafis Islam Kabbo. Frame the core research paradox. Clearly separate intrinsic self-correction from external tool-assisted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2: Srijon. Review the four major self-correction frameworks in recent literature: RCI, Reflexion, Self-Refine, and Multi-Agent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2: Srijon. Contrast intrinsic self-correction against external tool feedback. Explain that tools provide genuine ground-truth signals, while internal reflection cannot escape the model's knowledge bounds.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2: Srijon. Walk through Table 1. Explain how oracle labels, unequal compute, and incomplete prompt templates created an illusion of self-correction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3: Anindo. Detail the evaluation datasets (GSM8K, CSQA, HotpotQA). Explain why these three benchmarks represent distinct reasoning challenges.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3: Anindo. Explain the models and experimental controls. Note that both proprietary and open-weight models were evaluated under strict, standardized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3: Anindo. Walk through the prompting protocols. Explain how oracle labels act as an external cheat code, whereas intrinsic self-correction forces the model to judge itself blindly.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4: Mahid. State the core finding: unguided intrinsic self-correction causes performance degradation across all tasks and model architectures.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4: Mahid. Walk through the native bar chart. Point out that every metric declines from standard CoT (dark bar) to Round 1 (amber) to Round 2 (crimson).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4: Mahid. Highlight the column chart. Emphasize that while GPT-4-Turbo experiences modest drops, Llama-2-70B collapses by nearly half when asked to self-correct.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4: Mahid. Explain Figure 1. Point out the doughnut chart: 8.9% of answers flip from correct to incorrect, while only 7.6% flip from incorrect to correct, causing a net negative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5: Jebon. Analyze Table 7. Explain that Multi-Agent Debate adds token overhead and latency, but achieves no advantage over simple majority voting (Self-Consistency) at matched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5: Jebon. Explain the prompt design trap. Show how weak initial prompts artificially deflate initial scores, making subsequent prompt additions look like self-correction.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5: Jebon. Walk through this real GSM8K math example. Point out how the model solved it correctly in Round 1 ($75), but gaslit itself into giving an erroneous answer ($150) in Round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5: Jebon. Synthesize the theoretical barriers: shared weights, prompt compliance bias, and lack of external grounding.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6: Refayet. Summarize the paper's three main takeaways clearly and decisively.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6: Refayet. Detail the study's boundaries and limitations transparently.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6: Refayet. Present constructive future directions: tool augmentation, trained verifiers, RL test-time search, and rigorous evaluation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References: Comprehensive table listing all seven foundational and comparative studies in IEEE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presentation. Thank the audience, invite questions, and use the three prompt cards to initiate a lively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FDF2F4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2024 CONFERENCE PAPER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</a:t>
            </a:r>
            <a:endParaRPr lang="en-US" sz="3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Cannot Self-Correct Reasoning Yet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 Huang (UIUC), Xinyun Chen, Swaroop Mishra, Huaixiu Steven Zheng, Adams Wei Yu, Xinying Song, Denny Zhou (Google DeepMind)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8046720" cy="1554480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10896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 | Student Presenters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474720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474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Nafis Islam Kabbo (2303180)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3474720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3474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Srijon (2303179)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3474720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7608" y="3474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Anindo (2303181)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913632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9136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Mahid (2303127)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3913632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39136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Jebon (2303160)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3913632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39136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Refayet (2303148)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01/24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narrative structure and argument flow across six sections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329184" cy="329184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344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81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→ Research Problem → Research Question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foundations, autonomous refinement premise, and the central self-correction paradox.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371600"/>
            <a:ext cx="329184" cy="329184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1344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Background &amp; Related 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581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→ Self-Correction → Previous Findings → Research Gap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57800" y="1783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of RCI, Reflexion, Self-Refine, and isolating intrinsic vs oracle-guided feedback.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395728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532888"/>
            <a:ext cx="329184" cy="329184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5054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743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→ Tasks → Experimental Setup → Evaluation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7280" y="2944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GSM8K, CSQA, and HotpotQA benchmarks across GPT-3.5, GPT-4, GPT-4-Turbo, and Llama-2-70B.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395728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532888"/>
            <a:ext cx="329184" cy="329184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25054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2743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Finding: Intrinsic Self-Correction Fails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57800" y="2944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proof: Accuracy consistently declines across all reasoning tasks without oracle feedback.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557016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3694176"/>
            <a:ext cx="329184" cy="329184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36667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39044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Self-Correction Fail? → Error Persistence → Possible Causes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97280" y="41056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Debate compute parity, the prompt design trap, and why verification limits generation.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557016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694176"/>
            <a:ext cx="329184" cy="329184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36667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57800" y="39044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→ Limitations → Future Directions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57800" y="41056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claims, boundaries of study, external tool integration, and fair benchmarking standards.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 &amp; Reasoning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Rapid advancement in multi-step reasoning capabilities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Autoregressive LLMs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Model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predict text token by token. They excel at fluent language generation, coding, and multi-step derivations.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2344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41732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862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Chain-of-Thought (CoT)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20440" y="182880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Scaffold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20440" y="21488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intermediate reasoning steps unlocks math and logic problem solving across complex benchmarks.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41732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Compounding Error Risk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182880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Vulnerability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9360" y="21488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generation is sequential, a single early arithmetic or logic mistake corrupts every subsequent step.</a:t>
            </a:r>
            <a:endParaRPr lang="en-US" sz="1050" dirty="0"/>
          </a:p>
        </p:txBody>
      </p:sp>
      <p:pic>
        <p:nvPicPr>
          <p:cNvPr id="26" name="Image 0" descr="/Users/nafiskabbo/development/presentation/output/assets/thinking_cycl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0"/>
            <a:ext cx="914400" cy="82296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1645920" y="370332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DF2F4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28800" y="3794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Problem: Once an LLM makes an erroneous intermediate step, it cannot inherently detect that the chain has broken without external verification.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Concept of Self-Correction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Problem: Can models autonomously detect and repair reasoning flaws in post-processing?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274320" cy="27432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Initial Draft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receives question and generates a draft reasoning chain and answer.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371600"/>
            <a:ext cx="274320" cy="27432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Self-Critique Prompt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model: 'Review your answer, identify any errors, and explain them.'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371600"/>
            <a:ext cx="274320" cy="27432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Refined Revision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modifies its reasoning to output an updated final answer.</a:t>
            </a:r>
            <a:endParaRPr lang="en-US" sz="1050" dirty="0"/>
          </a:p>
        </p:txBody>
      </p:sp>
      <p:pic>
        <p:nvPicPr>
          <p:cNvPr id="20" name="Image 0" descr="/Users/nafiskabbo/development/presentation/output/assets/loop_animat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63240"/>
            <a:ext cx="1463040" cy="13716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194560" y="3063240"/>
            <a:ext cx="6400800" cy="1371600"/>
          </a:xfrm>
          <a:prstGeom prst="roundRect">
            <a:avLst>
              <a:gd name="adj" fmla="val 533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23160" y="32004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High Promise vs. Practical Reality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423160" y="34747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Theoretical Promise: If models can self-correct, autonomous systems can fix errors without human supervision.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Central Question: Does an LLM have the intrinsic ability to recognize its own errors without an external verifier?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Central Research Question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Self-Correction Paradox: Can an LLM fix its reasoning without external signals?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DF2F4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RESEARCH PARADOX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57276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"If an LLM has the intrinsic knowledge and reasoning capability to correct a mistake, why didn't it produce the correct answer in the first attempt?"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(Paper Focus)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relies strictly on its internal frozen weights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external feedback: No oracle labels, humans, or tool outputs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Question: Can the model reliably improve accuracy on its own?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560320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697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External Feedback (Tool / Oracle)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301752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receives outside verification (e.g. Python REPL execution)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Ground truth labels or test results guide the correction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Practical in production, but NOT intrinsic self-correction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Self-Correction Frameworks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Findings: Key paradigms in literature claiming self-correction success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RCI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88920" y="137160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371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Critique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6733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(NeurIPS 2023)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Criticism and Improvement. The model critiques its output, then revises based on its own critique.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Reflexion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40" y="137160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371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Memory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92040" y="16733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 (NeurIPS 2023)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920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verbal reflections in memory across attempts to guide subsequent trial iterations.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Self-Refine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88920" y="306324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3063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33649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 et al. (NeurIPS 2023)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framework where an LLM generates structured feedback on its output and refines iteratively.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Debate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49440" y="306324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3063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Consensus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33649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 (2023)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6118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LLM instances propose solutions, critique peers, and debate across rounds to reach consensus.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vs. External Feedback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Isolating internal model capabilities from external supervision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86200" cy="3200400"/>
          </a:xfrm>
          <a:prstGeom prst="roundRect">
            <a:avLst>
              <a:gd name="adj" fmla="val 2857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(Paper Focus)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3429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5623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Self-Critique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0756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evaluates its own response using only its internal frozen parameters.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2651760"/>
            <a:ext cx="3429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2491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Signal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9443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ground-truth labels, code execution, or human annotations.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520440"/>
            <a:ext cx="3429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9359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8130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consistently on reasoning tasks across GPT-3.5, GPT-4, and Llama-2.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3886200" cy="3200400"/>
          </a:xfrm>
          <a:prstGeom prst="roundRect">
            <a:avLst>
              <a:gd name="adj" fmla="val 2857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External / Tool-Assisted Feedback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783080"/>
            <a:ext cx="3429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85623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Ground Truth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0756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verifier tells the model whether its answer is correct or incorrect.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651760"/>
            <a:ext cx="3429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72491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Tools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29443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REPL, calculators, or unit test runners provide exact feedback.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520440"/>
            <a:ext cx="3429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59359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8130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effective in practice because outside feedback provides new information.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Flaws in Prior Evaluations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Analysis: Summary of evaluation confounders identified by Huang et al. (Table 1)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365760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Method</a:t>
                      </a:r>
                      <a:endParaRPr lang="en-US" sz="1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Identified Flaw</a:t>
                      </a:r>
                      <a:endParaRPr lang="en-US" sz="1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Mechanism of Distortion</a:t>
                      </a:r>
                      <a:endParaRPr lang="en-US" sz="1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Paper Ref.</a:t>
                      </a:r>
                      <a:endParaRPr lang="en-US" sz="1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(Kim et al., 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Label Leakage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only corrects when told its answer is wrong, acting as an oracle filter.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(Shinn et al., 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Label Leakage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Reflections trigger exclusively upon receiving environment failure signals.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Debate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(Du et al., 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Unfair Inference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multi-agent debate against single-shot baselines rather than equal-compute sampling.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Self-Refine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(Madaan et al., 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Initial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prompt omitted task constraints that were only added in the feedback prompt.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6908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069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When these methodological confounders are eliminated, reported gains disappear.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Evaluation Reasoning Benchmarks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Standard reasoning datasets spanning mathematics, commonsense logic, and multi-hop QA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1,319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Problems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GSM8K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31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School Math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2–8 steps of arithmetic reasoning. Tests tracking state and logical constraints.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3075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reported +7% with oracle labels.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23444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1,221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1783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CommonSenseQA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11880" y="2331720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331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Commonsense Logic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606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5-choice questions requiring real-world reasoning with subtle semantic distractors.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3703320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73075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reported +15% with oracle guidance.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23444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26480" y="1783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Samples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HotpotQA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0" y="2331720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331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Synthesis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2606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multi-hop questions requiring combining facts across Wikipedia sources (Exact Match).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3703320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FDF2F4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73075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 reported gains via reflection.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 &amp; Experimental Controls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Setup: Rigorous evaluation across leading proprietary and open-weight LLMs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86200" cy="320040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Evaluated Models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43000" y="19385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gpt-3.5-turbo-0613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21214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evaluations on GSM8K (1,319) and CSQA (1,221).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2423160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3000" y="25786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2023/08/29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27614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proprietary model evaluated on standard benchmark splits.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3063240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3017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GPT-4-Turbo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3000" y="32186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gpt-4-1106-preview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34015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frontier model with enhanced reasoning capabilities.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703320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Llama-2-70B-Chat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3000" y="38587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baseline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" y="40416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open foundation model evaluated with greedy &amp; sampling.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1234440"/>
            <a:ext cx="3886200" cy="320040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Experimental Controls &amp; Rigor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1792224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17373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Prompting: 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20640" y="1920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and few-shot Chain-of-Thought (CoT) baselines to elicit step-by-step reasoning.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37760" y="2304288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22494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Controls: 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20640" y="243230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1.0 for GPT models (standard exploration) and 0.7 for Llama-2-70B.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37760" y="2816352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7614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Horizon: 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20640" y="29443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to a maximum of 2 sequential rounds of self-correction per question.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37760" y="3328416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0" y="32735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Feedback Prompts: 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20640" y="34564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self-correction prompts: 'Review your previous answer and find reasons why your answer could be wrong...'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37760" y="38404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37856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Regimes: 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20640" y="39684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comparison: Intrinsic self-correction vs. Oracle-guided filtering.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Prompting Procedures &amp; Protocols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Contrasting the step-by-step workflow of oracle vs intrinsic correction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Initial Generation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draft reasoning chain and answer.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23160" y="1645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06040" y="12344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Self-Critique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16642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prompt asks model to critique its logic.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0" y="1645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Revised Output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6642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a revised reasoning path.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37960" y="1645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20840" y="12344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Iteration (R2)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16642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repeats for up to 2 rounds.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260604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2743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Oracle Feedback (Prior Flawed Setup)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7240" y="301752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verifier checks answer correctness after Step 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is told WHEN its answer is wrong → triggers Step 2.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answers are never touched → Performance artificially inflates.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60604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743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(Realistic Setup)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37760" y="301752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external signals provided. Model must judge its own answer.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blindly critiques itself across all problems.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changes correct answers to incorrect ones → Performance drops.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Fails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Finding: Empirical proof that intrinsic self-correction degrades reasoning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DF2F4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EMPIRICAL FINDING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Across all tested benchmarks and models, intrinsic self-correction does NOT improve reasoning accuracy. Performance consistently declines after self-correction.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6032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Universal Degradation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26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Affected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testing GPT-3.5, GPT-4, GPT-4-Turbo, or Llama-2-70B, accuracy drops after Round 1 and drops further after Round 2.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242316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256032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62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Task-Agnostic Failure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0440" y="292608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926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Logic &amp; QA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20440" y="3200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occur across math word problems (GSM8K), commonsense multiple-choice (CSQA), and open-domain QA (HotpotQA).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42316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56032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Oracle Illusion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292608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926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Artifacts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3200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only improves when external oracle labels guide when to correct, proving prior gains were evaluation artifacts.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GPT-3.5 &amp; GPT-4 Benchmark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Results: Accuracy across rounds of intrinsic self-correction (Table 3)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34440"/>
            <a:ext cx="3017520" cy="3200400"/>
          </a:xfrm>
          <a:prstGeom prst="roundRect">
            <a:avLst>
              <a:gd name="adj" fmla="val 303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Benchmark Drops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73736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8105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on CSQA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97880" y="18105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-17.2% Drop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97880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Plummets from 72.5% to 55.3% by Round 2.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578608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on HotpotQA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97880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-11.0% Drop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97880" y="28712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from 53.0% to 42.0% after correction.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3419856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4930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on GSM8K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97880" y="34930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-4.0% Drop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897880" y="37124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from 92.0% to 88.0% after two rounds.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GPT-4-Turbo &amp; Llama-2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Generalizability: Extending evaluation confirms failure across open and proprietary LLMs (Table 4)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34440"/>
            <a:ext cx="3017520" cy="3200400"/>
          </a:xfrm>
          <a:prstGeom prst="roundRect">
            <a:avLst>
              <a:gd name="adj" fmla="val 3030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Llama-2 Severe Degradation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3736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Llama-2-70B Accuracy Halved: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GSM8K: 62.0% → 36.5% (-25.5%)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CSQA: 64.0% → 36.5% (-27.5%)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exhibit high compliance vulnerability, changing valid answers when challenged.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Transition Dynamics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Persistence: Why accuracy drops — net negative answer flipping (Figure 1)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4389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234440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8F9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9240" y="132588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74.7%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0" y="1344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0" y="1581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maintained initial output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212080" y="2039112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13055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8.9%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09360" y="2148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→ Incorrect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2386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 to wrong answer (Harmful)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12080" y="2843784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293522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7.6%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2953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→ Correct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3191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repaired (Beneficial)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12080" y="3648456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DF2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9240" y="373989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-1.3%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09360" y="37581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3995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flips exceed beneficial fixes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Debate vs. Self-Consistency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Self-Correction Fail?: Equal-compute comparison with simple majority voting (Table 7)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34440"/>
            <a:ext cx="3017520" cy="3200400"/>
          </a:xfrm>
          <a:prstGeom prst="roundRect">
            <a:avLst>
              <a:gd name="adj" fmla="val 303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Compute Parity Analysis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3736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Flawed Debate Claim: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claimed Multi-Agent Debate improved reasoning by comparing it to single-shot baselines.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Equal-Cost Reality: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allocating the same number of sampled responses to Self-Consistency (majority voting), simple sampling matches or beats multi-agent debate with zero communication overhead.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Prompt Design Trap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Causes: Misleading evaluation gains from asymmetric prompt information (Table 8)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86200" cy="2377440"/>
          </a:xfrm>
          <a:prstGeom prst="roundRect">
            <a:avLst>
              <a:gd name="adj" fmla="val 3846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Flawed Evaluation (Self-Refine Setup)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Weak Initial Prompt: Omits required constraints (e.g. 'Use all target concept words in sentence').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Feedback Prompt: Re-injects missing rule ('You forgot word X. Add it now!').</a:t>
            </a:r>
            <a:endParaRPr lang="en-US" sz="1000" dirty="0"/>
          </a:p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Output Improves → Authors claimed 'Self-Correction works!'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886200" cy="2377440"/>
          </a:xfrm>
          <a:prstGeom prst="roundRect">
            <a:avLst>
              <a:gd name="adj" fmla="val 3846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716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 Evaluation (Complete Initial Prompt)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Complete Initial Prompt: Includes all target word rules up-front in the initial prompt.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 generates strong initial output immediately.</a:t>
            </a:r>
            <a:endParaRPr lang="en-US" sz="10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Intrinsic Self-Correction applied → Performance DROPS.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221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CONSTRAINED GENERATION (TABLE 8)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initial prompt is well-specified, standard single-shot prompting outperforms iterative self-refinement loops. The 'gains' were prompt artifacts, not reflection.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Study: The Gaslighting Effect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Persistence: Concrete breakdown of how self-critique corrupts sound reasoning (Figure 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 Math Problem: Terry eats 2 yogurts a day. A pack of 4 yogurts costs $5. How much does Terry spend on yogurt in 30 days?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886200" cy="1783080"/>
          </a:xfrm>
          <a:prstGeom prst="roundRect">
            <a:avLst>
              <a:gd name="adj" fmla="val 4103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7627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Round 1: Initial Output (CORRECT)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 days × 2 yogurts/day = 60 yogurts needed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 / 4 yogurts per pack = 15 packs of yogurt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 packs × $5 = $75 total cost</a:t>
            </a:r>
            <a:endParaRPr lang="en-US" sz="10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Final Answer: $75 (CORRECT)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2057400"/>
            <a:ext cx="3886200" cy="1783080"/>
          </a:xfrm>
          <a:prstGeom prst="roundRect">
            <a:avLst>
              <a:gd name="adj" fmla="val 4103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17627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Round 2: After Self-Correction (INCORRECT)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450592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receives: 'Review your answer and find flaws'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doubts valid logic and hallucinates: '4 yogurts last 2 days...'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Overcomplicates and calculates: $150</a:t>
            </a:r>
            <a:endParaRPr lang="en-US" sz="1000" dirty="0"/>
          </a:p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Final Answer: $150 (INCORRECT)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DF2F4"/>
          </a:solidFill>
          <a:ln w="9525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776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Critique prompts induce unwarranted self-doubt, turning correct answers into errors.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Verification Barrier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Mechanism: Why intrinsic verification is as hard as initial generation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Shared Parameter Bounds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Parity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and generator share the exact same weights. If a model cannot generate the correct step initially, it lacks the knowledge to verify that step.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23444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417320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Compliance Prompt Bias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20440" y="2377440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27432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Instruction-tuned models aim to please the prompt. Asking 'find flaws' biases the model to invent errors even when reasoning is sound.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417320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Lack of Grounding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2377440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 Truth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27432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external execution (e.g. Python) or oracle signals, the model cannot distinguish between valid corrections and hallucinations.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Core conclusions established by Huang et al. (ICLR 2024)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896112"/>
          </a:xfrm>
          <a:prstGeom prst="roundRect">
            <a:avLst>
              <a:gd name="adj" fmla="val 81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63040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Fails for Reasoning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6459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external feedback, LLMs cannot reliably correct their reasoning mistakes. Performance consistently declines across models and benchmarks.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046720" cy="896112"/>
          </a:xfrm>
          <a:prstGeom prst="roundRect">
            <a:avLst>
              <a:gd name="adj" fmla="val 81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14600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42316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Reported Gains Were Evaluation Artifacts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697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claims relied on oracle label leakage (knowing when to stop), unfair compute baselines, or incomplete initial prompt templates.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8046720" cy="896112"/>
          </a:xfrm>
          <a:prstGeom prst="roundRect">
            <a:avLst>
              <a:gd name="adj" fmla="val 816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66160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4747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External Feedback is Required for Reliable Refinement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749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succeeds when paired with external grounding signals, including code execution environments, calculators, unit tests, and human review.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Study Limitations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Boundaries: Contextualizing the empirical boundaries of this research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86200" cy="320040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Scope 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37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Reasoning-Specific Focus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math and logic benchmarks. Does not evaluate creative writing, translation, or style editing.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Prompting-Only Paradigm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761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frozen, off-the-shelf models. Does not evaluate models specifically fine-tuned for self-correction.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Snapshot Models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GPT-3.5, GPT-4, and Llama-2. Newer reasoning models (e.g. OpenAI o1/o3) warrant further investigation.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3886200" cy="320040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Methodological Boundaries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7830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737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HotpotQA Sample Size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938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HotpotQA evaluation used 100 samples due to API cost constraints, limiting statistical resolution on multi-hop QA.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60604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761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multiple feedback prompt templates were tested, prompt variations cannot be completely exhausted.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4290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Constraints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in closed-book mode without retrieval-augmented generation (RAG) knowledge lookups.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Directions &amp; Fair Standards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Constructive pathways forward and recommendations for fair evaluation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Tool-Augmented Verification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88920" y="137160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371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Execution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Python interpreters, symbolic solvers, and SQL execution engines to verify calculations externally.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Learned Verifiers &amp; PRMs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949440" y="137160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371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Discriminators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separate discriminator models (Process Reward Models) to verify step-by-step reasoning quality.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Training-Time Self-Correction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788920" y="306324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063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&amp; Search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3429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 with Reinforcement Learning and search (e.g. MCTS / test-time compute) rather than prompt loops.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 Evaluation Standards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49440" y="306324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063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Best Practices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3429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equal inference-cost baselines (Self-Consistency) and eliminate oracle label leakage in benchmarks.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literature and baseline studies cited in this presentation (IEEE Format)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2286000"/>
                <a:gridCol w="2377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#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Paper Title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Authors &amp; Venue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Relevance to this Study</a:t>
                      </a:r>
                      <a:endParaRPr lang="en-US" sz="105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Language Models Cannot Self-Correct Reasoning Yet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Huang, X. Chen, S. Mishra, et al. (ICLR 2024)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source paper investigated in this presentation.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Models Can Solve Computer Tasks (RCI)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 Kim, P. Baldi, S. McAleer (NeurIPS 2023)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RCI self-correction framework baseline with oracle labels.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Reflexion: Language Agents with Verbal Reinforcement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 Shinn, F. Cassano, A. Gopinath, et al. (NeurIPS 2023)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 memory baseline relying on environment signals.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Self-Refine: Iterative Refinement with Self-Feedback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Madaan, N. Tandon, P. Gupta, et al. (NeurIPS 2023)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feedback loop investigated for prompt artifacts.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 Factuality &amp; Reasoning via Multiagent Debate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Y. Du, S. Li, A. Torralba, et al. (arXiv 2023)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debate baseline evaluated at equal compute.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Self-Consistency Improves Chain of Thought Reasoning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 Wang, J. Wei, D. Schuurmans, et al. (ICLR 2023)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voting baseline used for equal-compute parity.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Verifiers to Solve Math Word Problems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Cobbe, V. Kosaraju, M. Bavarian, et al. (arXiv 2021)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GSM8K dataset creation and learned verifier foundation.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&amp; QUESTIONS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Open Discussion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DF2F4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 for your time and attention.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welcome questions, comments, and perspectives from the professor and audience.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23160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Test-Time Compute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newer reasoning models (e.g. OpenAI o1/o3, Gemini 2.0 Thinking) with reinforcement learning search overcome this verification barrier?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22402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423160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 Integration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834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most practical engineering patterns for pairing LLMs with deterministic execution sandboxes (e.g. Python REPL)?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22402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423160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Verification Limits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AI agent ever reliably verify its own logic without outside grounding signals, or is external verification fundamentally mandatory?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Language Models Cannot Self-Correct Reasoning Yet</dc:title>
  <dc:subject>PptxGenJS Presentation</dc:subject>
  <dc:creator>Group Presentation</dc:creator>
  <cp:lastModifiedBy>Group Presentation</cp:lastModifiedBy>
  <cp:revision>1</cp:revision>
  <dcterms:created xsi:type="dcterms:W3CDTF">2026-08-27T20:22:31Z</dcterms:created>
  <dcterms:modified xsi:type="dcterms:W3CDTF">2026-08-27T20:22:31Z</dcterms:modified>
</cp:coreProperties>
</file>