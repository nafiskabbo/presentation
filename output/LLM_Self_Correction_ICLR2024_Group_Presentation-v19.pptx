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self-correction fails, we first need to look at what a Large Language Model actually is. As shown on the left, three properties define an LLM. First, generation is autoregressive and sequential, one token at a time. Second, during inference the billions of neural weights are completely frozen, with no external ground truth. Third, multi-step reasoning is fragile, any small mistake in early steps gets baked into the context. On the right, the architecture diagram visualizes this pipeline. A prompt is tokenized, passes through layers of multi-head self-attention and feed-forward networks, and produces a probability distribution over the vocabulary to sample the next token. Because the weights are frozen and no internal oracle exists, asking the model to check its own reasoning cannot magically create new verification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8046720" cy="182880"/>
          </a:xfrm>
          <a:prstGeom prst="rect">
            <a:avLst/>
          </a:prstGeom>
          <a:noFill/>
          <a:ln/>
        </p:spPr>
        <p:txBody>
          <a:bodyPr wrap="square" lIns="0" tIns="0" rIns="0" bIns="0" rtlCol="0" anchor="ctr"/>
          <a:lstStyle/>
          <a:p>
            <a:pPr indent="0" marL="0">
              <a:buNone/>
            </a:pPr>
            <a:r>
              <a:rPr lang="en-US" sz="850" b="1" spc="120" kern="0" dirty="0">
                <a:solidFill>
                  <a:srgbClr val="800020"/>
                </a:solidFill>
                <a:latin typeface="Calibri" pitchFamily="34" charset="0"/>
                <a:ea typeface="Calibri" pitchFamily="34" charset="-122"/>
                <a:cs typeface="Calibri" pitchFamily="34" charset="-120"/>
              </a:rPr>
              <a:t>1. INTRODUCTION &amp; FOUNDATIONS</a:t>
            </a:r>
            <a:endParaRPr lang="en-US" sz="850" dirty="0"/>
          </a:p>
        </p:txBody>
      </p:sp>
      <p:sp>
        <p:nvSpPr>
          <p:cNvPr id="3" name="Text 1"/>
          <p:cNvSpPr/>
          <p:nvPr/>
        </p:nvSpPr>
        <p:spPr>
          <a:xfrm>
            <a:off x="548640" y="347472"/>
            <a:ext cx="8046720" cy="292608"/>
          </a:xfrm>
          <a:prstGeom prst="rect">
            <a:avLst/>
          </a:prstGeom>
          <a:noFill/>
          <a:ln/>
        </p:spPr>
        <p:txBody>
          <a:bodyPr wrap="square" lIns="0" tIns="0" rIns="0" bIns="0" rtlCol="0" anchor="ctr"/>
          <a:lstStyle/>
          <a:p>
            <a:pPr indent="0" marL="0">
              <a:buNone/>
            </a:pPr>
            <a:r>
              <a:rPr lang="en-US" sz="1700" b="1" dirty="0">
                <a:solidFill>
                  <a:srgbClr val="0F172A"/>
                </a:solidFill>
                <a:latin typeface="Century Schoolbook" pitchFamily="34" charset="0"/>
                <a:ea typeface="Century Schoolbook" pitchFamily="34" charset="-122"/>
                <a:cs typeface="Century Schoolbook" pitchFamily="34" charset="-120"/>
              </a:rPr>
              <a:t>What is a Large Language Model?</a:t>
            </a:r>
            <a:endParaRPr lang="en-US" sz="1700" dirty="0"/>
          </a:p>
        </p:txBody>
      </p:sp>
      <p:sp>
        <p:nvSpPr>
          <p:cNvPr id="4" name="Text 2"/>
          <p:cNvSpPr/>
          <p:nvPr/>
        </p:nvSpPr>
        <p:spPr>
          <a:xfrm>
            <a:off x="548640" y="640080"/>
            <a:ext cx="8046720" cy="1828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 probabilistic next-token predictor</a:t>
            </a:r>
            <a:endParaRPr lang="en-US" sz="950" dirty="0"/>
          </a:p>
        </p:txBody>
      </p:sp>
      <p:sp>
        <p:nvSpPr>
          <p:cNvPr id="5" name="Shape 3"/>
          <p:cNvSpPr/>
          <p:nvPr/>
        </p:nvSpPr>
        <p:spPr>
          <a:xfrm>
            <a:off x="548640" y="877824"/>
            <a:ext cx="8046720" cy="13716"/>
          </a:xfrm>
          <a:prstGeom prst="rect">
            <a:avLst/>
          </a:prstGeom>
          <a:solidFill>
            <a:srgbClr val="E2E8F0"/>
          </a:solidFill>
          <a:ln/>
        </p:spPr>
      </p:sp>
      <p:sp>
        <p:nvSpPr>
          <p:cNvPr id="6" name="Shape 4"/>
          <p:cNvSpPr/>
          <p:nvPr/>
        </p:nvSpPr>
        <p:spPr>
          <a:xfrm>
            <a:off x="5212080" y="1005840"/>
            <a:ext cx="3383280" cy="3090672"/>
          </a:xfrm>
          <a:prstGeom prst="roundRect">
            <a:avLst>
              <a:gd name="adj" fmla="val 1775"/>
            </a:avLst>
          </a:prstGeom>
          <a:solidFill>
            <a:srgbClr val="FFFFFF"/>
          </a:solidFill>
          <a:ln w="12700">
            <a:solidFill>
              <a:srgbClr val="E2E8F0"/>
            </a:solidFill>
            <a:prstDash val="solid"/>
          </a:ln>
        </p:spPr>
      </p:sp>
      <p:sp>
        <p:nvSpPr>
          <p:cNvPr id="7" name="Shape 5"/>
          <p:cNvSpPr/>
          <p:nvPr/>
        </p:nvSpPr>
        <p:spPr>
          <a:xfrm>
            <a:off x="5321808" y="1097280"/>
            <a:ext cx="2194560" cy="201168"/>
          </a:xfrm>
          <a:prstGeom prst="roundRect">
            <a:avLst>
              <a:gd name="adj" fmla="val 18182"/>
            </a:avLst>
          </a:prstGeom>
          <a:solidFill>
            <a:srgbClr val="FFF1F2"/>
          </a:solidFill>
          <a:ln w="7620">
            <a:solidFill>
              <a:srgbClr val="800020"/>
            </a:solidFill>
            <a:prstDash val="solid"/>
          </a:ln>
        </p:spPr>
      </p:sp>
      <p:sp>
        <p:nvSpPr>
          <p:cNvPr id="8" name="Text 6"/>
          <p:cNvSpPr/>
          <p:nvPr/>
        </p:nvSpPr>
        <p:spPr>
          <a:xfrm>
            <a:off x="5321808" y="1097280"/>
            <a:ext cx="2194560" cy="201168"/>
          </a:xfrm>
          <a:prstGeom prst="rect">
            <a:avLst/>
          </a:prstGeom>
          <a:noFill/>
          <a:ln/>
        </p:spPr>
        <p:txBody>
          <a:bodyPr wrap="square" lIns="0" tIns="0" rIns="0" bIns="0" rtlCol="0" anchor="ctr"/>
          <a:lstStyle/>
          <a:p>
            <a:pPr algn="ctr" indent="0" marL="0">
              <a:buNone/>
            </a:pPr>
            <a:r>
              <a:rPr lang="en-US" sz="700" b="1" dirty="0">
                <a:solidFill>
                  <a:srgbClr val="5C0017"/>
                </a:solidFill>
                <a:latin typeface="Calibri" pitchFamily="34" charset="0"/>
                <a:ea typeface="Calibri" pitchFamily="34" charset="-122"/>
                <a:cs typeface="Calibri" pitchFamily="34" charset="-120"/>
              </a:rPr>
              <a:t>TRANSFORMER PIPELINE</a:t>
            </a:r>
            <a:endParaRPr lang="en-US" sz="700" dirty="0"/>
          </a:p>
        </p:txBody>
      </p:sp>
      <p:pic>
        <p:nvPicPr>
          <p:cNvPr id="9" name="Image 0" descr="/Users/nafiskabbo/development/presentation/output/images/llm_architecture.jpg">    </p:cNvPr>
          <p:cNvPicPr>
            <a:picLocks noChangeAspect="1"/>
          </p:cNvPicPr>
          <p:nvPr/>
        </p:nvPicPr>
        <p:blipFill>
          <a:blip r:embed="rId1"/>
          <a:stretch>
            <a:fillRect/>
          </a:stretch>
        </p:blipFill>
        <p:spPr>
          <a:xfrm>
            <a:off x="5303520" y="1335024"/>
            <a:ext cx="3200400" cy="2377440"/>
          </a:xfrm>
          <a:prstGeom prst="rect">
            <a:avLst/>
          </a:prstGeom>
        </p:spPr>
      </p:pic>
      <p:sp>
        <p:nvSpPr>
          <p:cNvPr id="10" name="Text 7"/>
          <p:cNvSpPr/>
          <p:nvPr/>
        </p:nvSpPr>
        <p:spPr>
          <a:xfrm>
            <a:off x="5303520" y="3767328"/>
            <a:ext cx="3200400" cy="219456"/>
          </a:xfrm>
          <a:prstGeom prst="rect">
            <a:avLst/>
          </a:prstGeom>
          <a:noFill/>
          <a:ln/>
        </p:spPr>
        <p:txBody>
          <a:bodyPr wrap="square" lIns="0" tIns="0" rIns="0" bIns="0" rtlCol="0" anchor="ctr"/>
          <a:lstStyle/>
          <a:p>
            <a:pPr algn="ctr" indent="0" marL="0">
              <a:buNone/>
            </a:pPr>
            <a:r>
              <a:rPr lang="en-US" sz="650" i="1" dirty="0">
                <a:solidFill>
                  <a:srgbClr val="64748B"/>
                </a:solidFill>
                <a:latin typeface="Calibri" pitchFamily="34" charset="0"/>
                <a:ea typeface="Calibri" pitchFamily="34" charset="-122"/>
                <a:cs typeface="Calibri" pitchFamily="34" charset="-120"/>
              </a:rPr>
              <a:t>Prompt -&gt; Tokenization -&gt; Self-Attention -&gt; Softmax -&gt; Next Token</a:t>
            </a:r>
            <a:endParaRPr lang="en-US" sz="650" dirty="0"/>
          </a:p>
        </p:txBody>
      </p:sp>
      <p:sp>
        <p:nvSpPr>
          <p:cNvPr id="11" name="Shape 8"/>
          <p:cNvSpPr/>
          <p:nvPr/>
        </p:nvSpPr>
        <p:spPr>
          <a:xfrm>
            <a:off x="548640" y="1005840"/>
            <a:ext cx="4480560" cy="950976"/>
          </a:xfrm>
          <a:prstGeom prst="roundRect">
            <a:avLst>
              <a:gd name="adj" fmla="val 4808"/>
            </a:avLst>
          </a:prstGeom>
          <a:solidFill>
            <a:srgbClr val="F8FAFC"/>
          </a:solidFill>
          <a:ln w="11430">
            <a:solidFill>
              <a:srgbClr val="800020"/>
            </a:solidFill>
            <a:prstDash val="solid"/>
          </a:ln>
        </p:spPr>
      </p:sp>
      <p:sp>
        <p:nvSpPr>
          <p:cNvPr id="12" name="Shape 9"/>
          <p:cNvSpPr/>
          <p:nvPr/>
        </p:nvSpPr>
        <p:spPr>
          <a:xfrm>
            <a:off x="658368" y="1078992"/>
            <a:ext cx="2103120" cy="182880"/>
          </a:xfrm>
          <a:prstGeom prst="roundRect">
            <a:avLst>
              <a:gd name="adj" fmla="val 15000"/>
            </a:avLst>
          </a:prstGeom>
          <a:solidFill>
            <a:srgbClr val="FFF1F2"/>
          </a:solidFill>
          <a:ln w="6350">
            <a:solidFill>
              <a:srgbClr val="800020"/>
            </a:solidFill>
            <a:prstDash val="solid"/>
          </a:ln>
        </p:spPr>
      </p:sp>
      <p:sp>
        <p:nvSpPr>
          <p:cNvPr id="13" name="Text 10"/>
          <p:cNvSpPr/>
          <p:nvPr/>
        </p:nvSpPr>
        <p:spPr>
          <a:xfrm>
            <a:off x="658368" y="1078992"/>
            <a:ext cx="2103120" cy="182880"/>
          </a:xfrm>
          <a:prstGeom prst="rect">
            <a:avLst/>
          </a:prstGeom>
          <a:noFill/>
          <a:ln/>
        </p:spPr>
        <p:txBody>
          <a:bodyPr wrap="square" lIns="0" tIns="0" rIns="0" bIns="0" rtlCol="0" anchor="ctr"/>
          <a:lstStyle/>
          <a:p>
            <a:pPr algn="ctr" indent="0" marL="0">
              <a:buNone/>
            </a:pPr>
            <a:r>
              <a:rPr lang="en-US" sz="680" b="1" dirty="0">
                <a:solidFill>
                  <a:srgbClr val="5C0017"/>
                </a:solidFill>
                <a:latin typeface="Calibri" pitchFamily="34" charset="0"/>
                <a:ea typeface="Calibri" pitchFamily="34" charset="-122"/>
                <a:cs typeface="Calibri" pitchFamily="34" charset="-120"/>
              </a:rPr>
              <a:t>01 | AUTOREGRESSIVE</a:t>
            </a:r>
            <a:endParaRPr lang="en-US" sz="680" dirty="0"/>
          </a:p>
        </p:txBody>
      </p:sp>
      <p:sp>
        <p:nvSpPr>
          <p:cNvPr id="14" name="Text 11"/>
          <p:cNvSpPr/>
          <p:nvPr/>
        </p:nvSpPr>
        <p:spPr>
          <a:xfrm>
            <a:off x="658368" y="1298448"/>
            <a:ext cx="4261104" cy="201168"/>
          </a:xfrm>
          <a:prstGeom prst="rect">
            <a:avLst/>
          </a:prstGeom>
          <a:noFill/>
          <a:ln/>
        </p:spPr>
        <p:txBody>
          <a:bodyPr wrap="square" lIns="0" tIns="0" rIns="0" bIns="0" rtlCol="0" anchor="ctr"/>
          <a:lstStyle/>
          <a:p>
            <a:pPr indent="0" marL="0">
              <a:buNone/>
            </a:pPr>
            <a:r>
              <a:rPr lang="en-US" sz="920" b="1" dirty="0">
                <a:solidFill>
                  <a:srgbClr val="0F172A"/>
                </a:solidFill>
                <a:latin typeface="Calibri" pitchFamily="34" charset="0"/>
                <a:ea typeface="Calibri" pitchFamily="34" charset="-122"/>
                <a:cs typeface="Calibri" pitchFamily="34" charset="-120"/>
              </a:rPr>
              <a:t>Next-Token Prediction</a:t>
            </a:r>
            <a:endParaRPr lang="en-US" sz="920" dirty="0"/>
          </a:p>
        </p:txBody>
      </p:sp>
      <p:sp>
        <p:nvSpPr>
          <p:cNvPr id="15" name="Text 12"/>
          <p:cNvSpPr/>
          <p:nvPr/>
        </p:nvSpPr>
        <p:spPr>
          <a:xfrm>
            <a:off x="658368" y="1517904"/>
            <a:ext cx="4261104" cy="292608"/>
          </a:xfrm>
          <a:prstGeom prst="rect">
            <a:avLst/>
          </a:prstGeom>
          <a:noFill/>
          <a:ln/>
        </p:spPr>
        <p:txBody>
          <a:bodyPr wrap="square" lIns="0" tIns="0" rIns="0" bIns="0" rtlCol="0" anchor="ctr"/>
          <a:lstStyle/>
          <a:p>
            <a:pPr indent="0" marL="0">
              <a:lnSpc>
                <a:spcPct val="110000"/>
              </a:lnSpc>
              <a:buNone/>
            </a:pPr>
            <a:r>
              <a:rPr lang="en-US" sz="820" dirty="0">
                <a:solidFill>
                  <a:srgbClr val="334155"/>
                </a:solidFill>
                <a:latin typeface="Calibri" pitchFamily="34" charset="0"/>
                <a:ea typeface="Calibri" pitchFamily="34" charset="-122"/>
                <a:cs typeface="Calibri" pitchFamily="34" charset="-120"/>
              </a:rPr>
              <a:t>Predicts the next token, one at a time.</a:t>
            </a:r>
            <a:endParaRPr lang="en-US" sz="820" dirty="0"/>
          </a:p>
        </p:txBody>
      </p:sp>
      <p:sp>
        <p:nvSpPr>
          <p:cNvPr id="16" name="Shape 13"/>
          <p:cNvSpPr/>
          <p:nvPr/>
        </p:nvSpPr>
        <p:spPr>
          <a:xfrm>
            <a:off x="548640" y="2048256"/>
            <a:ext cx="4480560" cy="950976"/>
          </a:xfrm>
          <a:prstGeom prst="roundRect">
            <a:avLst>
              <a:gd name="adj" fmla="val 4808"/>
            </a:avLst>
          </a:prstGeom>
          <a:solidFill>
            <a:srgbClr val="F8FAFC"/>
          </a:solidFill>
          <a:ln w="11430">
            <a:solidFill>
              <a:srgbClr val="166534"/>
            </a:solidFill>
            <a:prstDash val="solid"/>
          </a:ln>
        </p:spPr>
      </p:sp>
      <p:sp>
        <p:nvSpPr>
          <p:cNvPr id="17" name="Shape 14"/>
          <p:cNvSpPr/>
          <p:nvPr/>
        </p:nvSpPr>
        <p:spPr>
          <a:xfrm>
            <a:off x="658368" y="2121408"/>
            <a:ext cx="2103120" cy="182880"/>
          </a:xfrm>
          <a:prstGeom prst="roundRect">
            <a:avLst>
              <a:gd name="adj" fmla="val 15000"/>
            </a:avLst>
          </a:prstGeom>
          <a:solidFill>
            <a:srgbClr val="F0FDF4"/>
          </a:solidFill>
          <a:ln w="6350">
            <a:solidFill>
              <a:srgbClr val="166534"/>
            </a:solidFill>
            <a:prstDash val="solid"/>
          </a:ln>
        </p:spPr>
      </p:sp>
      <p:sp>
        <p:nvSpPr>
          <p:cNvPr id="18" name="Text 15"/>
          <p:cNvSpPr/>
          <p:nvPr/>
        </p:nvSpPr>
        <p:spPr>
          <a:xfrm>
            <a:off x="658368" y="2121408"/>
            <a:ext cx="2103120" cy="182880"/>
          </a:xfrm>
          <a:prstGeom prst="rect">
            <a:avLst/>
          </a:prstGeom>
          <a:noFill/>
          <a:ln/>
        </p:spPr>
        <p:txBody>
          <a:bodyPr wrap="square" lIns="0" tIns="0" rIns="0" bIns="0" rtlCol="0" anchor="ctr"/>
          <a:lstStyle/>
          <a:p>
            <a:pPr algn="ctr" indent="0" marL="0">
              <a:buNone/>
            </a:pPr>
            <a:r>
              <a:rPr lang="en-US" sz="680" b="1" dirty="0">
                <a:solidFill>
                  <a:srgbClr val="14532D"/>
                </a:solidFill>
                <a:latin typeface="Calibri" pitchFamily="34" charset="0"/>
                <a:ea typeface="Calibri" pitchFamily="34" charset="-122"/>
                <a:cs typeface="Calibri" pitchFamily="34" charset="-120"/>
              </a:rPr>
              <a:t>02 | FROZEN WEIGHTS</a:t>
            </a:r>
            <a:endParaRPr lang="en-US" sz="680" dirty="0"/>
          </a:p>
        </p:txBody>
      </p:sp>
      <p:sp>
        <p:nvSpPr>
          <p:cNvPr id="19" name="Text 16"/>
          <p:cNvSpPr/>
          <p:nvPr/>
        </p:nvSpPr>
        <p:spPr>
          <a:xfrm>
            <a:off x="658368" y="2340864"/>
            <a:ext cx="4261104" cy="201168"/>
          </a:xfrm>
          <a:prstGeom prst="rect">
            <a:avLst/>
          </a:prstGeom>
          <a:noFill/>
          <a:ln/>
        </p:spPr>
        <p:txBody>
          <a:bodyPr wrap="square" lIns="0" tIns="0" rIns="0" bIns="0" rtlCol="0" anchor="ctr"/>
          <a:lstStyle/>
          <a:p>
            <a:pPr indent="0" marL="0">
              <a:buNone/>
            </a:pPr>
            <a:r>
              <a:rPr lang="en-US" sz="920" b="1" dirty="0">
                <a:solidFill>
                  <a:srgbClr val="0F172A"/>
                </a:solidFill>
                <a:latin typeface="Calibri" pitchFamily="34" charset="0"/>
                <a:ea typeface="Calibri" pitchFamily="34" charset="-122"/>
                <a:cs typeface="Calibri" pitchFamily="34" charset="-120"/>
              </a:rPr>
              <a:t>No Live Truth</a:t>
            </a:r>
            <a:endParaRPr lang="en-US" sz="920" dirty="0"/>
          </a:p>
        </p:txBody>
      </p:sp>
      <p:sp>
        <p:nvSpPr>
          <p:cNvPr id="20" name="Text 17"/>
          <p:cNvSpPr/>
          <p:nvPr/>
        </p:nvSpPr>
        <p:spPr>
          <a:xfrm>
            <a:off x="658368" y="2560320"/>
            <a:ext cx="4261104" cy="292608"/>
          </a:xfrm>
          <a:prstGeom prst="rect">
            <a:avLst/>
          </a:prstGeom>
          <a:noFill/>
          <a:ln/>
        </p:spPr>
        <p:txBody>
          <a:bodyPr wrap="square" lIns="0" tIns="0" rIns="0" bIns="0" rtlCol="0" anchor="ctr"/>
          <a:lstStyle/>
          <a:p>
            <a:pPr indent="0" marL="0">
              <a:lnSpc>
                <a:spcPct val="110000"/>
              </a:lnSpc>
              <a:buNone/>
            </a:pPr>
            <a:r>
              <a:rPr lang="en-US" sz="820" dirty="0">
                <a:solidFill>
                  <a:srgbClr val="334155"/>
                </a:solidFill>
                <a:latin typeface="Calibri" pitchFamily="34" charset="0"/>
                <a:ea typeface="Calibri" pitchFamily="34" charset="-122"/>
                <a:cs typeface="Calibri" pitchFamily="34" charset="-120"/>
              </a:rPr>
              <a:t>Billions of fixed weights. No external check.</a:t>
            </a:r>
            <a:endParaRPr lang="en-US" sz="820" dirty="0"/>
          </a:p>
        </p:txBody>
      </p:sp>
      <p:sp>
        <p:nvSpPr>
          <p:cNvPr id="21" name="Shape 18"/>
          <p:cNvSpPr/>
          <p:nvPr/>
        </p:nvSpPr>
        <p:spPr>
          <a:xfrm>
            <a:off x="548640" y="3090672"/>
            <a:ext cx="4480560" cy="950976"/>
          </a:xfrm>
          <a:prstGeom prst="roundRect">
            <a:avLst>
              <a:gd name="adj" fmla="val 4808"/>
            </a:avLst>
          </a:prstGeom>
          <a:solidFill>
            <a:srgbClr val="F8FAFC"/>
          </a:solidFill>
          <a:ln w="11430">
            <a:solidFill>
              <a:srgbClr val="B45309"/>
            </a:solidFill>
            <a:prstDash val="solid"/>
          </a:ln>
        </p:spPr>
      </p:sp>
      <p:sp>
        <p:nvSpPr>
          <p:cNvPr id="22" name="Shape 19"/>
          <p:cNvSpPr/>
          <p:nvPr/>
        </p:nvSpPr>
        <p:spPr>
          <a:xfrm>
            <a:off x="658368" y="3163824"/>
            <a:ext cx="2103120" cy="182880"/>
          </a:xfrm>
          <a:prstGeom prst="roundRect">
            <a:avLst>
              <a:gd name="adj" fmla="val 15000"/>
            </a:avLst>
          </a:prstGeom>
          <a:solidFill>
            <a:srgbClr val="FFFBEB"/>
          </a:solidFill>
          <a:ln w="6350">
            <a:solidFill>
              <a:srgbClr val="B45309"/>
            </a:solidFill>
            <a:prstDash val="solid"/>
          </a:ln>
        </p:spPr>
      </p:sp>
      <p:sp>
        <p:nvSpPr>
          <p:cNvPr id="23" name="Text 20"/>
          <p:cNvSpPr/>
          <p:nvPr/>
        </p:nvSpPr>
        <p:spPr>
          <a:xfrm>
            <a:off x="658368" y="3163824"/>
            <a:ext cx="2103120" cy="182880"/>
          </a:xfrm>
          <a:prstGeom prst="rect">
            <a:avLst/>
          </a:prstGeom>
          <a:noFill/>
          <a:ln/>
        </p:spPr>
        <p:txBody>
          <a:bodyPr wrap="square" lIns="0" tIns="0" rIns="0" bIns="0" rtlCol="0" anchor="ctr"/>
          <a:lstStyle/>
          <a:p>
            <a:pPr algn="ctr" indent="0" marL="0">
              <a:buNone/>
            </a:pPr>
            <a:r>
              <a:rPr lang="en-US" sz="680" b="1" dirty="0">
                <a:solidFill>
                  <a:srgbClr val="B45309"/>
                </a:solidFill>
                <a:latin typeface="Calibri" pitchFamily="34" charset="0"/>
                <a:ea typeface="Calibri" pitchFamily="34" charset="-122"/>
                <a:cs typeface="Calibri" pitchFamily="34" charset="-120"/>
              </a:rPr>
              <a:t>03 | FRAGILE REASONING</a:t>
            </a:r>
            <a:endParaRPr lang="en-US" sz="680" dirty="0"/>
          </a:p>
        </p:txBody>
      </p:sp>
      <p:sp>
        <p:nvSpPr>
          <p:cNvPr id="24" name="Text 21"/>
          <p:cNvSpPr/>
          <p:nvPr/>
        </p:nvSpPr>
        <p:spPr>
          <a:xfrm>
            <a:off x="658368" y="3383280"/>
            <a:ext cx="4261104" cy="201168"/>
          </a:xfrm>
          <a:prstGeom prst="rect">
            <a:avLst/>
          </a:prstGeom>
          <a:noFill/>
          <a:ln/>
        </p:spPr>
        <p:txBody>
          <a:bodyPr wrap="square" lIns="0" tIns="0" rIns="0" bIns="0" rtlCol="0" anchor="ctr"/>
          <a:lstStyle/>
          <a:p>
            <a:pPr indent="0" marL="0">
              <a:buNone/>
            </a:pPr>
            <a:r>
              <a:rPr lang="en-US" sz="920" b="1" dirty="0">
                <a:solidFill>
                  <a:srgbClr val="0F172A"/>
                </a:solidFill>
                <a:latin typeface="Calibri" pitchFamily="34" charset="0"/>
                <a:ea typeface="Calibri" pitchFamily="34" charset="-122"/>
                <a:cs typeface="Calibri" pitchFamily="34" charset="-120"/>
              </a:rPr>
              <a:t>Errors Cascade</a:t>
            </a:r>
            <a:endParaRPr lang="en-US" sz="920" dirty="0"/>
          </a:p>
        </p:txBody>
      </p:sp>
      <p:sp>
        <p:nvSpPr>
          <p:cNvPr id="25" name="Text 22"/>
          <p:cNvSpPr/>
          <p:nvPr/>
        </p:nvSpPr>
        <p:spPr>
          <a:xfrm>
            <a:off x="658368" y="3602736"/>
            <a:ext cx="4261104" cy="292608"/>
          </a:xfrm>
          <a:prstGeom prst="rect">
            <a:avLst/>
          </a:prstGeom>
          <a:noFill/>
          <a:ln/>
        </p:spPr>
        <p:txBody>
          <a:bodyPr wrap="square" lIns="0" tIns="0" rIns="0" bIns="0" rtlCol="0" anchor="ctr"/>
          <a:lstStyle/>
          <a:p>
            <a:pPr indent="0" marL="0">
              <a:lnSpc>
                <a:spcPct val="110000"/>
              </a:lnSpc>
              <a:buNone/>
            </a:pPr>
            <a:r>
              <a:rPr lang="en-US" sz="820" dirty="0">
                <a:solidFill>
                  <a:srgbClr val="334155"/>
                </a:solidFill>
                <a:latin typeface="Calibri" pitchFamily="34" charset="0"/>
                <a:ea typeface="Calibri" pitchFamily="34" charset="-122"/>
                <a:cs typeface="Calibri" pitchFamily="34" charset="-120"/>
              </a:rPr>
              <a:t>One small error corrupts all later steps.</a:t>
            </a:r>
            <a:endParaRPr lang="en-US" sz="820" dirty="0"/>
          </a:p>
        </p:txBody>
      </p:sp>
      <p:sp>
        <p:nvSpPr>
          <p:cNvPr id="26" name="Shape 23"/>
          <p:cNvSpPr/>
          <p:nvPr/>
        </p:nvSpPr>
        <p:spPr>
          <a:xfrm>
            <a:off x="548640" y="4187952"/>
            <a:ext cx="8046720" cy="384048"/>
          </a:xfrm>
          <a:prstGeom prst="roundRect">
            <a:avLst>
              <a:gd name="adj" fmla="val 9524"/>
            </a:avLst>
          </a:prstGeom>
          <a:solidFill>
            <a:srgbClr val="FFF1F2"/>
          </a:solidFill>
          <a:ln w="8890">
            <a:solidFill>
              <a:srgbClr val="800020"/>
            </a:solidFill>
            <a:prstDash val="solid"/>
          </a:ln>
        </p:spPr>
      </p:sp>
      <p:sp>
        <p:nvSpPr>
          <p:cNvPr id="27" name="Text 24"/>
          <p:cNvSpPr/>
          <p:nvPr/>
        </p:nvSpPr>
        <p:spPr>
          <a:xfrm>
            <a:off x="640080" y="4187952"/>
            <a:ext cx="7863840" cy="384048"/>
          </a:xfrm>
          <a:prstGeom prst="rect">
            <a:avLst/>
          </a:prstGeom>
          <a:noFill/>
          <a:ln/>
        </p:spPr>
        <p:txBody>
          <a:bodyPr wrap="square" lIns="0" tIns="0" rIns="0" bIns="0" rtlCol="0" anchor="ctr"/>
          <a:lstStyle/>
          <a:p>
            <a:pPr algn="ctr" indent="0" marL="0">
              <a:buNone/>
            </a:pPr>
            <a:r>
              <a:rPr lang="en-US" sz="850" b="1" dirty="0">
                <a:solidFill>
                  <a:srgbClr val="5C0017"/>
                </a:solidFill>
                <a:latin typeface="Calibri" pitchFamily="34" charset="0"/>
                <a:ea typeface="Calibri" pitchFamily="34" charset="-122"/>
                <a:cs typeface="Calibri" pitchFamily="34" charset="-120"/>
              </a:rPr>
              <a:t>Core Principle: An LLM predicts tokens. It cannot verify its own reasoning.</a:t>
            </a:r>
            <a:endParaRPr lang="en-US" sz="850" dirty="0"/>
          </a:p>
        </p:txBody>
      </p:sp>
      <p:sp>
        <p:nvSpPr>
          <p:cNvPr id="29" name="Text 25"/>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7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750" dirty="0"/>
          </a:p>
        </p:txBody>
      </p:sp>
      <p:sp>
        <p:nvSpPr>
          <p:cNvPr id="30" name="Text 26"/>
          <p:cNvSpPr/>
          <p:nvPr/>
        </p:nvSpPr>
        <p:spPr>
          <a:xfrm>
            <a:off x="7680960" y="4736592"/>
            <a:ext cx="914400" cy="274320"/>
          </a:xfrm>
          <a:prstGeom prst="rect">
            <a:avLst/>
          </a:prstGeom>
          <a:noFill/>
          <a:ln/>
        </p:spPr>
        <p:txBody>
          <a:bodyPr wrap="square" lIns="0" tIns="0" rIns="0" bIns="0" rtlCol="0" anchor="ctr"/>
          <a:lstStyle/>
          <a:p>
            <a:pPr algn="r" indent="0" marL="0">
              <a:buNone/>
            </a:pPr>
            <a:r>
              <a:rPr lang="en-US" sz="750" b="1" dirty="0">
                <a:solidFill>
                  <a:srgbClr val="64748B"/>
                </a:solidFill>
                <a:latin typeface="Calibri" pitchFamily="34" charset="0"/>
                <a:ea typeface="Calibri" pitchFamily="34" charset="-122"/>
                <a:cs typeface="Calibri" pitchFamily="34" charset="-120"/>
              </a:rPr>
              <a:t>01/01</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Large Language Model (LLM)?</dc:title>
  <dc:subject>PptxGenJS Presentation</dc:subject>
  <dc:creator>Group Presentation - What is an LLM</dc:creator>
  <cp:lastModifiedBy>Group Presentation - What is an LLM</cp:lastModifiedBy>
  <cp:revision>1</cp:revision>
  <dcterms:created xsi:type="dcterms:W3CDTF">2026-08-30T06:01:38Z</dcterms:created>
  <dcterms:modified xsi:type="dcterms:W3CDTF">2026-08-30T06:01:38Z</dcterms:modified>
</cp:coreProperties>
</file>