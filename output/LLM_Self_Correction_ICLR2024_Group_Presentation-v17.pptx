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Reported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Oracle</c:v>
                  </c:pt>
                  <c:pt idx="1">
                    <c:v>Compute</c:v>
                  </c:pt>
                  <c:pt idx="2">
                    <c:v>Prompt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Controlled</c:v>
                </c:pt>
              </c:strCache>
            </c:strRef>
          </c:tx>
          <c:spPr>
            <a:solidFill>
              <a:srgbClr val="8000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Oracle</c:v>
                  </c:pt>
                  <c:pt idx="1">
                    <c:v>Compute</c:v>
                  </c:pt>
                  <c:pt idx="2">
                    <c:v>Prompt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-2.5</c:v>
                </c:pt>
                <c:pt idx="1">
                  <c:v>-1.5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5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PRIOR FRAMEWORKS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Timeline of Claims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surge, same hidden helpers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6C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752344"/>
            <a:ext cx="8046720" cy="237744"/>
          </a:xfrm>
          <a:prstGeom prst="roundRect">
            <a:avLst>
              <a:gd name="adj" fmla="val 34615"/>
            </a:avLst>
          </a:prstGeom>
          <a:solidFill>
            <a:srgbClr val="F8FA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8046720" cy="3657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2788920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29000" y="2788920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440680" y="2788920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52360" y="2788920"/>
            <a:ext cx="128016" cy="128016"/>
          </a:xfrm>
          <a:prstGeom prst="ellipse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5351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800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1325880"/>
            <a:ext cx="1691640" cy="54864"/>
          </a:xfrm>
          <a:prstGeom prst="roundRect">
            <a:avLst>
              <a:gd name="adj" fmla="val 133333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" y="1453896"/>
            <a:ext cx="201168" cy="201168"/>
          </a:xfrm>
          <a:prstGeom prst="ellipse">
            <a:avLst/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1453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33272" y="145389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012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+7% claimed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522476" y="2651760"/>
            <a:ext cx="18288" cy="18288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28" name="Shape 26"/>
          <p:cNvSpPr/>
          <p:nvPr/>
        </p:nvSpPr>
        <p:spPr>
          <a:xfrm>
            <a:off x="269748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7480" y="1325880"/>
            <a:ext cx="1691640" cy="54864"/>
          </a:xfrm>
          <a:prstGeom prst="roundRect">
            <a:avLst>
              <a:gd name="adj" fmla="val 13333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07208" y="1453896"/>
            <a:ext cx="201168" cy="201168"/>
          </a:xfrm>
          <a:prstGeom prst="ellipse">
            <a:avLst/>
          </a:prstGeom>
          <a:solidFill>
            <a:srgbClr val="F0FDF4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07208" y="1453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044952" y="145389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9748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Shinn et al.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69748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7180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1665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claimed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534156" y="2651760"/>
            <a:ext cx="18288" cy="18288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8" name="Shape 36"/>
          <p:cNvSpPr/>
          <p:nvPr/>
        </p:nvSpPr>
        <p:spPr>
          <a:xfrm>
            <a:off x="470916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325880"/>
            <a:ext cx="1691640" cy="54864"/>
          </a:xfrm>
          <a:prstGeom prst="roundRect">
            <a:avLst>
              <a:gd name="adj" fmla="val 13333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8888" y="1453896"/>
            <a:ext cx="201168" cy="201168"/>
          </a:xfrm>
          <a:prstGeom prst="ellipse">
            <a:avLst/>
          </a:prstGeom>
          <a:solidFill>
            <a:srgbClr val="FFFBEB"/>
          </a:solidFill>
          <a:ln w="889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1453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56632" y="145389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Madaan et al.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0916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8348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claimed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545836" y="2651760"/>
            <a:ext cx="18288" cy="182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8" name="Shape 46"/>
          <p:cNvSpPr/>
          <p:nvPr/>
        </p:nvSpPr>
        <p:spPr>
          <a:xfrm>
            <a:off x="6720840" y="1325880"/>
            <a:ext cx="16916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1325880"/>
            <a:ext cx="1691640" cy="54864"/>
          </a:xfrm>
          <a:prstGeom prst="roundRect">
            <a:avLst>
              <a:gd name="adj" fmla="val 13333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30568" y="1453896"/>
            <a:ext cx="201168" cy="201168"/>
          </a:xfrm>
          <a:prstGeom prst="ellipse">
            <a:avLst/>
          </a:prstGeom>
          <a:solidFill>
            <a:srgbClr val="F8FAFC"/>
          </a:solidFill>
          <a:ln w="889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30568" y="1453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⬣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68312" y="1453896"/>
            <a:ext cx="1252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20840" y="16916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et al.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720840" y="18745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95160" y="2386584"/>
            <a:ext cx="11430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95160" y="23865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+4% claimed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557516" y="2651760"/>
            <a:ext cx="18288" cy="1828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8" name="Shape 56"/>
          <p:cNvSpPr/>
          <p:nvPr/>
        </p:nvSpPr>
        <p:spPr>
          <a:xfrm>
            <a:off x="548640" y="3246120"/>
            <a:ext cx="80467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33649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TIMELINE HIDES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77240" y="3584448"/>
            <a:ext cx="292608" cy="292608"/>
          </a:xfrm>
          <a:prstGeom prst="ellipse">
            <a:avLst/>
          </a:prstGeom>
          <a:solidFill>
            <a:srgbClr val="800020"/>
          </a:solidFill>
          <a:ln/>
        </p:spPr>
      </p:sp>
      <p:sp>
        <p:nvSpPr>
          <p:cNvPr id="61" name="Text 59"/>
          <p:cNvSpPr/>
          <p:nvPr/>
        </p:nvSpPr>
        <p:spPr>
          <a:xfrm>
            <a:off x="77724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43000" y="3584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leakage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43000" y="37673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wrong answers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critiqued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383280" y="3584448"/>
            <a:ext cx="292608" cy="29260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5" name="Text 63"/>
          <p:cNvSpPr/>
          <p:nvPr/>
        </p:nvSpPr>
        <p:spPr>
          <a:xfrm>
            <a:off x="338328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749040" y="3584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trick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749040" y="37673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withheld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re-added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989320" y="3584448"/>
            <a:ext cx="292608" cy="29260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69" name="Text 67"/>
          <p:cNvSpPr/>
          <p:nvPr/>
        </p:nvSpPr>
        <p:spPr>
          <a:xfrm>
            <a:off x="5989320" y="3584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55080" y="35844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gap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355080" y="376732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uses 3 to 6x</a:t>
            </a:r>
            <a:endParaRPr lang="en-US" sz="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vs single shot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Closed Loop vs Grounded Loop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information: why internal reflection fails but external verification works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7A • COMPACT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42416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FF1F2"/>
          </a:solidFill>
          <a:ln w="15240">
            <a:solidFill>
              <a:srgbClr val="800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52144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52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 •  Closed Loop: Paper Scope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43100" y="1536192"/>
            <a:ext cx="1097280" cy="10972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3100" y="1773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43100" y="20299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777240" y="1536192"/>
            <a:ext cx="3429000" cy="109728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80002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2960" y="14264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46120" y="142646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Self-critique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43100" y="26700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blind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85800" y="2871216"/>
            <a:ext cx="36118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2608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CHANGE  •  Huang et al. Tables 3-4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31520" y="3072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  to  -27.5%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3649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facts. Compliance bias invents errors.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09160" y="1042416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15240">
            <a:solidFill>
              <a:srgbClr val="16653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1152144"/>
            <a:ext cx="3611880" cy="274320"/>
          </a:xfrm>
          <a:prstGeom prst="roundRect">
            <a:avLst>
              <a:gd name="adj" fmla="val 13333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521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 •  Grounded Loop: Tool-Assisted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83480" y="155448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397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7190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LLM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19751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solution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92240" y="1874520"/>
            <a:ext cx="320040" cy="128016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171907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492240" y="2176272"/>
            <a:ext cx="320040" cy="91440"/>
          </a:xfrm>
          <a:prstGeom prst="lef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228600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903720" y="155448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6916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19568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Oracle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46320" y="2871216"/>
            <a:ext cx="361188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92608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CHANGE  •  Chen et al. 2023b; Gou et al. 2023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4892040" y="30723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+7.0%  to  +15.0%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37760" y="33649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signal. Error localized exactly.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8640" y="3931920"/>
            <a:ext cx="8046720" cy="512064"/>
          </a:xfrm>
          <a:prstGeom prst="roundRect">
            <a:avLst>
              <a:gd name="adj" fmla="val 89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93192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A frozen model cannot act as an independent verifier of its own output without external grounding.  •  Huang et al. Sec 3.3, Sec 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INTRINSIC VS EXTERNAL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Evidence: Why Signal Matters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code execution beats a paragraph of recursive self-doubt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7B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024128"/>
            <a:ext cx="8046720" cy="877824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33856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FF1F2"/>
          </a:solidFill>
          <a:ln w="10160">
            <a:solidFill>
              <a:srgbClr val="800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8580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000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-1.3% to -27.5%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16093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Self-doubt without data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468880" y="1152144"/>
            <a:ext cx="1874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asks the same frozen model to verify itself. No new facts enter. Prompt says "Review and find problems" and the model complies by inventing a flaw even when the draft is correct (Huang Fig. 2, yogurt).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526280" y="1133856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0FDF4"/>
          </a:solidFill>
          <a:ln w="1016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1704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26280" y="1353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+7.0% to +15.0%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26280" y="16093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gives grounding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309360" y="1152144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injects a fact the model did not have: Python traceback, unit test failure, or retrieval hit. Fix is anchored to that evidence (Chen self-debug, Gou CRITIC).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48640" y="2029968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214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SELF-DOUBT DRIFT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583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correct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620" dirty="0"/>
          </a:p>
        </p:txBody>
      </p:sp>
      <p:sp>
        <p:nvSpPr>
          <p:cNvPr id="24" name="Shape 22"/>
          <p:cNvSpPr/>
          <p:nvPr/>
        </p:nvSpPr>
        <p:spPr>
          <a:xfrm>
            <a:off x="1517904" y="2523744"/>
            <a:ext cx="54864" cy="9144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727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727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Review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5727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flaws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step 2"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2432304" y="2523744"/>
            <a:ext cx="54864" cy="9144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871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871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Error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4871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bug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bias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3346704" y="2523744"/>
            <a:ext cx="54864" cy="91440"/>
          </a:xfrm>
          <a:prstGeom prst="righ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0156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FF1F2"/>
          </a:solidFill>
          <a:ln w="8890">
            <a:solidFill>
              <a:srgbClr val="8000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Flip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0156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to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$37.50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685800" y="2962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Correct -&gt; Incorrect flips exceed Incorrect -&gt; Correct. Fig. 1 yogurt: $75.00 correct -&gt; $37.50 after self-correction.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709160" y="2029968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1214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LOOP: TARGETED TOOL REPAIR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8188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Code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48188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solution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bug</a:t>
            </a:r>
            <a:endParaRPr lang="en-US" sz="620" dirty="0"/>
          </a:p>
        </p:txBody>
      </p:sp>
      <p:sp>
        <p:nvSpPr>
          <p:cNvPr id="42" name="Shape 40"/>
          <p:cNvSpPr/>
          <p:nvPr/>
        </p:nvSpPr>
        <p:spPr>
          <a:xfrm>
            <a:off x="5678424" y="2523744"/>
            <a:ext cx="54864" cy="9144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332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332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7332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6592824" y="2523744"/>
            <a:ext cx="54864" cy="9144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476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476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476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ZeroDivisionError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14</a:t>
            </a:r>
            <a:endParaRPr lang="en-US" sz="620" dirty="0"/>
          </a:p>
        </p:txBody>
      </p:sp>
      <p:sp>
        <p:nvSpPr>
          <p:cNvPr id="50" name="Shape 48"/>
          <p:cNvSpPr/>
          <p:nvPr/>
        </p:nvSpPr>
        <p:spPr>
          <a:xfrm>
            <a:off x="7507224" y="2523744"/>
            <a:ext cx="54864" cy="91440"/>
          </a:xfrm>
          <a:prstGeom prst="rightArrow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62088" y="2340864"/>
            <a:ext cx="859536" cy="530352"/>
          </a:xfrm>
          <a:prstGeom prst="roundRect">
            <a:avLst>
              <a:gd name="adj" fmla="val 6897"/>
            </a:avLst>
          </a:prstGeom>
          <a:solidFill>
            <a:srgbClr val="F0FDF4"/>
          </a:solidFill>
          <a:ln w="8890">
            <a:solidFill>
              <a:srgbClr val="16653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2088" y="235915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562088" y="254203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only</a:t>
            </a:r>
            <a:endParaRPr lang="en-US" sz="6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logic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4846320" y="29626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Independent verifier isolates exact failure. No guessing. Keep correct answers.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548640" y="338328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8640" y="3383280"/>
            <a:ext cx="8046720" cy="237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3383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2560320" y="33832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SELF-CORRECTION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486400" y="33832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FEEDBACK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31520" y="3657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Source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2560320" y="3657600"/>
            <a:ext cx="2743200" cy="219456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60320" y="3657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facts (Same weights)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86400" y="3657600"/>
            <a:ext cx="2926080" cy="219456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65760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execution result (External state)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731520" y="3913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Mechanism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560320" y="3913632"/>
            <a:ext cx="2743200" cy="219456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560320" y="3913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compliance (Invents bugs)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486400" y="3913632"/>
            <a:ext cx="2926080" cy="219456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39136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interpreter / Oracle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31520" y="41696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Impact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60320" y="4169664"/>
            <a:ext cx="2743200" cy="219456"/>
          </a:xfrm>
          <a:prstGeom prst="roundRect">
            <a:avLst>
              <a:gd name="adj" fmla="val 12500"/>
            </a:avLst>
          </a:prstGeom>
          <a:solidFill>
            <a:srgbClr val="FFF1F2"/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560320" y="4169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-1.3% to -27.5% (Degrades)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486400" y="4169664"/>
            <a:ext cx="2926080" cy="219456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0" y="416966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+7.0% to +15.0% (Repairs)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BACKGROUND: FLAWS IN PRIOR EVALUATIONS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Forensic: Reported vs Controlled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bars make inflation obvious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766560" y="329184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329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8A • EXPANDED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877824"/>
            <a:ext cx="8046720" cy="13716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Chart 0" descr=""/>
          <p:cNvGraphicFramePr/>
          <p:nvPr/>
        </p:nvGraphicFramePr>
        <p:xfrm>
          <a:off x="548640" y="1042416"/>
          <a:ext cx="44348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2468880" y="3401568"/>
            <a:ext cx="804672" cy="164592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8890">
            <a:solidFill>
              <a:srgbClr val="0F17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05456" y="3474720"/>
            <a:ext cx="201168" cy="182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8"/>
          <p:cNvSpPr/>
          <p:nvPr/>
        </p:nvSpPr>
        <p:spPr>
          <a:xfrm>
            <a:off x="2587752" y="3447288"/>
            <a:ext cx="54864" cy="5486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2" name="Text 9"/>
          <p:cNvSpPr/>
          <p:nvPr/>
        </p:nvSpPr>
        <p:spPr>
          <a:xfrm>
            <a:off x="2724912" y="340156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 flat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1234440" y="2029968"/>
            <a:ext cx="91440" cy="73152"/>
          </a:xfrm>
          <a:prstGeom prst="lef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1031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1508760" y="2542032"/>
            <a:ext cx="91440" cy="73152"/>
          </a:xfrm>
          <a:prstGeom prst="leftArrow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5212080" y="1042416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8000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1808" y="1115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Oracle Leakage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589520" y="1115568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11155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+10.5% to -2.5%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321808" y="1353312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correct answers, only fix wrong ones.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212080" y="2066544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B4530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808" y="2139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Gap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589520" y="2139696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B4530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9520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+4.0% to -1.5%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321808" y="2377440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loses to Self-Consistency at equal cost.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212080" y="3090672"/>
            <a:ext cx="33832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1430">
            <a:solidFill>
              <a:srgbClr val="0F1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21808" y="31638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 Trick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589520" y="3163824"/>
            <a:ext cx="914400" cy="201168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7620">
            <a:solidFill>
              <a:srgbClr val="0F1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0" y="3163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+10.0% to 0.0%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321808" y="3401568"/>
            <a:ext cx="3163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start vs rule rich feedback.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48640" y="4187952"/>
            <a:ext cx="8046720" cy="384048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7620">
            <a:solidFill>
              <a:srgbClr val="80002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41879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0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chart: amber collapses to crimson below zero, or to slate flat at zero. No confounder survives a fair test.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48640" y="4736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Cannot Self-Correct Reasoning Yet | ICLR 2024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68096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Selected Variants v17: Refined 6C Compact, 7A, 7B, 8A</dc:title>
  <dc:subject>PptxGenJS Presentation</dc:subject>
  <dc:creator>Group Presentation Variant Deck v17</dc:creator>
  <cp:lastModifiedBy>Group Presentation Variant Deck v17</cp:lastModifiedBy>
  <cp:revision>1</cp:revision>
  <dcterms:created xsi:type="dcterms:W3CDTF">2026-08-30T03:57:55Z</dcterms:created>
  <dcterms:modified xsi:type="dcterms:W3CDTF">2026-08-30T03:57:56Z</dcterms:modified>
</cp:coreProperties>
</file>