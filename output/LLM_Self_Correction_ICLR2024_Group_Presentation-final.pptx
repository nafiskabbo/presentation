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tags/tag1.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charts/chart3.xml" ContentType="application/vnd.openxmlformats-officedocument.drawingml.chart+xml"/>
  <Override PartName="/ppt/notesSlides/notesSlide16.xml" ContentType="application/vnd.openxmlformats-officedocument.presentationml.notesSlide+xml"/>
  <Override PartName="/ppt/charts/chart4.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5.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9" r:id="rId4"/>
    <p:sldId id="258" r:id="rId5"/>
    <p:sldId id="260" r:id="rId6"/>
    <p:sldId id="261" r:id="rId7"/>
    <p:sldId id="291" r:id="rId8"/>
    <p:sldId id="292" r:id="rId9"/>
    <p:sldId id="264" r:id="rId10"/>
    <p:sldId id="265" r:id="rId11"/>
    <p:sldId id="266" r:id="rId12"/>
    <p:sldId id="285" r:id="rId13"/>
    <p:sldId id="267" r:id="rId14"/>
    <p:sldId id="268" r:id="rId15"/>
    <p:sldId id="269" r:id="rId16"/>
    <p:sldId id="270" r:id="rId17"/>
    <p:sldId id="279" r:id="rId18"/>
    <p:sldId id="280" r:id="rId19"/>
    <p:sldId id="273" r:id="rId20"/>
    <p:sldId id="275" r:id="rId21"/>
    <p:sldId id="276" r:id="rId22"/>
    <p:sldId id="277" r:id="rId23"/>
    <p:sldId id="278"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0020"/>
    <a:srgbClr val="FFF2F2"/>
    <a:srgbClr val="1D293A"/>
    <a:srgbClr val="B4520A"/>
    <a:srgbClr val="1664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653"/>
    <p:restoredTop sz="96932"/>
  </p:normalViewPr>
  <p:slideViewPr>
    <p:cSldViewPr snapToGrid="0" snapToObjects="1">
      <p:cViewPr varScale="1">
        <p:scale>
          <a:sx n="202" d="100"/>
          <a:sy n="202" d="100"/>
        </p:scale>
        <p:origin x="200" y="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Reported</c:v>
                </c:pt>
              </c:strCache>
            </c:strRef>
          </c:tx>
          <c:spPr>
            <a:solidFill>
              <a:srgbClr val="800020"/>
            </a:solidFill>
            <a:effectLst/>
          </c:spPr>
          <c:invertIfNegative val="0"/>
          <c:dLbls>
            <c:numFmt formatCode="General" sourceLinked="0"/>
            <c:spPr>
              <a:noFill/>
              <a:ln>
                <a:noFill/>
              </a:ln>
              <a:effectLst/>
            </c:spPr>
            <c:txPr>
              <a:bodyPr/>
              <a:lstStyle/>
              <a:p>
                <a:pPr>
                  <a:defRPr sz="700" b="0" i="0" u="none" strike="noStrike">
                    <a:solidFill>
                      <a:srgbClr val="0F172A"/>
                    </a:solidFill>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Oracle</c:v>
                </c:pt>
                <c:pt idx="1">
                  <c:v>Compute</c:v>
                </c:pt>
                <c:pt idx="2">
                  <c:v>Prompt</c:v>
                </c:pt>
              </c:strCache>
            </c:strRef>
          </c:cat>
          <c:val>
            <c:numRef>
              <c:f>Sheet1!$B$2:$B$4</c:f>
              <c:numCache>
                <c:formatCode>General</c:formatCode>
                <c:ptCount val="3"/>
                <c:pt idx="0">
                  <c:v>10.5</c:v>
                </c:pt>
                <c:pt idx="1">
                  <c:v>4</c:v>
                </c:pt>
                <c:pt idx="2">
                  <c:v>10</c:v>
                </c:pt>
              </c:numCache>
            </c:numRef>
          </c:val>
          <c:extLst>
            <c:ext xmlns:c16="http://schemas.microsoft.com/office/drawing/2014/chart" uri="{C3380CC4-5D6E-409C-BE32-E72D297353CC}">
              <c16:uniqueId val="{00000000-1D38-B145-B2EA-2A0464622CCE}"/>
            </c:ext>
          </c:extLst>
        </c:ser>
        <c:ser>
          <c:idx val="1"/>
          <c:order val="1"/>
          <c:tx>
            <c:strRef>
              <c:f>Sheet1!$C$1</c:f>
              <c:strCache>
                <c:ptCount val="1"/>
                <c:pt idx="0">
                  <c:v>Controlled</c:v>
                </c:pt>
              </c:strCache>
            </c:strRef>
          </c:tx>
          <c:spPr>
            <a:solidFill>
              <a:srgbClr val="166534"/>
            </a:solidFill>
            <a:effectLst/>
          </c:spPr>
          <c:invertIfNegative val="0"/>
          <c:dLbls>
            <c:numFmt formatCode="General" sourceLinked="0"/>
            <c:spPr>
              <a:noFill/>
              <a:ln>
                <a:noFill/>
              </a:ln>
              <a:effectLst/>
            </c:spPr>
            <c:txPr>
              <a:bodyPr/>
              <a:lstStyle/>
              <a:p>
                <a:pPr>
                  <a:defRPr sz="700" b="0" i="0" u="none" strike="noStrike">
                    <a:solidFill>
                      <a:srgbClr val="0F17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Oracle</c:v>
                </c:pt>
                <c:pt idx="1">
                  <c:v>Compute</c:v>
                </c:pt>
                <c:pt idx="2">
                  <c:v>Prompt</c:v>
                </c:pt>
              </c:strCache>
            </c:strRef>
          </c:cat>
          <c:val>
            <c:numRef>
              <c:f>Sheet1!$C$2:$C$4</c:f>
              <c:numCache>
                <c:formatCode>General</c:formatCode>
                <c:ptCount val="3"/>
                <c:pt idx="0">
                  <c:v>-2.5</c:v>
                </c:pt>
                <c:pt idx="1">
                  <c:v>-1.5</c:v>
                </c:pt>
                <c:pt idx="2">
                  <c:v>0</c:v>
                </c:pt>
              </c:numCache>
            </c:numRef>
          </c:val>
          <c:extLst>
            <c:ext xmlns:c16="http://schemas.microsoft.com/office/drawing/2014/chart" uri="{C3380CC4-5D6E-409C-BE32-E72D297353CC}">
              <c16:uniqueId val="{00000001-1D38-B145-B2EA-2A0464622CCE}"/>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9050" cap="flat">
            <a:solidFill>
              <a:srgbClr val="888888"/>
            </a:solidFill>
            <a:prstDash val="solid"/>
            <a:round/>
          </a:ln>
        </c:spPr>
        <c:txPr>
          <a:bodyPr/>
          <a:lstStyle/>
          <a:p>
            <a:pPr>
              <a:defRPr sz="700" b="0" i="0" u="none" strike="noStrike">
                <a:solidFill>
                  <a:srgbClr val="0F172A"/>
                </a:solidFill>
                <a:latin typeface="Arial"/>
              </a:defRPr>
            </a:pPr>
            <a:endParaRPr lang="en-US"/>
          </a:p>
        </c:txPr>
        <c:crossAx val="2094734552"/>
        <c:crosses val="autoZero"/>
        <c:auto val="1"/>
        <c:lblAlgn val="ctr"/>
        <c:lblOffset val="100"/>
        <c:noMultiLvlLbl val="1"/>
      </c:catAx>
      <c:valAx>
        <c:axId val="2094734552"/>
        <c:scaling>
          <c:orientation val="minMax"/>
          <c:max val="12"/>
          <c:min val="-4"/>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64748B"/>
                </a:solidFill>
                <a:latin typeface="Arial"/>
              </a:defRPr>
            </a:pPr>
            <a:endParaRPr lang="en-US"/>
          </a:p>
        </c:txPr>
        <c:crossAx val="2094734554"/>
        <c:crosses val="autoZero"/>
        <c:crossBetween val="between"/>
        <c:majorUnit val="2"/>
        <c:minorUnit val="1"/>
      </c:valAx>
      <c:spPr>
        <a:noFill/>
        <a:ln>
          <a:noFill/>
        </a:ln>
        <a:effectLst/>
      </c:spPr>
    </c:plotArea>
    <c:legend>
      <c:legendPos val="t"/>
      <c:overlay val="0"/>
      <c:txPr>
        <a:bodyPr/>
        <a:lstStyle/>
        <a:p>
          <a:pPr>
            <a:defRPr sz="700">
              <a:solidFill>
                <a:srgbClr val="0F172A"/>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Standard (CoT)</c:v>
                </c:pt>
              </c:strCache>
            </c:strRef>
          </c:tx>
          <c:spPr>
            <a:solidFill>
              <a:srgbClr val="0F172A"/>
            </a:solidFill>
            <a:effectLst/>
          </c:spPr>
          <c:invertIfNegative val="0"/>
          <c:dLbls>
            <c:numFmt formatCode="#,##0" sourceLinked="0"/>
            <c:spPr>
              <a:noFill/>
              <a:ln>
                <a:noFill/>
              </a:ln>
              <a:effectLst/>
            </c:spPr>
            <c:txPr>
              <a:bodyPr/>
              <a:lstStyle/>
              <a:p>
                <a:pPr>
                  <a:defRPr sz="800" b="0" i="0" u="none" strike="noStrike">
                    <a:solidFill>
                      <a:srgbClr val="0F17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GSM8K (3.5)</c:v>
                </c:pt>
                <c:pt idx="1">
                  <c:v>CSQA (3.5)</c:v>
                </c:pt>
                <c:pt idx="2">
                  <c:v>Hotpot (3.5)</c:v>
                </c:pt>
                <c:pt idx="3">
                  <c:v>GSM8K (GPT-4)</c:v>
                </c:pt>
                <c:pt idx="4">
                  <c:v>CSQA (GPT-4)</c:v>
                </c:pt>
                <c:pt idx="5">
                  <c:v>Hotpot (GPT-4)</c:v>
                </c:pt>
              </c:strCache>
            </c:strRef>
          </c:cat>
          <c:val>
            <c:numRef>
              <c:f>Sheet1!$B$2:$B$7</c:f>
              <c:numCache>
                <c:formatCode>General</c:formatCode>
                <c:ptCount val="6"/>
                <c:pt idx="0">
                  <c:v>77</c:v>
                </c:pt>
                <c:pt idx="1">
                  <c:v>72.5</c:v>
                </c:pt>
                <c:pt idx="2">
                  <c:v>29</c:v>
                </c:pt>
                <c:pt idx="3">
                  <c:v>92</c:v>
                </c:pt>
                <c:pt idx="4">
                  <c:v>78.5</c:v>
                </c:pt>
                <c:pt idx="5">
                  <c:v>53</c:v>
                </c:pt>
              </c:numCache>
            </c:numRef>
          </c:val>
          <c:extLst>
            <c:ext xmlns:c16="http://schemas.microsoft.com/office/drawing/2014/chart" uri="{C3380CC4-5D6E-409C-BE32-E72D297353CC}">
              <c16:uniqueId val="{00000000-67E3-AA41-A669-3E3C84C8DC79}"/>
            </c:ext>
          </c:extLst>
        </c:ser>
        <c:ser>
          <c:idx val="1"/>
          <c:order val="1"/>
          <c:tx>
            <c:strRef>
              <c:f>Sheet1!$C$1</c:f>
              <c:strCache>
                <c:ptCount val="1"/>
                <c:pt idx="0">
                  <c:v>Self-Correct R1</c:v>
                </c:pt>
              </c:strCache>
            </c:strRef>
          </c:tx>
          <c:spPr>
            <a:solidFill>
              <a:srgbClr val="B45309"/>
            </a:solidFill>
            <a:effectLst/>
          </c:spPr>
          <c:invertIfNegative val="0"/>
          <c:dLbls>
            <c:numFmt formatCode="#,##0" sourceLinked="0"/>
            <c:spPr>
              <a:noFill/>
              <a:ln>
                <a:noFill/>
              </a:ln>
              <a:effectLst/>
            </c:spPr>
            <c:txPr>
              <a:bodyPr/>
              <a:lstStyle/>
              <a:p>
                <a:pPr>
                  <a:defRPr sz="800" b="0" i="0" u="none" strike="noStrike">
                    <a:solidFill>
                      <a:srgbClr val="0F17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GSM8K (3.5)</c:v>
                </c:pt>
                <c:pt idx="1">
                  <c:v>CSQA (3.5)</c:v>
                </c:pt>
                <c:pt idx="2">
                  <c:v>Hotpot (3.5)</c:v>
                </c:pt>
                <c:pt idx="3">
                  <c:v>GSM8K (GPT-4)</c:v>
                </c:pt>
                <c:pt idx="4">
                  <c:v>CSQA (GPT-4)</c:v>
                </c:pt>
                <c:pt idx="5">
                  <c:v>Hotpot (GPT-4)</c:v>
                </c:pt>
              </c:strCache>
            </c:strRef>
          </c:cat>
          <c:val>
            <c:numRef>
              <c:f>Sheet1!$C$2:$C$7</c:f>
              <c:numCache>
                <c:formatCode>General</c:formatCode>
                <c:ptCount val="6"/>
                <c:pt idx="0">
                  <c:v>75.2</c:v>
                </c:pt>
                <c:pt idx="1">
                  <c:v>63.5</c:v>
                </c:pt>
                <c:pt idx="2">
                  <c:v>26</c:v>
                </c:pt>
                <c:pt idx="3">
                  <c:v>88.5</c:v>
                </c:pt>
                <c:pt idx="4">
                  <c:v>72.5</c:v>
                </c:pt>
                <c:pt idx="5">
                  <c:v>42</c:v>
                </c:pt>
              </c:numCache>
            </c:numRef>
          </c:val>
          <c:extLst>
            <c:ext xmlns:c16="http://schemas.microsoft.com/office/drawing/2014/chart" uri="{C3380CC4-5D6E-409C-BE32-E72D297353CC}">
              <c16:uniqueId val="{00000001-67E3-AA41-A669-3E3C84C8DC79}"/>
            </c:ext>
          </c:extLst>
        </c:ser>
        <c:ser>
          <c:idx val="2"/>
          <c:order val="2"/>
          <c:tx>
            <c:strRef>
              <c:f>Sheet1!$D$1</c:f>
              <c:strCache>
                <c:ptCount val="1"/>
                <c:pt idx="0">
                  <c:v>Self-Correct R2</c:v>
                </c:pt>
              </c:strCache>
            </c:strRef>
          </c:tx>
          <c:spPr>
            <a:solidFill>
              <a:srgbClr val="800020"/>
            </a:solidFill>
            <a:effectLst/>
          </c:spPr>
          <c:invertIfNegative val="0"/>
          <c:dLbls>
            <c:numFmt formatCode="#,##0" sourceLinked="0"/>
            <c:spPr>
              <a:noFill/>
              <a:ln>
                <a:noFill/>
              </a:ln>
              <a:effectLst/>
            </c:spPr>
            <c:txPr>
              <a:bodyPr/>
              <a:lstStyle/>
              <a:p>
                <a:pPr>
                  <a:defRPr sz="800" b="0" i="0" u="none" strike="noStrike">
                    <a:solidFill>
                      <a:srgbClr val="0F17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GSM8K (3.5)</c:v>
                </c:pt>
                <c:pt idx="1">
                  <c:v>CSQA (3.5)</c:v>
                </c:pt>
                <c:pt idx="2">
                  <c:v>Hotpot (3.5)</c:v>
                </c:pt>
                <c:pt idx="3">
                  <c:v>GSM8K (GPT-4)</c:v>
                </c:pt>
                <c:pt idx="4">
                  <c:v>CSQA (GPT-4)</c:v>
                </c:pt>
                <c:pt idx="5">
                  <c:v>Hotpot (GPT-4)</c:v>
                </c:pt>
              </c:strCache>
            </c:strRef>
          </c:cat>
          <c:val>
            <c:numRef>
              <c:f>Sheet1!$D$2:$D$7</c:f>
              <c:numCache>
                <c:formatCode>General</c:formatCode>
                <c:ptCount val="6"/>
                <c:pt idx="0">
                  <c:v>72.599999999999994</c:v>
                </c:pt>
                <c:pt idx="1">
                  <c:v>55.3</c:v>
                </c:pt>
                <c:pt idx="2">
                  <c:v>25</c:v>
                </c:pt>
                <c:pt idx="3">
                  <c:v>88</c:v>
                </c:pt>
                <c:pt idx="4">
                  <c:v>72</c:v>
                </c:pt>
                <c:pt idx="5">
                  <c:v>42</c:v>
                </c:pt>
              </c:numCache>
            </c:numRef>
          </c:val>
          <c:extLst>
            <c:ext xmlns:c16="http://schemas.microsoft.com/office/drawing/2014/chart" uri="{C3380CC4-5D6E-409C-BE32-E72D297353CC}">
              <c16:uniqueId val="{00000002-67E3-AA41-A669-3E3C84C8DC7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F172A"/>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solidFill>
                <a:srgbClr val="0F172A"/>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Standard (CoT)</c:v>
                </c:pt>
              </c:strCache>
            </c:strRef>
          </c:tx>
          <c:spPr>
            <a:solidFill>
              <a:srgbClr val="0F172A"/>
            </a:solidFill>
            <a:effectLst/>
          </c:spPr>
          <c:invertIfNegative val="0"/>
          <c:dLbls>
            <c:numFmt formatCode="#,##0" sourceLinked="0"/>
            <c:spPr>
              <a:noFill/>
              <a:ln>
                <a:noFill/>
              </a:ln>
              <a:effectLst/>
            </c:spPr>
            <c:txPr>
              <a:bodyPr/>
              <a:lstStyle/>
              <a:p>
                <a:pPr>
                  <a:defRPr sz="800" b="0" i="0" u="none" strike="noStrike">
                    <a:solidFill>
                      <a:srgbClr val="0F17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GSM8K (Turbo)</c:v>
                </c:pt>
                <c:pt idx="1">
                  <c:v>CSQA (Turbo)</c:v>
                </c:pt>
                <c:pt idx="2">
                  <c:v>GSM8K (Llama-2)</c:v>
                </c:pt>
                <c:pt idx="3">
                  <c:v>CSQA (Llama-2)</c:v>
                </c:pt>
              </c:strCache>
            </c:strRef>
          </c:cat>
          <c:val>
            <c:numRef>
              <c:f>Sheet1!$B$2:$B$5</c:f>
              <c:numCache>
                <c:formatCode>General</c:formatCode>
                <c:ptCount val="4"/>
                <c:pt idx="0">
                  <c:v>91.5</c:v>
                </c:pt>
                <c:pt idx="1">
                  <c:v>84</c:v>
                </c:pt>
                <c:pt idx="2">
                  <c:v>62</c:v>
                </c:pt>
                <c:pt idx="3">
                  <c:v>64</c:v>
                </c:pt>
              </c:numCache>
            </c:numRef>
          </c:val>
          <c:extLst>
            <c:ext xmlns:c16="http://schemas.microsoft.com/office/drawing/2014/chart" uri="{C3380CC4-5D6E-409C-BE32-E72D297353CC}">
              <c16:uniqueId val="{00000000-3CB2-BE4D-A20B-584972B07F28}"/>
            </c:ext>
          </c:extLst>
        </c:ser>
        <c:ser>
          <c:idx val="1"/>
          <c:order val="1"/>
          <c:tx>
            <c:strRef>
              <c:f>Sheet1!$C$1</c:f>
              <c:strCache>
                <c:ptCount val="1"/>
                <c:pt idx="0">
                  <c:v>Self-Correct R1</c:v>
                </c:pt>
              </c:strCache>
            </c:strRef>
          </c:tx>
          <c:spPr>
            <a:solidFill>
              <a:srgbClr val="B45309"/>
            </a:solidFill>
            <a:effectLst/>
          </c:spPr>
          <c:invertIfNegative val="0"/>
          <c:dLbls>
            <c:numFmt formatCode="#,##0" sourceLinked="0"/>
            <c:spPr>
              <a:noFill/>
              <a:ln>
                <a:noFill/>
              </a:ln>
              <a:effectLst/>
            </c:spPr>
            <c:txPr>
              <a:bodyPr/>
              <a:lstStyle/>
              <a:p>
                <a:pPr>
                  <a:defRPr sz="800" b="0" i="0" u="none" strike="noStrike">
                    <a:solidFill>
                      <a:srgbClr val="0F17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GSM8K (Turbo)</c:v>
                </c:pt>
                <c:pt idx="1">
                  <c:v>CSQA (Turbo)</c:v>
                </c:pt>
                <c:pt idx="2">
                  <c:v>GSM8K (Llama-2)</c:v>
                </c:pt>
                <c:pt idx="3">
                  <c:v>CSQA (Llama-2)</c:v>
                </c:pt>
              </c:strCache>
            </c:strRef>
          </c:cat>
          <c:val>
            <c:numRef>
              <c:f>Sheet1!$C$2:$C$5</c:f>
              <c:numCache>
                <c:formatCode>General</c:formatCode>
                <c:ptCount val="4"/>
                <c:pt idx="0">
                  <c:v>88</c:v>
                </c:pt>
                <c:pt idx="1">
                  <c:v>81.5</c:v>
                </c:pt>
                <c:pt idx="2">
                  <c:v>43.5</c:v>
                </c:pt>
                <c:pt idx="3">
                  <c:v>37.5</c:v>
                </c:pt>
              </c:numCache>
            </c:numRef>
          </c:val>
          <c:extLst>
            <c:ext xmlns:c16="http://schemas.microsoft.com/office/drawing/2014/chart" uri="{C3380CC4-5D6E-409C-BE32-E72D297353CC}">
              <c16:uniqueId val="{00000001-3CB2-BE4D-A20B-584972B07F28}"/>
            </c:ext>
          </c:extLst>
        </c:ser>
        <c:ser>
          <c:idx val="2"/>
          <c:order val="2"/>
          <c:tx>
            <c:strRef>
              <c:f>Sheet1!$D$1</c:f>
              <c:strCache>
                <c:ptCount val="1"/>
                <c:pt idx="0">
                  <c:v>Self-Correct R2</c:v>
                </c:pt>
              </c:strCache>
            </c:strRef>
          </c:tx>
          <c:spPr>
            <a:solidFill>
              <a:srgbClr val="800020"/>
            </a:solidFill>
            <a:effectLst/>
          </c:spPr>
          <c:invertIfNegative val="0"/>
          <c:dLbls>
            <c:numFmt formatCode="#,##0" sourceLinked="0"/>
            <c:spPr>
              <a:noFill/>
              <a:ln>
                <a:noFill/>
              </a:ln>
              <a:effectLst/>
            </c:spPr>
            <c:txPr>
              <a:bodyPr/>
              <a:lstStyle/>
              <a:p>
                <a:pPr>
                  <a:defRPr sz="800" b="0" i="0" u="none" strike="noStrike">
                    <a:solidFill>
                      <a:srgbClr val="0F17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GSM8K (Turbo)</c:v>
                </c:pt>
                <c:pt idx="1">
                  <c:v>CSQA (Turbo)</c:v>
                </c:pt>
                <c:pt idx="2">
                  <c:v>GSM8K (Llama-2)</c:v>
                </c:pt>
                <c:pt idx="3">
                  <c:v>CSQA (Llama-2)</c:v>
                </c:pt>
              </c:strCache>
            </c:strRef>
          </c:cat>
          <c:val>
            <c:numRef>
              <c:f>Sheet1!$D$2:$D$5</c:f>
              <c:numCache>
                <c:formatCode>General</c:formatCode>
                <c:ptCount val="4"/>
                <c:pt idx="0">
                  <c:v>90</c:v>
                </c:pt>
                <c:pt idx="1">
                  <c:v>83</c:v>
                </c:pt>
                <c:pt idx="2">
                  <c:v>36.5</c:v>
                </c:pt>
                <c:pt idx="3">
                  <c:v>36.5</c:v>
                </c:pt>
              </c:numCache>
            </c:numRef>
          </c:val>
          <c:extLst>
            <c:ext xmlns:c16="http://schemas.microsoft.com/office/drawing/2014/chart" uri="{C3380CC4-5D6E-409C-BE32-E72D297353CC}">
              <c16:uniqueId val="{00000002-3CB2-BE4D-A20B-584972B07F2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F172A"/>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solidFill>
                <a:srgbClr val="0F172A"/>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Transitions</c:v>
                </c:pt>
              </c:strCache>
            </c:strRef>
          </c:tx>
          <c:spPr>
            <a:solidFill>
              <a:schemeClr val="accent1"/>
            </a:solidFill>
            <a:ln w="9525" cap="flat">
              <a:solidFill>
                <a:srgbClr val="F9F9F9"/>
              </a:solidFill>
              <a:prstDash val="solid"/>
              <a:round/>
            </a:ln>
            <a:effectLst/>
          </c:spPr>
          <c:dPt>
            <c:idx val="0"/>
            <c:bubble3D val="0"/>
            <c:spPr>
              <a:solidFill>
                <a:srgbClr val="0F172A"/>
              </a:solidFill>
              <a:effectLst/>
            </c:spPr>
            <c:extLst>
              <c:ext xmlns:c16="http://schemas.microsoft.com/office/drawing/2014/chart" uri="{C3380CC4-5D6E-409C-BE32-E72D297353CC}">
                <c16:uniqueId val="{00000001-CE5E-2942-98C0-81F2D573A737}"/>
              </c:ext>
            </c:extLst>
          </c:dPt>
          <c:dPt>
            <c:idx val="1"/>
            <c:bubble3D val="0"/>
            <c:spPr>
              <a:solidFill>
                <a:srgbClr val="800020"/>
              </a:solidFill>
              <a:effectLst/>
            </c:spPr>
            <c:extLst>
              <c:ext xmlns:c16="http://schemas.microsoft.com/office/drawing/2014/chart" uri="{C3380CC4-5D6E-409C-BE32-E72D297353CC}">
                <c16:uniqueId val="{00000003-CE5E-2942-98C0-81F2D573A737}"/>
              </c:ext>
            </c:extLst>
          </c:dPt>
          <c:dPt>
            <c:idx val="2"/>
            <c:bubble3D val="0"/>
            <c:spPr>
              <a:solidFill>
                <a:srgbClr val="166534"/>
              </a:solidFill>
              <a:effectLst/>
            </c:spPr>
            <c:extLst>
              <c:ext xmlns:c16="http://schemas.microsoft.com/office/drawing/2014/chart" uri="{C3380CC4-5D6E-409C-BE32-E72D297353CC}">
                <c16:uniqueId val="{00000005-CE5E-2942-98C0-81F2D573A737}"/>
              </c:ext>
            </c:extLst>
          </c:dPt>
          <c:dPt>
            <c:idx val="3"/>
            <c:bubble3D val="0"/>
            <c:spPr>
              <a:solidFill>
                <a:srgbClr val="800020"/>
              </a:solidFill>
              <a:effectLst/>
            </c:spPr>
            <c:extLst>
              <c:ext xmlns:c16="http://schemas.microsoft.com/office/drawing/2014/chart" uri="{C3380CC4-5D6E-409C-BE32-E72D297353CC}">
                <c16:uniqueId val="{00000007-CE5E-2942-98C0-81F2D573A737}"/>
              </c:ext>
            </c:extLst>
          </c:dPt>
          <c:dLbls>
            <c:dLbl>
              <c:idx val="0"/>
              <c:numFmt formatCode="General" sourceLinked="0"/>
              <c:spPr/>
              <c:txPr>
                <a:bodyPr/>
                <a:lstStyle/>
                <a:p>
                  <a:pPr>
                    <a:defRPr sz="8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E5E-2942-98C0-81F2D573A737}"/>
                </c:ext>
              </c:extLst>
            </c:dLbl>
            <c:dLbl>
              <c:idx val="1"/>
              <c:numFmt formatCode="General" sourceLinked="0"/>
              <c:spPr/>
              <c:txPr>
                <a:bodyPr/>
                <a:lstStyle/>
                <a:p>
                  <a:pPr>
                    <a:defRPr sz="8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E5E-2942-98C0-81F2D573A737}"/>
                </c:ext>
              </c:extLst>
            </c:dLbl>
            <c:dLbl>
              <c:idx val="2"/>
              <c:numFmt formatCode="General" sourceLinked="0"/>
              <c:spPr/>
              <c:txPr>
                <a:bodyPr/>
                <a:lstStyle/>
                <a:p>
                  <a:pPr>
                    <a:defRPr sz="8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E5E-2942-98C0-81F2D573A737}"/>
                </c:ext>
              </c:extLst>
            </c:dLbl>
            <c:dLbl>
              <c:idx val="3"/>
              <c:numFmt formatCode="General" sourceLinked="0"/>
              <c:spPr/>
              <c:txPr>
                <a:bodyPr/>
                <a:lstStyle/>
                <a:p>
                  <a:pPr>
                    <a:defRPr sz="8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E5E-2942-98C0-81F2D573A737}"/>
                </c:ext>
              </c:extLst>
            </c:dLbl>
            <c:numFmt formatCode="General"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Unchanged 74.7%</c:v>
                </c:pt>
                <c:pt idx="1">
                  <c:v>Correct-&gt;Wrong 8.9%</c:v>
                </c:pt>
                <c:pt idx="2">
                  <c:v>Wrong-&gt;Correct 7.6%</c:v>
                </c:pt>
                <c:pt idx="3">
                  <c:v>Stayed Wrong 8.8%</c:v>
                </c:pt>
              </c:strCache>
            </c:strRef>
          </c:cat>
          <c:val>
            <c:numRef>
              <c:f>Sheet1!$B$2:$B$5</c:f>
              <c:numCache>
                <c:formatCode>General</c:formatCode>
                <c:ptCount val="4"/>
                <c:pt idx="0">
                  <c:v>74.7</c:v>
                </c:pt>
                <c:pt idx="1">
                  <c:v>8.9</c:v>
                </c:pt>
                <c:pt idx="2">
                  <c:v>7.6</c:v>
                </c:pt>
                <c:pt idx="3">
                  <c:v>8.8000000000000007</c:v>
                </c:pt>
              </c:numCache>
            </c:numRef>
          </c:val>
          <c:extLst>
            <c:ext xmlns:c16="http://schemas.microsoft.com/office/drawing/2014/chart" uri="{C3380CC4-5D6E-409C-BE32-E72D297353CC}">
              <c16:uniqueId val="{00000008-CE5E-2942-98C0-81F2D573A737}"/>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800">
              <a:solidFill>
                <a:srgbClr val="0F172A"/>
              </a:solidFill>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E293B"/>
                </a:solidFill>
                <a:latin typeface="Calibri"/>
              </a:defRPr>
            </a:pPr>
            <a:r>
              <a:rPr lang="en-US" sz="1100" b="0" i="0" u="none" strike="noStrike">
                <a:solidFill>
                  <a:srgbClr val="1E293B"/>
                </a:solidFill>
                <a:latin typeface="Calibri"/>
              </a:rPr>
              <a:t>Accuracy at Equal Inference Cost</a:t>
            </a:r>
          </a:p>
        </c:rich>
      </c:tx>
      <c:overlay val="0"/>
    </c:title>
    <c:autoTitleDeleted val="0"/>
    <c:plotArea>
      <c:layout/>
      <c:barChart>
        <c:barDir val="col"/>
        <c:grouping val="clustered"/>
        <c:varyColors val="0"/>
        <c:ser>
          <c:idx val="0"/>
          <c:order val="0"/>
          <c:tx>
            <c:strRef>
              <c:f>Sheet1!$B$1</c:f>
              <c:strCache>
                <c:ptCount val="1"/>
                <c:pt idx="0">
                  <c:v>Self-Consistency</c:v>
                </c:pt>
              </c:strCache>
            </c:strRef>
          </c:tx>
          <c:spPr>
            <a:solidFill>
              <a:srgbClr val="800020"/>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6 responses</c:v>
                </c:pt>
                <c:pt idx="1">
                  <c:v>9 responses</c:v>
                </c:pt>
              </c:strCache>
            </c:strRef>
          </c:cat>
          <c:val>
            <c:numRef>
              <c:f>Sheet1!$B$2:$B$3</c:f>
              <c:numCache>
                <c:formatCode>General</c:formatCode>
                <c:ptCount val="2"/>
                <c:pt idx="0">
                  <c:v>85.3</c:v>
                </c:pt>
                <c:pt idx="1">
                  <c:v>88.2</c:v>
                </c:pt>
              </c:numCache>
            </c:numRef>
          </c:val>
          <c:extLst>
            <c:ext xmlns:c16="http://schemas.microsoft.com/office/drawing/2014/chart" uri="{C3380CC4-5D6E-409C-BE32-E72D297353CC}">
              <c16:uniqueId val="{00000000-BB4A-9448-B5E3-4F68A2B35295}"/>
            </c:ext>
          </c:extLst>
        </c:ser>
        <c:ser>
          <c:idx val="1"/>
          <c:order val="1"/>
          <c:tx>
            <c:strRef>
              <c:f>Sheet1!$C$1</c:f>
              <c:strCache>
                <c:ptCount val="1"/>
                <c:pt idx="0">
                  <c:v>Multi-Agent Debate</c:v>
                </c:pt>
              </c:strCache>
            </c:strRef>
          </c:tx>
          <c:spPr>
            <a:solidFill>
              <a:srgbClr val="0F172A"/>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6 responses</c:v>
                </c:pt>
                <c:pt idx="1">
                  <c:v>9 responses</c:v>
                </c:pt>
              </c:strCache>
            </c:strRef>
          </c:cat>
          <c:val>
            <c:numRef>
              <c:f>Sheet1!$C$2:$C$3</c:f>
              <c:numCache>
                <c:formatCode>General</c:formatCode>
                <c:ptCount val="2"/>
                <c:pt idx="0">
                  <c:v>83.2</c:v>
                </c:pt>
                <c:pt idx="1">
                  <c:v>83</c:v>
                </c:pt>
              </c:numCache>
            </c:numRef>
          </c:val>
          <c:extLst>
            <c:ext xmlns:c16="http://schemas.microsoft.com/office/drawing/2014/chart" uri="{C3380CC4-5D6E-409C-BE32-E72D297353CC}">
              <c16:uniqueId val="{00000001-BB4A-9448-B5E3-4F68A2B35295}"/>
            </c:ext>
          </c:extLst>
        </c:ser>
        <c:dLbls>
          <c:showLegendKey val="0"/>
          <c:showVal val="1"/>
          <c:showCatName val="0"/>
          <c:showSerName val="0"/>
          <c:showPercent val="0"/>
          <c:showBubbleSize val="0"/>
        </c:dLbls>
        <c:gapWidth val="150"/>
        <c:axId val="298474792"/>
        <c:axId val="298475576"/>
      </c:barChart>
      <c:catAx>
        <c:axId val="298474792"/>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Calibri"/>
              </a:defRPr>
            </a:pPr>
            <a:endParaRPr lang="en-US"/>
          </a:p>
        </c:txPr>
        <c:crossAx val="298475576"/>
        <c:crosses val="autoZero"/>
        <c:auto val="1"/>
        <c:lblAlgn val="ctr"/>
        <c:lblOffset val="100"/>
        <c:noMultiLvlLbl val="1"/>
      </c:catAx>
      <c:valAx>
        <c:axId val="298475576"/>
        <c:scaling>
          <c:orientation val="minMax"/>
          <c:max val="100"/>
          <c:min val="0"/>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Calibri"/>
              </a:defRPr>
            </a:pPr>
            <a:endParaRPr lang="en-US"/>
          </a:p>
        </c:txPr>
        <c:crossAx val="298474792"/>
        <c:crosses val="autoZero"/>
        <c:crossBetween val="between"/>
      </c:valAx>
      <c:spPr>
        <a:noFill/>
        <a:ln>
          <a:noFill/>
        </a:ln>
        <a:effectLst/>
      </c:spPr>
    </c:plotArea>
    <c:legend>
      <c:legendPos val="b"/>
      <c:overlay val="0"/>
      <c:txPr>
        <a:bodyPr/>
        <a:lstStyle/>
        <a:p>
          <a:pPr>
            <a:defRPr sz="900">
              <a:solidFill>
                <a:srgbClr val="64748B"/>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8783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Nafis Islam Kabbo welcomes the audience, introduces the ICLR 2024 paper, and presents the group members.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Nafis Islam Kabbo outlines the roadmap across six core sections.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Nafis Islam Kabbo explains the 3-step closed-loop self-correction pipeline.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Nafis Islam Kabbo explains why autoregressive generation causes error cascades in multi-step reasoning.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Nafis Islam Kabbo presents the central paradox that motivates the study.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Thank you, </a:t>
            </a:r>
            <a:r>
              <a:rPr lang="en-US" sz="1200" b="0" i="0" kern="1200" dirty="0" err="1">
                <a:solidFill>
                  <a:schemeClr val="tx1"/>
                </a:solidFill>
                <a:effectLst/>
                <a:latin typeface="+mn-lt"/>
                <a:ea typeface="+mn-ea"/>
                <a:cs typeface="+mn-cs"/>
              </a:rPr>
              <a:t>Srijon</a:t>
            </a:r>
            <a:r>
              <a:rPr lang="en-US" sz="1200" b="0" i="0" kern="1200" dirty="0">
                <a:solidFill>
                  <a:schemeClr val="tx1"/>
                </a:solidFill>
                <a:effectLst/>
                <a:latin typeface="+mn-lt"/>
                <a:ea typeface="+mn-ea"/>
                <a:cs typeface="+mn-cs"/>
              </a:rPr>
              <a:t>. I will now examine the prior literature and why earlier claims looked so convincing on paper.</a:t>
            </a:r>
          </a:p>
          <a:p>
            <a:endParaRPr lang="en-US" sz="1200" b="0" i="1"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"If you followed AI research throughout 2023, it felt like every quarter brought a shiny new framework claiming language models could fix their own mistakes. It was the same excitement we see today whenever rumors drop about unreleased models like Fable 5.1 or secret codenames. Everyone wanted to believe that self-correction was a solved problem."</a:t>
            </a:r>
          </a:p>
          <a:p>
            <a:endParaRPr lang="en-US" sz="1200" b="0" i="1"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Look at the four timeline cards across 2023 on our slide.</a:t>
            </a:r>
          </a:p>
          <a:p>
            <a:r>
              <a:rPr lang="en-US" sz="1200" b="0" i="0" kern="1200" dirty="0">
                <a:solidFill>
                  <a:schemeClr val="tx1"/>
                </a:solidFill>
                <a:effectLst/>
                <a:latin typeface="+mn-lt"/>
                <a:ea typeface="+mn-ea"/>
                <a:cs typeface="+mn-cs"/>
              </a:rPr>
              <a:t>In Q1, Kim and colleagues published </a:t>
            </a:r>
            <a:r>
              <a:rPr lang="en-US" sz="1200" b="1" i="0" kern="1200" dirty="0">
                <a:solidFill>
                  <a:schemeClr val="tx1"/>
                </a:solidFill>
                <a:effectLst/>
                <a:latin typeface="+mn-lt"/>
                <a:ea typeface="+mn-ea"/>
                <a:cs typeface="+mn-cs"/>
              </a:rPr>
              <a:t>RCI</a:t>
            </a:r>
            <a:r>
              <a:rPr lang="en-US" sz="1200" b="0" i="0" kern="1200" dirty="0">
                <a:solidFill>
                  <a:schemeClr val="tx1"/>
                </a:solidFill>
                <a:effectLst/>
                <a:latin typeface="+mn-lt"/>
                <a:ea typeface="+mn-ea"/>
                <a:cs typeface="+mn-cs"/>
              </a:rPr>
              <a:t>, claiming a 7% boost on math and reasoning by prompting the model to recursively critique its own code.</a:t>
            </a:r>
          </a:p>
          <a:p>
            <a:r>
              <a:rPr lang="en-US" sz="1200" b="0" i="0" kern="1200" dirty="0">
                <a:solidFill>
                  <a:schemeClr val="tx1"/>
                </a:solidFill>
                <a:effectLst/>
                <a:latin typeface="+mn-lt"/>
                <a:ea typeface="+mn-ea"/>
                <a:cs typeface="+mn-cs"/>
              </a:rPr>
              <a:t>In Q2, Shinn and colleagues introduced </a:t>
            </a:r>
            <a:r>
              <a:rPr lang="en-US" sz="1200" b="1" i="0" kern="1200" dirty="0" err="1">
                <a:solidFill>
                  <a:schemeClr val="tx1"/>
                </a:solidFill>
                <a:effectLst/>
                <a:latin typeface="+mn-lt"/>
                <a:ea typeface="+mn-ea"/>
                <a:cs typeface="+mn-cs"/>
              </a:rPr>
              <a:t>Reflexion</a:t>
            </a:r>
            <a:r>
              <a:rPr lang="en-US" sz="1200" b="0" i="0" kern="1200" dirty="0">
                <a:solidFill>
                  <a:schemeClr val="tx1"/>
                </a:solidFill>
                <a:effectLst/>
                <a:latin typeface="+mn-lt"/>
                <a:ea typeface="+mn-ea"/>
                <a:cs typeface="+mn-cs"/>
              </a:rPr>
              <a:t>, claiming an 11% improvement by storing verbal reflections across multiple trials.</a:t>
            </a:r>
          </a:p>
          <a:p>
            <a:r>
              <a:rPr lang="en-US" sz="1200" b="0" i="0" kern="1200" dirty="0">
                <a:solidFill>
                  <a:schemeClr val="tx1"/>
                </a:solidFill>
                <a:effectLst/>
                <a:latin typeface="+mn-lt"/>
                <a:ea typeface="+mn-ea"/>
                <a:cs typeface="+mn-cs"/>
              </a:rPr>
              <a:t>In Q3, Madaan and colleagues introduced </a:t>
            </a:r>
            <a:r>
              <a:rPr lang="en-US" sz="1200" b="1" i="0" kern="1200" dirty="0">
                <a:solidFill>
                  <a:schemeClr val="tx1"/>
                </a:solidFill>
                <a:effectLst/>
                <a:latin typeface="+mn-lt"/>
                <a:ea typeface="+mn-ea"/>
                <a:cs typeface="+mn-cs"/>
              </a:rPr>
              <a:t>Self-Refine</a:t>
            </a:r>
            <a:r>
              <a:rPr lang="en-US" sz="1200" b="0" i="0" kern="1200" dirty="0">
                <a:solidFill>
                  <a:schemeClr val="tx1"/>
                </a:solidFill>
                <a:effectLst/>
                <a:latin typeface="+mn-lt"/>
                <a:ea typeface="+mn-ea"/>
                <a:cs typeface="+mn-cs"/>
              </a:rPr>
              <a:t>, reporting a 10% gain using structured feedback checklists.</a:t>
            </a:r>
          </a:p>
          <a:p>
            <a:r>
              <a:rPr lang="en-US" sz="1200" b="0" i="0" kern="1200" dirty="0">
                <a:solidFill>
                  <a:schemeClr val="tx1"/>
                </a:solidFill>
                <a:effectLst/>
                <a:latin typeface="+mn-lt"/>
                <a:ea typeface="+mn-ea"/>
                <a:cs typeface="+mn-cs"/>
              </a:rPr>
              <a:t>And in Q4, Du and colleagues claimed </a:t>
            </a:r>
            <a:r>
              <a:rPr lang="en-US" sz="1200" b="1" i="0" kern="1200" dirty="0">
                <a:solidFill>
                  <a:schemeClr val="tx1"/>
                </a:solidFill>
                <a:effectLst/>
                <a:latin typeface="+mn-lt"/>
                <a:ea typeface="+mn-ea"/>
                <a:cs typeface="+mn-cs"/>
              </a:rPr>
              <a:t>Multi-Agent Debate</a:t>
            </a:r>
            <a:r>
              <a:rPr lang="en-US" sz="1200" b="0" i="0" kern="1200" dirty="0">
                <a:solidFill>
                  <a:schemeClr val="tx1"/>
                </a:solidFill>
                <a:effectLst/>
                <a:latin typeface="+mn-lt"/>
                <a:ea typeface="+mn-ea"/>
                <a:cs typeface="+mn-cs"/>
              </a:rPr>
              <a:t> gave another 4% boost by having multiple instances debate divergent answers.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On the surface, these numbers looked great. But look at the callout at the bottom of the slide: </a:t>
            </a:r>
            <a:r>
              <a:rPr lang="en-US" sz="1200" b="1" i="0" kern="1200" dirty="0">
                <a:solidFill>
                  <a:schemeClr val="tx1"/>
                </a:solidFill>
                <a:effectLst/>
                <a:latin typeface="+mn-lt"/>
                <a:ea typeface="+mn-ea"/>
                <a:cs typeface="+mn-cs"/>
              </a:rPr>
              <a:t>what the timeline hides</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When you inspect the experimental setups, none of these gains came from intrinsic self-correction. Both RCI and </a:t>
            </a:r>
            <a:r>
              <a:rPr lang="en-US" sz="1200" b="0" i="0" kern="1200" dirty="0" err="1">
                <a:solidFill>
                  <a:schemeClr val="tx1"/>
                </a:solidFill>
                <a:effectLst/>
                <a:latin typeface="+mn-lt"/>
                <a:ea typeface="+mn-ea"/>
                <a:cs typeface="+mn-cs"/>
              </a:rPr>
              <a:t>Reflexion</a:t>
            </a:r>
            <a:r>
              <a:rPr lang="en-US" sz="1200" b="0" i="0" kern="1200" dirty="0">
                <a:solidFill>
                  <a:schemeClr val="tx1"/>
                </a:solidFill>
                <a:effectLst/>
                <a:latin typeface="+mn-lt"/>
                <a:ea typeface="+mn-ea"/>
                <a:cs typeface="+mn-cs"/>
              </a:rPr>
              <a:t> relied on </a:t>
            </a:r>
            <a:r>
              <a:rPr lang="en-US" sz="1200" b="1" i="0" kern="1200" dirty="0">
                <a:solidFill>
                  <a:schemeClr val="tx1"/>
                </a:solidFill>
                <a:effectLst/>
                <a:latin typeface="+mn-lt"/>
                <a:ea typeface="+mn-ea"/>
                <a:cs typeface="+mn-cs"/>
              </a:rPr>
              <a:t>oracle leakage</a:t>
            </a:r>
            <a:r>
              <a:rPr lang="en-US" sz="1200" b="0" i="0" kern="1200" dirty="0">
                <a:solidFill>
                  <a:schemeClr val="tx1"/>
                </a:solidFill>
                <a:effectLst/>
                <a:latin typeface="+mn-lt"/>
                <a:ea typeface="+mn-ea"/>
                <a:cs typeface="+mn-cs"/>
              </a:rPr>
              <a:t>, meaning the test harness secretly told the model when it got an answer wrong. Self-Refine relied on a </a:t>
            </a:r>
            <a:r>
              <a:rPr lang="en-US" sz="1200" b="1" i="0" kern="1200" dirty="0">
                <a:solidFill>
                  <a:schemeClr val="tx1"/>
                </a:solidFill>
                <a:effectLst/>
                <a:latin typeface="+mn-lt"/>
                <a:ea typeface="+mn-ea"/>
                <a:cs typeface="+mn-cs"/>
              </a:rPr>
              <a:t>prompt trick</a:t>
            </a:r>
            <a:r>
              <a:rPr lang="en-US" sz="1200" b="0" i="0" kern="1200" dirty="0">
                <a:solidFill>
                  <a:schemeClr val="tx1"/>
                </a:solidFill>
                <a:effectLst/>
                <a:latin typeface="+mn-lt"/>
                <a:ea typeface="+mn-ea"/>
                <a:cs typeface="+mn-cs"/>
              </a:rPr>
              <a:t>, where rules were omitted in the initial prompt and only provided during feedback. And Multi-Agent Debate simply burned three to six times more compute.</a:t>
            </a: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33C92-BD8D-A96C-9E12-AE60EED294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7DE2DE-37F1-DC1A-15F8-39528D0712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7744AD-402A-A0BF-FFCC-D05273512708}"/>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This slide illustrates the core distinction that prior literature often conflated: a </a:t>
            </a:r>
            <a:r>
              <a:rPr lang="en-US" sz="1200" b="1" i="0" kern="1200" dirty="0">
                <a:solidFill>
                  <a:schemeClr val="tx1"/>
                </a:solidFill>
                <a:effectLst/>
                <a:latin typeface="+mn-lt"/>
                <a:ea typeface="+mn-ea"/>
                <a:cs typeface="+mn-cs"/>
              </a:rPr>
              <a:t>closed loop</a:t>
            </a:r>
            <a:r>
              <a:rPr lang="en-US" sz="1200" b="0" i="0" kern="1200" dirty="0">
                <a:solidFill>
                  <a:schemeClr val="tx1"/>
                </a:solidFill>
                <a:effectLst/>
                <a:latin typeface="+mn-lt"/>
                <a:ea typeface="+mn-ea"/>
                <a:cs typeface="+mn-cs"/>
              </a:rPr>
              <a:t> versus a </a:t>
            </a:r>
            <a:r>
              <a:rPr lang="en-US" sz="1200" b="1" i="0" kern="1200" dirty="0">
                <a:solidFill>
                  <a:schemeClr val="tx1"/>
                </a:solidFill>
                <a:effectLst/>
                <a:latin typeface="+mn-lt"/>
                <a:ea typeface="+mn-ea"/>
                <a:cs typeface="+mn-cs"/>
              </a:rPr>
              <a:t>grounded loop</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Look at the red box on the left. This is the </a:t>
            </a:r>
            <a:r>
              <a:rPr lang="en-US" sz="1200" b="1" i="0" kern="1200" dirty="0">
                <a:solidFill>
                  <a:schemeClr val="tx1"/>
                </a:solidFill>
                <a:effectLst/>
                <a:latin typeface="+mn-lt"/>
                <a:ea typeface="+mn-ea"/>
                <a:cs typeface="+mn-cs"/>
              </a:rPr>
              <a:t>closed loop</a:t>
            </a:r>
            <a:r>
              <a:rPr lang="en-US" sz="1200" b="0" i="0" kern="1200" dirty="0">
                <a:solidFill>
                  <a:schemeClr val="tx1"/>
                </a:solidFill>
                <a:effectLst/>
                <a:latin typeface="+mn-lt"/>
                <a:ea typeface="+mn-ea"/>
                <a:cs typeface="+mn-cs"/>
              </a:rPr>
              <a:t>, which is the exact focus of our paper. The model generates an initial answer, receives an unguided prompt to find flaws, and attempts a blind revision.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Notice the fundamental flaw: zero new information enters the system. The weights of the model are frozen. You are asking the exact same network that made the error to spot its own error.</a:t>
            </a:r>
          </a:p>
          <a:p>
            <a:endParaRPr lang="en-US" sz="1200" b="0" i="1"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"Anyone who has experimented with language models knows what happens next. If you ask an LLM, 'Are you sure about that?', it immediately panics, apologizes for a mistake it never made, and turns a correct answer into a completely broken one."</a:t>
            </a:r>
          </a:p>
          <a:p>
            <a:r>
              <a:rPr lang="en-US" sz="1200" b="0" i="0" kern="1200" dirty="0">
                <a:solidFill>
                  <a:schemeClr val="tx1"/>
                </a:solidFill>
                <a:effectLst/>
                <a:latin typeface="+mn-lt"/>
                <a:ea typeface="+mn-ea"/>
                <a:cs typeface="+mn-cs"/>
              </a:rPr>
              <a:t>Because of this compliance bias and lack of external truth, intrinsic self-correction consistently decreases accuracy by </a:t>
            </a:r>
            <a:r>
              <a:rPr lang="en-US" sz="1200" b="1" i="0" kern="1200" dirty="0">
                <a:solidFill>
                  <a:schemeClr val="tx1"/>
                </a:solidFill>
                <a:effectLst/>
                <a:latin typeface="+mn-lt"/>
                <a:ea typeface="+mn-ea"/>
                <a:cs typeface="+mn-cs"/>
              </a:rPr>
              <a:t>1.3% to 27.5%</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Now look at the green box on the right. This is the </a:t>
            </a:r>
            <a:r>
              <a:rPr lang="en-US" sz="1200" b="1" i="0" kern="1200" dirty="0">
                <a:solidFill>
                  <a:schemeClr val="tx1"/>
                </a:solidFill>
                <a:effectLst/>
                <a:latin typeface="+mn-lt"/>
                <a:ea typeface="+mn-ea"/>
                <a:cs typeface="+mn-cs"/>
              </a:rPr>
              <a:t>grounded loop</a:t>
            </a:r>
            <a:r>
              <a:rPr lang="en-US" sz="1200" b="0" i="0" kern="1200" dirty="0">
                <a:solidFill>
                  <a:schemeClr val="tx1"/>
                </a:solidFill>
                <a:effectLst/>
                <a:latin typeface="+mn-lt"/>
                <a:ea typeface="+mn-ea"/>
                <a:cs typeface="+mn-cs"/>
              </a:rPr>
              <a:t>, and this is where self-correction genuinely works.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Here, the model writes executable code or equations and runs them in a deterministic environment like a Python interpreter. When the execution fails with an exact traceback, the model conditions its update on objective ground truth. That produces real gains between </a:t>
            </a:r>
            <a:r>
              <a:rPr lang="en-US" sz="1200" b="1" i="0" kern="1200" dirty="0">
                <a:solidFill>
                  <a:schemeClr val="tx1"/>
                </a:solidFill>
                <a:effectLst/>
                <a:latin typeface="+mn-lt"/>
                <a:ea typeface="+mn-ea"/>
                <a:cs typeface="+mn-cs"/>
              </a:rPr>
              <a:t>7% and 15%</a:t>
            </a:r>
            <a:r>
              <a:rPr lang="en-US" sz="1200" b="0" i="0" kern="1200" dirty="0">
                <a:solidFill>
                  <a:schemeClr val="tx1"/>
                </a:solidFill>
                <a:effectLst/>
                <a:latin typeface="+mn-lt"/>
                <a:ea typeface="+mn-ea"/>
                <a:cs typeface="+mn-cs"/>
              </a:rPr>
              <a:t>.</a:t>
            </a:r>
          </a:p>
        </p:txBody>
      </p:sp>
      <p:sp>
        <p:nvSpPr>
          <p:cNvPr id="4" name="Slide Number Placeholder 3">
            <a:extLst>
              <a:ext uri="{FF2B5EF4-FFF2-40B4-BE49-F238E27FC236}">
                <a16:creationId xmlns:a16="http://schemas.microsoft.com/office/drawing/2014/main" id="{BEC15784-276C-084A-96D0-0BB869257466}"/>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7788808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62096-9285-F29E-231D-C963C2395F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34E6CD-DDEF-686C-7840-16DE555690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94337D-2E40-23DB-9CAC-4785FC9A3B26}"/>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On this slide, we present the forensic breakdown of prior claims.</a:t>
            </a:r>
          </a:p>
          <a:p>
            <a:r>
              <a:rPr lang="en-US" sz="1200" b="0" i="0" kern="1200" dirty="0">
                <a:solidFill>
                  <a:schemeClr val="tx1"/>
                </a:solidFill>
                <a:effectLst/>
                <a:latin typeface="+mn-lt"/>
                <a:ea typeface="+mn-ea"/>
                <a:cs typeface="+mn-cs"/>
              </a:rPr>
              <a:t>Look at the paired bar chart on the left. The red bars represent the claimed accuracy improvements from earlier literature. The green bars represent what happens when you run a controlled, scientifically rigorous test.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Notice the striking pattern: every single red bar collapses straight down into green, ending up at or below zero.</a:t>
            </a:r>
          </a:p>
          <a:p>
            <a:r>
              <a:rPr lang="en-US" sz="1200" b="0" i="0" kern="1200" dirty="0">
                <a:solidFill>
                  <a:schemeClr val="tx1"/>
                </a:solidFill>
                <a:effectLst/>
                <a:latin typeface="+mn-lt"/>
                <a:ea typeface="+mn-ea"/>
                <a:cs typeface="+mn-cs"/>
              </a:rPr>
              <a:t>Let us walk through the three cards on the right.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First, </a:t>
            </a:r>
            <a:r>
              <a:rPr lang="en-US" sz="1200" b="1" i="0" kern="1200" dirty="0">
                <a:solidFill>
                  <a:schemeClr val="tx1"/>
                </a:solidFill>
                <a:effectLst/>
                <a:latin typeface="+mn-lt"/>
                <a:ea typeface="+mn-ea"/>
                <a:cs typeface="+mn-cs"/>
              </a:rPr>
              <a:t>Oracle Leakage</a:t>
            </a:r>
            <a:r>
              <a:rPr lang="en-US" sz="1200" b="0" i="0" kern="1200" dirty="0">
                <a:solidFill>
                  <a:schemeClr val="tx1"/>
                </a:solidFill>
                <a:effectLst/>
                <a:latin typeface="+mn-lt"/>
                <a:ea typeface="+mn-ea"/>
                <a:cs typeface="+mn-cs"/>
              </a:rPr>
              <a:t>. Papers like RCI and </a:t>
            </a:r>
            <a:r>
              <a:rPr lang="en-US" sz="1200" b="0" i="0" kern="1200" dirty="0" err="1">
                <a:solidFill>
                  <a:schemeClr val="tx1"/>
                </a:solidFill>
                <a:effectLst/>
                <a:latin typeface="+mn-lt"/>
                <a:ea typeface="+mn-ea"/>
                <a:cs typeface="+mn-cs"/>
              </a:rPr>
              <a:t>Reflexion</a:t>
            </a:r>
            <a:r>
              <a:rPr lang="en-US" sz="1200" b="0" i="0" kern="1200" dirty="0">
                <a:solidFill>
                  <a:schemeClr val="tx1"/>
                </a:solidFill>
                <a:effectLst/>
                <a:latin typeface="+mn-lt"/>
                <a:ea typeface="+mn-ea"/>
                <a:cs typeface="+mn-cs"/>
              </a:rPr>
              <a:t> reported gains of around 10.5%. But their evaluation harness secretly used ground truth labels to shield correct answers. The model was only prompted to self-correct when its answer was already wrong.</a:t>
            </a:r>
          </a:p>
          <a:p>
            <a:endParaRPr lang="en-US" sz="1200" b="0" i="1"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"That is like taking a multiple choice exam where the teacher only taps your desk when you pick the wrong answer and lets you guess again. In real applications, you do not have an oracle. When you prompt the model on all questions, accuracy drops by 2.5%."</a:t>
            </a:r>
          </a:p>
          <a:p>
            <a:endParaRPr lang="en-US" sz="1200" b="0" i="1"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Second, the </a:t>
            </a:r>
            <a:r>
              <a:rPr lang="en-US" sz="1200" b="1" i="0" kern="1200" dirty="0">
                <a:solidFill>
                  <a:schemeClr val="tx1"/>
                </a:solidFill>
                <a:effectLst/>
                <a:latin typeface="+mn-lt"/>
                <a:ea typeface="+mn-ea"/>
                <a:cs typeface="+mn-cs"/>
              </a:rPr>
              <a:t>Compute Gap</a:t>
            </a:r>
            <a:r>
              <a:rPr lang="en-US" sz="1200" b="0" i="0" kern="1200" dirty="0">
                <a:solidFill>
                  <a:schemeClr val="tx1"/>
                </a:solidFill>
                <a:effectLst/>
                <a:latin typeface="+mn-lt"/>
                <a:ea typeface="+mn-ea"/>
                <a:cs typeface="+mn-cs"/>
              </a:rPr>
              <a:t>. Multi-Agent Debate claimed a 4% gain. But running three agents through rounds of debate consumes 6x the token budget. When the authors matched compute by giving single-agent Self-Consistency the exact same number of sample calls, standard majority voting beat debate by 1.5%.</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Third, the </a:t>
            </a:r>
            <a:r>
              <a:rPr lang="en-US" sz="1200" b="1" i="0" kern="1200" dirty="0">
                <a:solidFill>
                  <a:schemeClr val="tx1"/>
                </a:solidFill>
                <a:effectLst/>
                <a:latin typeface="+mn-lt"/>
                <a:ea typeface="+mn-ea"/>
                <a:cs typeface="+mn-cs"/>
              </a:rPr>
              <a:t>Prompt Trick</a:t>
            </a:r>
            <a:r>
              <a:rPr lang="en-US" sz="1200" b="0" i="0" kern="1200" dirty="0">
                <a:solidFill>
                  <a:schemeClr val="tx1"/>
                </a:solidFill>
                <a:effectLst/>
                <a:latin typeface="+mn-lt"/>
                <a:ea typeface="+mn-ea"/>
                <a:cs typeface="+mn-cs"/>
              </a:rPr>
              <a:t>. Self-Refine reported a 10% gain. However, the initial prompt omitted critical formatting rules, which were only introduced in the feedback prompt. When you provide the complete prompt from the start, the self-correction gain drops to exactly 0.0%.</a:t>
            </a:r>
          </a:p>
        </p:txBody>
      </p:sp>
      <p:sp>
        <p:nvSpPr>
          <p:cNvPr id="4" name="Slide Number Placeholder 3">
            <a:extLst>
              <a:ext uri="{FF2B5EF4-FFF2-40B4-BE49-F238E27FC236}">
                <a16:creationId xmlns:a16="http://schemas.microsoft.com/office/drawing/2014/main" id="{255C16DF-D16B-A178-3A8D-B034E59ACDC9}"/>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5902030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Anindo introduces the three evaluation tasks, covering arithmetic on GSM8K, logic on CommonSenseQA, and multi-hop reasoning on HotpotQA.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Anindo presents the evaluated models and strict experimental controls.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Anindo contrasts the oracle feedback procedure against intrinsic blind self-correction.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6589E-6975-A63E-3AD7-A7A610BBE1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C3994E-C46F-5366-4266-5D91F646FE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F95ABB-156A-F466-3FFB-A9F06BCC444E}"/>
              </a:ext>
            </a:extLst>
          </p:cNvPr>
          <p:cNvSpPr>
            <a:spLocks noGrp="1"/>
          </p:cNvSpPr>
          <p:nvPr>
            <p:ph type="body" idx="1"/>
          </p:nvPr>
        </p:nvSpPr>
        <p:spPr/>
        <p:txBody>
          <a:bodyPr/>
          <a:lstStyle/>
          <a:p>
            <a:r>
              <a:rPr lang="en-US" dirty="0"/>
              <a:t>Speaker: Anindo contrasts the oracle feedback procedure against intrinsic blind self-correction.</a:t>
            </a:r>
          </a:p>
        </p:txBody>
      </p:sp>
      <p:sp>
        <p:nvSpPr>
          <p:cNvPr id="4" name="Slide Number Placeholder 3">
            <a:extLst>
              <a:ext uri="{FF2B5EF4-FFF2-40B4-BE49-F238E27FC236}">
                <a16:creationId xmlns:a16="http://schemas.microsoft.com/office/drawing/2014/main" id="{1F57A201-FD08-55BE-90EE-5E398993BDF9}"/>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7258196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Mahid presents the headline empirical finding that intrinsic correction fails across all models.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Mahid details the numerical drops across GPT-3.5 and GPT-4.</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Mahid highlights the severe collapse of Llama-2 under self-correction prompting.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Mahid shows that harmful flips exceed beneficial fixes, explaining the net decline in accuracy.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Jebon walks through the concrete Yogurt problem case study from Figure 2, demonstrating how self-critique prompts cause models to hallucinate errors and flip correct $75 answers to incorrect $150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Refayet synthesizes the paper's three main conclusions.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Refayet discusses the study's scope limitations and methodological boundaries.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Refayet outlines future research directions including tool integration and learned process reward models.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Refayet concludes the presentation and opens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2377440" cy="320040"/>
          </a:xfrm>
          <a:prstGeom prst="roundRect">
            <a:avLst>
              <a:gd name="adj" fmla="val 22857"/>
            </a:avLst>
          </a:prstGeom>
          <a:solidFill>
            <a:srgbClr val="FFF1F2"/>
          </a:solidFill>
          <a:ln w="12700">
            <a:solidFill>
              <a:srgbClr val="800020"/>
            </a:solidFill>
            <a:prstDash val="solid"/>
          </a:ln>
        </p:spPr>
        <p:txBody>
          <a:bodyPr/>
          <a:lstStyle/>
          <a:p>
            <a:endParaRPr lang="en-US" dirty="0"/>
          </a:p>
        </p:txBody>
      </p:sp>
      <p:sp>
        <p:nvSpPr>
          <p:cNvPr id="3" name="Text 1"/>
          <p:cNvSpPr/>
          <p:nvPr/>
        </p:nvSpPr>
        <p:spPr>
          <a:xfrm>
            <a:off x="548640" y="411480"/>
            <a:ext cx="2377440" cy="320040"/>
          </a:xfrm>
          <a:prstGeom prst="rect">
            <a:avLst/>
          </a:prstGeom>
          <a:noFill/>
          <a:ln/>
        </p:spPr>
        <p:txBody>
          <a:bodyPr wrap="square" lIns="0" tIns="0" rIns="0" bIns="0" rtlCol="0" anchor="ctr"/>
          <a:lstStyle/>
          <a:p>
            <a:pPr marL="0" indent="0" algn="ctr">
              <a:buNone/>
            </a:pPr>
            <a:r>
              <a:rPr lang="en-US" sz="900" b="1" kern="0" spc="100" dirty="0">
                <a:solidFill>
                  <a:srgbClr val="800020"/>
                </a:solidFill>
                <a:latin typeface="Calibri" pitchFamily="34" charset="0"/>
                <a:ea typeface="Calibri" pitchFamily="34" charset="-122"/>
                <a:cs typeface="Calibri" pitchFamily="34" charset="-120"/>
              </a:rPr>
              <a:t>ICLR 2024 CONFERENCE PAPER</a:t>
            </a:r>
            <a:endParaRPr lang="en-US" sz="900" dirty="0"/>
          </a:p>
        </p:txBody>
      </p:sp>
      <p:sp>
        <p:nvSpPr>
          <p:cNvPr id="4" name="Text 2"/>
          <p:cNvSpPr/>
          <p:nvPr/>
        </p:nvSpPr>
        <p:spPr>
          <a:xfrm>
            <a:off x="548641" y="868680"/>
            <a:ext cx="4023360" cy="1412504"/>
          </a:xfrm>
          <a:prstGeom prst="rect">
            <a:avLst/>
          </a:prstGeom>
          <a:noFill/>
          <a:ln/>
        </p:spPr>
        <p:txBody>
          <a:bodyPr wrap="square" lIns="0" tIns="0" rIns="0" bIns="0" rtlCol="0" anchor="ctr"/>
          <a:lstStyle/>
          <a:p>
            <a:pPr marL="0" indent="0" algn="l">
              <a:lnSpc>
                <a:spcPct val="108000"/>
              </a:lnSpc>
              <a:buNone/>
            </a:pPr>
            <a:r>
              <a:rPr lang="en-US" sz="2500" b="1" dirty="0">
                <a:solidFill>
                  <a:srgbClr val="0F172A"/>
                </a:solidFill>
                <a:latin typeface="Century Schoolbook" pitchFamily="34" charset="0"/>
                <a:ea typeface="Century Schoolbook" pitchFamily="34" charset="-122"/>
                <a:cs typeface="Century Schoolbook" pitchFamily="34" charset="-120"/>
              </a:rPr>
              <a:t>Large Language Models</a:t>
            </a:r>
            <a:endParaRPr lang="en-US" sz="2500" dirty="0"/>
          </a:p>
          <a:p>
            <a:pPr marL="0" indent="0" algn="l">
              <a:lnSpc>
                <a:spcPct val="108000"/>
              </a:lnSpc>
              <a:buNone/>
            </a:pPr>
            <a:r>
              <a:rPr lang="en-US" sz="2500" b="1" dirty="0">
                <a:solidFill>
                  <a:srgbClr val="0F172A"/>
                </a:solidFill>
                <a:latin typeface="Century Schoolbook" pitchFamily="34" charset="0"/>
                <a:ea typeface="Century Schoolbook" pitchFamily="34" charset="-122"/>
                <a:cs typeface="Century Schoolbook" pitchFamily="34" charset="-120"/>
              </a:rPr>
              <a:t>Cannot Self-Correct Reasoning Yet</a:t>
            </a:r>
            <a:endParaRPr lang="en-US" sz="2500" dirty="0"/>
          </a:p>
        </p:txBody>
      </p:sp>
      <p:sp>
        <p:nvSpPr>
          <p:cNvPr id="5" name="Text 3"/>
          <p:cNvSpPr/>
          <p:nvPr/>
        </p:nvSpPr>
        <p:spPr>
          <a:xfrm>
            <a:off x="548640" y="2372624"/>
            <a:ext cx="4075225" cy="41148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Jie Huang (UIUC), Xinyun Chen, Swaroop Mishra, Huaixiu Steven Zheng, Adams Wei Yu, Xinying Song, Denny Zhou (Google DeepMind)</a:t>
            </a:r>
            <a:endParaRPr lang="en-US" sz="1050" dirty="0"/>
          </a:p>
        </p:txBody>
      </p:sp>
      <p:sp>
        <p:nvSpPr>
          <p:cNvPr id="21" name="Text 18"/>
          <p:cNvSpPr/>
          <p:nvPr/>
        </p:nvSpPr>
        <p:spPr>
          <a:xfrm>
            <a:off x="548640" y="4736592"/>
            <a:ext cx="6583680" cy="274320"/>
          </a:xfrm>
          <a:prstGeom prst="rect">
            <a:avLst/>
          </a:prstGeom>
          <a:noFill/>
          <a:ln/>
        </p:spPr>
        <p:txBody>
          <a:bodyPr wrap="square" lIns="0" tIns="0" rIns="0" bIns="0"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22" name="Text 19"/>
          <p:cNvSpPr/>
          <p:nvPr/>
        </p:nvSpPr>
        <p:spPr>
          <a:xfrm>
            <a:off x="7315200" y="4736592"/>
            <a:ext cx="128016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01/23</a:t>
            </a:r>
            <a:endParaRPr lang="en-US" sz="850" dirty="0"/>
          </a:p>
        </p:txBody>
      </p:sp>
      <p:pic>
        <p:nvPicPr>
          <p:cNvPr id="24" name="Picture 23" descr="A robot with blue lights&#10;&#10;AI-generated content may be incorrect.">
            <a:extLst>
              <a:ext uri="{FF2B5EF4-FFF2-40B4-BE49-F238E27FC236}">
                <a16:creationId xmlns:a16="http://schemas.microsoft.com/office/drawing/2014/main" id="{B2079063-6878-B8A3-B29F-2826AAC3320B}"/>
              </a:ext>
            </a:extLst>
          </p:cNvPr>
          <p:cNvPicPr>
            <a:picLocks noChangeAspect="1"/>
          </p:cNvPicPr>
          <p:nvPr/>
        </p:nvPicPr>
        <p:blipFill>
          <a:blip r:embed="rId3"/>
          <a:stretch>
            <a:fillRect/>
          </a:stretch>
        </p:blipFill>
        <p:spPr>
          <a:xfrm>
            <a:off x="4623865" y="287381"/>
            <a:ext cx="3971495" cy="4382341"/>
          </a:xfrm>
          <a:prstGeom prst="rect">
            <a:avLst/>
          </a:prstGeom>
        </p:spPr>
      </p:pic>
      <p:sp>
        <p:nvSpPr>
          <p:cNvPr id="28" name="Google Shape;21;p3">
            <a:extLst>
              <a:ext uri="{FF2B5EF4-FFF2-40B4-BE49-F238E27FC236}">
                <a16:creationId xmlns:a16="http://schemas.microsoft.com/office/drawing/2014/main" id="{9FEE65BD-3730-930E-9E3E-3E8AD30B7920}"/>
              </a:ext>
            </a:extLst>
          </p:cNvPr>
          <p:cNvSpPr txBox="1"/>
          <p:nvPr/>
        </p:nvSpPr>
        <p:spPr>
          <a:xfrm>
            <a:off x="548638" y="2983108"/>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100"/>
              <a:buFont typeface="Calibri"/>
              <a:buNone/>
            </a:pPr>
            <a:r>
              <a:rPr lang="en-US" sz="1100" b="1" i="0" u="none" strike="noStrike" cap="none" dirty="0">
                <a:solidFill>
                  <a:srgbClr val="64748B"/>
                </a:solidFill>
                <a:latin typeface="Calibri"/>
                <a:ea typeface="Calibri"/>
                <a:cs typeface="Calibri"/>
                <a:sym typeface="Calibri"/>
              </a:rPr>
              <a:t>PRESENTED BY</a:t>
            </a:r>
            <a:endParaRPr sz="1100" b="0" i="0" u="none" strike="noStrike" cap="none" dirty="0">
              <a:solidFill>
                <a:schemeClr val="dk1"/>
              </a:solidFill>
              <a:latin typeface="Calibri"/>
              <a:ea typeface="Calibri"/>
              <a:cs typeface="Calibri"/>
              <a:sym typeface="Calibri"/>
            </a:endParaRPr>
          </a:p>
        </p:txBody>
      </p:sp>
      <p:sp>
        <p:nvSpPr>
          <p:cNvPr id="31" name="Shape 0">
            <a:extLst>
              <a:ext uri="{FF2B5EF4-FFF2-40B4-BE49-F238E27FC236}">
                <a16:creationId xmlns:a16="http://schemas.microsoft.com/office/drawing/2014/main" id="{83571F2F-7A10-F589-D8D3-C8D5A1C93C93}"/>
              </a:ext>
            </a:extLst>
          </p:cNvPr>
          <p:cNvSpPr/>
          <p:nvPr/>
        </p:nvSpPr>
        <p:spPr>
          <a:xfrm>
            <a:off x="548640" y="3296412"/>
            <a:ext cx="3464948" cy="1317469"/>
          </a:xfrm>
          <a:prstGeom prst="roundRect">
            <a:avLst>
              <a:gd name="adj" fmla="val 6812"/>
            </a:avLst>
          </a:prstGeom>
          <a:solidFill>
            <a:srgbClr val="FFF1F2"/>
          </a:solidFill>
          <a:ln w="12700">
            <a:solidFill>
              <a:srgbClr val="800020"/>
            </a:solidFill>
            <a:prstDash val="solid"/>
          </a:ln>
        </p:spPr>
        <p:txBody>
          <a:bodyPr/>
          <a:lstStyle/>
          <a:p>
            <a:r>
              <a:rPr lang="en-US" sz="1000" dirty="0">
                <a:solidFill>
                  <a:srgbClr val="1E293B"/>
                </a:solidFill>
                <a:latin typeface="Calibri" panose="020F0502020204030204" pitchFamily="34" charset="0"/>
                <a:ea typeface="Calibri" pitchFamily="34" charset="-122"/>
                <a:cs typeface="Calibri" panose="020F0502020204030204" pitchFamily="34" charset="0"/>
              </a:rPr>
              <a:t>1. MRM MUBASHSHIRUL HAQUE (2303127)</a:t>
            </a:r>
          </a:p>
          <a:p>
            <a:endParaRPr lang="en-US" sz="200" dirty="0">
              <a:solidFill>
                <a:srgbClr val="1E293B"/>
              </a:solidFill>
              <a:latin typeface="Calibri" panose="020F0502020204030204" pitchFamily="34" charset="0"/>
              <a:ea typeface="Calibri" pitchFamily="34" charset="-122"/>
              <a:cs typeface="Calibri" panose="020F0502020204030204" pitchFamily="34" charset="0"/>
            </a:endParaRPr>
          </a:p>
          <a:p>
            <a:r>
              <a:rPr lang="en-US" sz="1000" dirty="0">
                <a:solidFill>
                  <a:srgbClr val="1E293B"/>
                </a:solidFill>
                <a:latin typeface="Calibri" panose="020F0502020204030204" pitchFamily="34" charset="0"/>
                <a:ea typeface="Calibri" pitchFamily="34" charset="-122"/>
                <a:cs typeface="Calibri" panose="020F0502020204030204" pitchFamily="34" charset="0"/>
              </a:rPr>
              <a:t>2. REFAYET HOSSAIN ANANDA (2303148)</a:t>
            </a:r>
          </a:p>
          <a:p>
            <a:endParaRPr lang="en-US" sz="400" dirty="0">
              <a:solidFill>
                <a:srgbClr val="1E293B"/>
              </a:solidFill>
              <a:latin typeface="Calibri" panose="020F0502020204030204" pitchFamily="34" charset="0"/>
              <a:ea typeface="Calibri" pitchFamily="34" charset="-122"/>
              <a:cs typeface="Calibri" panose="020F0502020204030204" pitchFamily="34" charset="0"/>
            </a:endParaRPr>
          </a:p>
          <a:p>
            <a:r>
              <a:rPr lang="en-US" sz="1000" dirty="0">
                <a:solidFill>
                  <a:srgbClr val="1E293B"/>
                </a:solidFill>
                <a:latin typeface="Calibri" panose="020F0502020204030204" pitchFamily="34" charset="0"/>
                <a:ea typeface="Calibri" pitchFamily="34" charset="-122"/>
                <a:cs typeface="Calibri" panose="020F0502020204030204" pitchFamily="34" charset="0"/>
              </a:rPr>
              <a:t>3. MD JEBON SHEIKH (2303160)</a:t>
            </a:r>
          </a:p>
          <a:p>
            <a:endParaRPr lang="en-US" sz="400" dirty="0">
              <a:solidFill>
                <a:srgbClr val="1E293B"/>
              </a:solidFill>
              <a:latin typeface="Calibri" panose="020F0502020204030204" pitchFamily="34" charset="0"/>
              <a:ea typeface="Calibri" pitchFamily="34" charset="-122"/>
              <a:cs typeface="Calibri" panose="020F0502020204030204" pitchFamily="34" charset="0"/>
            </a:endParaRPr>
          </a:p>
          <a:p>
            <a:r>
              <a:rPr lang="en-US" sz="1000" dirty="0">
                <a:solidFill>
                  <a:srgbClr val="1E293B"/>
                </a:solidFill>
                <a:latin typeface="Calibri" panose="020F0502020204030204" pitchFamily="34" charset="0"/>
                <a:ea typeface="Calibri" pitchFamily="34" charset="-122"/>
                <a:cs typeface="Calibri" panose="020F0502020204030204" pitchFamily="34" charset="0"/>
              </a:rPr>
              <a:t>4. MD MASFIE AMIN SRIJON (2303179)</a:t>
            </a:r>
          </a:p>
          <a:p>
            <a:endParaRPr lang="en-US" sz="400" dirty="0">
              <a:solidFill>
                <a:srgbClr val="1E293B"/>
              </a:solidFill>
              <a:latin typeface="Calibri" panose="020F0502020204030204" pitchFamily="34" charset="0"/>
              <a:ea typeface="Calibri" pitchFamily="34" charset="-122"/>
              <a:cs typeface="Calibri" panose="020F0502020204030204" pitchFamily="34" charset="0"/>
            </a:endParaRPr>
          </a:p>
          <a:p>
            <a:r>
              <a:rPr lang="en-US" sz="1000" dirty="0">
                <a:solidFill>
                  <a:srgbClr val="1E293B"/>
                </a:solidFill>
                <a:latin typeface="Calibri" panose="020F0502020204030204" pitchFamily="34" charset="0"/>
                <a:ea typeface="Calibri" pitchFamily="34" charset="-122"/>
                <a:cs typeface="Calibri" panose="020F0502020204030204" pitchFamily="34" charset="0"/>
              </a:rPr>
              <a:t>5. NAFIS ISLAM KABBO (2303180)</a:t>
            </a:r>
          </a:p>
          <a:p>
            <a:endParaRPr lang="en-US" sz="400" dirty="0">
              <a:solidFill>
                <a:srgbClr val="1E293B"/>
              </a:solidFill>
              <a:latin typeface="Calibri" panose="020F0502020204030204" pitchFamily="34" charset="0"/>
              <a:ea typeface="Calibri" pitchFamily="34" charset="-122"/>
              <a:cs typeface="Calibri" panose="020F0502020204030204" pitchFamily="34" charset="0"/>
            </a:endParaRPr>
          </a:p>
          <a:p>
            <a:r>
              <a:rPr lang="en-US" sz="1000" dirty="0">
                <a:solidFill>
                  <a:srgbClr val="1E293B"/>
                </a:solidFill>
                <a:latin typeface="Calibri" panose="020F0502020204030204" pitchFamily="34" charset="0"/>
                <a:ea typeface="Calibri" pitchFamily="34" charset="-122"/>
                <a:cs typeface="Calibri" panose="020F0502020204030204" pitchFamily="34" charset="0"/>
              </a:rPr>
              <a:t>6. ANINDO CHAMA (2303181)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marL="0" indent="0">
              <a:buNone/>
            </a:pPr>
            <a:r>
              <a:rPr lang="en-US" sz="900" b="1" kern="0" spc="150" dirty="0">
                <a:solidFill>
                  <a:srgbClr val="800020"/>
                </a:solidFill>
                <a:latin typeface="Calibri" pitchFamily="34" charset="0"/>
                <a:ea typeface="Calibri" pitchFamily="34" charset="-122"/>
                <a:cs typeface="Calibri" pitchFamily="34" charset="-120"/>
              </a:rPr>
              <a:t>OVERVIEW</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marL="0" indent="0">
              <a:buNone/>
            </a:pPr>
            <a:r>
              <a:rPr lang="en-US" sz="2300" b="1" dirty="0">
                <a:solidFill>
                  <a:srgbClr val="0F172A"/>
                </a:solidFill>
                <a:latin typeface="Century Schoolbook" pitchFamily="34" charset="0"/>
                <a:ea typeface="Century Schoolbook" pitchFamily="34" charset="-122"/>
                <a:cs typeface="Century Schoolbook" pitchFamily="34" charset="-120"/>
              </a:rPr>
              <a:t>Presentation Outline</a:t>
            </a:r>
            <a:endParaRPr lang="en-US" sz="23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Six sections tracing motivation to constructive future work</a:t>
            </a:r>
            <a:endParaRPr lang="en-US" sz="1100" dirty="0"/>
          </a:p>
        </p:txBody>
      </p:sp>
      <p:sp>
        <p:nvSpPr>
          <p:cNvPr id="5" name="Shape 3"/>
          <p:cNvSpPr/>
          <p:nvPr/>
        </p:nvSpPr>
        <p:spPr>
          <a:xfrm>
            <a:off x="548640" y="1207008"/>
            <a:ext cx="3886200" cy="987552"/>
          </a:xfrm>
          <a:prstGeom prst="roundRect">
            <a:avLst>
              <a:gd name="adj" fmla="val 7407"/>
            </a:avLst>
          </a:prstGeom>
          <a:solidFill>
            <a:srgbClr val="F8FAFC"/>
          </a:solidFill>
          <a:ln w="12700">
            <a:solidFill>
              <a:srgbClr val="E2E8F0"/>
            </a:solidFill>
            <a:prstDash val="solid"/>
          </a:ln>
        </p:spPr>
      </p:sp>
      <p:sp>
        <p:nvSpPr>
          <p:cNvPr id="6" name="Shape 4"/>
          <p:cNvSpPr/>
          <p:nvPr/>
        </p:nvSpPr>
        <p:spPr>
          <a:xfrm>
            <a:off x="685800" y="1344168"/>
            <a:ext cx="320040" cy="320040"/>
          </a:xfrm>
          <a:prstGeom prst="ellipse">
            <a:avLst/>
          </a:prstGeom>
          <a:solidFill>
            <a:srgbClr val="800020"/>
          </a:solidFill>
          <a:ln/>
        </p:spPr>
      </p:sp>
      <p:sp>
        <p:nvSpPr>
          <p:cNvPr id="7" name="Text 5"/>
          <p:cNvSpPr/>
          <p:nvPr/>
        </p:nvSpPr>
        <p:spPr>
          <a:xfrm>
            <a:off x="685800" y="1344168"/>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1078992" y="1344168"/>
            <a:ext cx="3246120" cy="274320"/>
          </a:xfrm>
          <a:prstGeom prst="rect">
            <a:avLst/>
          </a:prstGeom>
          <a:noFill/>
          <a:ln/>
        </p:spPr>
        <p:txBody>
          <a:bodyPr wrap="square" lIns="0" tIns="0" rIns="0" bIns="0" rtlCol="0" anchor="ctr"/>
          <a:lstStyle/>
          <a:p>
            <a:pPr marL="0" indent="0">
              <a:buNone/>
            </a:pPr>
            <a:r>
              <a:rPr lang="en-US" sz="1250" b="1" dirty="0">
                <a:solidFill>
                  <a:srgbClr val="0F172A"/>
                </a:solidFill>
                <a:latin typeface="Century Schoolbook" pitchFamily="34" charset="0"/>
                <a:ea typeface="Century Schoolbook" pitchFamily="34" charset="-122"/>
                <a:cs typeface="Century Schoolbook" pitchFamily="34" charset="-120"/>
              </a:rPr>
              <a:t>Introduction</a:t>
            </a:r>
            <a:endParaRPr lang="en-US" sz="1250" dirty="0"/>
          </a:p>
        </p:txBody>
      </p:sp>
      <p:sp>
        <p:nvSpPr>
          <p:cNvPr id="9" name="Text 7"/>
          <p:cNvSpPr/>
          <p:nvPr/>
        </p:nvSpPr>
        <p:spPr>
          <a:xfrm>
            <a:off x="1078992" y="1664208"/>
            <a:ext cx="3246120" cy="438912"/>
          </a:xfrm>
          <a:prstGeom prst="rect">
            <a:avLst/>
          </a:prstGeom>
          <a:noFill/>
          <a:ln/>
        </p:spPr>
        <p:txBody>
          <a:bodyPr wrap="square" lIns="0" tIns="0" rIns="0" bIns="0" rtlCol="0" anchor="t"/>
          <a:lstStyle/>
          <a:p>
            <a:pPr marL="0" indent="0">
              <a:buNone/>
            </a:pPr>
            <a:r>
              <a:rPr lang="en-US" sz="900" dirty="0">
                <a:solidFill>
                  <a:srgbClr val="64748B"/>
                </a:solidFill>
                <a:latin typeface="Calibri" pitchFamily="34" charset="0"/>
                <a:ea typeface="Calibri" pitchFamily="34" charset="-122"/>
                <a:cs typeface="Calibri" pitchFamily="34" charset="-120"/>
              </a:rPr>
              <a:t>Why multi-step reasoning fails and what self-correction promises.</a:t>
            </a:r>
            <a:endParaRPr lang="en-US" sz="900" dirty="0"/>
          </a:p>
        </p:txBody>
      </p:sp>
      <p:sp>
        <p:nvSpPr>
          <p:cNvPr id="10" name="Shape 8"/>
          <p:cNvSpPr/>
          <p:nvPr/>
        </p:nvSpPr>
        <p:spPr>
          <a:xfrm>
            <a:off x="4709160" y="1207008"/>
            <a:ext cx="3886200" cy="987552"/>
          </a:xfrm>
          <a:prstGeom prst="roundRect">
            <a:avLst>
              <a:gd name="adj" fmla="val 7407"/>
            </a:avLst>
          </a:prstGeom>
          <a:solidFill>
            <a:srgbClr val="F8FAFC"/>
          </a:solidFill>
          <a:ln w="12700">
            <a:solidFill>
              <a:srgbClr val="E2E8F0"/>
            </a:solidFill>
            <a:prstDash val="solid"/>
          </a:ln>
        </p:spPr>
      </p:sp>
      <p:sp>
        <p:nvSpPr>
          <p:cNvPr id="11" name="Shape 9"/>
          <p:cNvSpPr/>
          <p:nvPr/>
        </p:nvSpPr>
        <p:spPr>
          <a:xfrm>
            <a:off x="4846320" y="1344168"/>
            <a:ext cx="320040" cy="320040"/>
          </a:xfrm>
          <a:prstGeom prst="ellipse">
            <a:avLst/>
          </a:prstGeom>
          <a:solidFill>
            <a:srgbClr val="800020"/>
          </a:solidFill>
          <a:ln/>
        </p:spPr>
      </p:sp>
      <p:sp>
        <p:nvSpPr>
          <p:cNvPr id="12" name="Text 10"/>
          <p:cNvSpPr/>
          <p:nvPr/>
        </p:nvSpPr>
        <p:spPr>
          <a:xfrm>
            <a:off x="4846320" y="1344168"/>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5239512" y="1344168"/>
            <a:ext cx="3246120" cy="274320"/>
          </a:xfrm>
          <a:prstGeom prst="rect">
            <a:avLst/>
          </a:prstGeom>
          <a:noFill/>
          <a:ln/>
        </p:spPr>
        <p:txBody>
          <a:bodyPr wrap="square" lIns="0" tIns="0" rIns="0" bIns="0" rtlCol="0" anchor="ctr"/>
          <a:lstStyle/>
          <a:p>
            <a:pPr marL="0" indent="0">
              <a:buNone/>
            </a:pPr>
            <a:r>
              <a:rPr lang="en-US" sz="1250" b="1" dirty="0">
                <a:solidFill>
                  <a:srgbClr val="0F172A"/>
                </a:solidFill>
                <a:latin typeface="Century Schoolbook" pitchFamily="34" charset="0"/>
                <a:ea typeface="Century Schoolbook" pitchFamily="34" charset="-122"/>
                <a:cs typeface="Century Schoolbook" pitchFamily="34" charset="-120"/>
              </a:rPr>
              <a:t>Background &amp; Related Work</a:t>
            </a:r>
            <a:endParaRPr lang="en-US" sz="1250" dirty="0"/>
          </a:p>
        </p:txBody>
      </p:sp>
      <p:sp>
        <p:nvSpPr>
          <p:cNvPr id="14" name="Text 12"/>
          <p:cNvSpPr/>
          <p:nvPr/>
        </p:nvSpPr>
        <p:spPr>
          <a:xfrm>
            <a:off x="5239512" y="1664208"/>
            <a:ext cx="3246120" cy="438912"/>
          </a:xfrm>
          <a:prstGeom prst="rect">
            <a:avLst/>
          </a:prstGeom>
          <a:noFill/>
          <a:ln/>
        </p:spPr>
        <p:txBody>
          <a:bodyPr wrap="square" lIns="0" tIns="0" rIns="0" bIns="0" rtlCol="0" anchor="t"/>
          <a:lstStyle/>
          <a:p>
            <a:pPr marL="0" indent="0">
              <a:buNone/>
            </a:pPr>
            <a:r>
              <a:rPr lang="en-US" sz="900" dirty="0">
                <a:solidFill>
                  <a:srgbClr val="64748B"/>
                </a:solidFill>
                <a:latin typeface="Calibri" pitchFamily="34" charset="0"/>
                <a:ea typeface="Calibri" pitchFamily="34" charset="-122"/>
                <a:cs typeface="Calibri" pitchFamily="34" charset="-120"/>
              </a:rPr>
              <a:t>RCI, Reflexion, Self-Refine, Debate and their evaluation flaws.</a:t>
            </a:r>
            <a:endParaRPr lang="en-US" sz="900" dirty="0"/>
          </a:p>
        </p:txBody>
      </p:sp>
      <p:sp>
        <p:nvSpPr>
          <p:cNvPr id="15" name="Shape 13"/>
          <p:cNvSpPr/>
          <p:nvPr/>
        </p:nvSpPr>
        <p:spPr>
          <a:xfrm>
            <a:off x="548640" y="2359152"/>
            <a:ext cx="3886200" cy="987552"/>
          </a:xfrm>
          <a:prstGeom prst="roundRect">
            <a:avLst>
              <a:gd name="adj" fmla="val 7407"/>
            </a:avLst>
          </a:prstGeom>
          <a:solidFill>
            <a:srgbClr val="F8FAFC"/>
          </a:solidFill>
          <a:ln w="12700">
            <a:solidFill>
              <a:srgbClr val="E2E8F0"/>
            </a:solidFill>
            <a:prstDash val="solid"/>
          </a:ln>
        </p:spPr>
      </p:sp>
      <p:sp>
        <p:nvSpPr>
          <p:cNvPr id="16" name="Shape 14"/>
          <p:cNvSpPr/>
          <p:nvPr/>
        </p:nvSpPr>
        <p:spPr>
          <a:xfrm>
            <a:off x="685800" y="2496312"/>
            <a:ext cx="320040" cy="320040"/>
          </a:xfrm>
          <a:prstGeom prst="ellipse">
            <a:avLst/>
          </a:prstGeom>
          <a:solidFill>
            <a:srgbClr val="800020"/>
          </a:solidFill>
          <a:ln/>
        </p:spPr>
      </p:sp>
      <p:sp>
        <p:nvSpPr>
          <p:cNvPr id="17" name="Text 15"/>
          <p:cNvSpPr/>
          <p:nvPr/>
        </p:nvSpPr>
        <p:spPr>
          <a:xfrm>
            <a:off x="685800" y="2496312"/>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1078992" y="2496312"/>
            <a:ext cx="3246120" cy="274320"/>
          </a:xfrm>
          <a:prstGeom prst="rect">
            <a:avLst/>
          </a:prstGeom>
          <a:noFill/>
          <a:ln/>
        </p:spPr>
        <p:txBody>
          <a:bodyPr wrap="square" lIns="0" tIns="0" rIns="0" bIns="0" rtlCol="0" anchor="ctr"/>
          <a:lstStyle/>
          <a:p>
            <a:pPr marL="0" indent="0">
              <a:buNone/>
            </a:pPr>
            <a:r>
              <a:rPr lang="en-US" sz="1250" b="1" dirty="0">
                <a:solidFill>
                  <a:srgbClr val="0F172A"/>
                </a:solidFill>
                <a:latin typeface="Century Schoolbook" pitchFamily="34" charset="0"/>
                <a:ea typeface="Century Schoolbook" pitchFamily="34" charset="-122"/>
                <a:cs typeface="Century Schoolbook" pitchFamily="34" charset="-120"/>
              </a:rPr>
              <a:t>Methodology</a:t>
            </a:r>
            <a:endParaRPr lang="en-US" sz="1250" dirty="0"/>
          </a:p>
        </p:txBody>
      </p:sp>
      <p:sp>
        <p:nvSpPr>
          <p:cNvPr id="19" name="Text 17"/>
          <p:cNvSpPr/>
          <p:nvPr/>
        </p:nvSpPr>
        <p:spPr>
          <a:xfrm>
            <a:off x="1078992" y="2816352"/>
            <a:ext cx="3246120" cy="438912"/>
          </a:xfrm>
          <a:prstGeom prst="rect">
            <a:avLst/>
          </a:prstGeom>
          <a:noFill/>
          <a:ln/>
        </p:spPr>
        <p:txBody>
          <a:bodyPr wrap="square" lIns="0" tIns="0" rIns="0" bIns="0" rtlCol="0" anchor="t"/>
          <a:lstStyle/>
          <a:p>
            <a:pPr marL="0" indent="0">
              <a:buNone/>
            </a:pPr>
            <a:r>
              <a:rPr lang="en-US" sz="900" dirty="0">
                <a:solidFill>
                  <a:srgbClr val="64748B"/>
                </a:solidFill>
                <a:latin typeface="Calibri" pitchFamily="34" charset="0"/>
                <a:ea typeface="Calibri" pitchFamily="34" charset="-122"/>
                <a:cs typeface="Calibri" pitchFamily="34" charset="-120"/>
              </a:rPr>
              <a:t>GSM8K, CSQA, HotpotQA across GPT-3.5, GPT-4, Turbo, Llama-2.</a:t>
            </a:r>
            <a:endParaRPr lang="en-US" sz="900" dirty="0"/>
          </a:p>
        </p:txBody>
      </p:sp>
      <p:sp>
        <p:nvSpPr>
          <p:cNvPr id="20" name="Shape 18"/>
          <p:cNvSpPr/>
          <p:nvPr/>
        </p:nvSpPr>
        <p:spPr>
          <a:xfrm>
            <a:off x="4709160" y="2359152"/>
            <a:ext cx="3886200" cy="987552"/>
          </a:xfrm>
          <a:prstGeom prst="roundRect">
            <a:avLst>
              <a:gd name="adj" fmla="val 7407"/>
            </a:avLst>
          </a:prstGeom>
          <a:solidFill>
            <a:srgbClr val="F8FAFC"/>
          </a:solidFill>
          <a:ln w="12700">
            <a:solidFill>
              <a:srgbClr val="E2E8F0"/>
            </a:solidFill>
            <a:prstDash val="solid"/>
          </a:ln>
        </p:spPr>
      </p:sp>
      <p:sp>
        <p:nvSpPr>
          <p:cNvPr id="21" name="Shape 19"/>
          <p:cNvSpPr/>
          <p:nvPr/>
        </p:nvSpPr>
        <p:spPr>
          <a:xfrm>
            <a:off x="4846320" y="2496312"/>
            <a:ext cx="320040" cy="320040"/>
          </a:xfrm>
          <a:prstGeom prst="ellipse">
            <a:avLst/>
          </a:prstGeom>
          <a:solidFill>
            <a:srgbClr val="800020"/>
          </a:solidFill>
          <a:ln/>
        </p:spPr>
      </p:sp>
      <p:sp>
        <p:nvSpPr>
          <p:cNvPr id="22" name="Text 20"/>
          <p:cNvSpPr/>
          <p:nvPr/>
        </p:nvSpPr>
        <p:spPr>
          <a:xfrm>
            <a:off x="4846320" y="2496312"/>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1"/>
          <p:cNvSpPr/>
          <p:nvPr/>
        </p:nvSpPr>
        <p:spPr>
          <a:xfrm>
            <a:off x="5239512" y="2496312"/>
            <a:ext cx="3246120" cy="274320"/>
          </a:xfrm>
          <a:prstGeom prst="rect">
            <a:avLst/>
          </a:prstGeom>
          <a:noFill/>
          <a:ln/>
        </p:spPr>
        <p:txBody>
          <a:bodyPr wrap="square" lIns="0" tIns="0" rIns="0" bIns="0" rtlCol="0" anchor="ctr"/>
          <a:lstStyle/>
          <a:p>
            <a:pPr marL="0" indent="0">
              <a:buNone/>
            </a:pPr>
            <a:r>
              <a:rPr lang="en-US" sz="1250" b="1" dirty="0">
                <a:solidFill>
                  <a:srgbClr val="0F172A"/>
                </a:solidFill>
                <a:latin typeface="Century Schoolbook" pitchFamily="34" charset="0"/>
                <a:ea typeface="Century Schoolbook" pitchFamily="34" charset="-122"/>
                <a:cs typeface="Century Schoolbook" pitchFamily="34" charset="-120"/>
              </a:rPr>
              <a:t>Results</a:t>
            </a:r>
            <a:endParaRPr lang="en-US" sz="1250" dirty="0"/>
          </a:p>
        </p:txBody>
      </p:sp>
      <p:sp>
        <p:nvSpPr>
          <p:cNvPr id="24" name="Text 22"/>
          <p:cNvSpPr/>
          <p:nvPr/>
        </p:nvSpPr>
        <p:spPr>
          <a:xfrm>
            <a:off x="5239512" y="2816352"/>
            <a:ext cx="3246120" cy="438912"/>
          </a:xfrm>
          <a:prstGeom prst="rect">
            <a:avLst/>
          </a:prstGeom>
          <a:noFill/>
          <a:ln/>
        </p:spPr>
        <p:txBody>
          <a:bodyPr wrap="square" lIns="0" tIns="0" rIns="0" bIns="0" rtlCol="0" anchor="t"/>
          <a:lstStyle/>
          <a:p>
            <a:pPr marL="0" indent="0">
              <a:buNone/>
            </a:pPr>
            <a:r>
              <a:rPr lang="en-US" sz="900" dirty="0">
                <a:solidFill>
                  <a:srgbClr val="64748B"/>
                </a:solidFill>
                <a:latin typeface="Calibri" pitchFamily="34" charset="0"/>
                <a:ea typeface="Calibri" pitchFamily="34" charset="-122"/>
                <a:cs typeface="Calibri" pitchFamily="34" charset="-120"/>
              </a:rPr>
              <a:t>Accuracy declines after self-correction, net negative flips.</a:t>
            </a:r>
            <a:endParaRPr lang="en-US" sz="900" dirty="0"/>
          </a:p>
        </p:txBody>
      </p:sp>
      <p:sp>
        <p:nvSpPr>
          <p:cNvPr id="25" name="Shape 23"/>
          <p:cNvSpPr/>
          <p:nvPr/>
        </p:nvSpPr>
        <p:spPr>
          <a:xfrm>
            <a:off x="548640" y="3511296"/>
            <a:ext cx="3886200" cy="987552"/>
          </a:xfrm>
          <a:prstGeom prst="roundRect">
            <a:avLst>
              <a:gd name="adj" fmla="val 7407"/>
            </a:avLst>
          </a:prstGeom>
          <a:solidFill>
            <a:srgbClr val="F8FAFC"/>
          </a:solidFill>
          <a:ln w="12700">
            <a:solidFill>
              <a:srgbClr val="E2E8F0"/>
            </a:solidFill>
            <a:prstDash val="solid"/>
          </a:ln>
        </p:spPr>
      </p:sp>
      <p:sp>
        <p:nvSpPr>
          <p:cNvPr id="26" name="Shape 24"/>
          <p:cNvSpPr/>
          <p:nvPr/>
        </p:nvSpPr>
        <p:spPr>
          <a:xfrm>
            <a:off x="685800" y="3648456"/>
            <a:ext cx="320040" cy="320040"/>
          </a:xfrm>
          <a:prstGeom prst="ellipse">
            <a:avLst/>
          </a:prstGeom>
          <a:solidFill>
            <a:srgbClr val="800020"/>
          </a:solidFill>
          <a:ln/>
        </p:spPr>
      </p:sp>
      <p:sp>
        <p:nvSpPr>
          <p:cNvPr id="27" name="Text 25"/>
          <p:cNvSpPr/>
          <p:nvPr/>
        </p:nvSpPr>
        <p:spPr>
          <a:xfrm>
            <a:off x="685800" y="3648456"/>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8" name="Text 26"/>
          <p:cNvSpPr/>
          <p:nvPr/>
        </p:nvSpPr>
        <p:spPr>
          <a:xfrm>
            <a:off x="1078992" y="3648456"/>
            <a:ext cx="3246120" cy="274320"/>
          </a:xfrm>
          <a:prstGeom prst="rect">
            <a:avLst/>
          </a:prstGeom>
          <a:noFill/>
          <a:ln/>
        </p:spPr>
        <p:txBody>
          <a:bodyPr wrap="square" lIns="0" tIns="0" rIns="0" bIns="0" rtlCol="0" anchor="ctr"/>
          <a:lstStyle/>
          <a:p>
            <a:pPr marL="0" indent="0">
              <a:buNone/>
            </a:pPr>
            <a:r>
              <a:rPr lang="en-US" sz="1250" b="1" dirty="0">
                <a:solidFill>
                  <a:srgbClr val="0F172A"/>
                </a:solidFill>
                <a:latin typeface="Century Schoolbook" pitchFamily="34" charset="0"/>
                <a:ea typeface="Century Schoolbook" pitchFamily="34" charset="-122"/>
                <a:cs typeface="Century Schoolbook" pitchFamily="34" charset="-120"/>
              </a:rPr>
              <a:t>Analysis</a:t>
            </a:r>
            <a:endParaRPr lang="en-US" sz="1250" dirty="0"/>
          </a:p>
        </p:txBody>
      </p:sp>
      <p:sp>
        <p:nvSpPr>
          <p:cNvPr id="29" name="Text 27"/>
          <p:cNvSpPr/>
          <p:nvPr/>
        </p:nvSpPr>
        <p:spPr>
          <a:xfrm>
            <a:off x="1078992" y="3968496"/>
            <a:ext cx="3246120" cy="438912"/>
          </a:xfrm>
          <a:prstGeom prst="rect">
            <a:avLst/>
          </a:prstGeom>
          <a:noFill/>
          <a:ln/>
        </p:spPr>
        <p:txBody>
          <a:bodyPr wrap="square" lIns="0" tIns="0" rIns="0" bIns="0" rtlCol="0" anchor="t"/>
          <a:lstStyle/>
          <a:p>
            <a:pPr marL="0" indent="0">
              <a:buNone/>
            </a:pPr>
            <a:r>
              <a:rPr lang="en-US" sz="900" dirty="0">
                <a:solidFill>
                  <a:srgbClr val="64748B"/>
                </a:solidFill>
                <a:latin typeface="Calibri" pitchFamily="34" charset="0"/>
                <a:ea typeface="Calibri" pitchFamily="34" charset="-122"/>
                <a:cs typeface="Calibri" pitchFamily="34" charset="-120"/>
              </a:rPr>
              <a:t>Why gains vanish at equal compute and without feedback.</a:t>
            </a:r>
            <a:endParaRPr lang="en-US" sz="900" dirty="0"/>
          </a:p>
        </p:txBody>
      </p:sp>
      <p:sp>
        <p:nvSpPr>
          <p:cNvPr id="30" name="Shape 28"/>
          <p:cNvSpPr/>
          <p:nvPr/>
        </p:nvSpPr>
        <p:spPr>
          <a:xfrm>
            <a:off x="4709160" y="3511296"/>
            <a:ext cx="3886200" cy="987552"/>
          </a:xfrm>
          <a:prstGeom prst="roundRect">
            <a:avLst>
              <a:gd name="adj" fmla="val 7407"/>
            </a:avLst>
          </a:prstGeom>
          <a:solidFill>
            <a:srgbClr val="F8FAFC"/>
          </a:solidFill>
          <a:ln w="12700">
            <a:solidFill>
              <a:srgbClr val="E2E8F0"/>
            </a:solidFill>
            <a:prstDash val="solid"/>
          </a:ln>
        </p:spPr>
      </p:sp>
      <p:sp>
        <p:nvSpPr>
          <p:cNvPr id="31" name="Shape 29"/>
          <p:cNvSpPr/>
          <p:nvPr/>
        </p:nvSpPr>
        <p:spPr>
          <a:xfrm>
            <a:off x="4846320" y="3648456"/>
            <a:ext cx="320040" cy="320040"/>
          </a:xfrm>
          <a:prstGeom prst="ellipse">
            <a:avLst/>
          </a:prstGeom>
          <a:solidFill>
            <a:srgbClr val="800020"/>
          </a:solidFill>
          <a:ln/>
        </p:spPr>
      </p:sp>
      <p:sp>
        <p:nvSpPr>
          <p:cNvPr id="32" name="Text 30"/>
          <p:cNvSpPr/>
          <p:nvPr/>
        </p:nvSpPr>
        <p:spPr>
          <a:xfrm>
            <a:off x="4846320" y="3648456"/>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1"/>
          <p:cNvSpPr/>
          <p:nvPr/>
        </p:nvSpPr>
        <p:spPr>
          <a:xfrm>
            <a:off x="5239512" y="3648456"/>
            <a:ext cx="3246120" cy="274320"/>
          </a:xfrm>
          <a:prstGeom prst="rect">
            <a:avLst/>
          </a:prstGeom>
          <a:noFill/>
          <a:ln/>
        </p:spPr>
        <p:txBody>
          <a:bodyPr wrap="square" lIns="0" tIns="0" rIns="0" bIns="0" rtlCol="0" anchor="ctr"/>
          <a:lstStyle/>
          <a:p>
            <a:pPr marL="0" indent="0">
              <a:buNone/>
            </a:pPr>
            <a:r>
              <a:rPr lang="en-US" sz="1250" b="1" dirty="0">
                <a:solidFill>
                  <a:srgbClr val="0F172A"/>
                </a:solidFill>
                <a:latin typeface="Century Schoolbook" pitchFamily="34" charset="0"/>
                <a:ea typeface="Century Schoolbook" pitchFamily="34" charset="-122"/>
                <a:cs typeface="Century Schoolbook" pitchFamily="34" charset="-120"/>
              </a:rPr>
              <a:t>Conclusion &amp; Future Work</a:t>
            </a:r>
            <a:endParaRPr lang="en-US" sz="1250" dirty="0"/>
          </a:p>
        </p:txBody>
      </p:sp>
      <p:sp>
        <p:nvSpPr>
          <p:cNvPr id="34" name="Text 32"/>
          <p:cNvSpPr/>
          <p:nvPr/>
        </p:nvSpPr>
        <p:spPr>
          <a:xfrm>
            <a:off x="5239512" y="3968496"/>
            <a:ext cx="3246120" cy="438912"/>
          </a:xfrm>
          <a:prstGeom prst="rect">
            <a:avLst/>
          </a:prstGeom>
          <a:noFill/>
          <a:ln/>
        </p:spPr>
        <p:txBody>
          <a:bodyPr wrap="square" lIns="0" tIns="0" rIns="0" bIns="0" rtlCol="0" anchor="t"/>
          <a:lstStyle/>
          <a:p>
            <a:pPr marL="0" indent="0">
              <a:buNone/>
            </a:pPr>
            <a:r>
              <a:rPr lang="en-US" sz="900" dirty="0">
                <a:solidFill>
                  <a:srgbClr val="64748B"/>
                </a:solidFill>
                <a:latin typeface="Calibri" pitchFamily="34" charset="0"/>
                <a:ea typeface="Calibri" pitchFamily="34" charset="-122"/>
                <a:cs typeface="Calibri" pitchFamily="34" charset="-120"/>
              </a:rPr>
              <a:t>External tools, verifiers, and fair evaluation standards.</a:t>
            </a:r>
            <a:endParaRPr lang="en-US" sz="900" dirty="0"/>
          </a:p>
        </p:txBody>
      </p:sp>
      <p:sp>
        <p:nvSpPr>
          <p:cNvPr id="36" name="Text 33"/>
          <p:cNvSpPr/>
          <p:nvPr/>
        </p:nvSpPr>
        <p:spPr>
          <a:xfrm>
            <a:off x="548640" y="4736592"/>
            <a:ext cx="6583680" cy="274320"/>
          </a:xfrm>
          <a:prstGeom prst="rect">
            <a:avLst/>
          </a:prstGeom>
          <a:noFill/>
          <a:ln/>
        </p:spPr>
        <p:txBody>
          <a:bodyPr wrap="square" lIns="0" tIns="0" rIns="0" bIns="0"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37" name="Text 34"/>
          <p:cNvSpPr/>
          <p:nvPr/>
        </p:nvSpPr>
        <p:spPr>
          <a:xfrm>
            <a:off x="7315200" y="4736592"/>
            <a:ext cx="128016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02/23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marL="0" indent="0">
              <a:buNone/>
            </a:pPr>
            <a:r>
              <a:rPr lang="en-US" sz="900" b="1" kern="0" spc="150" dirty="0">
                <a:solidFill>
                  <a:srgbClr val="800020"/>
                </a:solidFill>
                <a:latin typeface="Calibri" pitchFamily="34" charset="0"/>
                <a:ea typeface="Calibri" pitchFamily="34" charset="-122"/>
                <a:cs typeface="Calibri" pitchFamily="34" charset="-120"/>
              </a:rPr>
              <a:t>1. INTRODUCTION</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r>
              <a:rPr lang="en-US" sz="2300" b="1" dirty="0">
                <a:solidFill>
                  <a:srgbClr val="0F172A"/>
                </a:solidFill>
                <a:latin typeface="Century Schoolbook" pitchFamily="34" charset="0"/>
                <a:ea typeface="Century Schoolbook" pitchFamily="34" charset="-122"/>
                <a:cs typeface="Century Schoolbook" pitchFamily="34" charset="-120"/>
              </a:rPr>
              <a:t>Large Language Model (LLM)</a:t>
            </a:r>
            <a:endParaRPr lang="en-US" sz="2300" dirty="0"/>
          </a:p>
        </p:txBody>
      </p:sp>
      <p:sp>
        <p:nvSpPr>
          <p:cNvPr id="43" name="Text 40"/>
          <p:cNvSpPr/>
          <p:nvPr/>
        </p:nvSpPr>
        <p:spPr>
          <a:xfrm>
            <a:off x="548640" y="4736592"/>
            <a:ext cx="6583680" cy="274320"/>
          </a:xfrm>
          <a:prstGeom prst="rect">
            <a:avLst/>
          </a:prstGeom>
          <a:noFill/>
          <a:ln/>
        </p:spPr>
        <p:txBody>
          <a:bodyPr wrap="square" lIns="0" tIns="0" rIns="0" bIns="0"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44" name="Text 41"/>
          <p:cNvSpPr/>
          <p:nvPr/>
        </p:nvSpPr>
        <p:spPr>
          <a:xfrm>
            <a:off x="7315200" y="4736592"/>
            <a:ext cx="128016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03/23</a:t>
            </a:r>
            <a:endParaRPr lang="en-US" sz="850" dirty="0"/>
          </a:p>
        </p:txBody>
      </p:sp>
      <p:sp>
        <p:nvSpPr>
          <p:cNvPr id="7" name="Google Shape;65;p4">
            <a:extLst>
              <a:ext uri="{FF2B5EF4-FFF2-40B4-BE49-F238E27FC236}">
                <a16:creationId xmlns:a16="http://schemas.microsoft.com/office/drawing/2014/main" id="{1C1562E0-9F20-7B79-7F8C-89CB0723D7BA}"/>
              </a:ext>
            </a:extLst>
          </p:cNvPr>
          <p:cNvSpPr txBox="1"/>
          <p:nvPr/>
        </p:nvSpPr>
        <p:spPr>
          <a:xfrm>
            <a:off x="1054550" y="1764866"/>
            <a:ext cx="3474000" cy="217800"/>
          </a:xfrm>
          <a:prstGeom prst="rect">
            <a:avLst/>
          </a:prstGeom>
          <a:noFill/>
          <a:ln>
            <a:noFill/>
          </a:ln>
        </p:spPr>
        <p:txBody>
          <a:bodyPr spcFirstLastPara="1" wrap="square" lIns="0" tIns="0" rIns="0" bIns="0" anchor="ctr" anchorCtr="0">
            <a:noAutofit/>
          </a:bodyPr>
          <a:lstStyle/>
          <a:p>
            <a:pPr>
              <a:buClr>
                <a:srgbClr val="0F172A"/>
              </a:buClr>
              <a:buSzPts val="1400"/>
            </a:pPr>
            <a:r>
              <a:rPr lang="en-US" sz="1050" b="1" dirty="0">
                <a:solidFill>
                  <a:srgbClr val="0F172A"/>
                </a:solidFill>
                <a:latin typeface="Calibri"/>
                <a:ea typeface="Calibri"/>
                <a:cs typeface="Calibri"/>
                <a:sym typeface="Calibri"/>
              </a:rPr>
              <a:t>Next-Token Prediction</a:t>
            </a:r>
          </a:p>
        </p:txBody>
      </p:sp>
      <p:sp>
        <p:nvSpPr>
          <p:cNvPr id="8" name="Google Shape;66;p4">
            <a:extLst>
              <a:ext uri="{FF2B5EF4-FFF2-40B4-BE49-F238E27FC236}">
                <a16:creationId xmlns:a16="http://schemas.microsoft.com/office/drawing/2014/main" id="{F494EB6D-C71D-28CE-7EC5-A27229E70D78}"/>
              </a:ext>
            </a:extLst>
          </p:cNvPr>
          <p:cNvSpPr txBox="1"/>
          <p:nvPr/>
        </p:nvSpPr>
        <p:spPr>
          <a:xfrm>
            <a:off x="1054550" y="1982503"/>
            <a:ext cx="3474000" cy="326925"/>
          </a:xfrm>
          <a:prstGeom prst="rect">
            <a:avLst/>
          </a:prstGeom>
          <a:noFill/>
          <a:ln>
            <a:noFill/>
          </a:ln>
        </p:spPr>
        <p:txBody>
          <a:bodyPr spcFirstLastPara="1" wrap="square" lIns="0" tIns="0" rIns="0" bIns="0" anchor="ctr" anchorCtr="0">
            <a:noAutofit/>
          </a:bodyPr>
          <a:lstStyle/>
          <a:p>
            <a:pPr>
              <a:lnSpc>
                <a:spcPct val="110000"/>
              </a:lnSpc>
            </a:pPr>
            <a:r>
              <a:rPr lang="en-US" sz="1400" dirty="0">
                <a:solidFill>
                  <a:srgbClr val="334155"/>
                </a:solidFill>
                <a:latin typeface="Calibri" pitchFamily="34" charset="0"/>
                <a:ea typeface="Calibri" pitchFamily="34" charset="-122"/>
                <a:cs typeface="Calibri" pitchFamily="34" charset="-120"/>
              </a:rPr>
              <a:t>Predicts the next token, one at a time.</a:t>
            </a:r>
            <a:endParaRPr lang="en-US" sz="1400" dirty="0"/>
          </a:p>
        </p:txBody>
      </p:sp>
      <p:sp>
        <p:nvSpPr>
          <p:cNvPr id="12" name="Google Shape;70;p4">
            <a:extLst>
              <a:ext uri="{FF2B5EF4-FFF2-40B4-BE49-F238E27FC236}">
                <a16:creationId xmlns:a16="http://schemas.microsoft.com/office/drawing/2014/main" id="{652381E2-0F3D-B8C8-E88E-49824DF9506B}"/>
              </a:ext>
            </a:extLst>
          </p:cNvPr>
          <p:cNvSpPr txBox="1"/>
          <p:nvPr/>
        </p:nvSpPr>
        <p:spPr>
          <a:xfrm>
            <a:off x="1054550" y="2490323"/>
            <a:ext cx="3474000" cy="217800"/>
          </a:xfrm>
          <a:prstGeom prst="rect">
            <a:avLst/>
          </a:prstGeom>
          <a:noFill/>
          <a:ln>
            <a:noFill/>
          </a:ln>
        </p:spPr>
        <p:txBody>
          <a:bodyPr spcFirstLastPara="1" wrap="square" lIns="0" tIns="0" rIns="0" bIns="0" anchor="ctr" anchorCtr="0">
            <a:noAutofit/>
          </a:bodyPr>
          <a:lstStyle/>
          <a:p>
            <a:pPr>
              <a:buClr>
                <a:srgbClr val="0F172A"/>
              </a:buClr>
              <a:buSzPts val="1400"/>
            </a:pPr>
            <a:r>
              <a:rPr lang="en-US" sz="1050" b="1" dirty="0">
                <a:solidFill>
                  <a:srgbClr val="0F172A"/>
                </a:solidFill>
                <a:latin typeface="Calibri"/>
                <a:ea typeface="Calibri"/>
                <a:cs typeface="Calibri"/>
                <a:sym typeface="Calibri"/>
              </a:rPr>
              <a:t>Pattern Learning</a:t>
            </a:r>
          </a:p>
        </p:txBody>
      </p:sp>
      <p:sp>
        <p:nvSpPr>
          <p:cNvPr id="13" name="Google Shape;71;p4">
            <a:extLst>
              <a:ext uri="{FF2B5EF4-FFF2-40B4-BE49-F238E27FC236}">
                <a16:creationId xmlns:a16="http://schemas.microsoft.com/office/drawing/2014/main" id="{CF766E6F-BB3A-D1C3-647F-9E77C9D6CD3E}"/>
              </a:ext>
            </a:extLst>
          </p:cNvPr>
          <p:cNvSpPr txBox="1"/>
          <p:nvPr/>
        </p:nvSpPr>
        <p:spPr>
          <a:xfrm>
            <a:off x="1054550" y="2720660"/>
            <a:ext cx="3474000" cy="398925"/>
          </a:xfrm>
          <a:prstGeom prst="rect">
            <a:avLst/>
          </a:prstGeom>
          <a:noFill/>
          <a:ln>
            <a:noFill/>
          </a:ln>
        </p:spPr>
        <p:txBody>
          <a:bodyPr spcFirstLastPara="1" wrap="square" lIns="0" tIns="0" rIns="0" bIns="0" anchor="ctr" anchorCtr="0">
            <a:noAutofit/>
          </a:bodyPr>
          <a:lstStyle/>
          <a:p>
            <a:pPr>
              <a:lnSpc>
                <a:spcPct val="110000"/>
              </a:lnSpc>
              <a:buClr>
                <a:srgbClr val="334155"/>
              </a:buClr>
              <a:buSzPts val="1200"/>
            </a:pPr>
            <a:r>
              <a:rPr lang="en-US" sz="1350" dirty="0">
                <a:solidFill>
                  <a:srgbClr val="334155"/>
                </a:solidFill>
                <a:latin typeface="Calibri"/>
                <a:ea typeface="Calibri"/>
                <a:cs typeface="Calibri"/>
                <a:sym typeface="Calibri"/>
              </a:rPr>
              <a:t>Learns patterns and relationships from large amounts of text.</a:t>
            </a:r>
            <a:endParaRPr sz="1350" dirty="0">
              <a:solidFill>
                <a:schemeClr val="dk1"/>
              </a:solidFill>
              <a:latin typeface="Calibri"/>
              <a:ea typeface="Calibri"/>
              <a:cs typeface="Calibri"/>
              <a:sym typeface="Calibri"/>
            </a:endParaRPr>
          </a:p>
        </p:txBody>
      </p:sp>
      <p:sp>
        <p:nvSpPr>
          <p:cNvPr id="17" name="Google Shape;75;p4">
            <a:extLst>
              <a:ext uri="{FF2B5EF4-FFF2-40B4-BE49-F238E27FC236}">
                <a16:creationId xmlns:a16="http://schemas.microsoft.com/office/drawing/2014/main" id="{14E4BFA5-FDBC-88C4-96B4-E576373C4B80}"/>
              </a:ext>
            </a:extLst>
          </p:cNvPr>
          <p:cNvSpPr txBox="1"/>
          <p:nvPr/>
        </p:nvSpPr>
        <p:spPr>
          <a:xfrm>
            <a:off x="1054550" y="3215780"/>
            <a:ext cx="3474000" cy="217800"/>
          </a:xfrm>
          <a:prstGeom prst="rect">
            <a:avLst/>
          </a:prstGeom>
          <a:noFill/>
          <a:ln>
            <a:noFill/>
          </a:ln>
        </p:spPr>
        <p:txBody>
          <a:bodyPr spcFirstLastPara="1" wrap="square" lIns="0" tIns="0" rIns="0" bIns="0" anchor="ctr" anchorCtr="0">
            <a:noAutofit/>
          </a:bodyPr>
          <a:lstStyle/>
          <a:p>
            <a:pPr>
              <a:buClr>
                <a:srgbClr val="0F172A"/>
              </a:buClr>
              <a:buSzPts val="1400"/>
            </a:pPr>
            <a:r>
              <a:rPr lang="en-US" sz="1050" b="1" dirty="0"/>
              <a:t>Text Generation</a:t>
            </a:r>
            <a:endParaRPr sz="1050" b="1" dirty="0">
              <a:solidFill>
                <a:schemeClr val="dk1"/>
              </a:solidFill>
              <a:latin typeface="Calibri"/>
              <a:ea typeface="Calibri"/>
              <a:cs typeface="Calibri"/>
              <a:sym typeface="Calibri"/>
            </a:endParaRPr>
          </a:p>
        </p:txBody>
      </p:sp>
      <p:sp>
        <p:nvSpPr>
          <p:cNvPr id="18" name="Google Shape;76;p4">
            <a:extLst>
              <a:ext uri="{FF2B5EF4-FFF2-40B4-BE49-F238E27FC236}">
                <a16:creationId xmlns:a16="http://schemas.microsoft.com/office/drawing/2014/main" id="{A25C3CDB-F9B4-0D62-1EA8-602B4922EC3E}"/>
              </a:ext>
            </a:extLst>
          </p:cNvPr>
          <p:cNvSpPr txBox="1"/>
          <p:nvPr/>
        </p:nvSpPr>
        <p:spPr>
          <a:xfrm>
            <a:off x="1054550" y="3433417"/>
            <a:ext cx="3695250" cy="326925"/>
          </a:xfrm>
          <a:prstGeom prst="rect">
            <a:avLst/>
          </a:prstGeom>
          <a:noFill/>
          <a:ln>
            <a:noFill/>
          </a:ln>
        </p:spPr>
        <p:txBody>
          <a:bodyPr spcFirstLastPara="1" wrap="square" lIns="0" tIns="0" rIns="0" bIns="0" anchor="ctr" anchorCtr="0">
            <a:noAutofit/>
          </a:bodyPr>
          <a:lstStyle/>
          <a:p>
            <a:pPr>
              <a:lnSpc>
                <a:spcPct val="110000"/>
              </a:lnSpc>
              <a:buClr>
                <a:srgbClr val="334155"/>
              </a:buClr>
              <a:buSzPts val="1200"/>
            </a:pPr>
            <a:r>
              <a:rPr lang="en-US" sz="1350" dirty="0">
                <a:solidFill>
                  <a:srgbClr val="334155"/>
                </a:solidFill>
                <a:latin typeface="Calibri"/>
                <a:ea typeface="Calibri"/>
                <a:cs typeface="Calibri"/>
                <a:sym typeface="Calibri"/>
              </a:rPr>
              <a:t>Generates human-like text based on the given input.</a:t>
            </a:r>
            <a:endParaRPr sz="1350" dirty="0">
              <a:solidFill>
                <a:schemeClr val="dk1"/>
              </a:solidFill>
              <a:latin typeface="Calibri"/>
              <a:ea typeface="Calibri"/>
              <a:cs typeface="Calibri"/>
              <a:sym typeface="Calibri"/>
            </a:endParaRPr>
          </a:p>
        </p:txBody>
      </p:sp>
      <p:pic>
        <p:nvPicPr>
          <p:cNvPr id="19" name="Google Shape;77;p4">
            <a:extLst>
              <a:ext uri="{FF2B5EF4-FFF2-40B4-BE49-F238E27FC236}">
                <a16:creationId xmlns:a16="http://schemas.microsoft.com/office/drawing/2014/main" id="{25BC46BF-7A2E-3B1C-7778-CC13CEF67F27}"/>
              </a:ext>
            </a:extLst>
          </p:cNvPr>
          <p:cNvPicPr preferRelativeResize="0"/>
          <p:nvPr/>
        </p:nvPicPr>
        <p:blipFill>
          <a:blip r:embed="rId3"/>
          <a:srcRect l="4219" r="3934"/>
          <a:stretch>
            <a:fillRect/>
          </a:stretch>
        </p:blipFill>
        <p:spPr>
          <a:xfrm>
            <a:off x="5339700" y="1305420"/>
            <a:ext cx="3324853" cy="2413334"/>
          </a:xfrm>
          <a:prstGeom prst="rect">
            <a:avLst/>
          </a:prstGeom>
          <a:noFill/>
          <a:ln>
            <a:noFill/>
          </a:ln>
        </p:spPr>
      </p:pic>
      <p:sp>
        <p:nvSpPr>
          <p:cNvPr id="20" name="Google Shape;79;p4">
            <a:extLst>
              <a:ext uri="{FF2B5EF4-FFF2-40B4-BE49-F238E27FC236}">
                <a16:creationId xmlns:a16="http://schemas.microsoft.com/office/drawing/2014/main" id="{B7644AAE-1312-A0E2-8AAC-9C51F96140DD}"/>
              </a:ext>
            </a:extLst>
          </p:cNvPr>
          <p:cNvSpPr txBox="1"/>
          <p:nvPr/>
        </p:nvSpPr>
        <p:spPr>
          <a:xfrm>
            <a:off x="5265127" y="3596879"/>
            <a:ext cx="3474001" cy="346226"/>
          </a:xfrm>
          <a:prstGeom prst="rect">
            <a:avLst/>
          </a:prstGeom>
          <a:noFill/>
          <a:ln>
            <a:noFill/>
          </a:ln>
        </p:spPr>
        <p:txBody>
          <a:bodyPr spcFirstLastPara="1" wrap="square" lIns="68569" tIns="68569" rIns="68569" bIns="68569" anchor="t" anchorCtr="0">
            <a:spAutoFit/>
          </a:bodyPr>
          <a:lstStyle/>
          <a:p>
            <a:pPr algn="ctr"/>
            <a:r>
              <a:rPr lang="en-US" sz="1350" dirty="0"/>
              <a:t>Figure-1:Large Language Model</a:t>
            </a:r>
            <a:endParaRPr sz="1350" dirty="0"/>
          </a:p>
        </p:txBody>
      </p:sp>
      <p:sp>
        <p:nvSpPr>
          <p:cNvPr id="21" name="Google Shape;63;p4">
            <a:extLst>
              <a:ext uri="{FF2B5EF4-FFF2-40B4-BE49-F238E27FC236}">
                <a16:creationId xmlns:a16="http://schemas.microsoft.com/office/drawing/2014/main" id="{37995195-4E81-770A-C1E9-27EC8868FB45}"/>
              </a:ext>
            </a:extLst>
          </p:cNvPr>
          <p:cNvSpPr/>
          <p:nvPr/>
        </p:nvSpPr>
        <p:spPr>
          <a:xfrm>
            <a:off x="548640" y="1786630"/>
            <a:ext cx="371025" cy="398925"/>
          </a:xfrm>
          <a:prstGeom prst="ellipse">
            <a:avLst/>
          </a:prstGeom>
          <a:solidFill>
            <a:srgbClr val="800020"/>
          </a:solidFill>
          <a:ln>
            <a:noFill/>
          </a:ln>
        </p:spPr>
        <p:txBody>
          <a:bodyPr spcFirstLastPara="1" wrap="square" lIns="68569" tIns="68569" rIns="68569" bIns="68569" anchor="ctr" anchorCtr="0">
            <a:noAutofit/>
          </a:bodyPr>
          <a:lstStyle/>
          <a:p>
            <a:endParaRPr sz="1350"/>
          </a:p>
        </p:txBody>
      </p:sp>
      <p:sp>
        <p:nvSpPr>
          <p:cNvPr id="22" name="Google Shape;64;p4">
            <a:extLst>
              <a:ext uri="{FF2B5EF4-FFF2-40B4-BE49-F238E27FC236}">
                <a16:creationId xmlns:a16="http://schemas.microsoft.com/office/drawing/2014/main" id="{5B3CAB87-F3E5-86D7-D71B-D11938C172A7}"/>
              </a:ext>
            </a:extLst>
          </p:cNvPr>
          <p:cNvSpPr txBox="1"/>
          <p:nvPr/>
        </p:nvSpPr>
        <p:spPr>
          <a:xfrm>
            <a:off x="548640" y="1786630"/>
            <a:ext cx="371025" cy="398925"/>
          </a:xfrm>
          <a:prstGeom prst="rect">
            <a:avLst/>
          </a:prstGeom>
          <a:noFill/>
          <a:ln>
            <a:noFill/>
          </a:ln>
        </p:spPr>
        <p:txBody>
          <a:bodyPr spcFirstLastPara="1" wrap="square" lIns="0" tIns="0" rIns="0" bIns="0" anchor="ctr" anchorCtr="0">
            <a:noAutofit/>
          </a:bodyPr>
          <a:lstStyle/>
          <a:p>
            <a:pPr algn="ctr">
              <a:buClr>
                <a:srgbClr val="FFFFFF"/>
              </a:buClr>
              <a:buSzPts val="1600"/>
            </a:pPr>
            <a:r>
              <a:rPr lang="en-US" sz="1200" b="1" dirty="0">
                <a:solidFill>
                  <a:srgbClr val="FFFFFF"/>
                </a:solidFill>
                <a:latin typeface="Century Schoolbook"/>
                <a:ea typeface="Century Schoolbook"/>
                <a:cs typeface="Century Schoolbook"/>
                <a:sym typeface="Century Schoolbook"/>
              </a:rPr>
              <a:t>1</a:t>
            </a:r>
            <a:endParaRPr sz="1200" dirty="0">
              <a:solidFill>
                <a:schemeClr val="dk1"/>
              </a:solidFill>
              <a:latin typeface="Calibri"/>
              <a:ea typeface="Calibri"/>
              <a:cs typeface="Calibri"/>
              <a:sym typeface="Calibri"/>
            </a:endParaRPr>
          </a:p>
        </p:txBody>
      </p:sp>
      <p:cxnSp>
        <p:nvCxnSpPr>
          <p:cNvPr id="23" name="Google Shape;67;p4">
            <a:extLst>
              <a:ext uri="{FF2B5EF4-FFF2-40B4-BE49-F238E27FC236}">
                <a16:creationId xmlns:a16="http://schemas.microsoft.com/office/drawing/2014/main" id="{BFFFB4EA-541B-9FB3-E220-28B6646E8166}"/>
              </a:ext>
            </a:extLst>
          </p:cNvPr>
          <p:cNvCxnSpPr/>
          <p:nvPr/>
        </p:nvCxnSpPr>
        <p:spPr>
          <a:xfrm>
            <a:off x="734140" y="2185631"/>
            <a:ext cx="0" cy="362475"/>
          </a:xfrm>
          <a:prstGeom prst="straightConnector1">
            <a:avLst/>
          </a:prstGeom>
          <a:noFill/>
          <a:ln w="19050" cap="flat" cmpd="sng">
            <a:solidFill>
              <a:srgbClr val="E2E8F0"/>
            </a:solidFill>
            <a:prstDash val="dash"/>
            <a:round/>
            <a:headEnd type="none" w="sm" len="sm"/>
            <a:tailEnd type="none" w="sm" len="sm"/>
          </a:ln>
        </p:spPr>
      </p:cxnSp>
      <p:sp>
        <p:nvSpPr>
          <p:cNvPr id="24" name="Google Shape;68;p4">
            <a:extLst>
              <a:ext uri="{FF2B5EF4-FFF2-40B4-BE49-F238E27FC236}">
                <a16:creationId xmlns:a16="http://schemas.microsoft.com/office/drawing/2014/main" id="{E83428CA-6DB2-E5AE-9AEC-9E3C499435EF}"/>
              </a:ext>
            </a:extLst>
          </p:cNvPr>
          <p:cNvSpPr/>
          <p:nvPr/>
        </p:nvSpPr>
        <p:spPr>
          <a:xfrm>
            <a:off x="548640" y="2512087"/>
            <a:ext cx="371025" cy="398925"/>
          </a:xfrm>
          <a:prstGeom prst="ellipse">
            <a:avLst/>
          </a:prstGeom>
          <a:solidFill>
            <a:srgbClr val="800020"/>
          </a:solidFill>
          <a:ln>
            <a:noFill/>
          </a:ln>
        </p:spPr>
        <p:txBody>
          <a:bodyPr spcFirstLastPara="1" wrap="square" lIns="68569" tIns="68569" rIns="68569" bIns="68569" anchor="ctr" anchorCtr="0">
            <a:noAutofit/>
          </a:bodyPr>
          <a:lstStyle/>
          <a:p>
            <a:endParaRPr sz="1350"/>
          </a:p>
        </p:txBody>
      </p:sp>
      <p:sp>
        <p:nvSpPr>
          <p:cNvPr id="25" name="Google Shape;69;p4">
            <a:extLst>
              <a:ext uri="{FF2B5EF4-FFF2-40B4-BE49-F238E27FC236}">
                <a16:creationId xmlns:a16="http://schemas.microsoft.com/office/drawing/2014/main" id="{2F017E4A-BF3E-D54A-2A1A-22B76E447763}"/>
              </a:ext>
            </a:extLst>
          </p:cNvPr>
          <p:cNvSpPr txBox="1"/>
          <p:nvPr/>
        </p:nvSpPr>
        <p:spPr>
          <a:xfrm>
            <a:off x="548640" y="2512011"/>
            <a:ext cx="371025" cy="399001"/>
          </a:xfrm>
          <a:prstGeom prst="rect">
            <a:avLst/>
          </a:prstGeom>
          <a:noFill/>
          <a:ln>
            <a:noFill/>
          </a:ln>
        </p:spPr>
        <p:txBody>
          <a:bodyPr spcFirstLastPara="1" wrap="square" lIns="0" tIns="0" rIns="0" bIns="0" anchor="ctr" anchorCtr="0">
            <a:noAutofit/>
          </a:bodyPr>
          <a:lstStyle/>
          <a:p>
            <a:pPr algn="ctr">
              <a:buClr>
                <a:srgbClr val="FFFFFF"/>
              </a:buClr>
              <a:buSzPts val="1600"/>
            </a:pPr>
            <a:r>
              <a:rPr lang="en-US" sz="1200" b="1">
                <a:solidFill>
                  <a:srgbClr val="FFFFFF"/>
                </a:solidFill>
                <a:latin typeface="Century Schoolbook"/>
                <a:ea typeface="Century Schoolbook"/>
                <a:cs typeface="Century Schoolbook"/>
                <a:sym typeface="Century Schoolbook"/>
              </a:rPr>
              <a:t>2</a:t>
            </a:r>
            <a:endParaRPr sz="1200">
              <a:solidFill>
                <a:schemeClr val="dk1"/>
              </a:solidFill>
              <a:latin typeface="Calibri"/>
              <a:ea typeface="Calibri"/>
              <a:cs typeface="Calibri"/>
              <a:sym typeface="Calibri"/>
            </a:endParaRPr>
          </a:p>
        </p:txBody>
      </p:sp>
      <p:cxnSp>
        <p:nvCxnSpPr>
          <p:cNvPr id="26" name="Google Shape;72;p4">
            <a:extLst>
              <a:ext uri="{FF2B5EF4-FFF2-40B4-BE49-F238E27FC236}">
                <a16:creationId xmlns:a16="http://schemas.microsoft.com/office/drawing/2014/main" id="{45ABDF1F-D8AE-6490-5FCA-35A45B7ECBFF}"/>
              </a:ext>
            </a:extLst>
          </p:cNvPr>
          <p:cNvCxnSpPr/>
          <p:nvPr/>
        </p:nvCxnSpPr>
        <p:spPr>
          <a:xfrm>
            <a:off x="734140" y="2911088"/>
            <a:ext cx="0" cy="362475"/>
          </a:xfrm>
          <a:prstGeom prst="straightConnector1">
            <a:avLst/>
          </a:prstGeom>
          <a:noFill/>
          <a:ln w="19050" cap="flat" cmpd="sng">
            <a:solidFill>
              <a:srgbClr val="E2E8F0"/>
            </a:solidFill>
            <a:prstDash val="dash"/>
            <a:round/>
            <a:headEnd type="none" w="sm" len="sm"/>
            <a:tailEnd type="none" w="sm" len="sm"/>
          </a:ln>
        </p:spPr>
      </p:cxnSp>
      <p:sp>
        <p:nvSpPr>
          <p:cNvPr id="27" name="Google Shape;73;p4">
            <a:extLst>
              <a:ext uri="{FF2B5EF4-FFF2-40B4-BE49-F238E27FC236}">
                <a16:creationId xmlns:a16="http://schemas.microsoft.com/office/drawing/2014/main" id="{041E1411-A791-527D-A4B7-DAE5E1D3F95C}"/>
              </a:ext>
            </a:extLst>
          </p:cNvPr>
          <p:cNvSpPr/>
          <p:nvPr/>
        </p:nvSpPr>
        <p:spPr>
          <a:xfrm>
            <a:off x="548640" y="3237544"/>
            <a:ext cx="371025" cy="398925"/>
          </a:xfrm>
          <a:prstGeom prst="ellipse">
            <a:avLst/>
          </a:prstGeom>
          <a:solidFill>
            <a:srgbClr val="800020"/>
          </a:solidFill>
          <a:ln>
            <a:noFill/>
          </a:ln>
        </p:spPr>
        <p:txBody>
          <a:bodyPr spcFirstLastPara="1" wrap="square" lIns="68569" tIns="68569" rIns="68569" bIns="68569" anchor="ctr" anchorCtr="0">
            <a:noAutofit/>
          </a:bodyPr>
          <a:lstStyle/>
          <a:p>
            <a:endParaRPr sz="1350"/>
          </a:p>
        </p:txBody>
      </p:sp>
      <p:sp>
        <p:nvSpPr>
          <p:cNvPr id="28" name="Google Shape;74;p4">
            <a:extLst>
              <a:ext uri="{FF2B5EF4-FFF2-40B4-BE49-F238E27FC236}">
                <a16:creationId xmlns:a16="http://schemas.microsoft.com/office/drawing/2014/main" id="{C118A589-3331-E82D-4D92-544AF850A160}"/>
              </a:ext>
            </a:extLst>
          </p:cNvPr>
          <p:cNvSpPr txBox="1"/>
          <p:nvPr/>
        </p:nvSpPr>
        <p:spPr>
          <a:xfrm>
            <a:off x="548640" y="3237392"/>
            <a:ext cx="371025" cy="399077"/>
          </a:xfrm>
          <a:prstGeom prst="rect">
            <a:avLst/>
          </a:prstGeom>
          <a:noFill/>
          <a:ln>
            <a:noFill/>
          </a:ln>
        </p:spPr>
        <p:txBody>
          <a:bodyPr spcFirstLastPara="1" wrap="square" lIns="0" tIns="0" rIns="0" bIns="0" anchor="ctr" anchorCtr="0">
            <a:noAutofit/>
          </a:bodyPr>
          <a:lstStyle/>
          <a:p>
            <a:pPr algn="ctr">
              <a:buClr>
                <a:srgbClr val="FFFFFF"/>
              </a:buClr>
              <a:buSzPts val="1600"/>
            </a:pPr>
            <a:r>
              <a:rPr lang="en-US" sz="1200" b="1" dirty="0">
                <a:solidFill>
                  <a:srgbClr val="FFFFFF"/>
                </a:solidFill>
                <a:latin typeface="Century Schoolbook"/>
                <a:ea typeface="Century Schoolbook"/>
                <a:cs typeface="Century Schoolbook"/>
                <a:sym typeface="Century Schoolbook"/>
              </a:rPr>
              <a:t>3</a:t>
            </a:r>
            <a:endParaRPr sz="1200" dirty="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marL="0" indent="0">
              <a:buNone/>
            </a:pPr>
            <a:r>
              <a:rPr lang="en-US" sz="900" b="1" kern="0" spc="150" dirty="0">
                <a:solidFill>
                  <a:srgbClr val="800020"/>
                </a:solidFill>
                <a:latin typeface="Calibri" pitchFamily="34" charset="0"/>
                <a:ea typeface="Calibri" pitchFamily="34" charset="-122"/>
                <a:cs typeface="Calibri" pitchFamily="34" charset="-120"/>
              </a:rPr>
              <a:t>1. INTRODUCTION</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r>
              <a:rPr lang="en-US" sz="2300" b="1" dirty="0">
                <a:solidFill>
                  <a:srgbClr val="0F172A"/>
                </a:solidFill>
                <a:latin typeface="Century Schoolbook"/>
                <a:ea typeface="Century Schoolbook"/>
                <a:cs typeface="Century Schoolbook"/>
                <a:sym typeface="Century Schoolbook"/>
              </a:rPr>
              <a:t>LLM Self-Correction</a:t>
            </a:r>
            <a:endParaRPr lang="en-US" sz="2300" dirty="0"/>
          </a:p>
        </p:txBody>
      </p:sp>
      <p:sp>
        <p:nvSpPr>
          <p:cNvPr id="34" name="Text 31"/>
          <p:cNvSpPr/>
          <p:nvPr/>
        </p:nvSpPr>
        <p:spPr>
          <a:xfrm>
            <a:off x="548640" y="4736592"/>
            <a:ext cx="6583680" cy="274320"/>
          </a:xfrm>
          <a:prstGeom prst="rect">
            <a:avLst/>
          </a:prstGeom>
          <a:noFill/>
          <a:ln/>
        </p:spPr>
        <p:txBody>
          <a:bodyPr wrap="square" lIns="0" tIns="0" rIns="0" bIns="0"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35" name="Text 32"/>
          <p:cNvSpPr/>
          <p:nvPr/>
        </p:nvSpPr>
        <p:spPr>
          <a:xfrm>
            <a:off x="7315200" y="4736592"/>
            <a:ext cx="128016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04/23</a:t>
            </a:r>
            <a:endParaRPr lang="en-US" sz="850" dirty="0"/>
          </a:p>
        </p:txBody>
      </p:sp>
      <p:sp>
        <p:nvSpPr>
          <p:cNvPr id="54" name="Google Shape;57;p4">
            <a:extLst>
              <a:ext uri="{FF2B5EF4-FFF2-40B4-BE49-F238E27FC236}">
                <a16:creationId xmlns:a16="http://schemas.microsoft.com/office/drawing/2014/main" id="{BF62785B-9589-1715-519B-4242C4B0057B}"/>
              </a:ext>
            </a:extLst>
          </p:cNvPr>
          <p:cNvSpPr txBox="1"/>
          <p:nvPr/>
        </p:nvSpPr>
        <p:spPr>
          <a:xfrm>
            <a:off x="548640" y="953761"/>
            <a:ext cx="3840525" cy="689625"/>
          </a:xfrm>
          <a:prstGeom prst="rect">
            <a:avLst/>
          </a:prstGeom>
          <a:noFill/>
          <a:ln>
            <a:noFill/>
          </a:ln>
        </p:spPr>
        <p:txBody>
          <a:bodyPr spcFirstLastPara="1" wrap="square" lIns="0" tIns="0" rIns="0" bIns="0" anchor="ctr" anchorCtr="0">
            <a:noAutofit/>
          </a:bodyPr>
          <a:lstStyle/>
          <a:p>
            <a:pPr>
              <a:lnSpc>
                <a:spcPct val="120000"/>
              </a:lnSpc>
              <a:buClr>
                <a:srgbClr val="0F172A"/>
              </a:buClr>
              <a:buSzPts val="1450"/>
            </a:pPr>
            <a:r>
              <a:rPr lang="en-US" sz="1125" b="1" dirty="0">
                <a:solidFill>
                  <a:srgbClr val="0F172A"/>
                </a:solidFill>
                <a:latin typeface="Calibri"/>
                <a:ea typeface="Calibri"/>
                <a:cs typeface="Calibri"/>
                <a:sym typeface="Calibri"/>
              </a:rPr>
              <a:t>Large Language Models (LLMs) </a:t>
            </a:r>
            <a:r>
              <a:rPr lang="en-US" sz="1125" dirty="0">
                <a:solidFill>
                  <a:srgbClr val="334155"/>
                </a:solidFill>
                <a:latin typeface="Calibri"/>
                <a:ea typeface="Calibri"/>
                <a:cs typeface="Calibri"/>
                <a:sym typeface="Calibri"/>
              </a:rPr>
              <a:t>generate text and solve problems by predicting likely word sequences, but their reasoning steps can contain errors.</a:t>
            </a:r>
            <a:endParaRPr sz="1125" dirty="0">
              <a:solidFill>
                <a:schemeClr val="dk1"/>
              </a:solidFill>
              <a:latin typeface="Calibri"/>
              <a:ea typeface="Calibri"/>
              <a:cs typeface="Calibri"/>
              <a:sym typeface="Calibri"/>
            </a:endParaRPr>
          </a:p>
        </p:txBody>
      </p:sp>
      <p:sp>
        <p:nvSpPr>
          <p:cNvPr id="55" name="Google Shape;63;p4">
            <a:extLst>
              <a:ext uri="{FF2B5EF4-FFF2-40B4-BE49-F238E27FC236}">
                <a16:creationId xmlns:a16="http://schemas.microsoft.com/office/drawing/2014/main" id="{FC02C950-F199-9B6E-7388-0F49CC06650A}"/>
              </a:ext>
            </a:extLst>
          </p:cNvPr>
          <p:cNvSpPr/>
          <p:nvPr/>
        </p:nvSpPr>
        <p:spPr>
          <a:xfrm>
            <a:off x="548640" y="1786630"/>
            <a:ext cx="371025" cy="398925"/>
          </a:xfrm>
          <a:prstGeom prst="ellipse">
            <a:avLst/>
          </a:prstGeom>
          <a:solidFill>
            <a:srgbClr val="800020"/>
          </a:solidFill>
          <a:ln>
            <a:noFill/>
          </a:ln>
        </p:spPr>
        <p:txBody>
          <a:bodyPr spcFirstLastPara="1" wrap="square" lIns="68569" tIns="68569" rIns="68569" bIns="68569" anchor="ctr" anchorCtr="0">
            <a:noAutofit/>
          </a:bodyPr>
          <a:lstStyle/>
          <a:p>
            <a:endParaRPr sz="1350"/>
          </a:p>
        </p:txBody>
      </p:sp>
      <p:sp>
        <p:nvSpPr>
          <p:cNvPr id="56" name="Google Shape;64;p4">
            <a:extLst>
              <a:ext uri="{FF2B5EF4-FFF2-40B4-BE49-F238E27FC236}">
                <a16:creationId xmlns:a16="http://schemas.microsoft.com/office/drawing/2014/main" id="{E6D0AA40-4AD1-D0BC-6153-B8CA29DF6B55}"/>
              </a:ext>
            </a:extLst>
          </p:cNvPr>
          <p:cNvSpPr txBox="1"/>
          <p:nvPr/>
        </p:nvSpPr>
        <p:spPr>
          <a:xfrm>
            <a:off x="548640" y="1786630"/>
            <a:ext cx="371025" cy="398925"/>
          </a:xfrm>
          <a:prstGeom prst="rect">
            <a:avLst/>
          </a:prstGeom>
          <a:noFill/>
          <a:ln>
            <a:noFill/>
          </a:ln>
        </p:spPr>
        <p:txBody>
          <a:bodyPr spcFirstLastPara="1" wrap="square" lIns="0" tIns="0" rIns="0" bIns="0" anchor="ctr" anchorCtr="0">
            <a:noAutofit/>
          </a:bodyPr>
          <a:lstStyle/>
          <a:p>
            <a:pPr algn="ctr">
              <a:buClr>
                <a:srgbClr val="FFFFFF"/>
              </a:buClr>
              <a:buSzPts val="1600"/>
            </a:pPr>
            <a:r>
              <a:rPr lang="en-US" sz="1200" b="1" dirty="0">
                <a:solidFill>
                  <a:srgbClr val="FFFFFF"/>
                </a:solidFill>
                <a:latin typeface="Century Schoolbook"/>
                <a:ea typeface="Century Schoolbook"/>
                <a:cs typeface="Century Schoolbook"/>
                <a:sym typeface="Century Schoolbook"/>
              </a:rPr>
              <a:t>1</a:t>
            </a:r>
            <a:endParaRPr sz="1200" dirty="0">
              <a:solidFill>
                <a:schemeClr val="dk1"/>
              </a:solidFill>
              <a:latin typeface="Calibri"/>
              <a:ea typeface="Calibri"/>
              <a:cs typeface="Calibri"/>
              <a:sym typeface="Calibri"/>
            </a:endParaRPr>
          </a:p>
        </p:txBody>
      </p:sp>
      <p:sp>
        <p:nvSpPr>
          <p:cNvPr id="57" name="Google Shape;65;p4">
            <a:extLst>
              <a:ext uri="{FF2B5EF4-FFF2-40B4-BE49-F238E27FC236}">
                <a16:creationId xmlns:a16="http://schemas.microsoft.com/office/drawing/2014/main" id="{2738E444-34CD-D4D2-1EC4-92FD059A3ADE}"/>
              </a:ext>
            </a:extLst>
          </p:cNvPr>
          <p:cNvSpPr txBox="1"/>
          <p:nvPr/>
        </p:nvSpPr>
        <p:spPr>
          <a:xfrm>
            <a:off x="1054550" y="1764866"/>
            <a:ext cx="3474000" cy="217800"/>
          </a:xfrm>
          <a:prstGeom prst="rect">
            <a:avLst/>
          </a:prstGeom>
          <a:noFill/>
          <a:ln>
            <a:noFill/>
          </a:ln>
        </p:spPr>
        <p:txBody>
          <a:bodyPr spcFirstLastPara="1" wrap="square" lIns="0" tIns="0" rIns="0" bIns="0" anchor="ctr" anchorCtr="0">
            <a:noAutofit/>
          </a:bodyPr>
          <a:lstStyle/>
          <a:p>
            <a:pPr>
              <a:buClr>
                <a:srgbClr val="0F172A"/>
              </a:buClr>
              <a:buSzPts val="1400"/>
            </a:pPr>
            <a:r>
              <a:rPr lang="en-US" sz="1050" b="1">
                <a:solidFill>
                  <a:srgbClr val="0F172A"/>
                </a:solidFill>
                <a:latin typeface="Calibri"/>
                <a:ea typeface="Calibri"/>
                <a:cs typeface="Calibri"/>
                <a:sym typeface="Calibri"/>
              </a:rPr>
              <a:t>Initial response</a:t>
            </a:r>
            <a:endParaRPr sz="1050">
              <a:solidFill>
                <a:schemeClr val="dk1"/>
              </a:solidFill>
              <a:latin typeface="Calibri"/>
              <a:ea typeface="Calibri"/>
              <a:cs typeface="Calibri"/>
              <a:sym typeface="Calibri"/>
            </a:endParaRPr>
          </a:p>
        </p:txBody>
      </p:sp>
      <p:sp>
        <p:nvSpPr>
          <p:cNvPr id="58" name="Google Shape;66;p4">
            <a:extLst>
              <a:ext uri="{FF2B5EF4-FFF2-40B4-BE49-F238E27FC236}">
                <a16:creationId xmlns:a16="http://schemas.microsoft.com/office/drawing/2014/main" id="{937E5250-E6CD-4CD0-59A2-458D5875FD62}"/>
              </a:ext>
            </a:extLst>
          </p:cNvPr>
          <p:cNvSpPr txBox="1"/>
          <p:nvPr/>
        </p:nvSpPr>
        <p:spPr>
          <a:xfrm>
            <a:off x="1054550" y="1982503"/>
            <a:ext cx="3474000" cy="326925"/>
          </a:xfrm>
          <a:prstGeom prst="rect">
            <a:avLst/>
          </a:prstGeom>
          <a:noFill/>
          <a:ln>
            <a:noFill/>
          </a:ln>
        </p:spPr>
        <p:txBody>
          <a:bodyPr spcFirstLastPara="1" wrap="square" lIns="0" tIns="0" rIns="0" bIns="0" anchor="ctr" anchorCtr="0">
            <a:noAutofit/>
          </a:bodyPr>
          <a:lstStyle/>
          <a:p>
            <a:pPr>
              <a:lnSpc>
                <a:spcPct val="110000"/>
              </a:lnSpc>
              <a:buClr>
                <a:srgbClr val="334155"/>
              </a:buClr>
              <a:buSzPts val="1200"/>
            </a:pPr>
            <a:r>
              <a:rPr lang="en-US" sz="1350">
                <a:solidFill>
                  <a:srgbClr val="334155"/>
                </a:solidFill>
                <a:latin typeface="Calibri"/>
                <a:ea typeface="Calibri"/>
                <a:cs typeface="Calibri"/>
                <a:sym typeface="Calibri"/>
              </a:rPr>
              <a:t>Model answers the question on its own.</a:t>
            </a:r>
            <a:endParaRPr sz="1350">
              <a:solidFill>
                <a:schemeClr val="dk1"/>
              </a:solidFill>
              <a:latin typeface="Calibri"/>
              <a:ea typeface="Calibri"/>
              <a:cs typeface="Calibri"/>
              <a:sym typeface="Calibri"/>
            </a:endParaRPr>
          </a:p>
        </p:txBody>
      </p:sp>
      <p:cxnSp>
        <p:nvCxnSpPr>
          <p:cNvPr id="59" name="Google Shape;67;p4">
            <a:extLst>
              <a:ext uri="{FF2B5EF4-FFF2-40B4-BE49-F238E27FC236}">
                <a16:creationId xmlns:a16="http://schemas.microsoft.com/office/drawing/2014/main" id="{2B3D9696-280D-95CD-3BD7-624CE5621D83}"/>
              </a:ext>
            </a:extLst>
          </p:cNvPr>
          <p:cNvCxnSpPr/>
          <p:nvPr/>
        </p:nvCxnSpPr>
        <p:spPr>
          <a:xfrm>
            <a:off x="734140" y="2185631"/>
            <a:ext cx="0" cy="362475"/>
          </a:xfrm>
          <a:prstGeom prst="straightConnector1">
            <a:avLst/>
          </a:prstGeom>
          <a:noFill/>
          <a:ln w="19050" cap="flat" cmpd="sng">
            <a:solidFill>
              <a:srgbClr val="E2E8F0"/>
            </a:solidFill>
            <a:prstDash val="dash"/>
            <a:round/>
            <a:headEnd type="none" w="sm" len="sm"/>
            <a:tailEnd type="none" w="sm" len="sm"/>
          </a:ln>
        </p:spPr>
      </p:cxnSp>
      <p:sp>
        <p:nvSpPr>
          <p:cNvPr id="60" name="Google Shape;68;p4">
            <a:extLst>
              <a:ext uri="{FF2B5EF4-FFF2-40B4-BE49-F238E27FC236}">
                <a16:creationId xmlns:a16="http://schemas.microsoft.com/office/drawing/2014/main" id="{C60715A6-B492-1454-2FED-6BA80E6CE1D1}"/>
              </a:ext>
            </a:extLst>
          </p:cNvPr>
          <p:cNvSpPr/>
          <p:nvPr/>
        </p:nvSpPr>
        <p:spPr>
          <a:xfrm>
            <a:off x="548640" y="2512087"/>
            <a:ext cx="371025" cy="398925"/>
          </a:xfrm>
          <a:prstGeom prst="ellipse">
            <a:avLst/>
          </a:prstGeom>
          <a:solidFill>
            <a:srgbClr val="800020"/>
          </a:solidFill>
          <a:ln>
            <a:noFill/>
          </a:ln>
        </p:spPr>
        <p:txBody>
          <a:bodyPr spcFirstLastPara="1" wrap="square" lIns="68569" tIns="68569" rIns="68569" bIns="68569" anchor="ctr" anchorCtr="0">
            <a:noAutofit/>
          </a:bodyPr>
          <a:lstStyle/>
          <a:p>
            <a:endParaRPr sz="1350"/>
          </a:p>
        </p:txBody>
      </p:sp>
      <p:sp>
        <p:nvSpPr>
          <p:cNvPr id="61" name="Google Shape;69;p4">
            <a:extLst>
              <a:ext uri="{FF2B5EF4-FFF2-40B4-BE49-F238E27FC236}">
                <a16:creationId xmlns:a16="http://schemas.microsoft.com/office/drawing/2014/main" id="{5ABF5B8C-E29A-FC6F-C4B1-57C63FDAAF9C}"/>
              </a:ext>
            </a:extLst>
          </p:cNvPr>
          <p:cNvSpPr txBox="1"/>
          <p:nvPr/>
        </p:nvSpPr>
        <p:spPr>
          <a:xfrm>
            <a:off x="548640" y="2512011"/>
            <a:ext cx="371025" cy="399001"/>
          </a:xfrm>
          <a:prstGeom prst="rect">
            <a:avLst/>
          </a:prstGeom>
          <a:noFill/>
          <a:ln>
            <a:noFill/>
          </a:ln>
        </p:spPr>
        <p:txBody>
          <a:bodyPr spcFirstLastPara="1" wrap="square" lIns="0" tIns="0" rIns="0" bIns="0" anchor="ctr" anchorCtr="0">
            <a:noAutofit/>
          </a:bodyPr>
          <a:lstStyle/>
          <a:p>
            <a:pPr algn="ctr">
              <a:buClr>
                <a:srgbClr val="FFFFFF"/>
              </a:buClr>
              <a:buSzPts val="1600"/>
            </a:pPr>
            <a:r>
              <a:rPr lang="en-US" sz="1200" b="1">
                <a:solidFill>
                  <a:srgbClr val="FFFFFF"/>
                </a:solidFill>
                <a:latin typeface="Century Schoolbook"/>
                <a:ea typeface="Century Schoolbook"/>
                <a:cs typeface="Century Schoolbook"/>
                <a:sym typeface="Century Schoolbook"/>
              </a:rPr>
              <a:t>2</a:t>
            </a:r>
            <a:endParaRPr sz="1200">
              <a:solidFill>
                <a:schemeClr val="dk1"/>
              </a:solidFill>
              <a:latin typeface="Calibri"/>
              <a:ea typeface="Calibri"/>
              <a:cs typeface="Calibri"/>
              <a:sym typeface="Calibri"/>
            </a:endParaRPr>
          </a:p>
        </p:txBody>
      </p:sp>
      <p:sp>
        <p:nvSpPr>
          <p:cNvPr id="62" name="Google Shape;70;p4">
            <a:extLst>
              <a:ext uri="{FF2B5EF4-FFF2-40B4-BE49-F238E27FC236}">
                <a16:creationId xmlns:a16="http://schemas.microsoft.com/office/drawing/2014/main" id="{7560A337-6C30-A030-BB69-F15364CD7560}"/>
              </a:ext>
            </a:extLst>
          </p:cNvPr>
          <p:cNvSpPr txBox="1"/>
          <p:nvPr/>
        </p:nvSpPr>
        <p:spPr>
          <a:xfrm>
            <a:off x="1054550" y="2490323"/>
            <a:ext cx="3474000" cy="217800"/>
          </a:xfrm>
          <a:prstGeom prst="rect">
            <a:avLst/>
          </a:prstGeom>
          <a:noFill/>
          <a:ln>
            <a:noFill/>
          </a:ln>
        </p:spPr>
        <p:txBody>
          <a:bodyPr spcFirstLastPara="1" wrap="square" lIns="0" tIns="0" rIns="0" bIns="0" anchor="ctr" anchorCtr="0">
            <a:noAutofit/>
          </a:bodyPr>
          <a:lstStyle/>
          <a:p>
            <a:pPr>
              <a:buClr>
                <a:srgbClr val="0F172A"/>
              </a:buClr>
              <a:buSzPts val="1400"/>
            </a:pPr>
            <a:r>
              <a:rPr lang="en-US" sz="1050" b="1">
                <a:solidFill>
                  <a:srgbClr val="0F172A"/>
                </a:solidFill>
                <a:latin typeface="Calibri"/>
                <a:ea typeface="Calibri"/>
                <a:cs typeface="Calibri"/>
                <a:sym typeface="Calibri"/>
              </a:rPr>
              <a:t>Self-review</a:t>
            </a:r>
            <a:endParaRPr sz="1050">
              <a:solidFill>
                <a:schemeClr val="dk1"/>
              </a:solidFill>
              <a:latin typeface="Calibri"/>
              <a:ea typeface="Calibri"/>
              <a:cs typeface="Calibri"/>
              <a:sym typeface="Calibri"/>
            </a:endParaRPr>
          </a:p>
        </p:txBody>
      </p:sp>
      <p:sp>
        <p:nvSpPr>
          <p:cNvPr id="63" name="Google Shape;71;p4">
            <a:extLst>
              <a:ext uri="{FF2B5EF4-FFF2-40B4-BE49-F238E27FC236}">
                <a16:creationId xmlns:a16="http://schemas.microsoft.com/office/drawing/2014/main" id="{4F53FAF7-2262-20EE-9A50-D8F07E2158F7}"/>
              </a:ext>
            </a:extLst>
          </p:cNvPr>
          <p:cNvSpPr txBox="1"/>
          <p:nvPr/>
        </p:nvSpPr>
        <p:spPr>
          <a:xfrm>
            <a:off x="1054550" y="2707960"/>
            <a:ext cx="3474000" cy="398925"/>
          </a:xfrm>
          <a:prstGeom prst="rect">
            <a:avLst/>
          </a:prstGeom>
          <a:noFill/>
          <a:ln>
            <a:noFill/>
          </a:ln>
        </p:spPr>
        <p:txBody>
          <a:bodyPr spcFirstLastPara="1" wrap="square" lIns="0" tIns="0" rIns="0" bIns="0" anchor="ctr" anchorCtr="0">
            <a:noAutofit/>
          </a:bodyPr>
          <a:lstStyle/>
          <a:p>
            <a:pPr>
              <a:lnSpc>
                <a:spcPct val="110000"/>
              </a:lnSpc>
              <a:buClr>
                <a:srgbClr val="334155"/>
              </a:buClr>
              <a:buSzPts val="1200"/>
            </a:pPr>
            <a:r>
              <a:rPr lang="en-US" sz="1350" dirty="0">
                <a:solidFill>
                  <a:srgbClr val="334155"/>
                </a:solidFill>
                <a:latin typeface="Calibri"/>
                <a:ea typeface="Calibri"/>
                <a:cs typeface="Calibri"/>
                <a:sym typeface="Calibri"/>
              </a:rPr>
              <a:t>Model is asked to check its own answer and flag problems.</a:t>
            </a:r>
            <a:endParaRPr sz="1350" dirty="0">
              <a:solidFill>
                <a:schemeClr val="dk1"/>
              </a:solidFill>
              <a:latin typeface="Calibri"/>
              <a:ea typeface="Calibri"/>
              <a:cs typeface="Calibri"/>
              <a:sym typeface="Calibri"/>
            </a:endParaRPr>
          </a:p>
        </p:txBody>
      </p:sp>
      <p:cxnSp>
        <p:nvCxnSpPr>
          <p:cNvPr id="64" name="Google Shape;72;p4">
            <a:extLst>
              <a:ext uri="{FF2B5EF4-FFF2-40B4-BE49-F238E27FC236}">
                <a16:creationId xmlns:a16="http://schemas.microsoft.com/office/drawing/2014/main" id="{191D2CE7-5EA1-F8AF-67B8-8DDEE425C877}"/>
              </a:ext>
            </a:extLst>
          </p:cNvPr>
          <p:cNvCxnSpPr/>
          <p:nvPr/>
        </p:nvCxnSpPr>
        <p:spPr>
          <a:xfrm>
            <a:off x="734140" y="2911088"/>
            <a:ext cx="0" cy="362475"/>
          </a:xfrm>
          <a:prstGeom prst="straightConnector1">
            <a:avLst/>
          </a:prstGeom>
          <a:noFill/>
          <a:ln w="19050" cap="flat" cmpd="sng">
            <a:solidFill>
              <a:srgbClr val="E2E8F0"/>
            </a:solidFill>
            <a:prstDash val="dash"/>
            <a:round/>
            <a:headEnd type="none" w="sm" len="sm"/>
            <a:tailEnd type="none" w="sm" len="sm"/>
          </a:ln>
        </p:spPr>
      </p:cxnSp>
      <p:sp>
        <p:nvSpPr>
          <p:cNvPr id="65" name="Google Shape;73;p4">
            <a:extLst>
              <a:ext uri="{FF2B5EF4-FFF2-40B4-BE49-F238E27FC236}">
                <a16:creationId xmlns:a16="http://schemas.microsoft.com/office/drawing/2014/main" id="{19C5F608-107B-F6AE-86F1-8D730A52D6F5}"/>
              </a:ext>
            </a:extLst>
          </p:cNvPr>
          <p:cNvSpPr/>
          <p:nvPr/>
        </p:nvSpPr>
        <p:spPr>
          <a:xfrm>
            <a:off x="548640" y="3237544"/>
            <a:ext cx="371025" cy="398925"/>
          </a:xfrm>
          <a:prstGeom prst="ellipse">
            <a:avLst/>
          </a:prstGeom>
          <a:solidFill>
            <a:srgbClr val="800020"/>
          </a:solidFill>
          <a:ln>
            <a:noFill/>
          </a:ln>
        </p:spPr>
        <p:txBody>
          <a:bodyPr spcFirstLastPara="1" wrap="square" lIns="68569" tIns="68569" rIns="68569" bIns="68569" anchor="ctr" anchorCtr="0">
            <a:noAutofit/>
          </a:bodyPr>
          <a:lstStyle/>
          <a:p>
            <a:endParaRPr sz="1350"/>
          </a:p>
        </p:txBody>
      </p:sp>
      <p:sp>
        <p:nvSpPr>
          <p:cNvPr id="66" name="Google Shape;74;p4">
            <a:extLst>
              <a:ext uri="{FF2B5EF4-FFF2-40B4-BE49-F238E27FC236}">
                <a16:creationId xmlns:a16="http://schemas.microsoft.com/office/drawing/2014/main" id="{E0D24F2E-2D7C-924F-AD5C-2C8B9857DB48}"/>
              </a:ext>
            </a:extLst>
          </p:cNvPr>
          <p:cNvSpPr txBox="1"/>
          <p:nvPr/>
        </p:nvSpPr>
        <p:spPr>
          <a:xfrm>
            <a:off x="548640" y="3237392"/>
            <a:ext cx="371025" cy="399077"/>
          </a:xfrm>
          <a:prstGeom prst="rect">
            <a:avLst/>
          </a:prstGeom>
          <a:noFill/>
          <a:ln>
            <a:noFill/>
          </a:ln>
        </p:spPr>
        <p:txBody>
          <a:bodyPr spcFirstLastPara="1" wrap="square" lIns="0" tIns="0" rIns="0" bIns="0" anchor="ctr" anchorCtr="0">
            <a:noAutofit/>
          </a:bodyPr>
          <a:lstStyle/>
          <a:p>
            <a:pPr algn="ctr">
              <a:buClr>
                <a:srgbClr val="FFFFFF"/>
              </a:buClr>
              <a:buSzPts val="1600"/>
            </a:pPr>
            <a:r>
              <a:rPr lang="en-US" sz="1200" b="1" dirty="0">
                <a:solidFill>
                  <a:srgbClr val="FFFFFF"/>
                </a:solidFill>
                <a:latin typeface="Century Schoolbook"/>
                <a:ea typeface="Century Schoolbook"/>
                <a:cs typeface="Century Schoolbook"/>
                <a:sym typeface="Century Schoolbook"/>
              </a:rPr>
              <a:t>3</a:t>
            </a:r>
            <a:endParaRPr sz="1200" dirty="0">
              <a:solidFill>
                <a:schemeClr val="dk1"/>
              </a:solidFill>
              <a:latin typeface="Calibri"/>
              <a:ea typeface="Calibri"/>
              <a:cs typeface="Calibri"/>
              <a:sym typeface="Calibri"/>
            </a:endParaRPr>
          </a:p>
        </p:txBody>
      </p:sp>
      <p:sp>
        <p:nvSpPr>
          <p:cNvPr id="67" name="Google Shape;75;p4">
            <a:extLst>
              <a:ext uri="{FF2B5EF4-FFF2-40B4-BE49-F238E27FC236}">
                <a16:creationId xmlns:a16="http://schemas.microsoft.com/office/drawing/2014/main" id="{80DFEC5B-B226-7121-CFAA-98A7962CD6AB}"/>
              </a:ext>
            </a:extLst>
          </p:cNvPr>
          <p:cNvSpPr txBox="1"/>
          <p:nvPr/>
        </p:nvSpPr>
        <p:spPr>
          <a:xfrm>
            <a:off x="1054550" y="3215780"/>
            <a:ext cx="3474000" cy="217800"/>
          </a:xfrm>
          <a:prstGeom prst="rect">
            <a:avLst/>
          </a:prstGeom>
          <a:noFill/>
          <a:ln>
            <a:noFill/>
          </a:ln>
        </p:spPr>
        <p:txBody>
          <a:bodyPr spcFirstLastPara="1" wrap="square" lIns="0" tIns="0" rIns="0" bIns="0" anchor="ctr" anchorCtr="0">
            <a:noAutofit/>
          </a:bodyPr>
          <a:lstStyle/>
          <a:p>
            <a:pPr>
              <a:buClr>
                <a:srgbClr val="0F172A"/>
              </a:buClr>
              <a:buSzPts val="1400"/>
            </a:pPr>
            <a:r>
              <a:rPr lang="en-US" sz="1050" b="1">
                <a:solidFill>
                  <a:srgbClr val="0F172A"/>
                </a:solidFill>
                <a:latin typeface="Calibri"/>
                <a:ea typeface="Calibri"/>
                <a:cs typeface="Calibri"/>
                <a:sym typeface="Calibri"/>
              </a:rPr>
              <a:t>Revised response</a:t>
            </a:r>
            <a:endParaRPr sz="1050">
              <a:solidFill>
                <a:schemeClr val="dk1"/>
              </a:solidFill>
              <a:latin typeface="Calibri"/>
              <a:ea typeface="Calibri"/>
              <a:cs typeface="Calibri"/>
              <a:sym typeface="Calibri"/>
            </a:endParaRPr>
          </a:p>
        </p:txBody>
      </p:sp>
      <p:sp>
        <p:nvSpPr>
          <p:cNvPr id="68" name="Google Shape;76;p4">
            <a:extLst>
              <a:ext uri="{FF2B5EF4-FFF2-40B4-BE49-F238E27FC236}">
                <a16:creationId xmlns:a16="http://schemas.microsoft.com/office/drawing/2014/main" id="{9C77E120-1090-A836-F228-1A0F45373835}"/>
              </a:ext>
            </a:extLst>
          </p:cNvPr>
          <p:cNvSpPr txBox="1"/>
          <p:nvPr/>
        </p:nvSpPr>
        <p:spPr>
          <a:xfrm>
            <a:off x="1054550" y="3433417"/>
            <a:ext cx="3474000" cy="326925"/>
          </a:xfrm>
          <a:prstGeom prst="rect">
            <a:avLst/>
          </a:prstGeom>
          <a:noFill/>
          <a:ln>
            <a:noFill/>
          </a:ln>
        </p:spPr>
        <p:txBody>
          <a:bodyPr spcFirstLastPara="1" wrap="square" lIns="0" tIns="0" rIns="0" bIns="0" anchor="ctr" anchorCtr="0">
            <a:noAutofit/>
          </a:bodyPr>
          <a:lstStyle/>
          <a:p>
            <a:pPr>
              <a:lnSpc>
                <a:spcPct val="110000"/>
              </a:lnSpc>
              <a:buClr>
                <a:srgbClr val="334155"/>
              </a:buClr>
              <a:buSzPts val="1200"/>
            </a:pPr>
            <a:r>
              <a:rPr lang="en-US" sz="1350">
                <a:solidFill>
                  <a:srgbClr val="334155"/>
                </a:solidFill>
                <a:latin typeface="Calibri"/>
                <a:ea typeface="Calibri"/>
                <a:cs typeface="Calibri"/>
                <a:sym typeface="Calibri"/>
              </a:rPr>
              <a:t>Model answers again, using its own feedback.</a:t>
            </a:r>
            <a:endParaRPr sz="1350">
              <a:solidFill>
                <a:schemeClr val="dk1"/>
              </a:solidFill>
              <a:latin typeface="Calibri"/>
              <a:ea typeface="Calibri"/>
              <a:cs typeface="Calibri"/>
              <a:sym typeface="Calibri"/>
            </a:endParaRPr>
          </a:p>
        </p:txBody>
      </p:sp>
      <p:pic>
        <p:nvPicPr>
          <p:cNvPr id="69" name="Google Shape;77;p4" title="1_Q6yNizxicP94pZ7yVuFy-w.png">
            <a:extLst>
              <a:ext uri="{FF2B5EF4-FFF2-40B4-BE49-F238E27FC236}">
                <a16:creationId xmlns:a16="http://schemas.microsoft.com/office/drawing/2014/main" id="{B6D55462-EFBC-480E-04A5-180A5FC979AA}"/>
              </a:ext>
            </a:extLst>
          </p:cNvPr>
          <p:cNvPicPr preferRelativeResize="0"/>
          <p:nvPr/>
        </p:nvPicPr>
        <p:blipFill>
          <a:blip r:embed="rId3">
            <a:alphaModFix/>
          </a:blip>
          <a:srcRect l="10843" t="12407" r="11136" b="7837"/>
          <a:stretch>
            <a:fillRect/>
          </a:stretch>
        </p:blipFill>
        <p:spPr>
          <a:xfrm>
            <a:off x="5339816" y="1020083"/>
            <a:ext cx="3175970" cy="2413334"/>
          </a:xfrm>
          <a:prstGeom prst="rect">
            <a:avLst/>
          </a:prstGeom>
          <a:noFill/>
          <a:ln>
            <a:noFill/>
          </a:ln>
        </p:spPr>
      </p:pic>
      <p:sp>
        <p:nvSpPr>
          <p:cNvPr id="70" name="Google Shape;79;p4">
            <a:extLst>
              <a:ext uri="{FF2B5EF4-FFF2-40B4-BE49-F238E27FC236}">
                <a16:creationId xmlns:a16="http://schemas.microsoft.com/office/drawing/2014/main" id="{DFCC01CA-F05A-5261-1E27-F3D728203230}"/>
              </a:ext>
            </a:extLst>
          </p:cNvPr>
          <p:cNvSpPr txBox="1"/>
          <p:nvPr/>
        </p:nvSpPr>
        <p:spPr>
          <a:xfrm>
            <a:off x="5116473" y="3596879"/>
            <a:ext cx="3622656" cy="553976"/>
          </a:xfrm>
          <a:prstGeom prst="rect">
            <a:avLst/>
          </a:prstGeom>
          <a:noFill/>
          <a:ln>
            <a:noFill/>
          </a:ln>
        </p:spPr>
        <p:txBody>
          <a:bodyPr spcFirstLastPara="1" wrap="square" lIns="68569" tIns="68569" rIns="68569" bIns="68569" anchor="t" anchorCtr="0">
            <a:spAutoFit/>
          </a:bodyPr>
          <a:lstStyle/>
          <a:p>
            <a:pPr algn="ctr"/>
            <a:r>
              <a:rPr lang="en-US" sz="1350" dirty="0"/>
              <a:t>Figure-2: Large Language Model Self correction procedure</a:t>
            </a:r>
            <a:endParaRPr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marL="0" indent="0">
              <a:buNone/>
            </a:pPr>
            <a:r>
              <a:rPr lang="en-US" sz="900" b="1" kern="0" spc="150" dirty="0">
                <a:solidFill>
                  <a:srgbClr val="800020"/>
                </a:solidFill>
                <a:latin typeface="Calibri" pitchFamily="34" charset="0"/>
                <a:ea typeface="Calibri" pitchFamily="34" charset="-122"/>
                <a:cs typeface="Calibri" pitchFamily="34" charset="-120"/>
              </a:rPr>
              <a:t>1. INTRODUCTION</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r>
              <a:rPr lang="en-US" sz="2300" b="1" dirty="0">
                <a:solidFill>
                  <a:srgbClr val="0F172A"/>
                </a:solidFill>
                <a:latin typeface="Century Schoolbook"/>
                <a:ea typeface="Century Schoolbook"/>
                <a:cs typeface="Century Schoolbook"/>
                <a:sym typeface="Century Schoolbook"/>
              </a:rPr>
              <a:t>The Central Question</a:t>
            </a:r>
            <a:endParaRPr lang="en-US" sz="2300" dirty="0"/>
          </a:p>
        </p:txBody>
      </p:sp>
      <p:sp>
        <p:nvSpPr>
          <p:cNvPr id="20" name="Text 17"/>
          <p:cNvSpPr/>
          <p:nvPr/>
        </p:nvSpPr>
        <p:spPr>
          <a:xfrm>
            <a:off x="548640" y="4736592"/>
            <a:ext cx="6583680" cy="274320"/>
          </a:xfrm>
          <a:prstGeom prst="rect">
            <a:avLst/>
          </a:prstGeom>
          <a:noFill/>
          <a:ln/>
        </p:spPr>
        <p:txBody>
          <a:bodyPr wrap="square" lIns="0" tIns="0" rIns="0" bIns="0"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21" name="Text 18"/>
          <p:cNvSpPr/>
          <p:nvPr/>
        </p:nvSpPr>
        <p:spPr>
          <a:xfrm>
            <a:off x="7315200" y="4736592"/>
            <a:ext cx="128016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05/23</a:t>
            </a:r>
            <a:endParaRPr lang="en-US" sz="850" dirty="0"/>
          </a:p>
        </p:txBody>
      </p:sp>
      <p:sp>
        <p:nvSpPr>
          <p:cNvPr id="33" name="Google Shape;111;p6">
            <a:extLst>
              <a:ext uri="{FF2B5EF4-FFF2-40B4-BE49-F238E27FC236}">
                <a16:creationId xmlns:a16="http://schemas.microsoft.com/office/drawing/2014/main" id="{CBA0FE43-D9CC-A22F-FFF6-A078135DD3A5}"/>
              </a:ext>
            </a:extLst>
          </p:cNvPr>
          <p:cNvSpPr/>
          <p:nvPr/>
        </p:nvSpPr>
        <p:spPr>
          <a:xfrm>
            <a:off x="548640" y="979828"/>
            <a:ext cx="7749450" cy="1104525"/>
          </a:xfrm>
          <a:prstGeom prst="rect">
            <a:avLst/>
          </a:prstGeom>
          <a:solidFill>
            <a:srgbClr val="FAF3F5"/>
          </a:solidFill>
          <a:ln w="12700" cap="flat" cmpd="sng">
            <a:solidFill>
              <a:srgbClr val="800020"/>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34" name="Google Shape;112;p6">
            <a:extLst>
              <a:ext uri="{FF2B5EF4-FFF2-40B4-BE49-F238E27FC236}">
                <a16:creationId xmlns:a16="http://schemas.microsoft.com/office/drawing/2014/main" id="{593C7EE4-4EB6-214C-AB88-602FC97D5224}"/>
              </a:ext>
            </a:extLst>
          </p:cNvPr>
          <p:cNvSpPr txBox="1"/>
          <p:nvPr/>
        </p:nvSpPr>
        <p:spPr>
          <a:xfrm>
            <a:off x="822960" y="1080238"/>
            <a:ext cx="7200900" cy="702675"/>
          </a:xfrm>
          <a:prstGeom prst="rect">
            <a:avLst/>
          </a:prstGeom>
          <a:noFill/>
          <a:ln>
            <a:noFill/>
          </a:ln>
        </p:spPr>
        <p:txBody>
          <a:bodyPr spcFirstLastPara="1" wrap="square" lIns="0" tIns="0" rIns="0" bIns="0" anchor="ctr" anchorCtr="0">
            <a:noAutofit/>
          </a:bodyPr>
          <a:lstStyle/>
          <a:p>
            <a:pPr>
              <a:buClr>
                <a:srgbClr val="800020"/>
              </a:buClr>
              <a:buSzPts val="1900"/>
            </a:pPr>
            <a:r>
              <a:rPr lang="en-US" sz="1425" i="1">
                <a:solidFill>
                  <a:srgbClr val="800020"/>
                </a:solidFill>
                <a:latin typeface="Century Schoolbook"/>
                <a:ea typeface="Century Schoolbook"/>
                <a:cs typeface="Century Schoolbook"/>
                <a:sym typeface="Century Schoolbook"/>
              </a:rPr>
              <a:t>“</a:t>
            </a:r>
            <a:r>
              <a:rPr lang="en-US" sz="1425">
                <a:solidFill>
                  <a:srgbClr val="800020"/>
                </a:solidFill>
                <a:latin typeface="Century Schoolbook"/>
                <a:ea typeface="Century Schoolbook"/>
                <a:cs typeface="Century Schoolbook"/>
                <a:sym typeface="Century Schoolbook"/>
              </a:rPr>
              <a:t>If an LLM possesses the ability to self-correct, why doesn’t it simply offer the correct answer in its initial attempt?</a:t>
            </a:r>
            <a:r>
              <a:rPr lang="en-US" sz="1425" i="1">
                <a:solidFill>
                  <a:srgbClr val="800020"/>
                </a:solidFill>
                <a:latin typeface="Century Schoolbook"/>
                <a:ea typeface="Century Schoolbook"/>
                <a:cs typeface="Century Schoolbook"/>
                <a:sym typeface="Century Schoolbook"/>
              </a:rPr>
              <a:t>”</a:t>
            </a:r>
            <a:endParaRPr sz="1425">
              <a:solidFill>
                <a:schemeClr val="dk1"/>
              </a:solidFill>
              <a:latin typeface="Calibri"/>
              <a:ea typeface="Calibri"/>
              <a:cs typeface="Calibri"/>
              <a:sym typeface="Calibri"/>
            </a:endParaRPr>
          </a:p>
        </p:txBody>
      </p:sp>
      <p:sp>
        <p:nvSpPr>
          <p:cNvPr id="35" name="Google Shape;113;p6">
            <a:extLst>
              <a:ext uri="{FF2B5EF4-FFF2-40B4-BE49-F238E27FC236}">
                <a16:creationId xmlns:a16="http://schemas.microsoft.com/office/drawing/2014/main" id="{3E458182-DE32-D5D8-74B7-C867BB849380}"/>
              </a:ext>
            </a:extLst>
          </p:cNvPr>
          <p:cNvSpPr txBox="1"/>
          <p:nvPr/>
        </p:nvSpPr>
        <p:spPr>
          <a:xfrm>
            <a:off x="822960" y="1816579"/>
            <a:ext cx="7200900" cy="200925"/>
          </a:xfrm>
          <a:prstGeom prst="rect">
            <a:avLst/>
          </a:prstGeom>
          <a:noFill/>
          <a:ln>
            <a:noFill/>
          </a:ln>
        </p:spPr>
        <p:txBody>
          <a:bodyPr spcFirstLastPara="1" wrap="square" lIns="0" tIns="0" rIns="0" bIns="0" anchor="ctr" anchorCtr="0">
            <a:noAutofit/>
          </a:bodyPr>
          <a:lstStyle/>
          <a:p>
            <a:pPr>
              <a:buClr>
                <a:srgbClr val="64748B"/>
              </a:buClr>
              <a:buSzPts val="1050"/>
            </a:pPr>
            <a:r>
              <a:rPr lang="en-US" sz="788">
                <a:solidFill>
                  <a:srgbClr val="64748B"/>
                </a:solidFill>
                <a:latin typeface="Calibri"/>
                <a:ea typeface="Calibri"/>
                <a:cs typeface="Calibri"/>
                <a:sym typeface="Calibri"/>
              </a:rPr>
              <a:t>Paraphrased from Huang et al., ICLR 2024, Section 1.</a:t>
            </a:r>
            <a:endParaRPr sz="788">
              <a:solidFill>
                <a:schemeClr val="dk1"/>
              </a:solidFill>
              <a:latin typeface="Calibri"/>
              <a:ea typeface="Calibri"/>
              <a:cs typeface="Calibri"/>
              <a:sym typeface="Calibri"/>
            </a:endParaRPr>
          </a:p>
        </p:txBody>
      </p:sp>
      <p:sp>
        <p:nvSpPr>
          <p:cNvPr id="36" name="Google Shape;119;p6">
            <a:extLst>
              <a:ext uri="{FF2B5EF4-FFF2-40B4-BE49-F238E27FC236}">
                <a16:creationId xmlns:a16="http://schemas.microsoft.com/office/drawing/2014/main" id="{5B70FF20-A015-3F07-0B12-FDF43888D932}"/>
              </a:ext>
            </a:extLst>
          </p:cNvPr>
          <p:cNvSpPr txBox="1"/>
          <p:nvPr/>
        </p:nvSpPr>
        <p:spPr>
          <a:xfrm>
            <a:off x="548640" y="2359715"/>
            <a:ext cx="3511575" cy="207225"/>
          </a:xfrm>
          <a:prstGeom prst="rect">
            <a:avLst/>
          </a:prstGeom>
          <a:noFill/>
          <a:ln>
            <a:noFill/>
          </a:ln>
        </p:spPr>
        <p:txBody>
          <a:bodyPr spcFirstLastPara="1" wrap="square" lIns="0" tIns="0" rIns="0" bIns="0" anchor="ctr" anchorCtr="0">
            <a:noAutofit/>
          </a:bodyPr>
          <a:lstStyle/>
          <a:p>
            <a:pPr>
              <a:buClr>
                <a:srgbClr val="64748B"/>
              </a:buClr>
              <a:buSzPts val="1115"/>
            </a:pPr>
            <a:r>
              <a:rPr lang="en-US" sz="1350" b="1">
                <a:solidFill>
                  <a:srgbClr val="64748B"/>
                </a:solidFill>
                <a:latin typeface="Calibri"/>
                <a:ea typeface="Calibri"/>
                <a:cs typeface="Calibri"/>
                <a:sym typeface="Calibri"/>
              </a:rPr>
              <a:t>WHAT'S AHEAD</a:t>
            </a:r>
            <a:endParaRPr sz="1125" b="1">
              <a:solidFill>
                <a:schemeClr val="dk1"/>
              </a:solidFill>
              <a:latin typeface="Calibri"/>
              <a:ea typeface="Calibri"/>
              <a:cs typeface="Calibri"/>
              <a:sym typeface="Calibri"/>
            </a:endParaRPr>
          </a:p>
        </p:txBody>
      </p:sp>
      <p:sp>
        <p:nvSpPr>
          <p:cNvPr id="37" name="Google Shape;120;p6">
            <a:extLst>
              <a:ext uri="{FF2B5EF4-FFF2-40B4-BE49-F238E27FC236}">
                <a16:creationId xmlns:a16="http://schemas.microsoft.com/office/drawing/2014/main" id="{AA673F38-57B3-F2A1-D93C-CD72E4AAC1D8}"/>
              </a:ext>
            </a:extLst>
          </p:cNvPr>
          <p:cNvSpPr/>
          <p:nvPr/>
        </p:nvSpPr>
        <p:spPr>
          <a:xfrm>
            <a:off x="548640" y="2660392"/>
            <a:ext cx="97425" cy="96750"/>
          </a:xfrm>
          <a:prstGeom prst="rect">
            <a:avLst/>
          </a:prstGeom>
          <a:solidFill>
            <a:srgbClr val="800020"/>
          </a:solidFill>
          <a:ln>
            <a:noFill/>
          </a:ln>
        </p:spPr>
        <p:txBody>
          <a:bodyPr spcFirstLastPara="1" wrap="square" lIns="69525" tIns="69525" rIns="69525" bIns="69525" anchor="ctr" anchorCtr="0">
            <a:noAutofit/>
          </a:bodyPr>
          <a:lstStyle/>
          <a:p>
            <a:endParaRPr sz="1125" b="1"/>
          </a:p>
        </p:txBody>
      </p:sp>
      <p:sp>
        <p:nvSpPr>
          <p:cNvPr id="38" name="Google Shape;121;p6">
            <a:extLst>
              <a:ext uri="{FF2B5EF4-FFF2-40B4-BE49-F238E27FC236}">
                <a16:creationId xmlns:a16="http://schemas.microsoft.com/office/drawing/2014/main" id="{989EA617-B6E8-893B-261A-1478E195E23A}"/>
              </a:ext>
            </a:extLst>
          </p:cNvPr>
          <p:cNvSpPr txBox="1"/>
          <p:nvPr/>
        </p:nvSpPr>
        <p:spPr>
          <a:xfrm>
            <a:off x="757249" y="2599900"/>
            <a:ext cx="3303000" cy="276300"/>
          </a:xfrm>
          <a:prstGeom prst="rect">
            <a:avLst/>
          </a:prstGeom>
          <a:noFill/>
          <a:ln>
            <a:noFill/>
          </a:ln>
        </p:spPr>
        <p:txBody>
          <a:bodyPr spcFirstLastPara="1" wrap="square" lIns="0" tIns="0" rIns="0" bIns="0" anchor="ctr" anchorCtr="0">
            <a:noAutofit/>
          </a:bodyPr>
          <a:lstStyle/>
          <a:p>
            <a:pPr>
              <a:buClr>
                <a:srgbClr val="334155"/>
              </a:buClr>
              <a:buSzPts val="1318"/>
            </a:pPr>
            <a:r>
              <a:rPr lang="en-US" sz="1125">
                <a:solidFill>
                  <a:srgbClr val="334155"/>
                </a:solidFill>
                <a:latin typeface="Georgia"/>
                <a:ea typeface="Georgia"/>
                <a:cs typeface="Georgia"/>
                <a:sym typeface="Georgia"/>
              </a:rPr>
              <a:t>Prior work and its evaluation gaps</a:t>
            </a:r>
            <a:endParaRPr sz="1125">
              <a:solidFill>
                <a:schemeClr val="dk1"/>
              </a:solidFill>
              <a:latin typeface="Georgia"/>
              <a:ea typeface="Georgia"/>
              <a:cs typeface="Georgia"/>
              <a:sym typeface="Georgia"/>
            </a:endParaRPr>
          </a:p>
        </p:txBody>
      </p:sp>
      <p:sp>
        <p:nvSpPr>
          <p:cNvPr id="39" name="Google Shape;122;p6">
            <a:extLst>
              <a:ext uri="{FF2B5EF4-FFF2-40B4-BE49-F238E27FC236}">
                <a16:creationId xmlns:a16="http://schemas.microsoft.com/office/drawing/2014/main" id="{9DD394D5-AC1A-6DCF-D592-9BC912DE87F2}"/>
              </a:ext>
            </a:extLst>
          </p:cNvPr>
          <p:cNvSpPr/>
          <p:nvPr/>
        </p:nvSpPr>
        <p:spPr>
          <a:xfrm>
            <a:off x="548640" y="2950618"/>
            <a:ext cx="97425" cy="96750"/>
          </a:xfrm>
          <a:prstGeom prst="rect">
            <a:avLst/>
          </a:prstGeom>
          <a:solidFill>
            <a:srgbClr val="800020"/>
          </a:solidFill>
          <a:ln>
            <a:noFill/>
          </a:ln>
        </p:spPr>
        <p:txBody>
          <a:bodyPr spcFirstLastPara="1" wrap="square" lIns="69525" tIns="69525" rIns="69525" bIns="69525" anchor="ctr" anchorCtr="0">
            <a:noAutofit/>
          </a:bodyPr>
          <a:lstStyle/>
          <a:p>
            <a:endParaRPr sz="1125" b="1"/>
          </a:p>
        </p:txBody>
      </p:sp>
      <p:sp>
        <p:nvSpPr>
          <p:cNvPr id="40" name="Google Shape;123;p6">
            <a:extLst>
              <a:ext uri="{FF2B5EF4-FFF2-40B4-BE49-F238E27FC236}">
                <a16:creationId xmlns:a16="http://schemas.microsoft.com/office/drawing/2014/main" id="{639D14A3-6CDF-F0DD-CA44-4E147AA896DC}"/>
              </a:ext>
            </a:extLst>
          </p:cNvPr>
          <p:cNvSpPr txBox="1"/>
          <p:nvPr/>
        </p:nvSpPr>
        <p:spPr>
          <a:xfrm>
            <a:off x="757249" y="2909157"/>
            <a:ext cx="3303000" cy="276300"/>
          </a:xfrm>
          <a:prstGeom prst="rect">
            <a:avLst/>
          </a:prstGeom>
          <a:noFill/>
          <a:ln>
            <a:noFill/>
          </a:ln>
        </p:spPr>
        <p:txBody>
          <a:bodyPr spcFirstLastPara="1" wrap="square" lIns="0" tIns="0" rIns="0" bIns="0" anchor="ctr" anchorCtr="0">
            <a:noAutofit/>
          </a:bodyPr>
          <a:lstStyle/>
          <a:p>
            <a:pPr>
              <a:buClr>
                <a:srgbClr val="334155"/>
              </a:buClr>
              <a:buSzPts val="1318"/>
            </a:pPr>
            <a:r>
              <a:rPr lang="en-US" sz="1125">
                <a:solidFill>
                  <a:srgbClr val="334155"/>
                </a:solidFill>
                <a:latin typeface="Georgia"/>
                <a:ea typeface="Georgia"/>
                <a:cs typeface="Georgia"/>
                <a:sym typeface="Georgia"/>
              </a:rPr>
              <a:t>How the paper tests self-correction fairly</a:t>
            </a:r>
            <a:endParaRPr sz="1125">
              <a:solidFill>
                <a:schemeClr val="dk1"/>
              </a:solidFill>
              <a:latin typeface="Georgia"/>
              <a:ea typeface="Georgia"/>
              <a:cs typeface="Georgia"/>
              <a:sym typeface="Georgia"/>
            </a:endParaRPr>
          </a:p>
        </p:txBody>
      </p:sp>
      <p:sp>
        <p:nvSpPr>
          <p:cNvPr id="41" name="Google Shape;124;p6">
            <a:extLst>
              <a:ext uri="{FF2B5EF4-FFF2-40B4-BE49-F238E27FC236}">
                <a16:creationId xmlns:a16="http://schemas.microsoft.com/office/drawing/2014/main" id="{8F122A47-BF4A-8CD6-4A0C-82160276A7DE}"/>
              </a:ext>
            </a:extLst>
          </p:cNvPr>
          <p:cNvSpPr/>
          <p:nvPr/>
        </p:nvSpPr>
        <p:spPr>
          <a:xfrm>
            <a:off x="548640" y="3240843"/>
            <a:ext cx="97425" cy="96750"/>
          </a:xfrm>
          <a:prstGeom prst="rect">
            <a:avLst/>
          </a:prstGeom>
          <a:solidFill>
            <a:srgbClr val="800020"/>
          </a:solidFill>
          <a:ln>
            <a:noFill/>
          </a:ln>
        </p:spPr>
        <p:txBody>
          <a:bodyPr spcFirstLastPara="1" wrap="square" lIns="69525" tIns="69525" rIns="69525" bIns="69525" anchor="ctr" anchorCtr="0">
            <a:noAutofit/>
          </a:bodyPr>
          <a:lstStyle/>
          <a:p>
            <a:endParaRPr sz="1125" b="1"/>
          </a:p>
        </p:txBody>
      </p:sp>
      <p:sp>
        <p:nvSpPr>
          <p:cNvPr id="42" name="Google Shape;125;p6">
            <a:extLst>
              <a:ext uri="{FF2B5EF4-FFF2-40B4-BE49-F238E27FC236}">
                <a16:creationId xmlns:a16="http://schemas.microsoft.com/office/drawing/2014/main" id="{EB1157D2-D555-E6AD-08A3-1C3731A11B96}"/>
              </a:ext>
            </a:extLst>
          </p:cNvPr>
          <p:cNvSpPr txBox="1"/>
          <p:nvPr/>
        </p:nvSpPr>
        <p:spPr>
          <a:xfrm>
            <a:off x="757249" y="3199382"/>
            <a:ext cx="3303000" cy="276300"/>
          </a:xfrm>
          <a:prstGeom prst="rect">
            <a:avLst/>
          </a:prstGeom>
          <a:noFill/>
          <a:ln>
            <a:noFill/>
          </a:ln>
        </p:spPr>
        <p:txBody>
          <a:bodyPr spcFirstLastPara="1" wrap="square" lIns="0" tIns="0" rIns="0" bIns="0" anchor="ctr" anchorCtr="0">
            <a:noAutofit/>
          </a:bodyPr>
          <a:lstStyle/>
          <a:p>
            <a:pPr>
              <a:buClr>
                <a:srgbClr val="334155"/>
              </a:buClr>
              <a:buSzPts val="1318"/>
            </a:pPr>
            <a:r>
              <a:rPr lang="en-US" sz="1125">
                <a:solidFill>
                  <a:srgbClr val="334155"/>
                </a:solidFill>
                <a:latin typeface="Georgia"/>
                <a:ea typeface="Georgia"/>
                <a:cs typeface="Georgia"/>
                <a:sym typeface="Georgia"/>
              </a:rPr>
              <a:t>The results: accuracy drops, not rises</a:t>
            </a:r>
            <a:endParaRPr sz="1125">
              <a:solidFill>
                <a:schemeClr val="dk1"/>
              </a:solidFill>
              <a:latin typeface="Georgia"/>
              <a:ea typeface="Georgia"/>
              <a:cs typeface="Georgia"/>
              <a:sym typeface="Georgia"/>
            </a:endParaRPr>
          </a:p>
        </p:txBody>
      </p:sp>
      <p:sp>
        <p:nvSpPr>
          <p:cNvPr id="43" name="Google Shape;126;p6">
            <a:extLst>
              <a:ext uri="{FF2B5EF4-FFF2-40B4-BE49-F238E27FC236}">
                <a16:creationId xmlns:a16="http://schemas.microsoft.com/office/drawing/2014/main" id="{ED520C4C-E493-456B-7392-F6560111FA95}"/>
              </a:ext>
            </a:extLst>
          </p:cNvPr>
          <p:cNvSpPr/>
          <p:nvPr/>
        </p:nvSpPr>
        <p:spPr>
          <a:xfrm>
            <a:off x="548640" y="3531068"/>
            <a:ext cx="97425" cy="96750"/>
          </a:xfrm>
          <a:prstGeom prst="rect">
            <a:avLst/>
          </a:prstGeom>
          <a:solidFill>
            <a:srgbClr val="800020"/>
          </a:solidFill>
          <a:ln>
            <a:noFill/>
          </a:ln>
        </p:spPr>
        <p:txBody>
          <a:bodyPr spcFirstLastPara="1" wrap="square" lIns="69525" tIns="69525" rIns="69525" bIns="69525" anchor="ctr" anchorCtr="0">
            <a:noAutofit/>
          </a:bodyPr>
          <a:lstStyle/>
          <a:p>
            <a:endParaRPr sz="1125" b="1"/>
          </a:p>
        </p:txBody>
      </p:sp>
      <p:sp>
        <p:nvSpPr>
          <p:cNvPr id="44" name="Google Shape;127;p6">
            <a:extLst>
              <a:ext uri="{FF2B5EF4-FFF2-40B4-BE49-F238E27FC236}">
                <a16:creationId xmlns:a16="http://schemas.microsoft.com/office/drawing/2014/main" id="{8DFEB9FC-0CE7-9CF7-44FC-EFA53E9022F1}"/>
              </a:ext>
            </a:extLst>
          </p:cNvPr>
          <p:cNvSpPr txBox="1"/>
          <p:nvPr/>
        </p:nvSpPr>
        <p:spPr>
          <a:xfrm>
            <a:off x="757249" y="3489607"/>
            <a:ext cx="3303000" cy="276300"/>
          </a:xfrm>
          <a:prstGeom prst="rect">
            <a:avLst/>
          </a:prstGeom>
          <a:noFill/>
          <a:ln>
            <a:noFill/>
          </a:ln>
        </p:spPr>
        <p:txBody>
          <a:bodyPr spcFirstLastPara="1" wrap="square" lIns="0" tIns="0" rIns="0" bIns="0" anchor="ctr" anchorCtr="0">
            <a:noAutofit/>
          </a:bodyPr>
          <a:lstStyle/>
          <a:p>
            <a:pPr>
              <a:buClr>
                <a:srgbClr val="334155"/>
              </a:buClr>
              <a:buSzPts val="1318"/>
            </a:pPr>
            <a:r>
              <a:rPr lang="en-US" sz="1125">
                <a:solidFill>
                  <a:srgbClr val="334155"/>
                </a:solidFill>
                <a:latin typeface="Georgia"/>
                <a:ea typeface="Georgia"/>
                <a:cs typeface="Georgia"/>
                <a:sym typeface="Georgia"/>
              </a:rPr>
              <a:t>Why the drop happens, and what to do instead</a:t>
            </a:r>
            <a:endParaRPr sz="1125">
              <a:solidFill>
                <a:schemeClr val="dk1"/>
              </a:solidFill>
              <a:latin typeface="Georgia"/>
              <a:ea typeface="Georgia"/>
              <a:cs typeface="Georgia"/>
              <a:sym typeface="Georgia"/>
            </a:endParaRPr>
          </a:p>
        </p:txBody>
      </p:sp>
      <p:sp>
        <p:nvSpPr>
          <p:cNvPr id="45" name="Google Shape;114;p6">
            <a:extLst>
              <a:ext uri="{FF2B5EF4-FFF2-40B4-BE49-F238E27FC236}">
                <a16:creationId xmlns:a16="http://schemas.microsoft.com/office/drawing/2014/main" id="{7E349DCE-B36E-701E-0C49-BF298625E73F}"/>
              </a:ext>
            </a:extLst>
          </p:cNvPr>
          <p:cNvSpPr txBox="1"/>
          <p:nvPr/>
        </p:nvSpPr>
        <p:spPr>
          <a:xfrm>
            <a:off x="548640" y="3952565"/>
            <a:ext cx="7749450" cy="674550"/>
          </a:xfrm>
          <a:prstGeom prst="rect">
            <a:avLst/>
          </a:prstGeom>
          <a:noFill/>
          <a:ln>
            <a:noFill/>
          </a:ln>
        </p:spPr>
        <p:txBody>
          <a:bodyPr spcFirstLastPara="1" wrap="square" lIns="0" tIns="0" rIns="0" bIns="0" anchor="ctr" anchorCtr="0">
            <a:noAutofit/>
          </a:bodyPr>
          <a:lstStyle/>
          <a:p>
            <a:pPr>
              <a:lnSpc>
                <a:spcPct val="125000"/>
              </a:lnSpc>
              <a:buClr>
                <a:srgbClr val="0F172A"/>
              </a:buClr>
              <a:buSzPts val="1300"/>
            </a:pPr>
            <a:r>
              <a:rPr lang="en-US" sz="1350" b="1" dirty="0">
                <a:solidFill>
                  <a:srgbClr val="0F172A"/>
                </a:solidFill>
                <a:latin typeface="Calibri"/>
                <a:ea typeface="Calibri"/>
                <a:cs typeface="Calibri"/>
                <a:sym typeface="Calibri"/>
              </a:rPr>
              <a:t>Preview: </a:t>
            </a:r>
            <a:r>
              <a:rPr lang="en-US" sz="1350" dirty="0">
                <a:solidFill>
                  <a:srgbClr val="334155"/>
                </a:solidFill>
                <a:latin typeface="Calibri"/>
                <a:ea typeface="Calibri"/>
                <a:cs typeface="Calibri"/>
                <a:sym typeface="Calibri"/>
              </a:rPr>
              <a:t>across GSM8K, </a:t>
            </a:r>
            <a:r>
              <a:rPr lang="en-US" sz="1350" dirty="0" err="1">
                <a:solidFill>
                  <a:srgbClr val="334155"/>
                </a:solidFill>
                <a:latin typeface="Calibri"/>
                <a:ea typeface="Calibri"/>
                <a:cs typeface="Calibri"/>
                <a:sym typeface="Calibri"/>
              </a:rPr>
              <a:t>CommonSenseQA</a:t>
            </a:r>
            <a:r>
              <a:rPr lang="en-US" sz="1350" dirty="0">
                <a:solidFill>
                  <a:srgbClr val="334155"/>
                </a:solidFill>
                <a:latin typeface="Calibri"/>
                <a:ea typeface="Calibri"/>
                <a:cs typeface="Calibri"/>
                <a:sym typeface="Calibri"/>
              </a:rPr>
              <a:t>, and </a:t>
            </a:r>
            <a:r>
              <a:rPr lang="en-US" sz="1350" dirty="0" err="1">
                <a:solidFill>
                  <a:srgbClr val="334155"/>
                </a:solidFill>
                <a:latin typeface="Calibri"/>
                <a:ea typeface="Calibri"/>
                <a:cs typeface="Calibri"/>
                <a:sym typeface="Calibri"/>
              </a:rPr>
              <a:t>HotpotQA</a:t>
            </a:r>
            <a:r>
              <a:rPr lang="en-US" sz="1350" dirty="0">
                <a:solidFill>
                  <a:srgbClr val="334155"/>
                </a:solidFill>
                <a:latin typeface="Calibri"/>
                <a:ea typeface="Calibri"/>
                <a:cs typeface="Calibri"/>
                <a:sym typeface="Calibri"/>
              </a:rPr>
              <a:t>, the paper's answer is no. Left alone, LLMs do not reliably catch their own reasoning errors, and accuracy often falls after self-correction.</a:t>
            </a:r>
            <a:endParaRPr sz="1350" dirty="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marL="0" indent="0">
              <a:buNone/>
            </a:pPr>
            <a:r>
              <a:rPr lang="en-US" sz="900" b="1" kern="0" spc="150" dirty="0">
                <a:solidFill>
                  <a:srgbClr val="800020"/>
                </a:solidFill>
                <a:latin typeface="Calibri" pitchFamily="34" charset="0"/>
                <a:ea typeface="Calibri" pitchFamily="34" charset="-122"/>
                <a:cs typeface="Calibri" pitchFamily="34" charset="-120"/>
              </a:rPr>
              <a:t>2. BACKGROUND &amp; RELATED WORK</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r>
              <a:rPr lang="en-US" sz="2300" b="1" dirty="0">
                <a:solidFill>
                  <a:srgbClr val="0F172A"/>
                </a:solidFill>
                <a:latin typeface="Century Schoolbook" pitchFamily="34" charset="0"/>
                <a:ea typeface="Century Schoolbook" pitchFamily="34" charset="-122"/>
                <a:cs typeface="Century Schoolbook" pitchFamily="34" charset="-120"/>
              </a:rPr>
              <a:t>Timeline of Claims</a:t>
            </a:r>
            <a:endParaRPr lang="en-US" sz="2300" dirty="0"/>
          </a:p>
        </p:txBody>
      </p:sp>
      <p:sp>
        <p:nvSpPr>
          <p:cNvPr id="37" name="Text 33"/>
          <p:cNvSpPr/>
          <p:nvPr/>
        </p:nvSpPr>
        <p:spPr>
          <a:xfrm>
            <a:off x="548640" y="4736592"/>
            <a:ext cx="6583680" cy="274320"/>
          </a:xfrm>
          <a:prstGeom prst="rect">
            <a:avLst/>
          </a:prstGeom>
          <a:noFill/>
          <a:ln/>
        </p:spPr>
        <p:txBody>
          <a:bodyPr wrap="square" lIns="0" tIns="0" rIns="0" bIns="0"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38" name="Text 34"/>
          <p:cNvSpPr/>
          <p:nvPr/>
        </p:nvSpPr>
        <p:spPr>
          <a:xfrm>
            <a:off x="7315200" y="4736592"/>
            <a:ext cx="128016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06/23</a:t>
            </a:r>
            <a:endParaRPr lang="en-US" sz="850" dirty="0"/>
          </a:p>
        </p:txBody>
      </p:sp>
      <p:sp>
        <p:nvSpPr>
          <p:cNvPr id="39" name="Text 2">
            <a:extLst>
              <a:ext uri="{FF2B5EF4-FFF2-40B4-BE49-F238E27FC236}">
                <a16:creationId xmlns:a16="http://schemas.microsoft.com/office/drawing/2014/main" id="{0F459FB5-3402-1315-B0C9-EFDBF95A8111}"/>
              </a:ext>
            </a:extLst>
          </p:cNvPr>
          <p:cNvSpPr/>
          <p:nvPr/>
        </p:nvSpPr>
        <p:spPr>
          <a:xfrm>
            <a:off x="548640" y="868680"/>
            <a:ext cx="8046720" cy="274320"/>
          </a:xfrm>
          <a:prstGeom prst="rect">
            <a:avLst/>
          </a:prstGeom>
          <a:noFill/>
          <a:ln/>
        </p:spPr>
        <p:txBody>
          <a:bodyPr wrap="square" lIns="0" tIns="0" rIns="0" bIns="0" rtlCol="0" anchor="ctr"/>
          <a:lstStyle/>
          <a:p>
            <a:r>
              <a:rPr lang="en-US" sz="1100" dirty="0">
                <a:solidFill>
                  <a:srgbClr val="64748B"/>
                </a:solidFill>
                <a:latin typeface="Calibri" pitchFamily="34" charset="0"/>
                <a:ea typeface="Calibri" pitchFamily="34" charset="-122"/>
                <a:cs typeface="Calibri" pitchFamily="34" charset="-120"/>
              </a:rPr>
              <a:t>How 2023 was packed with self-correction hype</a:t>
            </a:r>
          </a:p>
        </p:txBody>
      </p:sp>
      <p:sp>
        <p:nvSpPr>
          <p:cNvPr id="79" name="Shape 7">
            <a:extLst>
              <a:ext uri="{FF2B5EF4-FFF2-40B4-BE49-F238E27FC236}">
                <a16:creationId xmlns:a16="http://schemas.microsoft.com/office/drawing/2014/main" id="{6F423FA4-B189-83B3-6E39-04079ADFD348}"/>
              </a:ext>
            </a:extLst>
          </p:cNvPr>
          <p:cNvSpPr/>
          <p:nvPr/>
        </p:nvSpPr>
        <p:spPr>
          <a:xfrm>
            <a:off x="548640" y="2834640"/>
            <a:ext cx="8046720" cy="36576"/>
          </a:xfrm>
          <a:prstGeom prst="rect">
            <a:avLst/>
          </a:prstGeom>
          <a:solidFill>
            <a:srgbClr val="0F172A"/>
          </a:solidFill>
          <a:ln/>
        </p:spPr>
      </p:sp>
      <p:sp>
        <p:nvSpPr>
          <p:cNvPr id="80" name="Shape 8">
            <a:extLst>
              <a:ext uri="{FF2B5EF4-FFF2-40B4-BE49-F238E27FC236}">
                <a16:creationId xmlns:a16="http://schemas.microsoft.com/office/drawing/2014/main" id="{54663FBB-72E9-4A1D-092B-CF8CEE5C7EC1}"/>
              </a:ext>
            </a:extLst>
          </p:cNvPr>
          <p:cNvSpPr/>
          <p:nvPr/>
        </p:nvSpPr>
        <p:spPr>
          <a:xfrm>
            <a:off x="1471505" y="2788920"/>
            <a:ext cx="128016" cy="128016"/>
          </a:xfrm>
          <a:prstGeom prst="ellipse">
            <a:avLst/>
          </a:prstGeom>
          <a:solidFill>
            <a:srgbClr val="800020"/>
          </a:solidFill>
          <a:ln w="12700">
            <a:solidFill>
              <a:srgbClr val="FFFFFF"/>
            </a:solidFill>
            <a:prstDash val="solid"/>
          </a:ln>
        </p:spPr>
      </p:sp>
      <p:sp>
        <p:nvSpPr>
          <p:cNvPr id="81" name="Text 9">
            <a:extLst>
              <a:ext uri="{FF2B5EF4-FFF2-40B4-BE49-F238E27FC236}">
                <a16:creationId xmlns:a16="http://schemas.microsoft.com/office/drawing/2014/main" id="{65C72EB3-D566-DAD8-7878-758DD5D120B9}"/>
              </a:ext>
            </a:extLst>
          </p:cNvPr>
          <p:cNvSpPr/>
          <p:nvPr/>
        </p:nvSpPr>
        <p:spPr>
          <a:xfrm>
            <a:off x="599040" y="2953512"/>
            <a:ext cx="1874520" cy="164592"/>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Q1 2023</a:t>
            </a:r>
            <a:endParaRPr lang="en-US" sz="1000" dirty="0"/>
          </a:p>
        </p:txBody>
      </p:sp>
      <p:sp>
        <p:nvSpPr>
          <p:cNvPr id="82" name="Shape 10">
            <a:extLst>
              <a:ext uri="{FF2B5EF4-FFF2-40B4-BE49-F238E27FC236}">
                <a16:creationId xmlns:a16="http://schemas.microsoft.com/office/drawing/2014/main" id="{0AB48345-5B73-98CD-587B-CC42899BCD31}"/>
              </a:ext>
            </a:extLst>
          </p:cNvPr>
          <p:cNvSpPr/>
          <p:nvPr/>
        </p:nvSpPr>
        <p:spPr>
          <a:xfrm>
            <a:off x="3479800" y="2788920"/>
            <a:ext cx="128016" cy="128016"/>
          </a:xfrm>
          <a:prstGeom prst="ellipse">
            <a:avLst/>
          </a:prstGeom>
          <a:solidFill>
            <a:srgbClr val="166434"/>
          </a:solidFill>
          <a:ln w="12700">
            <a:solidFill>
              <a:srgbClr val="FFFFFF"/>
            </a:solidFill>
            <a:prstDash val="solid"/>
          </a:ln>
        </p:spPr>
      </p:sp>
      <p:sp>
        <p:nvSpPr>
          <p:cNvPr id="83" name="Text 11">
            <a:extLst>
              <a:ext uri="{FF2B5EF4-FFF2-40B4-BE49-F238E27FC236}">
                <a16:creationId xmlns:a16="http://schemas.microsoft.com/office/drawing/2014/main" id="{4A95E874-6D2B-8DA7-6D88-E73D521FAD76}"/>
              </a:ext>
            </a:extLst>
          </p:cNvPr>
          <p:cNvSpPr/>
          <p:nvPr/>
        </p:nvSpPr>
        <p:spPr>
          <a:xfrm>
            <a:off x="2610720" y="2953512"/>
            <a:ext cx="1874520" cy="164592"/>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Q2 2023</a:t>
            </a:r>
            <a:endParaRPr lang="en-US" sz="1000" dirty="0"/>
          </a:p>
        </p:txBody>
      </p:sp>
      <p:sp>
        <p:nvSpPr>
          <p:cNvPr id="84" name="Shape 12">
            <a:extLst>
              <a:ext uri="{FF2B5EF4-FFF2-40B4-BE49-F238E27FC236}">
                <a16:creationId xmlns:a16="http://schemas.microsoft.com/office/drawing/2014/main" id="{9D9160AB-ACC2-67F7-3BCD-9C3B615F706E}"/>
              </a:ext>
            </a:extLst>
          </p:cNvPr>
          <p:cNvSpPr/>
          <p:nvPr/>
        </p:nvSpPr>
        <p:spPr>
          <a:xfrm>
            <a:off x="5491480" y="2788920"/>
            <a:ext cx="128016" cy="128016"/>
          </a:xfrm>
          <a:prstGeom prst="ellipse">
            <a:avLst/>
          </a:prstGeom>
          <a:solidFill>
            <a:srgbClr val="B4520A"/>
          </a:solidFill>
          <a:ln w="12700">
            <a:solidFill>
              <a:srgbClr val="FFFFFF"/>
            </a:solidFill>
            <a:prstDash val="solid"/>
          </a:ln>
        </p:spPr>
      </p:sp>
      <p:sp>
        <p:nvSpPr>
          <p:cNvPr id="85" name="Text 13">
            <a:extLst>
              <a:ext uri="{FF2B5EF4-FFF2-40B4-BE49-F238E27FC236}">
                <a16:creationId xmlns:a16="http://schemas.microsoft.com/office/drawing/2014/main" id="{42EF5E50-5A75-5804-2C82-43534E78CDD1}"/>
              </a:ext>
            </a:extLst>
          </p:cNvPr>
          <p:cNvSpPr/>
          <p:nvPr/>
        </p:nvSpPr>
        <p:spPr>
          <a:xfrm>
            <a:off x="4622400" y="2953512"/>
            <a:ext cx="1874520" cy="164592"/>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Q3 2023</a:t>
            </a:r>
            <a:endParaRPr lang="en-US" sz="1000" dirty="0"/>
          </a:p>
        </p:txBody>
      </p:sp>
      <p:sp>
        <p:nvSpPr>
          <p:cNvPr id="86" name="Shape 14">
            <a:extLst>
              <a:ext uri="{FF2B5EF4-FFF2-40B4-BE49-F238E27FC236}">
                <a16:creationId xmlns:a16="http://schemas.microsoft.com/office/drawing/2014/main" id="{912C9600-F1BC-5B41-1A98-4DC0222B9BEE}"/>
              </a:ext>
            </a:extLst>
          </p:cNvPr>
          <p:cNvSpPr/>
          <p:nvPr/>
        </p:nvSpPr>
        <p:spPr>
          <a:xfrm>
            <a:off x="7503160" y="2788920"/>
            <a:ext cx="128016" cy="128016"/>
          </a:xfrm>
          <a:prstGeom prst="ellipse">
            <a:avLst/>
          </a:prstGeom>
          <a:solidFill>
            <a:srgbClr val="1D293A"/>
          </a:solidFill>
          <a:ln w="12700">
            <a:solidFill>
              <a:srgbClr val="FFFFFF"/>
            </a:solidFill>
            <a:prstDash val="solid"/>
          </a:ln>
        </p:spPr>
      </p:sp>
      <p:sp>
        <p:nvSpPr>
          <p:cNvPr id="87" name="Text 15">
            <a:extLst>
              <a:ext uri="{FF2B5EF4-FFF2-40B4-BE49-F238E27FC236}">
                <a16:creationId xmlns:a16="http://schemas.microsoft.com/office/drawing/2014/main" id="{D0832309-38DB-7BB0-773E-3C78C2D799CC}"/>
              </a:ext>
            </a:extLst>
          </p:cNvPr>
          <p:cNvSpPr/>
          <p:nvPr/>
        </p:nvSpPr>
        <p:spPr>
          <a:xfrm>
            <a:off x="6634080" y="2953512"/>
            <a:ext cx="1874520" cy="164592"/>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Q4 2023</a:t>
            </a:r>
            <a:endParaRPr lang="en-US" sz="1000" dirty="0"/>
          </a:p>
        </p:txBody>
      </p:sp>
      <p:sp>
        <p:nvSpPr>
          <p:cNvPr id="88" name="Shape 16">
            <a:extLst>
              <a:ext uri="{FF2B5EF4-FFF2-40B4-BE49-F238E27FC236}">
                <a16:creationId xmlns:a16="http://schemas.microsoft.com/office/drawing/2014/main" id="{E25D355F-9BF7-4263-C758-1D04CC3E7698}"/>
              </a:ext>
            </a:extLst>
          </p:cNvPr>
          <p:cNvSpPr/>
          <p:nvPr/>
        </p:nvSpPr>
        <p:spPr>
          <a:xfrm>
            <a:off x="685800" y="1325880"/>
            <a:ext cx="1691640" cy="1325880"/>
          </a:xfrm>
          <a:prstGeom prst="roundRect">
            <a:avLst>
              <a:gd name="adj" fmla="val 5517"/>
            </a:avLst>
          </a:prstGeom>
          <a:solidFill>
            <a:srgbClr val="FFFFFF"/>
          </a:solidFill>
          <a:ln w="13970">
            <a:solidFill>
              <a:srgbClr val="800020"/>
            </a:solidFill>
            <a:prstDash val="solid"/>
          </a:ln>
        </p:spPr>
      </p:sp>
      <p:sp>
        <p:nvSpPr>
          <p:cNvPr id="89" name="Shape 17">
            <a:extLst>
              <a:ext uri="{FF2B5EF4-FFF2-40B4-BE49-F238E27FC236}">
                <a16:creationId xmlns:a16="http://schemas.microsoft.com/office/drawing/2014/main" id="{A4A17B1E-C4D3-5919-460C-F7A42196B580}"/>
              </a:ext>
            </a:extLst>
          </p:cNvPr>
          <p:cNvSpPr/>
          <p:nvPr/>
        </p:nvSpPr>
        <p:spPr>
          <a:xfrm>
            <a:off x="685800" y="1325880"/>
            <a:ext cx="1691640" cy="54864"/>
          </a:xfrm>
          <a:prstGeom prst="roundRect">
            <a:avLst>
              <a:gd name="adj" fmla="val 133333"/>
            </a:avLst>
          </a:prstGeom>
          <a:solidFill>
            <a:srgbClr val="800020"/>
          </a:solidFill>
          <a:ln w="12700">
            <a:solidFill>
              <a:srgbClr val="800020"/>
            </a:solidFill>
            <a:prstDash val="solid"/>
          </a:ln>
        </p:spPr>
      </p:sp>
      <p:sp>
        <p:nvSpPr>
          <p:cNvPr id="90" name="Shape 18">
            <a:extLst>
              <a:ext uri="{FF2B5EF4-FFF2-40B4-BE49-F238E27FC236}">
                <a16:creationId xmlns:a16="http://schemas.microsoft.com/office/drawing/2014/main" id="{2A04F705-07CB-300D-269F-2E853C50267C}"/>
              </a:ext>
            </a:extLst>
          </p:cNvPr>
          <p:cNvSpPr/>
          <p:nvPr/>
        </p:nvSpPr>
        <p:spPr>
          <a:xfrm>
            <a:off x="1275588" y="1444752"/>
            <a:ext cx="201168" cy="201168"/>
          </a:xfrm>
          <a:prstGeom prst="ellipse">
            <a:avLst/>
          </a:prstGeom>
          <a:solidFill>
            <a:srgbClr val="FFF1F2"/>
          </a:solidFill>
          <a:ln w="8890">
            <a:solidFill>
              <a:srgbClr val="800020"/>
            </a:solidFill>
            <a:prstDash val="solid"/>
          </a:ln>
        </p:spPr>
      </p:sp>
      <p:sp>
        <p:nvSpPr>
          <p:cNvPr id="91" name="Text 19">
            <a:extLst>
              <a:ext uri="{FF2B5EF4-FFF2-40B4-BE49-F238E27FC236}">
                <a16:creationId xmlns:a16="http://schemas.microsoft.com/office/drawing/2014/main" id="{0E7ABA7A-675D-A053-60DA-D3DF2F49D75F}"/>
              </a:ext>
            </a:extLst>
          </p:cNvPr>
          <p:cNvSpPr/>
          <p:nvPr/>
        </p:nvSpPr>
        <p:spPr>
          <a:xfrm>
            <a:off x="1275588" y="1444752"/>
            <a:ext cx="201168" cy="201168"/>
          </a:xfrm>
          <a:prstGeom prst="rect">
            <a:avLst/>
          </a:prstGeom>
          <a:noFill/>
          <a:ln/>
        </p:spPr>
        <p:txBody>
          <a:bodyPr wrap="square" lIns="0" tIns="0" rIns="0" bIns="0" rtlCol="0" anchor="ctr"/>
          <a:lstStyle/>
          <a:p>
            <a:pPr marL="0" indent="0" algn="ctr">
              <a:buNone/>
            </a:pPr>
            <a:r>
              <a:rPr lang="en-US" sz="800" b="1" dirty="0">
                <a:solidFill>
                  <a:srgbClr val="800020"/>
                </a:solidFill>
                <a:latin typeface="Calibri" pitchFamily="34" charset="0"/>
                <a:ea typeface="Calibri" pitchFamily="34" charset="-122"/>
                <a:cs typeface="Calibri" pitchFamily="34" charset="-120"/>
              </a:rPr>
              <a:t>◉</a:t>
            </a:r>
            <a:endParaRPr lang="en-US" sz="800" dirty="0"/>
          </a:p>
        </p:txBody>
      </p:sp>
      <p:sp>
        <p:nvSpPr>
          <p:cNvPr id="92" name="Text 20">
            <a:extLst>
              <a:ext uri="{FF2B5EF4-FFF2-40B4-BE49-F238E27FC236}">
                <a16:creationId xmlns:a16="http://schemas.microsoft.com/office/drawing/2014/main" id="{03A11067-1831-C369-BB07-21B0C15AFB34}"/>
              </a:ext>
            </a:extLst>
          </p:cNvPr>
          <p:cNvSpPr/>
          <p:nvPr/>
        </p:nvSpPr>
        <p:spPr>
          <a:xfrm>
            <a:off x="1513332" y="1444752"/>
            <a:ext cx="283464" cy="201168"/>
          </a:xfrm>
          <a:prstGeom prst="rect">
            <a:avLst/>
          </a:prstGeom>
          <a:noFill/>
          <a:ln/>
        </p:spPr>
        <p:txBody>
          <a:bodyPr wrap="square" lIns="0" tIns="0" rIns="0" bIns="0" rtlCol="0" anchor="ctr"/>
          <a:lstStyle/>
          <a:p>
            <a:pPr marL="0" indent="0">
              <a:buNone/>
            </a:pPr>
            <a:r>
              <a:rPr lang="en-US" sz="1400" b="1" dirty="0">
                <a:solidFill>
                  <a:srgbClr val="800020"/>
                </a:solidFill>
                <a:latin typeface="Calibri" pitchFamily="34" charset="0"/>
                <a:ea typeface="Calibri" pitchFamily="34" charset="-122"/>
                <a:cs typeface="Calibri" pitchFamily="34" charset="-120"/>
              </a:rPr>
              <a:t>RCI</a:t>
            </a:r>
            <a:endParaRPr lang="en-US" sz="1400" dirty="0"/>
          </a:p>
        </p:txBody>
      </p:sp>
      <p:sp>
        <p:nvSpPr>
          <p:cNvPr id="93" name="Text 21">
            <a:extLst>
              <a:ext uri="{FF2B5EF4-FFF2-40B4-BE49-F238E27FC236}">
                <a16:creationId xmlns:a16="http://schemas.microsoft.com/office/drawing/2014/main" id="{55721693-BFD2-264F-73C8-3E649747B753}"/>
              </a:ext>
            </a:extLst>
          </p:cNvPr>
          <p:cNvSpPr/>
          <p:nvPr/>
        </p:nvSpPr>
        <p:spPr>
          <a:xfrm>
            <a:off x="685800" y="1691640"/>
            <a:ext cx="1691640" cy="164592"/>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Kim et al.</a:t>
            </a:r>
            <a:endParaRPr lang="en-US" sz="1100" dirty="0"/>
          </a:p>
        </p:txBody>
      </p:sp>
      <p:sp>
        <p:nvSpPr>
          <p:cNvPr id="94" name="Text 22">
            <a:extLst>
              <a:ext uri="{FF2B5EF4-FFF2-40B4-BE49-F238E27FC236}">
                <a16:creationId xmlns:a16="http://schemas.microsoft.com/office/drawing/2014/main" id="{BB7C0AB4-21F0-A3FD-18D3-C78719D7A5F3}"/>
              </a:ext>
            </a:extLst>
          </p:cNvPr>
          <p:cNvSpPr/>
          <p:nvPr/>
        </p:nvSpPr>
        <p:spPr>
          <a:xfrm>
            <a:off x="685800" y="1874520"/>
            <a:ext cx="1691640" cy="475488"/>
          </a:xfrm>
          <a:prstGeom prst="rect">
            <a:avLst/>
          </a:prstGeom>
          <a:noFill/>
          <a:ln/>
        </p:spPr>
        <p:txBody>
          <a:bodyPr wrap="square" lIns="0" tIns="0" rIns="0" bIns="0" rtlCol="0" anchor="ctr"/>
          <a:lstStyle/>
          <a:p>
            <a:pPr marL="0" indent="0" algn="ctr">
              <a:buNone/>
            </a:pPr>
            <a:r>
              <a:rPr lang="en-US" sz="1200" dirty="0">
                <a:solidFill>
                  <a:srgbClr val="0F172A"/>
                </a:solidFill>
                <a:latin typeface="Calibri" pitchFamily="34" charset="0"/>
                <a:ea typeface="Calibri" pitchFamily="34" charset="-122"/>
                <a:cs typeface="Calibri" pitchFamily="34" charset="-120"/>
              </a:rPr>
              <a:t>Recursive</a:t>
            </a:r>
            <a:endParaRPr lang="en-US" sz="1200" dirty="0"/>
          </a:p>
          <a:p>
            <a:pPr marL="0" indent="0" algn="ctr">
              <a:buNone/>
            </a:pPr>
            <a:r>
              <a:rPr lang="en-US" sz="1200" dirty="0">
                <a:solidFill>
                  <a:srgbClr val="0F172A"/>
                </a:solidFill>
                <a:latin typeface="Calibri" pitchFamily="34" charset="0"/>
                <a:ea typeface="Calibri" pitchFamily="34" charset="-122"/>
                <a:cs typeface="Calibri" pitchFamily="34" charset="-120"/>
              </a:rPr>
              <a:t>critic</a:t>
            </a:r>
            <a:endParaRPr lang="en-US" sz="1200" dirty="0"/>
          </a:p>
        </p:txBody>
      </p:sp>
      <p:sp>
        <p:nvSpPr>
          <p:cNvPr id="95" name="Shape 23">
            <a:extLst>
              <a:ext uri="{FF2B5EF4-FFF2-40B4-BE49-F238E27FC236}">
                <a16:creationId xmlns:a16="http://schemas.microsoft.com/office/drawing/2014/main" id="{7A0C142C-2170-C5B5-94FD-7DFDD13C8BA6}"/>
              </a:ext>
            </a:extLst>
          </p:cNvPr>
          <p:cNvSpPr/>
          <p:nvPr/>
        </p:nvSpPr>
        <p:spPr>
          <a:xfrm>
            <a:off x="960120" y="2386584"/>
            <a:ext cx="1143000" cy="201168"/>
          </a:xfrm>
          <a:prstGeom prst="roundRect">
            <a:avLst>
              <a:gd name="adj" fmla="val 18182"/>
            </a:avLst>
          </a:prstGeom>
          <a:solidFill>
            <a:srgbClr val="FFFFFF"/>
          </a:solidFill>
          <a:ln w="7620">
            <a:solidFill>
              <a:srgbClr val="800020"/>
            </a:solidFill>
            <a:prstDash val="solid"/>
          </a:ln>
        </p:spPr>
      </p:sp>
      <p:sp>
        <p:nvSpPr>
          <p:cNvPr id="96" name="Text 24">
            <a:extLst>
              <a:ext uri="{FF2B5EF4-FFF2-40B4-BE49-F238E27FC236}">
                <a16:creationId xmlns:a16="http://schemas.microsoft.com/office/drawing/2014/main" id="{735F78C6-79F6-F578-4DF9-AACD44326649}"/>
              </a:ext>
            </a:extLst>
          </p:cNvPr>
          <p:cNvSpPr/>
          <p:nvPr/>
        </p:nvSpPr>
        <p:spPr>
          <a:xfrm>
            <a:off x="960120" y="2386584"/>
            <a:ext cx="1143000" cy="201168"/>
          </a:xfrm>
          <a:prstGeom prst="rect">
            <a:avLst/>
          </a:prstGeom>
          <a:noFill/>
          <a:ln/>
        </p:spPr>
        <p:txBody>
          <a:bodyPr wrap="square" lIns="0" tIns="0" rIns="0" bIns="0" rtlCol="0" anchor="ctr"/>
          <a:lstStyle/>
          <a:p>
            <a:pPr marL="0" indent="0" algn="ctr">
              <a:buNone/>
            </a:pPr>
            <a:r>
              <a:rPr lang="en-US" sz="900" b="1" dirty="0">
                <a:solidFill>
                  <a:srgbClr val="800020"/>
                </a:solidFill>
                <a:latin typeface="Calibri" pitchFamily="34" charset="0"/>
                <a:ea typeface="Calibri" pitchFamily="34" charset="-122"/>
                <a:cs typeface="Calibri" pitchFamily="34" charset="-120"/>
              </a:rPr>
              <a:t>+7% claimed</a:t>
            </a:r>
            <a:endParaRPr lang="en-US" sz="900" dirty="0"/>
          </a:p>
        </p:txBody>
      </p:sp>
      <p:sp>
        <p:nvSpPr>
          <p:cNvPr id="97" name="Shape 25">
            <a:extLst>
              <a:ext uri="{FF2B5EF4-FFF2-40B4-BE49-F238E27FC236}">
                <a16:creationId xmlns:a16="http://schemas.microsoft.com/office/drawing/2014/main" id="{622D6AE5-B57A-F992-5E19-3063A59FE5C5}"/>
              </a:ext>
            </a:extLst>
          </p:cNvPr>
          <p:cNvSpPr/>
          <p:nvPr/>
        </p:nvSpPr>
        <p:spPr>
          <a:xfrm>
            <a:off x="1522476" y="2651760"/>
            <a:ext cx="18288" cy="182880"/>
          </a:xfrm>
          <a:prstGeom prst="rect">
            <a:avLst/>
          </a:prstGeom>
          <a:solidFill>
            <a:srgbClr val="800020"/>
          </a:solidFill>
          <a:ln/>
        </p:spPr>
      </p:sp>
      <p:sp>
        <p:nvSpPr>
          <p:cNvPr id="98" name="Shape 26">
            <a:extLst>
              <a:ext uri="{FF2B5EF4-FFF2-40B4-BE49-F238E27FC236}">
                <a16:creationId xmlns:a16="http://schemas.microsoft.com/office/drawing/2014/main" id="{A75FBAAB-548E-988A-6952-6609052F313A}"/>
              </a:ext>
            </a:extLst>
          </p:cNvPr>
          <p:cNvSpPr/>
          <p:nvPr/>
        </p:nvSpPr>
        <p:spPr>
          <a:xfrm>
            <a:off x="2697480" y="1325880"/>
            <a:ext cx="1691640" cy="1325880"/>
          </a:xfrm>
          <a:prstGeom prst="roundRect">
            <a:avLst>
              <a:gd name="adj" fmla="val 5517"/>
            </a:avLst>
          </a:prstGeom>
          <a:solidFill>
            <a:srgbClr val="FFFFFF"/>
          </a:solidFill>
          <a:ln w="13970">
            <a:solidFill>
              <a:srgbClr val="166534"/>
            </a:solidFill>
            <a:prstDash val="solid"/>
          </a:ln>
        </p:spPr>
      </p:sp>
      <p:sp>
        <p:nvSpPr>
          <p:cNvPr id="99" name="Shape 27">
            <a:extLst>
              <a:ext uri="{FF2B5EF4-FFF2-40B4-BE49-F238E27FC236}">
                <a16:creationId xmlns:a16="http://schemas.microsoft.com/office/drawing/2014/main" id="{71CB4AE2-5A78-D1C6-C12F-2C97FF887DE9}"/>
              </a:ext>
            </a:extLst>
          </p:cNvPr>
          <p:cNvSpPr/>
          <p:nvPr/>
        </p:nvSpPr>
        <p:spPr>
          <a:xfrm>
            <a:off x="2697480" y="1325880"/>
            <a:ext cx="1691640" cy="54864"/>
          </a:xfrm>
          <a:prstGeom prst="roundRect">
            <a:avLst>
              <a:gd name="adj" fmla="val 133333"/>
            </a:avLst>
          </a:prstGeom>
          <a:solidFill>
            <a:srgbClr val="166534"/>
          </a:solidFill>
          <a:ln w="12700">
            <a:solidFill>
              <a:srgbClr val="166534"/>
            </a:solidFill>
            <a:prstDash val="solid"/>
          </a:ln>
        </p:spPr>
      </p:sp>
      <p:sp>
        <p:nvSpPr>
          <p:cNvPr id="100" name="Shape 28">
            <a:extLst>
              <a:ext uri="{FF2B5EF4-FFF2-40B4-BE49-F238E27FC236}">
                <a16:creationId xmlns:a16="http://schemas.microsoft.com/office/drawing/2014/main" id="{36EB41FA-4DCB-7CA9-5D69-788EB3C054EA}"/>
              </a:ext>
            </a:extLst>
          </p:cNvPr>
          <p:cNvSpPr/>
          <p:nvPr/>
        </p:nvSpPr>
        <p:spPr>
          <a:xfrm>
            <a:off x="3018828" y="1440180"/>
            <a:ext cx="201168" cy="201168"/>
          </a:xfrm>
          <a:prstGeom prst="ellipse">
            <a:avLst/>
          </a:prstGeom>
          <a:solidFill>
            <a:srgbClr val="F0FDF4"/>
          </a:solidFill>
          <a:ln w="8890">
            <a:solidFill>
              <a:srgbClr val="166534"/>
            </a:solidFill>
            <a:prstDash val="solid"/>
          </a:ln>
        </p:spPr>
      </p:sp>
      <p:sp>
        <p:nvSpPr>
          <p:cNvPr id="101" name="Text 29">
            <a:extLst>
              <a:ext uri="{FF2B5EF4-FFF2-40B4-BE49-F238E27FC236}">
                <a16:creationId xmlns:a16="http://schemas.microsoft.com/office/drawing/2014/main" id="{73B38407-4FF0-5549-88AD-46C88BD79DBF}"/>
              </a:ext>
            </a:extLst>
          </p:cNvPr>
          <p:cNvSpPr/>
          <p:nvPr/>
        </p:nvSpPr>
        <p:spPr>
          <a:xfrm>
            <a:off x="3018828" y="1440180"/>
            <a:ext cx="201168" cy="201168"/>
          </a:xfrm>
          <a:prstGeom prst="rect">
            <a:avLst/>
          </a:prstGeom>
          <a:noFill/>
          <a:ln/>
        </p:spPr>
        <p:txBody>
          <a:bodyPr wrap="square" lIns="0" tIns="0" rIns="0" bIns="0" rtlCol="0" anchor="ctr"/>
          <a:lstStyle/>
          <a:p>
            <a:pPr marL="0" indent="0" algn="ctr">
              <a:buNone/>
            </a:pPr>
            <a:r>
              <a:rPr lang="en-US" sz="800" b="1" dirty="0">
                <a:solidFill>
                  <a:srgbClr val="166534"/>
                </a:solidFill>
                <a:latin typeface="Calibri" pitchFamily="34" charset="0"/>
                <a:ea typeface="Calibri" pitchFamily="34" charset="-122"/>
                <a:cs typeface="Calibri" pitchFamily="34" charset="-120"/>
              </a:rPr>
              <a:t>◎</a:t>
            </a:r>
            <a:endParaRPr lang="en-US" sz="800" dirty="0"/>
          </a:p>
        </p:txBody>
      </p:sp>
      <p:sp>
        <p:nvSpPr>
          <p:cNvPr id="102" name="Text 30">
            <a:extLst>
              <a:ext uri="{FF2B5EF4-FFF2-40B4-BE49-F238E27FC236}">
                <a16:creationId xmlns:a16="http://schemas.microsoft.com/office/drawing/2014/main" id="{A347FBC8-CD8D-FD0D-41FE-4ACF793F5577}"/>
              </a:ext>
            </a:extLst>
          </p:cNvPr>
          <p:cNvSpPr/>
          <p:nvPr/>
        </p:nvSpPr>
        <p:spPr>
          <a:xfrm>
            <a:off x="3256572" y="1440180"/>
            <a:ext cx="786382" cy="201168"/>
          </a:xfrm>
          <a:prstGeom prst="rect">
            <a:avLst/>
          </a:prstGeom>
          <a:noFill/>
          <a:ln/>
        </p:spPr>
        <p:txBody>
          <a:bodyPr wrap="square" lIns="0" tIns="0" rIns="0" bIns="0" rtlCol="0" anchor="ctr"/>
          <a:lstStyle/>
          <a:p>
            <a:pPr marL="0" indent="0">
              <a:buNone/>
            </a:pPr>
            <a:r>
              <a:rPr lang="en-US" sz="1400" b="1" dirty="0">
                <a:solidFill>
                  <a:srgbClr val="166534"/>
                </a:solidFill>
                <a:latin typeface="Calibri" pitchFamily="34" charset="0"/>
                <a:ea typeface="Calibri" pitchFamily="34" charset="-122"/>
                <a:cs typeface="Calibri" pitchFamily="34" charset="-120"/>
              </a:rPr>
              <a:t>Reflexion</a:t>
            </a:r>
            <a:endParaRPr lang="en-US" sz="1400" dirty="0"/>
          </a:p>
        </p:txBody>
      </p:sp>
      <p:sp>
        <p:nvSpPr>
          <p:cNvPr id="103" name="Text 31">
            <a:extLst>
              <a:ext uri="{FF2B5EF4-FFF2-40B4-BE49-F238E27FC236}">
                <a16:creationId xmlns:a16="http://schemas.microsoft.com/office/drawing/2014/main" id="{F663B3D7-508A-8047-1353-345E9CF1B108}"/>
              </a:ext>
            </a:extLst>
          </p:cNvPr>
          <p:cNvSpPr/>
          <p:nvPr/>
        </p:nvSpPr>
        <p:spPr>
          <a:xfrm>
            <a:off x="2697480" y="1691640"/>
            <a:ext cx="1691640" cy="164592"/>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Shinn et al.</a:t>
            </a:r>
            <a:endParaRPr lang="en-US" sz="1100" dirty="0"/>
          </a:p>
        </p:txBody>
      </p:sp>
      <p:sp>
        <p:nvSpPr>
          <p:cNvPr id="104" name="Text 32">
            <a:extLst>
              <a:ext uri="{FF2B5EF4-FFF2-40B4-BE49-F238E27FC236}">
                <a16:creationId xmlns:a16="http://schemas.microsoft.com/office/drawing/2014/main" id="{074A7DB6-0A22-5E22-523D-91851BCDD5F9}"/>
              </a:ext>
            </a:extLst>
          </p:cNvPr>
          <p:cNvSpPr/>
          <p:nvPr/>
        </p:nvSpPr>
        <p:spPr>
          <a:xfrm>
            <a:off x="2697480" y="1874520"/>
            <a:ext cx="1691640" cy="475488"/>
          </a:xfrm>
          <a:prstGeom prst="rect">
            <a:avLst/>
          </a:prstGeom>
          <a:noFill/>
          <a:ln/>
        </p:spPr>
        <p:txBody>
          <a:bodyPr wrap="square" lIns="0" tIns="0" rIns="0" bIns="0" rtlCol="0" anchor="ctr"/>
          <a:lstStyle/>
          <a:p>
            <a:pPr marL="0" indent="0" algn="ctr">
              <a:buNone/>
            </a:pPr>
            <a:r>
              <a:rPr lang="en-US" sz="1200" dirty="0">
                <a:solidFill>
                  <a:srgbClr val="0F172A"/>
                </a:solidFill>
                <a:latin typeface="Calibri" pitchFamily="34" charset="0"/>
                <a:ea typeface="Calibri" pitchFamily="34" charset="-122"/>
                <a:cs typeface="Calibri" pitchFamily="34" charset="-120"/>
              </a:rPr>
              <a:t>Verbal</a:t>
            </a:r>
            <a:endParaRPr lang="en-US" sz="1200" dirty="0"/>
          </a:p>
          <a:p>
            <a:pPr marL="0" indent="0" algn="ctr">
              <a:buNone/>
            </a:pPr>
            <a:r>
              <a:rPr lang="en-US" sz="1200" dirty="0">
                <a:solidFill>
                  <a:srgbClr val="0F172A"/>
                </a:solidFill>
                <a:latin typeface="Calibri" pitchFamily="34" charset="0"/>
                <a:ea typeface="Calibri" pitchFamily="34" charset="-122"/>
                <a:cs typeface="Calibri" pitchFamily="34" charset="-120"/>
              </a:rPr>
              <a:t>reinforcement</a:t>
            </a:r>
            <a:endParaRPr lang="en-US" sz="1200" dirty="0"/>
          </a:p>
        </p:txBody>
      </p:sp>
      <p:sp>
        <p:nvSpPr>
          <p:cNvPr id="105" name="Shape 33">
            <a:extLst>
              <a:ext uri="{FF2B5EF4-FFF2-40B4-BE49-F238E27FC236}">
                <a16:creationId xmlns:a16="http://schemas.microsoft.com/office/drawing/2014/main" id="{2856F431-3D34-5E15-3A99-2919DED85198}"/>
              </a:ext>
            </a:extLst>
          </p:cNvPr>
          <p:cNvSpPr/>
          <p:nvPr/>
        </p:nvSpPr>
        <p:spPr>
          <a:xfrm>
            <a:off x="2971800" y="2386584"/>
            <a:ext cx="1143000" cy="201168"/>
          </a:xfrm>
          <a:prstGeom prst="roundRect">
            <a:avLst>
              <a:gd name="adj" fmla="val 18182"/>
            </a:avLst>
          </a:prstGeom>
          <a:solidFill>
            <a:srgbClr val="FFFFFF"/>
          </a:solidFill>
          <a:ln w="7620">
            <a:solidFill>
              <a:srgbClr val="166534"/>
            </a:solidFill>
            <a:prstDash val="solid"/>
          </a:ln>
        </p:spPr>
      </p:sp>
      <p:sp>
        <p:nvSpPr>
          <p:cNvPr id="106" name="Text 34">
            <a:extLst>
              <a:ext uri="{FF2B5EF4-FFF2-40B4-BE49-F238E27FC236}">
                <a16:creationId xmlns:a16="http://schemas.microsoft.com/office/drawing/2014/main" id="{D76409D3-25A8-EA34-09F9-ABD109151DD5}"/>
              </a:ext>
            </a:extLst>
          </p:cNvPr>
          <p:cNvSpPr/>
          <p:nvPr/>
        </p:nvSpPr>
        <p:spPr>
          <a:xfrm>
            <a:off x="2971800" y="2386584"/>
            <a:ext cx="1143000" cy="201168"/>
          </a:xfrm>
          <a:prstGeom prst="rect">
            <a:avLst/>
          </a:prstGeom>
          <a:noFill/>
          <a:ln/>
        </p:spPr>
        <p:txBody>
          <a:bodyPr wrap="square" lIns="0" tIns="0" rIns="0" bIns="0" rtlCol="0" anchor="ctr"/>
          <a:lstStyle/>
          <a:p>
            <a:pPr marL="0" indent="0" algn="ctr">
              <a:buNone/>
            </a:pPr>
            <a:r>
              <a:rPr lang="en-US" sz="900" b="1" dirty="0">
                <a:solidFill>
                  <a:srgbClr val="166534"/>
                </a:solidFill>
                <a:latin typeface="Calibri" pitchFamily="34" charset="0"/>
                <a:ea typeface="Calibri" pitchFamily="34" charset="-122"/>
                <a:cs typeface="Calibri" pitchFamily="34" charset="-120"/>
              </a:rPr>
              <a:t>+11% claimed</a:t>
            </a:r>
            <a:endParaRPr lang="en-US" sz="900" dirty="0"/>
          </a:p>
        </p:txBody>
      </p:sp>
      <p:sp>
        <p:nvSpPr>
          <p:cNvPr id="107" name="Shape 35">
            <a:extLst>
              <a:ext uri="{FF2B5EF4-FFF2-40B4-BE49-F238E27FC236}">
                <a16:creationId xmlns:a16="http://schemas.microsoft.com/office/drawing/2014/main" id="{6DEBE52E-B86A-587F-3932-34A56D1BA578}"/>
              </a:ext>
            </a:extLst>
          </p:cNvPr>
          <p:cNvSpPr/>
          <p:nvPr/>
        </p:nvSpPr>
        <p:spPr>
          <a:xfrm>
            <a:off x="3534156" y="2651760"/>
            <a:ext cx="18288" cy="182880"/>
          </a:xfrm>
          <a:prstGeom prst="rect">
            <a:avLst/>
          </a:prstGeom>
          <a:solidFill>
            <a:srgbClr val="166534"/>
          </a:solidFill>
          <a:ln/>
        </p:spPr>
      </p:sp>
      <p:sp>
        <p:nvSpPr>
          <p:cNvPr id="108" name="Shape 36">
            <a:extLst>
              <a:ext uri="{FF2B5EF4-FFF2-40B4-BE49-F238E27FC236}">
                <a16:creationId xmlns:a16="http://schemas.microsoft.com/office/drawing/2014/main" id="{CE262DF7-D9CB-1C27-4BF0-808196596654}"/>
              </a:ext>
            </a:extLst>
          </p:cNvPr>
          <p:cNvSpPr/>
          <p:nvPr/>
        </p:nvSpPr>
        <p:spPr>
          <a:xfrm>
            <a:off x="4709160" y="1325880"/>
            <a:ext cx="1691640" cy="1325880"/>
          </a:xfrm>
          <a:prstGeom prst="roundRect">
            <a:avLst>
              <a:gd name="adj" fmla="val 5517"/>
            </a:avLst>
          </a:prstGeom>
          <a:solidFill>
            <a:srgbClr val="FFFFFF"/>
          </a:solidFill>
          <a:ln w="13970">
            <a:solidFill>
              <a:srgbClr val="B45309"/>
            </a:solidFill>
            <a:prstDash val="solid"/>
          </a:ln>
        </p:spPr>
      </p:sp>
      <p:sp>
        <p:nvSpPr>
          <p:cNvPr id="109" name="Shape 37">
            <a:extLst>
              <a:ext uri="{FF2B5EF4-FFF2-40B4-BE49-F238E27FC236}">
                <a16:creationId xmlns:a16="http://schemas.microsoft.com/office/drawing/2014/main" id="{D40947BB-62B6-797D-5135-AE28297FBC85}"/>
              </a:ext>
            </a:extLst>
          </p:cNvPr>
          <p:cNvSpPr/>
          <p:nvPr/>
        </p:nvSpPr>
        <p:spPr>
          <a:xfrm>
            <a:off x="4709160" y="1325880"/>
            <a:ext cx="1691640" cy="54864"/>
          </a:xfrm>
          <a:prstGeom prst="roundRect">
            <a:avLst>
              <a:gd name="adj" fmla="val 133333"/>
            </a:avLst>
          </a:prstGeom>
          <a:solidFill>
            <a:srgbClr val="B45309"/>
          </a:solidFill>
          <a:ln w="12700">
            <a:solidFill>
              <a:srgbClr val="B45309"/>
            </a:solidFill>
            <a:prstDash val="solid"/>
          </a:ln>
        </p:spPr>
      </p:sp>
      <p:sp>
        <p:nvSpPr>
          <p:cNvPr id="110" name="Shape 38">
            <a:extLst>
              <a:ext uri="{FF2B5EF4-FFF2-40B4-BE49-F238E27FC236}">
                <a16:creationId xmlns:a16="http://schemas.microsoft.com/office/drawing/2014/main" id="{FBA5FE99-F21F-2B2E-1F70-4D8D7155E718}"/>
              </a:ext>
            </a:extLst>
          </p:cNvPr>
          <p:cNvSpPr/>
          <p:nvPr/>
        </p:nvSpPr>
        <p:spPr>
          <a:xfrm>
            <a:off x="4975640" y="1453896"/>
            <a:ext cx="201168" cy="201168"/>
          </a:xfrm>
          <a:prstGeom prst="ellipse">
            <a:avLst/>
          </a:prstGeom>
          <a:solidFill>
            <a:srgbClr val="FFFBEB"/>
          </a:solidFill>
          <a:ln w="8890">
            <a:solidFill>
              <a:srgbClr val="B45309"/>
            </a:solidFill>
            <a:prstDash val="solid"/>
          </a:ln>
        </p:spPr>
      </p:sp>
      <p:sp>
        <p:nvSpPr>
          <p:cNvPr id="111" name="Text 39">
            <a:extLst>
              <a:ext uri="{FF2B5EF4-FFF2-40B4-BE49-F238E27FC236}">
                <a16:creationId xmlns:a16="http://schemas.microsoft.com/office/drawing/2014/main" id="{9A673D17-C6CA-2B51-FEFC-4E67B27FAC55}"/>
              </a:ext>
            </a:extLst>
          </p:cNvPr>
          <p:cNvSpPr/>
          <p:nvPr/>
        </p:nvSpPr>
        <p:spPr>
          <a:xfrm>
            <a:off x="4975640" y="1453896"/>
            <a:ext cx="201168" cy="201168"/>
          </a:xfrm>
          <a:prstGeom prst="rect">
            <a:avLst/>
          </a:prstGeom>
          <a:noFill/>
          <a:ln/>
        </p:spPr>
        <p:txBody>
          <a:bodyPr wrap="square" lIns="0" tIns="0" rIns="0" bIns="0" rtlCol="0" anchor="ctr"/>
          <a:lstStyle/>
          <a:p>
            <a:pPr marL="0" indent="0" algn="ctr">
              <a:buNone/>
            </a:pPr>
            <a:r>
              <a:rPr lang="en-US" sz="800" b="1" dirty="0">
                <a:solidFill>
                  <a:srgbClr val="B45309"/>
                </a:solidFill>
                <a:latin typeface="Calibri" pitchFamily="34" charset="0"/>
                <a:ea typeface="Calibri" pitchFamily="34" charset="-122"/>
                <a:cs typeface="Calibri" pitchFamily="34" charset="-120"/>
              </a:rPr>
              <a:t>⬢</a:t>
            </a:r>
            <a:endParaRPr lang="en-US" sz="800" dirty="0"/>
          </a:p>
        </p:txBody>
      </p:sp>
      <p:sp>
        <p:nvSpPr>
          <p:cNvPr id="112" name="Text 40">
            <a:extLst>
              <a:ext uri="{FF2B5EF4-FFF2-40B4-BE49-F238E27FC236}">
                <a16:creationId xmlns:a16="http://schemas.microsoft.com/office/drawing/2014/main" id="{62F114CB-1A80-C1B7-A422-4E5ACD6E72FB}"/>
              </a:ext>
            </a:extLst>
          </p:cNvPr>
          <p:cNvSpPr/>
          <p:nvPr/>
        </p:nvSpPr>
        <p:spPr>
          <a:xfrm>
            <a:off x="5213384" y="1453896"/>
            <a:ext cx="873905" cy="201168"/>
          </a:xfrm>
          <a:prstGeom prst="rect">
            <a:avLst/>
          </a:prstGeom>
          <a:noFill/>
          <a:ln/>
        </p:spPr>
        <p:txBody>
          <a:bodyPr wrap="square" lIns="0" tIns="0" rIns="0" bIns="0" rtlCol="0" anchor="ctr"/>
          <a:lstStyle/>
          <a:p>
            <a:pPr marL="0" indent="0">
              <a:buNone/>
            </a:pPr>
            <a:r>
              <a:rPr lang="en-US" sz="1400" b="1" dirty="0">
                <a:solidFill>
                  <a:srgbClr val="B45309"/>
                </a:solidFill>
                <a:latin typeface="Calibri" pitchFamily="34" charset="0"/>
                <a:ea typeface="Calibri" pitchFamily="34" charset="-122"/>
                <a:cs typeface="Calibri" pitchFamily="34" charset="-120"/>
              </a:rPr>
              <a:t>Self-Refine</a:t>
            </a:r>
            <a:endParaRPr lang="en-US" sz="1400" dirty="0"/>
          </a:p>
        </p:txBody>
      </p:sp>
      <p:sp>
        <p:nvSpPr>
          <p:cNvPr id="113" name="Text 41">
            <a:extLst>
              <a:ext uri="{FF2B5EF4-FFF2-40B4-BE49-F238E27FC236}">
                <a16:creationId xmlns:a16="http://schemas.microsoft.com/office/drawing/2014/main" id="{AD0EB08A-11EC-578D-0BB8-8215804D50C1}"/>
              </a:ext>
            </a:extLst>
          </p:cNvPr>
          <p:cNvSpPr/>
          <p:nvPr/>
        </p:nvSpPr>
        <p:spPr>
          <a:xfrm>
            <a:off x="4709160" y="1691640"/>
            <a:ext cx="1691640" cy="164592"/>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Madaan et al.</a:t>
            </a:r>
            <a:endParaRPr lang="en-US" sz="1100" dirty="0"/>
          </a:p>
        </p:txBody>
      </p:sp>
      <p:sp>
        <p:nvSpPr>
          <p:cNvPr id="114" name="Text 42">
            <a:extLst>
              <a:ext uri="{FF2B5EF4-FFF2-40B4-BE49-F238E27FC236}">
                <a16:creationId xmlns:a16="http://schemas.microsoft.com/office/drawing/2014/main" id="{652CC0CA-8136-D5C7-5760-ECDDE980D007}"/>
              </a:ext>
            </a:extLst>
          </p:cNvPr>
          <p:cNvSpPr/>
          <p:nvPr/>
        </p:nvSpPr>
        <p:spPr>
          <a:xfrm>
            <a:off x="4709160" y="1874520"/>
            <a:ext cx="1691640" cy="475488"/>
          </a:xfrm>
          <a:prstGeom prst="rect">
            <a:avLst/>
          </a:prstGeom>
          <a:noFill/>
          <a:ln/>
        </p:spPr>
        <p:txBody>
          <a:bodyPr wrap="square" lIns="0" tIns="0" rIns="0" bIns="0" rtlCol="0" anchor="ctr"/>
          <a:lstStyle/>
          <a:p>
            <a:pPr marL="0" indent="0" algn="ctr">
              <a:buNone/>
            </a:pPr>
            <a:r>
              <a:rPr lang="en-US" sz="1200" dirty="0">
                <a:solidFill>
                  <a:srgbClr val="0F172A"/>
                </a:solidFill>
                <a:latin typeface="Calibri" pitchFamily="34" charset="0"/>
                <a:ea typeface="Calibri" pitchFamily="34" charset="-122"/>
                <a:cs typeface="Calibri" pitchFamily="34" charset="-120"/>
              </a:rPr>
              <a:t>Feedback</a:t>
            </a:r>
            <a:endParaRPr lang="en-US" sz="1200" dirty="0"/>
          </a:p>
          <a:p>
            <a:pPr marL="0" indent="0" algn="ctr">
              <a:buNone/>
            </a:pPr>
            <a:r>
              <a:rPr lang="en-US" sz="1200" dirty="0">
                <a:solidFill>
                  <a:srgbClr val="0F172A"/>
                </a:solidFill>
                <a:latin typeface="Calibri" pitchFamily="34" charset="0"/>
                <a:ea typeface="Calibri" pitchFamily="34" charset="-122"/>
                <a:cs typeface="Calibri" pitchFamily="34" charset="-120"/>
              </a:rPr>
              <a:t>refine</a:t>
            </a:r>
            <a:endParaRPr lang="en-US" sz="1200" dirty="0"/>
          </a:p>
        </p:txBody>
      </p:sp>
      <p:sp>
        <p:nvSpPr>
          <p:cNvPr id="115" name="Shape 43">
            <a:extLst>
              <a:ext uri="{FF2B5EF4-FFF2-40B4-BE49-F238E27FC236}">
                <a16:creationId xmlns:a16="http://schemas.microsoft.com/office/drawing/2014/main" id="{E58DCDFE-81FE-719E-7CFD-BF37BD00C09C}"/>
              </a:ext>
            </a:extLst>
          </p:cNvPr>
          <p:cNvSpPr/>
          <p:nvPr/>
        </p:nvSpPr>
        <p:spPr>
          <a:xfrm>
            <a:off x="4983480" y="2386584"/>
            <a:ext cx="1143000" cy="201168"/>
          </a:xfrm>
          <a:prstGeom prst="roundRect">
            <a:avLst>
              <a:gd name="adj" fmla="val 18182"/>
            </a:avLst>
          </a:prstGeom>
          <a:solidFill>
            <a:srgbClr val="FFFFFF"/>
          </a:solidFill>
          <a:ln w="7620">
            <a:solidFill>
              <a:srgbClr val="B45309"/>
            </a:solidFill>
            <a:prstDash val="solid"/>
          </a:ln>
        </p:spPr>
      </p:sp>
      <p:sp>
        <p:nvSpPr>
          <p:cNvPr id="116" name="Text 44">
            <a:extLst>
              <a:ext uri="{FF2B5EF4-FFF2-40B4-BE49-F238E27FC236}">
                <a16:creationId xmlns:a16="http://schemas.microsoft.com/office/drawing/2014/main" id="{0C32A0FB-72ED-76CB-A14A-37C72FAD2479}"/>
              </a:ext>
            </a:extLst>
          </p:cNvPr>
          <p:cNvSpPr/>
          <p:nvPr/>
        </p:nvSpPr>
        <p:spPr>
          <a:xfrm>
            <a:off x="4983480" y="2386584"/>
            <a:ext cx="1143000" cy="201168"/>
          </a:xfrm>
          <a:prstGeom prst="rect">
            <a:avLst/>
          </a:prstGeom>
          <a:noFill/>
          <a:ln/>
        </p:spPr>
        <p:txBody>
          <a:bodyPr wrap="square" lIns="0" tIns="0" rIns="0" bIns="0" rtlCol="0" anchor="ctr"/>
          <a:lstStyle/>
          <a:p>
            <a:pPr marL="0" indent="0" algn="ctr">
              <a:buNone/>
            </a:pPr>
            <a:r>
              <a:rPr lang="en-US" sz="900" b="1" dirty="0">
                <a:solidFill>
                  <a:srgbClr val="B45309"/>
                </a:solidFill>
                <a:latin typeface="Calibri" pitchFamily="34" charset="0"/>
                <a:ea typeface="Calibri" pitchFamily="34" charset="-122"/>
                <a:cs typeface="Calibri" pitchFamily="34" charset="-120"/>
              </a:rPr>
              <a:t>+10% claimed</a:t>
            </a:r>
            <a:endParaRPr lang="en-US" sz="900" dirty="0"/>
          </a:p>
        </p:txBody>
      </p:sp>
      <p:sp>
        <p:nvSpPr>
          <p:cNvPr id="117" name="Shape 45">
            <a:extLst>
              <a:ext uri="{FF2B5EF4-FFF2-40B4-BE49-F238E27FC236}">
                <a16:creationId xmlns:a16="http://schemas.microsoft.com/office/drawing/2014/main" id="{9A63733D-0160-8A2D-F6BF-5ABC249E55A3}"/>
              </a:ext>
            </a:extLst>
          </p:cNvPr>
          <p:cNvSpPr/>
          <p:nvPr/>
        </p:nvSpPr>
        <p:spPr>
          <a:xfrm>
            <a:off x="5545836" y="2651760"/>
            <a:ext cx="18288" cy="182880"/>
          </a:xfrm>
          <a:prstGeom prst="rect">
            <a:avLst/>
          </a:prstGeom>
          <a:solidFill>
            <a:srgbClr val="B45309"/>
          </a:solidFill>
          <a:ln/>
        </p:spPr>
      </p:sp>
      <p:sp>
        <p:nvSpPr>
          <p:cNvPr id="118" name="Shape 46">
            <a:extLst>
              <a:ext uri="{FF2B5EF4-FFF2-40B4-BE49-F238E27FC236}">
                <a16:creationId xmlns:a16="http://schemas.microsoft.com/office/drawing/2014/main" id="{2D207038-0F37-3AA1-89B6-B7F5AD55D6E3}"/>
              </a:ext>
            </a:extLst>
          </p:cNvPr>
          <p:cNvSpPr/>
          <p:nvPr/>
        </p:nvSpPr>
        <p:spPr>
          <a:xfrm>
            <a:off x="6720840" y="1325880"/>
            <a:ext cx="1691640" cy="1325880"/>
          </a:xfrm>
          <a:prstGeom prst="roundRect">
            <a:avLst>
              <a:gd name="adj" fmla="val 5517"/>
            </a:avLst>
          </a:prstGeom>
          <a:solidFill>
            <a:srgbClr val="FFFFFF"/>
          </a:solidFill>
          <a:ln w="13970">
            <a:solidFill>
              <a:srgbClr val="1E293B"/>
            </a:solidFill>
            <a:prstDash val="solid"/>
          </a:ln>
        </p:spPr>
      </p:sp>
      <p:sp>
        <p:nvSpPr>
          <p:cNvPr id="119" name="Shape 47">
            <a:extLst>
              <a:ext uri="{FF2B5EF4-FFF2-40B4-BE49-F238E27FC236}">
                <a16:creationId xmlns:a16="http://schemas.microsoft.com/office/drawing/2014/main" id="{1F6EE08B-3EE7-14D2-B555-AD839020B828}"/>
              </a:ext>
            </a:extLst>
          </p:cNvPr>
          <p:cNvSpPr/>
          <p:nvPr/>
        </p:nvSpPr>
        <p:spPr>
          <a:xfrm>
            <a:off x="6720840" y="1325880"/>
            <a:ext cx="1691640" cy="54864"/>
          </a:xfrm>
          <a:prstGeom prst="roundRect">
            <a:avLst>
              <a:gd name="adj" fmla="val 133333"/>
            </a:avLst>
          </a:prstGeom>
          <a:solidFill>
            <a:srgbClr val="1E293B"/>
          </a:solidFill>
          <a:ln w="12700">
            <a:solidFill>
              <a:srgbClr val="1E293B"/>
            </a:solidFill>
            <a:prstDash val="solid"/>
          </a:ln>
        </p:spPr>
      </p:sp>
      <p:sp>
        <p:nvSpPr>
          <p:cNvPr id="120" name="Shape 48">
            <a:extLst>
              <a:ext uri="{FF2B5EF4-FFF2-40B4-BE49-F238E27FC236}">
                <a16:creationId xmlns:a16="http://schemas.microsoft.com/office/drawing/2014/main" id="{CC3BAF77-0034-74DD-7FDA-7ABC205F22C5}"/>
              </a:ext>
            </a:extLst>
          </p:cNvPr>
          <p:cNvSpPr/>
          <p:nvPr/>
        </p:nvSpPr>
        <p:spPr>
          <a:xfrm>
            <a:off x="7046101" y="1453896"/>
            <a:ext cx="201168" cy="201168"/>
          </a:xfrm>
          <a:prstGeom prst="ellipse">
            <a:avLst/>
          </a:prstGeom>
          <a:solidFill>
            <a:srgbClr val="F8FAFC"/>
          </a:solidFill>
          <a:ln w="8890">
            <a:solidFill>
              <a:srgbClr val="1E293B"/>
            </a:solidFill>
            <a:prstDash val="solid"/>
          </a:ln>
        </p:spPr>
      </p:sp>
      <p:sp>
        <p:nvSpPr>
          <p:cNvPr id="121" name="Text 49">
            <a:extLst>
              <a:ext uri="{FF2B5EF4-FFF2-40B4-BE49-F238E27FC236}">
                <a16:creationId xmlns:a16="http://schemas.microsoft.com/office/drawing/2014/main" id="{24AB2C9E-4C4E-CA6E-BD7E-C3B07C7C4016}"/>
              </a:ext>
            </a:extLst>
          </p:cNvPr>
          <p:cNvSpPr/>
          <p:nvPr/>
        </p:nvSpPr>
        <p:spPr>
          <a:xfrm>
            <a:off x="7046101" y="1453896"/>
            <a:ext cx="201168" cy="201168"/>
          </a:xfrm>
          <a:prstGeom prst="rect">
            <a:avLst/>
          </a:prstGeom>
          <a:noFill/>
          <a:ln/>
        </p:spPr>
        <p:txBody>
          <a:bodyPr wrap="square" lIns="0" tIns="0" rIns="0" bIns="0" rtlCol="0" anchor="ctr"/>
          <a:lstStyle/>
          <a:p>
            <a:pPr marL="0" indent="0" algn="ctr">
              <a:buNone/>
            </a:pPr>
            <a:r>
              <a:rPr lang="en-US" sz="800" b="1" dirty="0">
                <a:solidFill>
                  <a:srgbClr val="1E293B"/>
                </a:solidFill>
                <a:latin typeface="Calibri" pitchFamily="34" charset="0"/>
                <a:ea typeface="Calibri" pitchFamily="34" charset="-122"/>
                <a:cs typeface="Calibri" pitchFamily="34" charset="-120"/>
              </a:rPr>
              <a:t>⬣</a:t>
            </a:r>
            <a:endParaRPr lang="en-US" sz="800" dirty="0"/>
          </a:p>
        </p:txBody>
      </p:sp>
      <p:sp>
        <p:nvSpPr>
          <p:cNvPr id="122" name="Text 50">
            <a:extLst>
              <a:ext uri="{FF2B5EF4-FFF2-40B4-BE49-F238E27FC236}">
                <a16:creationId xmlns:a16="http://schemas.microsoft.com/office/drawing/2014/main" id="{F08FFE6E-A4BB-BDD2-18DB-DCF7E8A52B09}"/>
              </a:ext>
            </a:extLst>
          </p:cNvPr>
          <p:cNvSpPr/>
          <p:nvPr/>
        </p:nvSpPr>
        <p:spPr>
          <a:xfrm>
            <a:off x="7283845" y="1453896"/>
            <a:ext cx="625711" cy="201168"/>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Debate</a:t>
            </a:r>
            <a:endParaRPr lang="en-US" sz="1400" dirty="0"/>
          </a:p>
        </p:txBody>
      </p:sp>
      <p:sp>
        <p:nvSpPr>
          <p:cNvPr id="123" name="Text 51">
            <a:extLst>
              <a:ext uri="{FF2B5EF4-FFF2-40B4-BE49-F238E27FC236}">
                <a16:creationId xmlns:a16="http://schemas.microsoft.com/office/drawing/2014/main" id="{63A6469F-A443-E0D7-2D49-C8567087E1C1}"/>
              </a:ext>
            </a:extLst>
          </p:cNvPr>
          <p:cNvSpPr/>
          <p:nvPr/>
        </p:nvSpPr>
        <p:spPr>
          <a:xfrm>
            <a:off x="6720840" y="1691640"/>
            <a:ext cx="1691640" cy="164592"/>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Du et al.</a:t>
            </a:r>
            <a:endParaRPr lang="en-US" sz="1100" dirty="0"/>
          </a:p>
        </p:txBody>
      </p:sp>
      <p:sp>
        <p:nvSpPr>
          <p:cNvPr id="124" name="Text 52">
            <a:extLst>
              <a:ext uri="{FF2B5EF4-FFF2-40B4-BE49-F238E27FC236}">
                <a16:creationId xmlns:a16="http://schemas.microsoft.com/office/drawing/2014/main" id="{69280D0F-AF83-8E6F-EB2B-1790DAB31C3C}"/>
              </a:ext>
            </a:extLst>
          </p:cNvPr>
          <p:cNvSpPr/>
          <p:nvPr/>
        </p:nvSpPr>
        <p:spPr>
          <a:xfrm>
            <a:off x="6720840" y="1874520"/>
            <a:ext cx="1691640" cy="475488"/>
          </a:xfrm>
          <a:prstGeom prst="rect">
            <a:avLst/>
          </a:prstGeom>
          <a:noFill/>
          <a:ln/>
        </p:spPr>
        <p:txBody>
          <a:bodyPr wrap="square" lIns="0" tIns="0" rIns="0" bIns="0" rtlCol="0" anchor="ctr"/>
          <a:lstStyle/>
          <a:p>
            <a:pPr marL="0" indent="0" algn="ctr">
              <a:buNone/>
            </a:pPr>
            <a:r>
              <a:rPr lang="en-US" sz="1200" dirty="0">
                <a:solidFill>
                  <a:srgbClr val="0F172A"/>
                </a:solidFill>
                <a:latin typeface="Calibri" pitchFamily="34" charset="0"/>
                <a:ea typeface="Calibri" pitchFamily="34" charset="-122"/>
                <a:cs typeface="Calibri" pitchFamily="34" charset="-120"/>
              </a:rPr>
              <a:t>Multi-agent</a:t>
            </a:r>
            <a:endParaRPr lang="en-US" sz="1200" dirty="0"/>
          </a:p>
          <a:p>
            <a:pPr marL="0" indent="0" algn="ctr">
              <a:buNone/>
            </a:pPr>
            <a:r>
              <a:rPr lang="en-US" sz="1200" dirty="0">
                <a:solidFill>
                  <a:srgbClr val="0F172A"/>
                </a:solidFill>
                <a:latin typeface="Calibri" pitchFamily="34" charset="0"/>
                <a:ea typeface="Calibri" pitchFamily="34" charset="-122"/>
                <a:cs typeface="Calibri" pitchFamily="34" charset="-120"/>
              </a:rPr>
              <a:t>debate</a:t>
            </a:r>
            <a:endParaRPr lang="en-US" sz="1200" dirty="0"/>
          </a:p>
        </p:txBody>
      </p:sp>
      <p:sp>
        <p:nvSpPr>
          <p:cNvPr id="125" name="Shape 53">
            <a:extLst>
              <a:ext uri="{FF2B5EF4-FFF2-40B4-BE49-F238E27FC236}">
                <a16:creationId xmlns:a16="http://schemas.microsoft.com/office/drawing/2014/main" id="{C9E7FB31-CF56-9E5E-23C9-599490BDFF68}"/>
              </a:ext>
            </a:extLst>
          </p:cNvPr>
          <p:cNvSpPr/>
          <p:nvPr/>
        </p:nvSpPr>
        <p:spPr>
          <a:xfrm>
            <a:off x="6995160" y="2386584"/>
            <a:ext cx="1143000" cy="201168"/>
          </a:xfrm>
          <a:prstGeom prst="roundRect">
            <a:avLst>
              <a:gd name="adj" fmla="val 18182"/>
            </a:avLst>
          </a:prstGeom>
          <a:solidFill>
            <a:srgbClr val="FFFFFF"/>
          </a:solidFill>
          <a:ln w="7620">
            <a:solidFill>
              <a:srgbClr val="1E293B"/>
            </a:solidFill>
            <a:prstDash val="solid"/>
          </a:ln>
        </p:spPr>
      </p:sp>
      <p:sp>
        <p:nvSpPr>
          <p:cNvPr id="126" name="Text 54">
            <a:extLst>
              <a:ext uri="{FF2B5EF4-FFF2-40B4-BE49-F238E27FC236}">
                <a16:creationId xmlns:a16="http://schemas.microsoft.com/office/drawing/2014/main" id="{8399C86E-EE54-9C58-F07F-9D91E7B0C5F1}"/>
              </a:ext>
            </a:extLst>
          </p:cNvPr>
          <p:cNvSpPr/>
          <p:nvPr/>
        </p:nvSpPr>
        <p:spPr>
          <a:xfrm>
            <a:off x="6995160" y="2386584"/>
            <a:ext cx="1143000" cy="201168"/>
          </a:xfrm>
          <a:prstGeom prst="rect">
            <a:avLst/>
          </a:prstGeom>
          <a:noFill/>
          <a:ln/>
        </p:spPr>
        <p:txBody>
          <a:bodyPr wrap="square" lIns="0" tIns="0" rIns="0" bIns="0"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+4% claimed</a:t>
            </a:r>
            <a:endParaRPr lang="en-US" sz="900" dirty="0"/>
          </a:p>
        </p:txBody>
      </p:sp>
      <p:sp>
        <p:nvSpPr>
          <p:cNvPr id="127" name="Shape 55">
            <a:extLst>
              <a:ext uri="{FF2B5EF4-FFF2-40B4-BE49-F238E27FC236}">
                <a16:creationId xmlns:a16="http://schemas.microsoft.com/office/drawing/2014/main" id="{17E4A98F-F0B9-AAD4-C6F4-43FD258B9F32}"/>
              </a:ext>
            </a:extLst>
          </p:cNvPr>
          <p:cNvSpPr/>
          <p:nvPr/>
        </p:nvSpPr>
        <p:spPr>
          <a:xfrm>
            <a:off x="7557516" y="2651760"/>
            <a:ext cx="18288" cy="182880"/>
          </a:xfrm>
          <a:prstGeom prst="rect">
            <a:avLst/>
          </a:prstGeom>
          <a:solidFill>
            <a:srgbClr val="1E293B"/>
          </a:solidFill>
          <a:ln/>
        </p:spPr>
      </p:sp>
      <p:sp>
        <p:nvSpPr>
          <p:cNvPr id="128" name="Shape 56">
            <a:extLst>
              <a:ext uri="{FF2B5EF4-FFF2-40B4-BE49-F238E27FC236}">
                <a16:creationId xmlns:a16="http://schemas.microsoft.com/office/drawing/2014/main" id="{5EA9F3EE-E96C-152B-04AA-9EE664CE4058}"/>
              </a:ext>
            </a:extLst>
          </p:cNvPr>
          <p:cNvSpPr/>
          <p:nvPr/>
        </p:nvSpPr>
        <p:spPr>
          <a:xfrm>
            <a:off x="548640" y="3252426"/>
            <a:ext cx="8046720" cy="1234440"/>
          </a:xfrm>
          <a:prstGeom prst="roundRect">
            <a:avLst>
              <a:gd name="adj" fmla="val 5926"/>
            </a:avLst>
          </a:prstGeom>
          <a:solidFill>
            <a:srgbClr val="F8FAFC"/>
          </a:solidFill>
          <a:ln w="12700">
            <a:solidFill>
              <a:srgbClr val="E2E8F0"/>
            </a:solidFill>
            <a:prstDash val="solid"/>
          </a:ln>
        </p:spPr>
      </p:sp>
      <p:sp>
        <p:nvSpPr>
          <p:cNvPr id="129" name="Text 57">
            <a:extLst>
              <a:ext uri="{FF2B5EF4-FFF2-40B4-BE49-F238E27FC236}">
                <a16:creationId xmlns:a16="http://schemas.microsoft.com/office/drawing/2014/main" id="{E2CCA4AD-3E47-9BD5-4C28-07828E89FBB3}"/>
              </a:ext>
            </a:extLst>
          </p:cNvPr>
          <p:cNvSpPr/>
          <p:nvPr/>
        </p:nvSpPr>
        <p:spPr>
          <a:xfrm>
            <a:off x="685800" y="3364992"/>
            <a:ext cx="7772400" cy="164592"/>
          </a:xfrm>
          <a:prstGeom prst="rect">
            <a:avLst/>
          </a:prstGeom>
          <a:noFill/>
          <a:ln/>
        </p:spPr>
        <p:txBody>
          <a:bodyPr wrap="square" lIns="0" tIns="0" rIns="0" bIns="0" rtlCol="0" anchor="ctr"/>
          <a:lstStyle/>
          <a:p>
            <a:pPr marL="0" indent="0">
              <a:buNone/>
            </a:pPr>
            <a:r>
              <a:rPr lang="en-US" sz="750" b="1" kern="0" spc="100" dirty="0">
                <a:solidFill>
                  <a:srgbClr val="800020"/>
                </a:solidFill>
                <a:latin typeface="Calibri" pitchFamily="34" charset="0"/>
                <a:ea typeface="Calibri" pitchFamily="34" charset="-122"/>
                <a:cs typeface="Calibri" pitchFamily="34" charset="-120"/>
              </a:rPr>
              <a:t>WHAT THE TIMELINE HIDES</a:t>
            </a:r>
            <a:endParaRPr lang="en-US" sz="750" dirty="0"/>
          </a:p>
        </p:txBody>
      </p:sp>
      <p:sp>
        <p:nvSpPr>
          <p:cNvPr id="130" name="Shape 58">
            <a:extLst>
              <a:ext uri="{FF2B5EF4-FFF2-40B4-BE49-F238E27FC236}">
                <a16:creationId xmlns:a16="http://schemas.microsoft.com/office/drawing/2014/main" id="{BE3D2233-43EC-CFC2-522A-E242FF111C43}"/>
              </a:ext>
            </a:extLst>
          </p:cNvPr>
          <p:cNvSpPr/>
          <p:nvPr/>
        </p:nvSpPr>
        <p:spPr>
          <a:xfrm>
            <a:off x="777240" y="3584448"/>
            <a:ext cx="292608" cy="292608"/>
          </a:xfrm>
          <a:prstGeom prst="ellipse">
            <a:avLst/>
          </a:prstGeom>
          <a:solidFill>
            <a:srgbClr val="800020"/>
          </a:solidFill>
          <a:ln/>
        </p:spPr>
      </p:sp>
      <p:sp>
        <p:nvSpPr>
          <p:cNvPr id="131" name="Text 59">
            <a:extLst>
              <a:ext uri="{FF2B5EF4-FFF2-40B4-BE49-F238E27FC236}">
                <a16:creationId xmlns:a16="http://schemas.microsoft.com/office/drawing/2014/main" id="{EF1D2ECA-F000-6832-764C-D02412A470F8}"/>
              </a:ext>
            </a:extLst>
          </p:cNvPr>
          <p:cNvSpPr/>
          <p:nvPr/>
        </p:nvSpPr>
        <p:spPr>
          <a:xfrm>
            <a:off x="777240" y="3584448"/>
            <a:ext cx="292608"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32" name="Text 60">
            <a:extLst>
              <a:ext uri="{FF2B5EF4-FFF2-40B4-BE49-F238E27FC236}">
                <a16:creationId xmlns:a16="http://schemas.microsoft.com/office/drawing/2014/main" id="{1457736E-75A5-370D-462D-6C8020963ED8}"/>
              </a:ext>
            </a:extLst>
          </p:cNvPr>
          <p:cNvSpPr/>
          <p:nvPr/>
        </p:nvSpPr>
        <p:spPr>
          <a:xfrm>
            <a:off x="1143000" y="3590280"/>
            <a:ext cx="1965960" cy="292608"/>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Oracle leakage</a:t>
            </a:r>
            <a:endParaRPr lang="en-US" sz="1400" dirty="0"/>
          </a:p>
        </p:txBody>
      </p:sp>
      <p:sp>
        <p:nvSpPr>
          <p:cNvPr id="133" name="Text 61">
            <a:extLst>
              <a:ext uri="{FF2B5EF4-FFF2-40B4-BE49-F238E27FC236}">
                <a16:creationId xmlns:a16="http://schemas.microsoft.com/office/drawing/2014/main" id="{B4E35221-FDCC-AEFE-9BBA-9F1E9CB7B438}"/>
              </a:ext>
            </a:extLst>
          </p:cNvPr>
          <p:cNvSpPr/>
          <p:nvPr/>
        </p:nvSpPr>
        <p:spPr>
          <a:xfrm>
            <a:off x="1143000" y="3877056"/>
            <a:ext cx="1965960" cy="457200"/>
          </a:xfrm>
          <a:prstGeom prst="rect">
            <a:avLst/>
          </a:prstGeom>
          <a:noFill/>
          <a:ln/>
        </p:spPr>
        <p:txBody>
          <a:bodyPr wrap="square" lIns="0" tIns="0" rIns="0" bIns="0" rtlCol="0" anchor="ctr"/>
          <a:lstStyle/>
          <a:p>
            <a:pPr marL="0" indent="0">
              <a:lnSpc>
                <a:spcPct val="105000"/>
              </a:lnSpc>
              <a:buNone/>
            </a:pPr>
            <a:r>
              <a:rPr lang="en-US" sz="1200" dirty="0">
                <a:solidFill>
                  <a:srgbClr val="64748B"/>
                </a:solidFill>
                <a:latin typeface="Calibri" pitchFamily="34" charset="0"/>
                <a:ea typeface="Calibri" pitchFamily="34" charset="-122"/>
                <a:cs typeface="Calibri" pitchFamily="34" charset="-120"/>
              </a:rPr>
              <a:t>Only wrong answers</a:t>
            </a:r>
            <a:endParaRPr lang="en-US" sz="1200" dirty="0"/>
          </a:p>
          <a:p>
            <a:pPr marL="0" indent="0">
              <a:lnSpc>
                <a:spcPct val="105000"/>
              </a:lnSpc>
              <a:buNone/>
            </a:pPr>
            <a:r>
              <a:rPr lang="en-US" sz="1200" dirty="0">
                <a:solidFill>
                  <a:srgbClr val="64748B"/>
                </a:solidFill>
                <a:latin typeface="Calibri" pitchFamily="34" charset="0"/>
                <a:ea typeface="Calibri" pitchFamily="34" charset="-122"/>
                <a:cs typeface="Calibri" pitchFamily="34" charset="-120"/>
              </a:rPr>
              <a:t>are critiqued</a:t>
            </a:r>
            <a:endParaRPr lang="en-US" sz="1200" dirty="0"/>
          </a:p>
        </p:txBody>
      </p:sp>
      <p:sp>
        <p:nvSpPr>
          <p:cNvPr id="134" name="Shape 62">
            <a:extLst>
              <a:ext uri="{FF2B5EF4-FFF2-40B4-BE49-F238E27FC236}">
                <a16:creationId xmlns:a16="http://schemas.microsoft.com/office/drawing/2014/main" id="{F384623B-97C4-B3E0-EEB2-99AB1EC26A90}"/>
              </a:ext>
            </a:extLst>
          </p:cNvPr>
          <p:cNvSpPr/>
          <p:nvPr/>
        </p:nvSpPr>
        <p:spPr>
          <a:xfrm>
            <a:off x="3383280" y="3584448"/>
            <a:ext cx="292608" cy="292608"/>
          </a:xfrm>
          <a:prstGeom prst="ellipse">
            <a:avLst/>
          </a:prstGeom>
          <a:solidFill>
            <a:srgbClr val="B45309"/>
          </a:solidFill>
          <a:ln/>
        </p:spPr>
      </p:sp>
      <p:sp>
        <p:nvSpPr>
          <p:cNvPr id="135" name="Text 63">
            <a:extLst>
              <a:ext uri="{FF2B5EF4-FFF2-40B4-BE49-F238E27FC236}">
                <a16:creationId xmlns:a16="http://schemas.microsoft.com/office/drawing/2014/main" id="{BA88AD1D-8B98-7D19-1F3D-1B73DD49ABCF}"/>
              </a:ext>
            </a:extLst>
          </p:cNvPr>
          <p:cNvSpPr/>
          <p:nvPr/>
        </p:nvSpPr>
        <p:spPr>
          <a:xfrm>
            <a:off x="3383280" y="3584448"/>
            <a:ext cx="292608"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36" name="Text 64">
            <a:extLst>
              <a:ext uri="{FF2B5EF4-FFF2-40B4-BE49-F238E27FC236}">
                <a16:creationId xmlns:a16="http://schemas.microsoft.com/office/drawing/2014/main" id="{8F06C94B-9100-9462-9E31-98BF1742499C}"/>
              </a:ext>
            </a:extLst>
          </p:cNvPr>
          <p:cNvSpPr/>
          <p:nvPr/>
        </p:nvSpPr>
        <p:spPr>
          <a:xfrm>
            <a:off x="3749040" y="3630168"/>
            <a:ext cx="1965960" cy="246888"/>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Prompt trick</a:t>
            </a:r>
            <a:endParaRPr lang="en-US" sz="1400" dirty="0"/>
          </a:p>
        </p:txBody>
      </p:sp>
      <p:sp>
        <p:nvSpPr>
          <p:cNvPr id="137" name="Text 65">
            <a:extLst>
              <a:ext uri="{FF2B5EF4-FFF2-40B4-BE49-F238E27FC236}">
                <a16:creationId xmlns:a16="http://schemas.microsoft.com/office/drawing/2014/main" id="{59F2CA61-6BA0-180D-1FD1-2E9B7F26E1DA}"/>
              </a:ext>
            </a:extLst>
          </p:cNvPr>
          <p:cNvSpPr/>
          <p:nvPr/>
        </p:nvSpPr>
        <p:spPr>
          <a:xfrm>
            <a:off x="3749040" y="3877056"/>
            <a:ext cx="1965960" cy="457200"/>
          </a:xfrm>
          <a:prstGeom prst="rect">
            <a:avLst/>
          </a:prstGeom>
          <a:noFill/>
          <a:ln/>
        </p:spPr>
        <p:txBody>
          <a:bodyPr wrap="square" lIns="0" tIns="0" rIns="0" bIns="0" rtlCol="0" anchor="ctr"/>
          <a:lstStyle/>
          <a:p>
            <a:pPr marL="0" indent="0">
              <a:lnSpc>
                <a:spcPct val="105000"/>
              </a:lnSpc>
              <a:buNone/>
            </a:pPr>
            <a:r>
              <a:rPr lang="en-US" sz="1200" dirty="0">
                <a:solidFill>
                  <a:srgbClr val="64748B"/>
                </a:solidFill>
                <a:latin typeface="Calibri" pitchFamily="34" charset="0"/>
                <a:ea typeface="Calibri" pitchFamily="34" charset="-122"/>
                <a:cs typeface="Calibri" pitchFamily="34" charset="-120"/>
              </a:rPr>
              <a:t>Rules omitted</a:t>
            </a:r>
            <a:endParaRPr lang="en-US" sz="1200" dirty="0"/>
          </a:p>
          <a:p>
            <a:pPr marL="0" indent="0">
              <a:lnSpc>
                <a:spcPct val="105000"/>
              </a:lnSpc>
              <a:buNone/>
            </a:pPr>
            <a:r>
              <a:rPr lang="en-US" sz="1200" dirty="0">
                <a:solidFill>
                  <a:srgbClr val="64748B"/>
                </a:solidFill>
                <a:latin typeface="Calibri" pitchFamily="34" charset="0"/>
                <a:ea typeface="Calibri" pitchFamily="34" charset="-122"/>
                <a:cs typeface="Calibri" pitchFamily="34" charset="-120"/>
              </a:rPr>
              <a:t>then re-added</a:t>
            </a:r>
            <a:endParaRPr lang="en-US" sz="1200" dirty="0"/>
          </a:p>
        </p:txBody>
      </p:sp>
      <p:sp>
        <p:nvSpPr>
          <p:cNvPr id="138" name="Shape 66">
            <a:extLst>
              <a:ext uri="{FF2B5EF4-FFF2-40B4-BE49-F238E27FC236}">
                <a16:creationId xmlns:a16="http://schemas.microsoft.com/office/drawing/2014/main" id="{AC5901F4-0C78-E459-3DF9-C5260124E77F}"/>
              </a:ext>
            </a:extLst>
          </p:cNvPr>
          <p:cNvSpPr/>
          <p:nvPr/>
        </p:nvSpPr>
        <p:spPr>
          <a:xfrm>
            <a:off x="5989320" y="3584448"/>
            <a:ext cx="292608" cy="292608"/>
          </a:xfrm>
          <a:prstGeom prst="ellipse">
            <a:avLst/>
          </a:prstGeom>
          <a:solidFill>
            <a:srgbClr val="1E293B"/>
          </a:solidFill>
          <a:ln/>
        </p:spPr>
      </p:sp>
      <p:sp>
        <p:nvSpPr>
          <p:cNvPr id="139" name="Text 67">
            <a:extLst>
              <a:ext uri="{FF2B5EF4-FFF2-40B4-BE49-F238E27FC236}">
                <a16:creationId xmlns:a16="http://schemas.microsoft.com/office/drawing/2014/main" id="{405641B7-9616-E888-6819-584EDE7259B4}"/>
              </a:ext>
            </a:extLst>
          </p:cNvPr>
          <p:cNvSpPr/>
          <p:nvPr/>
        </p:nvSpPr>
        <p:spPr>
          <a:xfrm>
            <a:off x="5989320" y="3584448"/>
            <a:ext cx="292608"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40" name="Text 68">
            <a:extLst>
              <a:ext uri="{FF2B5EF4-FFF2-40B4-BE49-F238E27FC236}">
                <a16:creationId xmlns:a16="http://schemas.microsoft.com/office/drawing/2014/main" id="{56A6EFFB-AAE6-5691-D04E-8938856674DE}"/>
              </a:ext>
            </a:extLst>
          </p:cNvPr>
          <p:cNvSpPr/>
          <p:nvPr/>
        </p:nvSpPr>
        <p:spPr>
          <a:xfrm>
            <a:off x="6355080" y="3621024"/>
            <a:ext cx="1965960" cy="256032"/>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Compute gap</a:t>
            </a:r>
            <a:endParaRPr lang="en-US" sz="1400" dirty="0"/>
          </a:p>
        </p:txBody>
      </p:sp>
      <p:sp>
        <p:nvSpPr>
          <p:cNvPr id="141" name="Text 69">
            <a:extLst>
              <a:ext uri="{FF2B5EF4-FFF2-40B4-BE49-F238E27FC236}">
                <a16:creationId xmlns:a16="http://schemas.microsoft.com/office/drawing/2014/main" id="{66D03A5C-20CF-2B73-E0D7-F55E51DCB8FB}"/>
              </a:ext>
            </a:extLst>
          </p:cNvPr>
          <p:cNvSpPr/>
          <p:nvPr/>
        </p:nvSpPr>
        <p:spPr>
          <a:xfrm>
            <a:off x="6355080" y="3877056"/>
            <a:ext cx="1965960" cy="457200"/>
          </a:xfrm>
          <a:prstGeom prst="rect">
            <a:avLst/>
          </a:prstGeom>
          <a:noFill/>
          <a:ln/>
        </p:spPr>
        <p:txBody>
          <a:bodyPr wrap="square" lIns="0" tIns="0" rIns="0" bIns="0" rtlCol="0" anchor="ctr"/>
          <a:lstStyle/>
          <a:p>
            <a:pPr marL="0" indent="0">
              <a:lnSpc>
                <a:spcPct val="105000"/>
              </a:lnSpc>
              <a:buNone/>
            </a:pPr>
            <a:r>
              <a:rPr lang="en-US" sz="1200" dirty="0">
                <a:solidFill>
                  <a:srgbClr val="64748B"/>
                </a:solidFill>
                <a:latin typeface="Calibri" pitchFamily="34" charset="0"/>
                <a:ea typeface="Calibri" pitchFamily="34" charset="-122"/>
                <a:cs typeface="Calibri" pitchFamily="34" charset="-120"/>
              </a:rPr>
              <a:t>Debate uses 3 to 6x</a:t>
            </a:r>
            <a:endParaRPr lang="en-US" sz="1200" dirty="0"/>
          </a:p>
          <a:p>
            <a:pPr marL="0" indent="0">
              <a:lnSpc>
                <a:spcPct val="105000"/>
              </a:lnSpc>
              <a:buNone/>
            </a:pPr>
            <a:r>
              <a:rPr lang="en-US" sz="1200" dirty="0">
                <a:solidFill>
                  <a:srgbClr val="64748B"/>
                </a:solidFill>
                <a:latin typeface="Calibri" pitchFamily="34" charset="0"/>
                <a:ea typeface="Calibri" pitchFamily="34" charset="-122"/>
                <a:cs typeface="Calibri" pitchFamily="34" charset="-120"/>
              </a:rPr>
              <a:t>calls vs single shot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BC0E-23E8-91D9-F5B9-7DBBF113D3A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7D5AA14-DD7A-4158-18A1-C04A146873B4}"/>
              </a:ext>
            </a:extLst>
          </p:cNvPr>
          <p:cNvSpPr/>
          <p:nvPr/>
        </p:nvSpPr>
        <p:spPr>
          <a:xfrm>
            <a:off x="548640" y="201168"/>
            <a:ext cx="8046720" cy="228600"/>
          </a:xfrm>
          <a:prstGeom prst="rect">
            <a:avLst/>
          </a:prstGeom>
          <a:noFill/>
          <a:ln/>
        </p:spPr>
        <p:txBody>
          <a:bodyPr wrap="square" lIns="0" tIns="0" rIns="0" bIns="0" rtlCol="0" anchor="ctr"/>
          <a:lstStyle/>
          <a:p>
            <a:pPr marL="0" indent="0">
              <a:buNone/>
            </a:pPr>
            <a:r>
              <a:rPr lang="en-US" sz="900" b="1" kern="0" spc="150" dirty="0">
                <a:solidFill>
                  <a:srgbClr val="800020"/>
                </a:solidFill>
                <a:latin typeface="Calibri" pitchFamily="34" charset="0"/>
                <a:ea typeface="Calibri" pitchFamily="34" charset="-122"/>
                <a:cs typeface="Calibri" pitchFamily="34" charset="-120"/>
              </a:rPr>
              <a:t>2. BACKGROUND &amp; RELATED WORK</a:t>
            </a:r>
            <a:endParaRPr lang="en-US" sz="900" dirty="0"/>
          </a:p>
        </p:txBody>
      </p:sp>
      <p:sp>
        <p:nvSpPr>
          <p:cNvPr id="3" name="Text 1">
            <a:extLst>
              <a:ext uri="{FF2B5EF4-FFF2-40B4-BE49-F238E27FC236}">
                <a16:creationId xmlns:a16="http://schemas.microsoft.com/office/drawing/2014/main" id="{E567AD66-6295-0B23-1A55-8A72B15953F6}"/>
              </a:ext>
            </a:extLst>
          </p:cNvPr>
          <p:cNvSpPr/>
          <p:nvPr/>
        </p:nvSpPr>
        <p:spPr>
          <a:xfrm>
            <a:off x="548640" y="438912"/>
            <a:ext cx="8046720" cy="411480"/>
          </a:xfrm>
          <a:prstGeom prst="rect">
            <a:avLst/>
          </a:prstGeom>
          <a:noFill/>
          <a:ln/>
        </p:spPr>
        <p:txBody>
          <a:bodyPr wrap="square" lIns="0" tIns="0" rIns="0" bIns="0" rtlCol="0" anchor="ctr"/>
          <a:lstStyle/>
          <a:p>
            <a:r>
              <a:rPr lang="en-US" sz="2300" b="1" dirty="0">
                <a:solidFill>
                  <a:srgbClr val="0F172A"/>
                </a:solidFill>
                <a:latin typeface="Century Schoolbook" pitchFamily="34" charset="0"/>
                <a:ea typeface="Century Schoolbook" pitchFamily="34" charset="-122"/>
                <a:cs typeface="Century Schoolbook" pitchFamily="34" charset="-120"/>
              </a:rPr>
              <a:t>Closed Loop vs Grounded Loop</a:t>
            </a:r>
            <a:endParaRPr lang="en-US" sz="2300" dirty="0"/>
          </a:p>
        </p:txBody>
      </p:sp>
      <p:sp>
        <p:nvSpPr>
          <p:cNvPr id="34" name="Shape 31">
            <a:extLst>
              <a:ext uri="{FF2B5EF4-FFF2-40B4-BE49-F238E27FC236}">
                <a16:creationId xmlns:a16="http://schemas.microsoft.com/office/drawing/2014/main" id="{6276B489-5162-302F-E034-42572A5957C4}"/>
              </a:ext>
            </a:extLst>
          </p:cNvPr>
          <p:cNvSpPr/>
          <p:nvPr/>
        </p:nvSpPr>
        <p:spPr>
          <a:xfrm>
            <a:off x="548640" y="4407408"/>
            <a:ext cx="8046720" cy="274320"/>
          </a:xfrm>
          <a:prstGeom prst="roundRect">
            <a:avLst>
              <a:gd name="adj" fmla="val 13333"/>
            </a:avLst>
          </a:prstGeom>
          <a:solidFill>
            <a:srgbClr val="FFF1F2"/>
          </a:solidFill>
          <a:ln w="7620">
            <a:solidFill>
              <a:srgbClr val="800020"/>
            </a:solidFill>
            <a:prstDash val="solid"/>
          </a:ln>
        </p:spPr>
      </p:sp>
      <p:sp>
        <p:nvSpPr>
          <p:cNvPr id="35" name="Text 32">
            <a:extLst>
              <a:ext uri="{FF2B5EF4-FFF2-40B4-BE49-F238E27FC236}">
                <a16:creationId xmlns:a16="http://schemas.microsoft.com/office/drawing/2014/main" id="{9BF49F31-7332-44C8-C2C1-826C67B83ECC}"/>
              </a:ext>
            </a:extLst>
          </p:cNvPr>
          <p:cNvSpPr/>
          <p:nvPr/>
        </p:nvSpPr>
        <p:spPr>
          <a:xfrm>
            <a:off x="640080" y="4407408"/>
            <a:ext cx="7863840" cy="274320"/>
          </a:xfrm>
          <a:prstGeom prst="rect">
            <a:avLst/>
          </a:prstGeom>
          <a:noFill/>
          <a:ln/>
        </p:spPr>
        <p:txBody>
          <a:bodyPr wrap="square" lIns="0" tIns="0" rIns="0" bIns="0" rtlCol="0" anchor="ctr"/>
          <a:lstStyle/>
          <a:p>
            <a:pPr marL="0" indent="0" algn="ctr">
              <a:buNone/>
            </a:pPr>
            <a:r>
              <a:rPr lang="en-US" sz="850" b="1" dirty="0">
                <a:solidFill>
                  <a:srgbClr val="5C0017"/>
                </a:solidFill>
                <a:latin typeface="Calibri" pitchFamily="34" charset="0"/>
                <a:ea typeface="Calibri" pitchFamily="34" charset="-122"/>
                <a:cs typeface="Calibri" pitchFamily="34" charset="-120"/>
              </a:rPr>
              <a:t>Core Principle: A frozen model cannot act as an independent verifier of its own output without external grounding.</a:t>
            </a:r>
          </a:p>
        </p:txBody>
      </p:sp>
      <p:sp>
        <p:nvSpPr>
          <p:cNvPr id="37" name="Text 33">
            <a:extLst>
              <a:ext uri="{FF2B5EF4-FFF2-40B4-BE49-F238E27FC236}">
                <a16:creationId xmlns:a16="http://schemas.microsoft.com/office/drawing/2014/main" id="{296C7AE0-30C3-3CF0-0D88-96CE3EE99F69}"/>
              </a:ext>
            </a:extLst>
          </p:cNvPr>
          <p:cNvSpPr/>
          <p:nvPr/>
        </p:nvSpPr>
        <p:spPr>
          <a:xfrm>
            <a:off x="548640" y="4736592"/>
            <a:ext cx="6583680" cy="274320"/>
          </a:xfrm>
          <a:prstGeom prst="rect">
            <a:avLst/>
          </a:prstGeom>
          <a:noFill/>
          <a:ln/>
        </p:spPr>
        <p:txBody>
          <a:bodyPr wrap="square" lIns="0" tIns="0" rIns="0" bIns="0"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38" name="Text 34">
            <a:extLst>
              <a:ext uri="{FF2B5EF4-FFF2-40B4-BE49-F238E27FC236}">
                <a16:creationId xmlns:a16="http://schemas.microsoft.com/office/drawing/2014/main" id="{263A8919-EA38-5065-BC09-6B4176A4D463}"/>
              </a:ext>
            </a:extLst>
          </p:cNvPr>
          <p:cNvSpPr/>
          <p:nvPr/>
        </p:nvSpPr>
        <p:spPr>
          <a:xfrm>
            <a:off x="7315200" y="4736592"/>
            <a:ext cx="128016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07/23</a:t>
            </a:r>
            <a:endParaRPr lang="en-US" sz="850" dirty="0"/>
          </a:p>
        </p:txBody>
      </p:sp>
      <p:sp>
        <p:nvSpPr>
          <p:cNvPr id="39" name="Text 2">
            <a:extLst>
              <a:ext uri="{FF2B5EF4-FFF2-40B4-BE49-F238E27FC236}">
                <a16:creationId xmlns:a16="http://schemas.microsoft.com/office/drawing/2014/main" id="{1D6524FD-5CFF-CB4C-3D41-A4382EF7B3B3}"/>
              </a:ext>
            </a:extLst>
          </p:cNvPr>
          <p:cNvSpPr/>
          <p:nvPr/>
        </p:nvSpPr>
        <p:spPr>
          <a:xfrm>
            <a:off x="548640" y="868680"/>
            <a:ext cx="8046720" cy="274320"/>
          </a:xfrm>
          <a:prstGeom prst="rect">
            <a:avLst/>
          </a:prstGeom>
          <a:noFill/>
          <a:ln/>
        </p:spPr>
        <p:txBody>
          <a:bodyPr wrap="square" lIns="0" tIns="0" rIns="0" bIns="0" rtlCol="0" anchor="ctr"/>
          <a:lstStyle/>
          <a:p>
            <a:pPr marL="0" indent="0" algn="l">
              <a:buNone/>
            </a:pPr>
            <a:r>
              <a:rPr lang="en-US" sz="1100" dirty="0">
                <a:solidFill>
                  <a:srgbClr val="64748B"/>
                </a:solidFill>
                <a:latin typeface="Calibri" pitchFamily="34" charset="0"/>
                <a:ea typeface="Calibri" pitchFamily="34" charset="-122"/>
                <a:cs typeface="Calibri" pitchFamily="34" charset="-120"/>
              </a:rPr>
              <a:t>Same model, different information: why internal reflection fails but external verification works</a:t>
            </a:r>
          </a:p>
        </p:txBody>
      </p:sp>
      <p:sp>
        <p:nvSpPr>
          <p:cNvPr id="41" name="Shape 6">
            <a:extLst>
              <a:ext uri="{FF2B5EF4-FFF2-40B4-BE49-F238E27FC236}">
                <a16:creationId xmlns:a16="http://schemas.microsoft.com/office/drawing/2014/main" id="{1062C0C4-AAB0-AE04-4B33-FF6AAF1A15E9}"/>
              </a:ext>
            </a:extLst>
          </p:cNvPr>
          <p:cNvSpPr/>
          <p:nvPr/>
        </p:nvSpPr>
        <p:spPr>
          <a:xfrm>
            <a:off x="548640" y="1250236"/>
            <a:ext cx="3886200" cy="3024584"/>
          </a:xfrm>
          <a:prstGeom prst="roundRect">
            <a:avLst>
              <a:gd name="adj" fmla="val 2667"/>
            </a:avLst>
          </a:prstGeom>
          <a:solidFill>
            <a:srgbClr val="FFF1F2"/>
          </a:solidFill>
          <a:ln w="15240">
            <a:solidFill>
              <a:srgbClr val="800020"/>
            </a:solidFill>
            <a:prstDash val="solid"/>
          </a:ln>
        </p:spPr>
      </p:sp>
      <p:sp>
        <p:nvSpPr>
          <p:cNvPr id="42" name="Shape 7">
            <a:extLst>
              <a:ext uri="{FF2B5EF4-FFF2-40B4-BE49-F238E27FC236}">
                <a16:creationId xmlns:a16="http://schemas.microsoft.com/office/drawing/2014/main" id="{18903C6F-72BA-340F-0C1B-2554A4209799}"/>
              </a:ext>
            </a:extLst>
          </p:cNvPr>
          <p:cNvSpPr/>
          <p:nvPr/>
        </p:nvSpPr>
        <p:spPr>
          <a:xfrm>
            <a:off x="685800" y="1359964"/>
            <a:ext cx="3611880" cy="274320"/>
          </a:xfrm>
          <a:prstGeom prst="roundRect">
            <a:avLst>
              <a:gd name="adj" fmla="val 13333"/>
            </a:avLst>
          </a:prstGeom>
          <a:solidFill>
            <a:srgbClr val="800020"/>
          </a:solidFill>
          <a:ln w="12700">
            <a:solidFill>
              <a:srgbClr val="800020"/>
            </a:solidFill>
            <a:prstDash val="solid"/>
          </a:ln>
        </p:spPr>
      </p:sp>
      <p:sp>
        <p:nvSpPr>
          <p:cNvPr id="43" name="Text 8">
            <a:extLst>
              <a:ext uri="{FF2B5EF4-FFF2-40B4-BE49-F238E27FC236}">
                <a16:creationId xmlns:a16="http://schemas.microsoft.com/office/drawing/2014/main" id="{91213297-11EF-FFE9-FD5B-D10A77AE7F08}"/>
              </a:ext>
            </a:extLst>
          </p:cNvPr>
          <p:cNvSpPr/>
          <p:nvPr/>
        </p:nvSpPr>
        <p:spPr>
          <a:xfrm>
            <a:off x="685800" y="1359964"/>
            <a:ext cx="36118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INTRINSIC : Closed Loop (Paper Focus)</a:t>
            </a:r>
            <a:endParaRPr lang="en-US" sz="900" dirty="0"/>
          </a:p>
        </p:txBody>
      </p:sp>
      <p:sp>
        <p:nvSpPr>
          <p:cNvPr id="44" name="Shape 9">
            <a:extLst>
              <a:ext uri="{FF2B5EF4-FFF2-40B4-BE49-F238E27FC236}">
                <a16:creationId xmlns:a16="http://schemas.microsoft.com/office/drawing/2014/main" id="{A66C8B89-DC05-E5E0-1B48-68964AC717ED}"/>
              </a:ext>
            </a:extLst>
          </p:cNvPr>
          <p:cNvSpPr/>
          <p:nvPr/>
        </p:nvSpPr>
        <p:spPr>
          <a:xfrm>
            <a:off x="2034540" y="1750386"/>
            <a:ext cx="914400" cy="917171"/>
          </a:xfrm>
          <a:prstGeom prst="ellipse">
            <a:avLst/>
          </a:prstGeom>
          <a:solidFill>
            <a:srgbClr val="FFFFFF"/>
          </a:solidFill>
          <a:ln w="17780">
            <a:solidFill>
              <a:srgbClr val="800020"/>
            </a:solidFill>
            <a:prstDash val="solid"/>
          </a:ln>
        </p:spPr>
      </p:sp>
      <p:sp>
        <p:nvSpPr>
          <p:cNvPr id="45" name="Text 10">
            <a:extLst>
              <a:ext uri="{FF2B5EF4-FFF2-40B4-BE49-F238E27FC236}">
                <a16:creationId xmlns:a16="http://schemas.microsoft.com/office/drawing/2014/main" id="{6F24F09C-6110-99D4-2B33-F873371BE030}"/>
              </a:ext>
            </a:extLst>
          </p:cNvPr>
          <p:cNvSpPr/>
          <p:nvPr/>
        </p:nvSpPr>
        <p:spPr>
          <a:xfrm>
            <a:off x="1988820" y="1981756"/>
            <a:ext cx="1005840" cy="256032"/>
          </a:xfrm>
          <a:prstGeom prst="rect">
            <a:avLst/>
          </a:prstGeom>
          <a:noFill/>
          <a:ln/>
        </p:spPr>
        <p:txBody>
          <a:bodyPr wrap="square" lIns="0" tIns="0" rIns="0" bIns="0" rtlCol="0" anchor="ctr"/>
          <a:lstStyle/>
          <a:p>
            <a:pPr marL="0" indent="0" algn="ctr">
              <a:buNone/>
            </a:pPr>
            <a:r>
              <a:rPr lang="en-US" sz="1300" b="1" dirty="0">
                <a:solidFill>
                  <a:srgbClr val="800020"/>
                </a:solidFill>
                <a:latin typeface="Century Schoolbook" pitchFamily="34" charset="0"/>
                <a:ea typeface="Century Schoolbook" pitchFamily="34" charset="-122"/>
                <a:cs typeface="Century Schoolbook" pitchFamily="34" charset="-120"/>
              </a:rPr>
              <a:t>LLM</a:t>
            </a:r>
            <a:endParaRPr lang="en-US" sz="1300" dirty="0"/>
          </a:p>
        </p:txBody>
      </p:sp>
      <p:sp>
        <p:nvSpPr>
          <p:cNvPr id="46" name="Text 11">
            <a:extLst>
              <a:ext uri="{FF2B5EF4-FFF2-40B4-BE49-F238E27FC236}">
                <a16:creationId xmlns:a16="http://schemas.microsoft.com/office/drawing/2014/main" id="{CEB35CD5-0AF9-644E-88D3-C9C9E5A5769A}"/>
              </a:ext>
            </a:extLst>
          </p:cNvPr>
          <p:cNvSpPr/>
          <p:nvPr/>
        </p:nvSpPr>
        <p:spPr>
          <a:xfrm>
            <a:off x="1988820" y="2237788"/>
            <a:ext cx="1005840" cy="16459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Frozen Weights</a:t>
            </a:r>
            <a:endParaRPr lang="en-US" sz="900" dirty="0"/>
          </a:p>
        </p:txBody>
      </p:sp>
      <p:sp>
        <p:nvSpPr>
          <p:cNvPr id="47" name="Shape 12">
            <a:extLst>
              <a:ext uri="{FF2B5EF4-FFF2-40B4-BE49-F238E27FC236}">
                <a16:creationId xmlns:a16="http://schemas.microsoft.com/office/drawing/2014/main" id="{A5DC74FE-C487-E794-531D-E9AF8AD84D36}"/>
              </a:ext>
            </a:extLst>
          </p:cNvPr>
          <p:cNvSpPr/>
          <p:nvPr/>
        </p:nvSpPr>
        <p:spPr>
          <a:xfrm>
            <a:off x="777240" y="1808020"/>
            <a:ext cx="1005840" cy="347472"/>
          </a:xfrm>
          <a:prstGeom prst="roundRect">
            <a:avLst>
              <a:gd name="adj" fmla="val 10526"/>
            </a:avLst>
          </a:prstGeom>
          <a:solidFill>
            <a:srgbClr val="FFFFFF"/>
          </a:solidFill>
          <a:ln w="10160">
            <a:solidFill>
              <a:srgbClr val="800020"/>
            </a:solidFill>
            <a:prstDash val="solid"/>
          </a:ln>
        </p:spPr>
      </p:sp>
      <p:sp>
        <p:nvSpPr>
          <p:cNvPr id="48" name="Text 13">
            <a:extLst>
              <a:ext uri="{FF2B5EF4-FFF2-40B4-BE49-F238E27FC236}">
                <a16:creationId xmlns:a16="http://schemas.microsoft.com/office/drawing/2014/main" id="{B5C24D17-1CF8-19CA-D79A-24FD9B5FEA4B}"/>
              </a:ext>
            </a:extLst>
          </p:cNvPr>
          <p:cNvSpPr/>
          <p:nvPr/>
        </p:nvSpPr>
        <p:spPr>
          <a:xfrm>
            <a:off x="777240" y="1808020"/>
            <a:ext cx="1005840" cy="347472"/>
          </a:xfrm>
          <a:prstGeom prst="rect">
            <a:avLst/>
          </a:prstGeom>
          <a:noFill/>
          <a:ln/>
        </p:spPr>
        <p:txBody>
          <a:bodyPr wrap="square" lIns="0" tIns="0" rIns="0" bIns="0" rtlCol="0" anchor="ctr"/>
          <a:lstStyle/>
          <a:p>
            <a:pPr marL="0" indent="0" algn="ctr">
              <a:buNone/>
            </a:pPr>
            <a:r>
              <a:rPr lang="en-US" sz="1200" b="1" dirty="0">
                <a:solidFill>
                  <a:srgbClr val="800020"/>
                </a:solidFill>
                <a:latin typeface="Calibri" pitchFamily="34" charset="0"/>
                <a:ea typeface="Calibri" pitchFamily="34" charset="-122"/>
                <a:cs typeface="Calibri" pitchFamily="34" charset="-120"/>
              </a:rPr>
              <a:t>1. Generate</a:t>
            </a:r>
            <a:endParaRPr lang="en-US" sz="1200" dirty="0"/>
          </a:p>
        </p:txBody>
      </p:sp>
      <p:sp>
        <p:nvSpPr>
          <p:cNvPr id="49" name="Shape 14">
            <a:extLst>
              <a:ext uri="{FF2B5EF4-FFF2-40B4-BE49-F238E27FC236}">
                <a16:creationId xmlns:a16="http://schemas.microsoft.com/office/drawing/2014/main" id="{FA61095B-29D9-90E6-B645-AC82DEC88D85}"/>
              </a:ext>
            </a:extLst>
          </p:cNvPr>
          <p:cNvSpPr/>
          <p:nvPr/>
        </p:nvSpPr>
        <p:spPr>
          <a:xfrm>
            <a:off x="3200400" y="1808020"/>
            <a:ext cx="1005840" cy="347472"/>
          </a:xfrm>
          <a:prstGeom prst="roundRect">
            <a:avLst>
              <a:gd name="adj" fmla="val 10526"/>
            </a:avLst>
          </a:prstGeom>
          <a:solidFill>
            <a:srgbClr val="FFFFFF"/>
          </a:solidFill>
          <a:ln w="10160">
            <a:solidFill>
              <a:srgbClr val="800020"/>
            </a:solidFill>
            <a:prstDash val="solid"/>
          </a:ln>
        </p:spPr>
      </p:sp>
      <p:sp>
        <p:nvSpPr>
          <p:cNvPr id="50" name="Text 15">
            <a:extLst>
              <a:ext uri="{FF2B5EF4-FFF2-40B4-BE49-F238E27FC236}">
                <a16:creationId xmlns:a16="http://schemas.microsoft.com/office/drawing/2014/main" id="{26C46C3B-D349-73D4-4E26-F67CC00842F6}"/>
              </a:ext>
            </a:extLst>
          </p:cNvPr>
          <p:cNvSpPr/>
          <p:nvPr/>
        </p:nvSpPr>
        <p:spPr>
          <a:xfrm>
            <a:off x="3200400" y="1808020"/>
            <a:ext cx="1005840" cy="347472"/>
          </a:xfrm>
          <a:prstGeom prst="rect">
            <a:avLst/>
          </a:prstGeom>
          <a:noFill/>
          <a:ln/>
        </p:spPr>
        <p:txBody>
          <a:bodyPr wrap="square" lIns="0" tIns="0" rIns="0" bIns="0" rtlCol="0" anchor="ctr"/>
          <a:lstStyle/>
          <a:p>
            <a:pPr marL="0" indent="0" algn="ctr">
              <a:buNone/>
            </a:pPr>
            <a:r>
              <a:rPr lang="en-US" sz="1200" b="1" dirty="0">
                <a:solidFill>
                  <a:srgbClr val="800020"/>
                </a:solidFill>
                <a:latin typeface="Calibri" pitchFamily="34" charset="0"/>
                <a:ea typeface="Calibri" pitchFamily="34" charset="-122"/>
                <a:cs typeface="Calibri" pitchFamily="34" charset="-120"/>
              </a:rPr>
              <a:t>2. Self-Critique</a:t>
            </a:r>
            <a:endParaRPr lang="en-US" sz="1200" dirty="0"/>
          </a:p>
        </p:txBody>
      </p:sp>
      <p:sp>
        <p:nvSpPr>
          <p:cNvPr id="51" name="Shape 16">
            <a:extLst>
              <a:ext uri="{FF2B5EF4-FFF2-40B4-BE49-F238E27FC236}">
                <a16:creationId xmlns:a16="http://schemas.microsoft.com/office/drawing/2014/main" id="{3D4B4361-C81D-DA26-7C6D-950F0AD6C073}"/>
              </a:ext>
            </a:extLst>
          </p:cNvPr>
          <p:cNvSpPr/>
          <p:nvPr/>
        </p:nvSpPr>
        <p:spPr>
          <a:xfrm>
            <a:off x="1851660" y="2760105"/>
            <a:ext cx="1280160" cy="310896"/>
          </a:xfrm>
          <a:prstGeom prst="roundRect">
            <a:avLst>
              <a:gd name="adj" fmla="val 11765"/>
            </a:avLst>
          </a:prstGeom>
          <a:solidFill>
            <a:srgbClr val="FFFFFF"/>
          </a:solidFill>
          <a:ln w="10160">
            <a:solidFill>
              <a:srgbClr val="800020"/>
            </a:solidFill>
            <a:prstDash val="solid"/>
          </a:ln>
        </p:spPr>
      </p:sp>
      <p:sp>
        <p:nvSpPr>
          <p:cNvPr id="52" name="Text 17">
            <a:extLst>
              <a:ext uri="{FF2B5EF4-FFF2-40B4-BE49-F238E27FC236}">
                <a16:creationId xmlns:a16="http://schemas.microsoft.com/office/drawing/2014/main" id="{FE12A0FE-ACF3-80BC-6CEA-072A6165AA03}"/>
              </a:ext>
            </a:extLst>
          </p:cNvPr>
          <p:cNvSpPr/>
          <p:nvPr/>
        </p:nvSpPr>
        <p:spPr>
          <a:xfrm>
            <a:off x="1851660" y="2760105"/>
            <a:ext cx="1280160" cy="310896"/>
          </a:xfrm>
          <a:prstGeom prst="rect">
            <a:avLst/>
          </a:prstGeom>
          <a:noFill/>
          <a:ln/>
        </p:spPr>
        <p:txBody>
          <a:bodyPr wrap="square" lIns="0" tIns="0" rIns="0" bIns="0" rtlCol="0" anchor="ctr"/>
          <a:lstStyle/>
          <a:p>
            <a:pPr marL="0" indent="0" algn="ctr">
              <a:buNone/>
            </a:pPr>
            <a:r>
              <a:rPr lang="en-US" sz="1200" b="1" dirty="0">
                <a:solidFill>
                  <a:srgbClr val="800020"/>
                </a:solidFill>
                <a:latin typeface="Calibri" pitchFamily="34" charset="0"/>
                <a:ea typeface="Calibri" pitchFamily="34" charset="-122"/>
                <a:cs typeface="Calibri" pitchFamily="34" charset="-120"/>
              </a:rPr>
              <a:t>3. Revise Blind</a:t>
            </a:r>
            <a:endParaRPr lang="en-US" sz="1200" dirty="0"/>
          </a:p>
        </p:txBody>
      </p:sp>
      <p:sp>
        <p:nvSpPr>
          <p:cNvPr id="53" name="Shape 18">
            <a:extLst>
              <a:ext uri="{FF2B5EF4-FFF2-40B4-BE49-F238E27FC236}">
                <a16:creationId xmlns:a16="http://schemas.microsoft.com/office/drawing/2014/main" id="{97BD0EBF-0DE5-FFB9-27C3-3DDB4895634F}"/>
              </a:ext>
            </a:extLst>
          </p:cNvPr>
          <p:cNvSpPr/>
          <p:nvPr/>
        </p:nvSpPr>
        <p:spPr>
          <a:xfrm>
            <a:off x="685800" y="3203589"/>
            <a:ext cx="3611880" cy="941832"/>
          </a:xfrm>
          <a:prstGeom prst="roundRect">
            <a:avLst>
              <a:gd name="adj" fmla="val 4630"/>
            </a:avLst>
          </a:prstGeom>
          <a:solidFill>
            <a:srgbClr val="FFFFFF"/>
          </a:solidFill>
          <a:ln w="10160">
            <a:solidFill>
              <a:srgbClr val="800020"/>
            </a:solidFill>
            <a:prstDash val="solid"/>
          </a:ln>
        </p:spPr>
      </p:sp>
      <p:sp>
        <p:nvSpPr>
          <p:cNvPr id="54" name="Text 19">
            <a:extLst>
              <a:ext uri="{FF2B5EF4-FFF2-40B4-BE49-F238E27FC236}">
                <a16:creationId xmlns:a16="http://schemas.microsoft.com/office/drawing/2014/main" id="{E5705006-8667-EAC9-544A-C3B9F531B899}"/>
              </a:ext>
            </a:extLst>
          </p:cNvPr>
          <p:cNvSpPr/>
          <p:nvPr/>
        </p:nvSpPr>
        <p:spPr>
          <a:xfrm>
            <a:off x="731520" y="3279093"/>
            <a:ext cx="3520440" cy="146304"/>
          </a:xfrm>
          <a:prstGeom prst="rect">
            <a:avLst/>
          </a:prstGeom>
          <a:noFill/>
          <a:ln/>
        </p:spPr>
        <p:txBody>
          <a:bodyPr wrap="square" lIns="0" tIns="0" rIns="0" bIns="0" rtlCol="0" anchor="ctr"/>
          <a:lstStyle/>
          <a:p>
            <a:pPr marL="0" indent="0" algn="ctr">
              <a:buNone/>
            </a:pPr>
            <a:r>
              <a:rPr lang="en-US" sz="700" b="1" dirty="0">
                <a:solidFill>
                  <a:srgbClr val="64748B"/>
                </a:solidFill>
                <a:latin typeface="Calibri" pitchFamily="34" charset="0"/>
                <a:ea typeface="Calibri" pitchFamily="34" charset="-122"/>
                <a:cs typeface="Calibri" pitchFamily="34" charset="-120"/>
              </a:rPr>
              <a:t>ACCURACY CHANGE</a:t>
            </a:r>
            <a:endParaRPr lang="en-US" sz="700" dirty="0"/>
          </a:p>
        </p:txBody>
      </p:sp>
      <p:sp>
        <p:nvSpPr>
          <p:cNvPr id="55" name="Text 20">
            <a:extLst>
              <a:ext uri="{FF2B5EF4-FFF2-40B4-BE49-F238E27FC236}">
                <a16:creationId xmlns:a16="http://schemas.microsoft.com/office/drawing/2014/main" id="{9660FBA7-3E34-1E25-873E-0FEB7DACAA84}"/>
              </a:ext>
            </a:extLst>
          </p:cNvPr>
          <p:cNvSpPr/>
          <p:nvPr/>
        </p:nvSpPr>
        <p:spPr>
          <a:xfrm>
            <a:off x="731520" y="3443685"/>
            <a:ext cx="3520440" cy="292608"/>
          </a:xfrm>
          <a:prstGeom prst="rect">
            <a:avLst/>
          </a:prstGeom>
          <a:noFill/>
          <a:ln/>
        </p:spPr>
        <p:txBody>
          <a:bodyPr wrap="square" lIns="0" tIns="0" rIns="0" bIns="0" rtlCol="0" anchor="ctr"/>
          <a:lstStyle/>
          <a:p>
            <a:pPr marL="0" indent="0" algn="ctr">
              <a:buNone/>
            </a:pPr>
            <a:r>
              <a:rPr lang="en-US" sz="1400" b="1" dirty="0">
                <a:solidFill>
                  <a:srgbClr val="800020"/>
                </a:solidFill>
                <a:latin typeface="Century Schoolbook" pitchFamily="34" charset="0"/>
                <a:ea typeface="Century Schoolbook" pitchFamily="34" charset="-122"/>
                <a:cs typeface="Century Schoolbook" pitchFamily="34" charset="-120"/>
              </a:rPr>
              <a:t>-1.3%  to  -27.5%</a:t>
            </a:r>
            <a:endParaRPr lang="en-US" sz="1400" dirty="0"/>
          </a:p>
        </p:txBody>
      </p:sp>
      <p:sp>
        <p:nvSpPr>
          <p:cNvPr id="56" name="Text 21">
            <a:extLst>
              <a:ext uri="{FF2B5EF4-FFF2-40B4-BE49-F238E27FC236}">
                <a16:creationId xmlns:a16="http://schemas.microsoft.com/office/drawing/2014/main" id="{56218D0B-3833-E94F-F2FD-C826025B618B}"/>
              </a:ext>
            </a:extLst>
          </p:cNvPr>
          <p:cNvSpPr/>
          <p:nvPr/>
        </p:nvSpPr>
        <p:spPr>
          <a:xfrm>
            <a:off x="777240" y="3703599"/>
            <a:ext cx="3429000" cy="347472"/>
          </a:xfrm>
          <a:prstGeom prst="rect">
            <a:avLst/>
          </a:prstGeom>
          <a:noFill/>
          <a:ln/>
        </p:spPr>
        <p:txBody>
          <a:bodyPr wrap="square" lIns="0" tIns="0" rIns="0" bIns="0" rtlCol="0" anchor="ctr"/>
          <a:lstStyle/>
          <a:p>
            <a:pPr algn="ctr">
              <a:lnSpc>
                <a:spcPct val="105000"/>
              </a:lnSpc>
            </a:pPr>
            <a:r>
              <a:rPr lang="en-US" sz="1000" b="1" dirty="0"/>
              <a:t>No new facts.</a:t>
            </a:r>
            <a:r>
              <a:rPr lang="en-US" sz="1000" dirty="0"/>
              <a:t> Shared models can hallucinate errors.</a:t>
            </a:r>
          </a:p>
        </p:txBody>
      </p:sp>
      <p:sp>
        <p:nvSpPr>
          <p:cNvPr id="57" name="Shape 22">
            <a:extLst>
              <a:ext uri="{FF2B5EF4-FFF2-40B4-BE49-F238E27FC236}">
                <a16:creationId xmlns:a16="http://schemas.microsoft.com/office/drawing/2014/main" id="{26F627C5-ED29-1179-4B1E-169CE494F3A1}"/>
              </a:ext>
            </a:extLst>
          </p:cNvPr>
          <p:cNvSpPr/>
          <p:nvPr/>
        </p:nvSpPr>
        <p:spPr>
          <a:xfrm>
            <a:off x="4709160" y="1250236"/>
            <a:ext cx="3886200" cy="3024584"/>
          </a:xfrm>
          <a:prstGeom prst="roundRect">
            <a:avLst>
              <a:gd name="adj" fmla="val 2667"/>
            </a:avLst>
          </a:prstGeom>
          <a:solidFill>
            <a:srgbClr val="F0FDF4"/>
          </a:solidFill>
          <a:ln w="15240">
            <a:solidFill>
              <a:srgbClr val="166534"/>
            </a:solidFill>
            <a:prstDash val="solid"/>
          </a:ln>
        </p:spPr>
      </p:sp>
      <p:sp>
        <p:nvSpPr>
          <p:cNvPr id="58" name="Shape 23">
            <a:extLst>
              <a:ext uri="{FF2B5EF4-FFF2-40B4-BE49-F238E27FC236}">
                <a16:creationId xmlns:a16="http://schemas.microsoft.com/office/drawing/2014/main" id="{4EA63DC9-F4AD-2057-2925-9B5BCDE4DF67}"/>
              </a:ext>
            </a:extLst>
          </p:cNvPr>
          <p:cNvSpPr/>
          <p:nvPr/>
        </p:nvSpPr>
        <p:spPr>
          <a:xfrm>
            <a:off x="4846320" y="1359964"/>
            <a:ext cx="3611880" cy="274320"/>
          </a:xfrm>
          <a:prstGeom prst="roundRect">
            <a:avLst>
              <a:gd name="adj" fmla="val 13333"/>
            </a:avLst>
          </a:prstGeom>
          <a:solidFill>
            <a:srgbClr val="166534"/>
          </a:solidFill>
          <a:ln w="12700">
            <a:solidFill>
              <a:srgbClr val="166534"/>
            </a:solidFill>
            <a:prstDash val="solid"/>
          </a:ln>
        </p:spPr>
      </p:sp>
      <p:sp>
        <p:nvSpPr>
          <p:cNvPr id="59" name="Text 24">
            <a:extLst>
              <a:ext uri="{FF2B5EF4-FFF2-40B4-BE49-F238E27FC236}">
                <a16:creationId xmlns:a16="http://schemas.microsoft.com/office/drawing/2014/main" id="{2D0986BF-6645-9694-2BCB-350A17803A58}"/>
              </a:ext>
            </a:extLst>
          </p:cNvPr>
          <p:cNvSpPr/>
          <p:nvPr/>
        </p:nvSpPr>
        <p:spPr>
          <a:xfrm>
            <a:off x="4846320" y="1359964"/>
            <a:ext cx="36118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EXTERNAL : Grounded Loop (Tool-Assisted)</a:t>
            </a:r>
            <a:endParaRPr lang="en-US" sz="900" dirty="0"/>
          </a:p>
        </p:txBody>
      </p:sp>
      <p:sp>
        <p:nvSpPr>
          <p:cNvPr id="60" name="Shape 25">
            <a:extLst>
              <a:ext uri="{FF2B5EF4-FFF2-40B4-BE49-F238E27FC236}">
                <a16:creationId xmlns:a16="http://schemas.microsoft.com/office/drawing/2014/main" id="{8612CF73-86EF-9217-55D5-E3E33C7D687D}"/>
              </a:ext>
            </a:extLst>
          </p:cNvPr>
          <p:cNvSpPr/>
          <p:nvPr/>
        </p:nvSpPr>
        <p:spPr>
          <a:xfrm>
            <a:off x="4983480" y="1880063"/>
            <a:ext cx="1417320" cy="1064027"/>
          </a:xfrm>
          <a:prstGeom prst="roundRect">
            <a:avLst>
              <a:gd name="adj" fmla="val 5714"/>
            </a:avLst>
          </a:prstGeom>
          <a:solidFill>
            <a:srgbClr val="FFFFFF"/>
          </a:solidFill>
          <a:ln w="13970">
            <a:solidFill>
              <a:srgbClr val="166534"/>
            </a:solidFill>
            <a:prstDash val="solid"/>
          </a:ln>
        </p:spPr>
        <p:txBody>
          <a:bodyPr/>
          <a:lstStyle/>
          <a:p>
            <a:endParaRPr lang="en-US" dirty="0"/>
          </a:p>
        </p:txBody>
      </p:sp>
      <p:sp>
        <p:nvSpPr>
          <p:cNvPr id="61" name="Text 26">
            <a:extLst>
              <a:ext uri="{FF2B5EF4-FFF2-40B4-BE49-F238E27FC236}">
                <a16:creationId xmlns:a16="http://schemas.microsoft.com/office/drawing/2014/main" id="{1E7D96BA-248B-3B64-9895-C3C131BB93FE}"/>
              </a:ext>
            </a:extLst>
          </p:cNvPr>
          <p:cNvSpPr/>
          <p:nvPr/>
        </p:nvSpPr>
        <p:spPr>
          <a:xfrm>
            <a:off x="4983480" y="2218392"/>
            <a:ext cx="1417320" cy="237744"/>
          </a:xfrm>
          <a:prstGeom prst="rect">
            <a:avLst/>
          </a:prstGeom>
          <a:noFill/>
          <a:ln/>
        </p:spPr>
        <p:txBody>
          <a:bodyPr wrap="square" lIns="0" tIns="0" rIns="0" bIns="0" rtlCol="0" anchor="ctr"/>
          <a:lstStyle/>
          <a:p>
            <a:pPr marL="0" indent="0" algn="ctr">
              <a:buNone/>
            </a:pPr>
            <a:r>
              <a:rPr lang="en-US" sz="1200" b="1" dirty="0">
                <a:solidFill>
                  <a:srgbClr val="0F172A"/>
                </a:solidFill>
                <a:latin typeface="Century Schoolbook" pitchFamily="34" charset="0"/>
                <a:ea typeface="Century Schoolbook" pitchFamily="34" charset="-122"/>
                <a:cs typeface="Century Schoolbook" pitchFamily="34" charset="-120"/>
              </a:rPr>
              <a:t>LLM</a:t>
            </a:r>
            <a:endParaRPr lang="en-US" sz="1200" dirty="0"/>
          </a:p>
        </p:txBody>
      </p:sp>
      <p:sp>
        <p:nvSpPr>
          <p:cNvPr id="62" name="Text 27">
            <a:extLst>
              <a:ext uri="{FF2B5EF4-FFF2-40B4-BE49-F238E27FC236}">
                <a16:creationId xmlns:a16="http://schemas.microsoft.com/office/drawing/2014/main" id="{42244697-BA86-1802-BC38-7EBDF9CE5088}"/>
              </a:ext>
            </a:extLst>
          </p:cNvPr>
          <p:cNvSpPr/>
          <p:nvPr/>
        </p:nvSpPr>
        <p:spPr>
          <a:xfrm>
            <a:off x="4985697" y="2511000"/>
            <a:ext cx="1417320" cy="164592"/>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Drafts Code / Solution</a:t>
            </a:r>
            <a:endParaRPr lang="en-US" sz="1000" dirty="0"/>
          </a:p>
        </p:txBody>
      </p:sp>
      <p:sp>
        <p:nvSpPr>
          <p:cNvPr id="63" name="Shape 28">
            <a:extLst>
              <a:ext uri="{FF2B5EF4-FFF2-40B4-BE49-F238E27FC236}">
                <a16:creationId xmlns:a16="http://schemas.microsoft.com/office/drawing/2014/main" id="{996DB68E-6191-3DA3-5A6A-146A4E823930}"/>
              </a:ext>
            </a:extLst>
          </p:cNvPr>
          <p:cNvSpPr/>
          <p:nvPr/>
        </p:nvSpPr>
        <p:spPr>
          <a:xfrm>
            <a:off x="6492240" y="2200104"/>
            <a:ext cx="320040" cy="128016"/>
          </a:xfrm>
          <a:prstGeom prst="rightArrow">
            <a:avLst/>
          </a:prstGeom>
          <a:solidFill>
            <a:srgbClr val="166534"/>
          </a:solidFill>
          <a:ln w="12700">
            <a:solidFill>
              <a:srgbClr val="166534"/>
            </a:solidFill>
            <a:prstDash val="solid"/>
          </a:ln>
        </p:spPr>
      </p:sp>
      <p:sp>
        <p:nvSpPr>
          <p:cNvPr id="64" name="Text 29">
            <a:extLst>
              <a:ext uri="{FF2B5EF4-FFF2-40B4-BE49-F238E27FC236}">
                <a16:creationId xmlns:a16="http://schemas.microsoft.com/office/drawing/2014/main" id="{1864FA23-3497-AD71-E4E1-71FCD351AD75}"/>
              </a:ext>
            </a:extLst>
          </p:cNvPr>
          <p:cNvSpPr/>
          <p:nvPr/>
        </p:nvSpPr>
        <p:spPr>
          <a:xfrm>
            <a:off x="6428232" y="2044656"/>
            <a:ext cx="457200" cy="128016"/>
          </a:xfrm>
          <a:prstGeom prst="rect">
            <a:avLst/>
          </a:prstGeom>
          <a:noFill/>
          <a:ln/>
        </p:spPr>
        <p:txBody>
          <a:bodyPr wrap="square" lIns="0" tIns="0" rIns="0" bIns="0" rtlCol="0" anchor="ctr"/>
          <a:lstStyle/>
          <a:p>
            <a:pPr marL="0" indent="0" algn="ctr">
              <a:buNone/>
            </a:pPr>
            <a:r>
              <a:rPr lang="en-US" sz="800" b="1" dirty="0">
                <a:solidFill>
                  <a:srgbClr val="166534"/>
                </a:solidFill>
                <a:latin typeface="Calibri" pitchFamily="34" charset="0"/>
                <a:ea typeface="Calibri" pitchFamily="34" charset="-122"/>
                <a:cs typeface="Calibri" pitchFamily="34" charset="-120"/>
              </a:rPr>
              <a:t>Executes</a:t>
            </a:r>
            <a:endParaRPr lang="en-US" sz="800" dirty="0"/>
          </a:p>
        </p:txBody>
      </p:sp>
      <p:sp>
        <p:nvSpPr>
          <p:cNvPr id="65" name="Shape 30">
            <a:extLst>
              <a:ext uri="{FF2B5EF4-FFF2-40B4-BE49-F238E27FC236}">
                <a16:creationId xmlns:a16="http://schemas.microsoft.com/office/drawing/2014/main" id="{72A38543-3B9C-13D3-532E-AD58104332E0}"/>
              </a:ext>
            </a:extLst>
          </p:cNvPr>
          <p:cNvSpPr/>
          <p:nvPr/>
        </p:nvSpPr>
        <p:spPr>
          <a:xfrm>
            <a:off x="6492240" y="2501856"/>
            <a:ext cx="320040" cy="91440"/>
          </a:xfrm>
          <a:prstGeom prst="leftArrow">
            <a:avLst/>
          </a:prstGeom>
          <a:solidFill>
            <a:srgbClr val="166534"/>
          </a:solidFill>
          <a:ln w="12700">
            <a:solidFill>
              <a:srgbClr val="166534"/>
            </a:solidFill>
            <a:prstDash val="solid"/>
          </a:ln>
        </p:spPr>
      </p:sp>
      <p:sp>
        <p:nvSpPr>
          <p:cNvPr id="66" name="Text 31">
            <a:extLst>
              <a:ext uri="{FF2B5EF4-FFF2-40B4-BE49-F238E27FC236}">
                <a16:creationId xmlns:a16="http://schemas.microsoft.com/office/drawing/2014/main" id="{7B74E9F3-9B21-10B6-B825-4E0E5E74CD8D}"/>
              </a:ext>
            </a:extLst>
          </p:cNvPr>
          <p:cNvSpPr/>
          <p:nvPr/>
        </p:nvSpPr>
        <p:spPr>
          <a:xfrm>
            <a:off x="6428232" y="2611584"/>
            <a:ext cx="457200" cy="128016"/>
          </a:xfrm>
          <a:prstGeom prst="rect">
            <a:avLst/>
          </a:prstGeom>
          <a:noFill/>
          <a:ln/>
        </p:spPr>
        <p:txBody>
          <a:bodyPr wrap="square" lIns="0" tIns="0" rIns="0" bIns="0" rtlCol="0" anchor="ctr"/>
          <a:lstStyle/>
          <a:p>
            <a:pPr marL="0" indent="0" algn="ctr">
              <a:buNone/>
            </a:pPr>
            <a:r>
              <a:rPr lang="en-US" sz="800" b="1" dirty="0">
                <a:solidFill>
                  <a:srgbClr val="166534"/>
                </a:solidFill>
                <a:latin typeface="Calibri" pitchFamily="34" charset="0"/>
                <a:ea typeface="Calibri" pitchFamily="34" charset="-122"/>
                <a:cs typeface="Calibri" pitchFamily="34" charset="-120"/>
              </a:rPr>
              <a:t>Traceback</a:t>
            </a:r>
            <a:endParaRPr lang="en-US" sz="800" dirty="0"/>
          </a:p>
        </p:txBody>
      </p:sp>
      <p:sp>
        <p:nvSpPr>
          <p:cNvPr id="67" name="Shape 32">
            <a:extLst>
              <a:ext uri="{FF2B5EF4-FFF2-40B4-BE49-F238E27FC236}">
                <a16:creationId xmlns:a16="http://schemas.microsoft.com/office/drawing/2014/main" id="{F088159C-8967-6410-22F2-7ADA63E42A23}"/>
              </a:ext>
            </a:extLst>
          </p:cNvPr>
          <p:cNvSpPr/>
          <p:nvPr/>
        </p:nvSpPr>
        <p:spPr>
          <a:xfrm>
            <a:off x="6903720" y="1880063"/>
            <a:ext cx="1417320" cy="1064027"/>
          </a:xfrm>
          <a:prstGeom prst="roundRect">
            <a:avLst>
              <a:gd name="adj" fmla="val 5714"/>
            </a:avLst>
          </a:prstGeom>
          <a:solidFill>
            <a:srgbClr val="166534"/>
          </a:solidFill>
          <a:ln w="12700">
            <a:solidFill>
              <a:srgbClr val="166534"/>
            </a:solidFill>
            <a:prstDash val="solid"/>
          </a:ln>
        </p:spPr>
      </p:sp>
      <p:sp>
        <p:nvSpPr>
          <p:cNvPr id="68" name="Text 33">
            <a:extLst>
              <a:ext uri="{FF2B5EF4-FFF2-40B4-BE49-F238E27FC236}">
                <a16:creationId xmlns:a16="http://schemas.microsoft.com/office/drawing/2014/main" id="{2DCA191A-DADD-FB4B-29A3-D987CC6B05DE}"/>
              </a:ext>
            </a:extLst>
          </p:cNvPr>
          <p:cNvSpPr/>
          <p:nvPr/>
        </p:nvSpPr>
        <p:spPr>
          <a:xfrm>
            <a:off x="6901227" y="2237788"/>
            <a:ext cx="1417320"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Schoolbook" pitchFamily="34" charset="0"/>
                <a:ea typeface="Century Schoolbook" pitchFamily="34" charset="-122"/>
                <a:cs typeface="Century Schoolbook" pitchFamily="34" charset="-120"/>
              </a:rPr>
              <a:t>TOOL</a:t>
            </a:r>
            <a:endParaRPr lang="en-US" sz="1200" dirty="0"/>
          </a:p>
        </p:txBody>
      </p:sp>
      <p:sp>
        <p:nvSpPr>
          <p:cNvPr id="69" name="Text 34">
            <a:extLst>
              <a:ext uri="{FF2B5EF4-FFF2-40B4-BE49-F238E27FC236}">
                <a16:creationId xmlns:a16="http://schemas.microsoft.com/office/drawing/2014/main" id="{09A70DED-F4CE-F4A2-EE14-D489CC76E064}"/>
              </a:ext>
            </a:extLst>
          </p:cNvPr>
          <p:cNvSpPr/>
          <p:nvPr/>
        </p:nvSpPr>
        <p:spPr>
          <a:xfrm>
            <a:off x="6903720" y="2514879"/>
            <a:ext cx="1417320" cy="16459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Python / Oracle</a:t>
            </a:r>
            <a:endParaRPr lang="en-US" sz="1000" dirty="0"/>
          </a:p>
        </p:txBody>
      </p:sp>
      <p:sp>
        <p:nvSpPr>
          <p:cNvPr id="70" name="Shape 35">
            <a:extLst>
              <a:ext uri="{FF2B5EF4-FFF2-40B4-BE49-F238E27FC236}">
                <a16:creationId xmlns:a16="http://schemas.microsoft.com/office/drawing/2014/main" id="{A3CF9285-C419-455E-8D45-55AC5A13A840}"/>
              </a:ext>
            </a:extLst>
          </p:cNvPr>
          <p:cNvSpPr/>
          <p:nvPr/>
        </p:nvSpPr>
        <p:spPr>
          <a:xfrm>
            <a:off x="4846320" y="3203589"/>
            <a:ext cx="3611880" cy="938922"/>
          </a:xfrm>
          <a:prstGeom prst="roundRect">
            <a:avLst>
              <a:gd name="adj" fmla="val 4630"/>
            </a:avLst>
          </a:prstGeom>
          <a:solidFill>
            <a:srgbClr val="FFFFFF"/>
          </a:solidFill>
          <a:ln w="10160">
            <a:solidFill>
              <a:srgbClr val="166534"/>
            </a:solidFill>
            <a:prstDash val="solid"/>
          </a:ln>
        </p:spPr>
      </p:sp>
      <p:sp>
        <p:nvSpPr>
          <p:cNvPr id="71" name="Text 36">
            <a:extLst>
              <a:ext uri="{FF2B5EF4-FFF2-40B4-BE49-F238E27FC236}">
                <a16:creationId xmlns:a16="http://schemas.microsoft.com/office/drawing/2014/main" id="{6E39BBF7-3257-E16E-BFF0-DD03857D7908}"/>
              </a:ext>
            </a:extLst>
          </p:cNvPr>
          <p:cNvSpPr/>
          <p:nvPr/>
        </p:nvSpPr>
        <p:spPr>
          <a:xfrm>
            <a:off x="4892040" y="3279093"/>
            <a:ext cx="3520440" cy="146304"/>
          </a:xfrm>
          <a:prstGeom prst="rect">
            <a:avLst/>
          </a:prstGeom>
          <a:noFill/>
          <a:ln/>
        </p:spPr>
        <p:txBody>
          <a:bodyPr wrap="square" lIns="0" tIns="0" rIns="0" bIns="0" rtlCol="0" anchor="ctr"/>
          <a:lstStyle/>
          <a:p>
            <a:pPr marL="0" indent="0" algn="ctr">
              <a:buNone/>
            </a:pPr>
            <a:r>
              <a:rPr lang="en-US" sz="700" b="1" dirty="0">
                <a:solidFill>
                  <a:srgbClr val="64748B"/>
                </a:solidFill>
                <a:latin typeface="Calibri" pitchFamily="34" charset="0"/>
                <a:ea typeface="Calibri" pitchFamily="34" charset="-122"/>
                <a:cs typeface="Calibri" pitchFamily="34" charset="-120"/>
              </a:rPr>
              <a:t>ACCURACY CHANGE</a:t>
            </a:r>
            <a:endParaRPr lang="en-US" sz="700" dirty="0"/>
          </a:p>
        </p:txBody>
      </p:sp>
      <p:sp>
        <p:nvSpPr>
          <p:cNvPr id="72" name="Text 37">
            <a:extLst>
              <a:ext uri="{FF2B5EF4-FFF2-40B4-BE49-F238E27FC236}">
                <a16:creationId xmlns:a16="http://schemas.microsoft.com/office/drawing/2014/main" id="{F52E5020-8C7E-2035-CB8E-223C79AC38BD}"/>
              </a:ext>
            </a:extLst>
          </p:cNvPr>
          <p:cNvSpPr/>
          <p:nvPr/>
        </p:nvSpPr>
        <p:spPr>
          <a:xfrm>
            <a:off x="4892040" y="3436758"/>
            <a:ext cx="3520440" cy="292608"/>
          </a:xfrm>
          <a:prstGeom prst="rect">
            <a:avLst/>
          </a:prstGeom>
          <a:noFill/>
          <a:ln/>
        </p:spPr>
        <p:txBody>
          <a:bodyPr wrap="square" lIns="0" tIns="0" rIns="0" bIns="0" rtlCol="0" anchor="ctr"/>
          <a:lstStyle/>
          <a:p>
            <a:pPr marL="0" indent="0" algn="ctr">
              <a:buNone/>
            </a:pPr>
            <a:r>
              <a:rPr lang="en-US" sz="1400" b="1" dirty="0">
                <a:solidFill>
                  <a:srgbClr val="166534"/>
                </a:solidFill>
                <a:latin typeface="Century Schoolbook" pitchFamily="34" charset="0"/>
                <a:ea typeface="Century Schoolbook" pitchFamily="34" charset="-122"/>
                <a:cs typeface="Century Schoolbook" pitchFamily="34" charset="-120"/>
              </a:rPr>
              <a:t>+7.0%  to  +15.0%</a:t>
            </a:r>
            <a:endParaRPr lang="en-US" sz="1400" dirty="0"/>
          </a:p>
        </p:txBody>
      </p:sp>
      <p:sp>
        <p:nvSpPr>
          <p:cNvPr id="73" name="Text 38">
            <a:extLst>
              <a:ext uri="{FF2B5EF4-FFF2-40B4-BE49-F238E27FC236}">
                <a16:creationId xmlns:a16="http://schemas.microsoft.com/office/drawing/2014/main" id="{F5EC0375-30EA-7AE9-7015-DDC9AF8A72E8}"/>
              </a:ext>
            </a:extLst>
          </p:cNvPr>
          <p:cNvSpPr/>
          <p:nvPr/>
        </p:nvSpPr>
        <p:spPr>
          <a:xfrm>
            <a:off x="4846320" y="3703599"/>
            <a:ext cx="3611880" cy="347472"/>
          </a:xfrm>
          <a:prstGeom prst="rect">
            <a:avLst/>
          </a:prstGeom>
          <a:noFill/>
          <a:ln/>
        </p:spPr>
        <p:txBody>
          <a:bodyPr wrap="square" lIns="0" tIns="0" rIns="0" bIns="0" rtlCol="0" anchor="ctr"/>
          <a:lstStyle/>
          <a:p>
            <a:pPr algn="ctr">
              <a:lnSpc>
                <a:spcPct val="105000"/>
              </a:lnSpc>
            </a:pPr>
            <a:r>
              <a:rPr lang="en-US" sz="1000" b="1" dirty="0"/>
              <a:t>Deterministic truth. </a:t>
            </a:r>
            <a:r>
              <a:rPr lang="en-US" sz="1000" dirty="0"/>
              <a:t>Execution errors give precise correction signals.</a:t>
            </a:r>
          </a:p>
        </p:txBody>
      </p:sp>
    </p:spTree>
    <p:extLst>
      <p:ext uri="{BB962C8B-B14F-4D97-AF65-F5344CB8AC3E}">
        <p14:creationId xmlns:p14="http://schemas.microsoft.com/office/powerpoint/2010/main" val="30484405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F3CAB-DF45-2C33-F783-C2E34E27572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12CEB61-05FD-7883-4BEA-FC886A6C9922}"/>
              </a:ext>
            </a:extLst>
          </p:cNvPr>
          <p:cNvSpPr/>
          <p:nvPr/>
        </p:nvSpPr>
        <p:spPr>
          <a:xfrm>
            <a:off x="548640" y="201168"/>
            <a:ext cx="8046720" cy="228600"/>
          </a:xfrm>
          <a:prstGeom prst="rect">
            <a:avLst/>
          </a:prstGeom>
          <a:noFill/>
          <a:ln/>
        </p:spPr>
        <p:txBody>
          <a:bodyPr wrap="square" lIns="0" tIns="0" rIns="0" bIns="0" rtlCol="0" anchor="ctr"/>
          <a:lstStyle/>
          <a:p>
            <a:pPr marL="0" indent="0">
              <a:buNone/>
            </a:pPr>
            <a:r>
              <a:rPr lang="en-US" sz="900" b="1" kern="0" spc="150" dirty="0">
                <a:solidFill>
                  <a:srgbClr val="800020"/>
                </a:solidFill>
                <a:latin typeface="Calibri" pitchFamily="34" charset="0"/>
                <a:ea typeface="Calibri" pitchFamily="34" charset="-122"/>
                <a:cs typeface="Calibri" pitchFamily="34" charset="-120"/>
              </a:rPr>
              <a:t>2. BACKGROUND &amp; RELATED WORK</a:t>
            </a:r>
            <a:endParaRPr lang="en-US" sz="900" dirty="0"/>
          </a:p>
        </p:txBody>
      </p:sp>
      <p:sp>
        <p:nvSpPr>
          <p:cNvPr id="3" name="Text 1">
            <a:extLst>
              <a:ext uri="{FF2B5EF4-FFF2-40B4-BE49-F238E27FC236}">
                <a16:creationId xmlns:a16="http://schemas.microsoft.com/office/drawing/2014/main" id="{600C3891-0440-3967-FA1A-9B9286A14AC6}"/>
              </a:ext>
            </a:extLst>
          </p:cNvPr>
          <p:cNvSpPr/>
          <p:nvPr/>
        </p:nvSpPr>
        <p:spPr>
          <a:xfrm>
            <a:off x="548640" y="438912"/>
            <a:ext cx="8046720" cy="411480"/>
          </a:xfrm>
          <a:prstGeom prst="rect">
            <a:avLst/>
          </a:prstGeom>
          <a:noFill/>
          <a:ln/>
        </p:spPr>
        <p:txBody>
          <a:bodyPr wrap="square" lIns="0" tIns="0" rIns="0" bIns="0" rtlCol="0" anchor="ctr"/>
          <a:lstStyle/>
          <a:p>
            <a:r>
              <a:rPr lang="en-US" sz="2300" b="1" dirty="0">
                <a:solidFill>
                  <a:srgbClr val="0F172A"/>
                </a:solidFill>
                <a:latin typeface="Century Schoolbook" pitchFamily="34" charset="0"/>
                <a:ea typeface="Century Schoolbook" pitchFamily="34" charset="-122"/>
                <a:cs typeface="Century Schoolbook" pitchFamily="34" charset="-120"/>
              </a:rPr>
              <a:t>Forensic: Reported vs Controlled</a:t>
            </a:r>
            <a:endParaRPr lang="en-US" sz="2300" dirty="0"/>
          </a:p>
        </p:txBody>
      </p:sp>
      <p:sp>
        <p:nvSpPr>
          <p:cNvPr id="37" name="Text 33">
            <a:extLst>
              <a:ext uri="{FF2B5EF4-FFF2-40B4-BE49-F238E27FC236}">
                <a16:creationId xmlns:a16="http://schemas.microsoft.com/office/drawing/2014/main" id="{5E584A04-C8E9-2063-6FD5-695939D0C885}"/>
              </a:ext>
            </a:extLst>
          </p:cNvPr>
          <p:cNvSpPr/>
          <p:nvPr/>
        </p:nvSpPr>
        <p:spPr>
          <a:xfrm>
            <a:off x="548640" y="4736592"/>
            <a:ext cx="6583680" cy="274320"/>
          </a:xfrm>
          <a:prstGeom prst="rect">
            <a:avLst/>
          </a:prstGeom>
          <a:noFill/>
          <a:ln/>
        </p:spPr>
        <p:txBody>
          <a:bodyPr wrap="square" lIns="0" tIns="0" rIns="0" bIns="0"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38" name="Text 34">
            <a:extLst>
              <a:ext uri="{FF2B5EF4-FFF2-40B4-BE49-F238E27FC236}">
                <a16:creationId xmlns:a16="http://schemas.microsoft.com/office/drawing/2014/main" id="{0A26F308-8822-CC42-D146-AE3D57910896}"/>
              </a:ext>
            </a:extLst>
          </p:cNvPr>
          <p:cNvSpPr/>
          <p:nvPr/>
        </p:nvSpPr>
        <p:spPr>
          <a:xfrm>
            <a:off x="7315200" y="4736592"/>
            <a:ext cx="128016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08/23</a:t>
            </a:r>
            <a:endParaRPr lang="en-US" sz="850" dirty="0"/>
          </a:p>
        </p:txBody>
      </p:sp>
      <p:graphicFrame>
        <p:nvGraphicFramePr>
          <p:cNvPr id="4" name="Chart 0">
            <a:extLst>
              <a:ext uri="{FF2B5EF4-FFF2-40B4-BE49-F238E27FC236}">
                <a16:creationId xmlns:a16="http://schemas.microsoft.com/office/drawing/2014/main" id="{17097036-57C4-794E-A5FC-9FE247698501}"/>
              </a:ext>
            </a:extLst>
          </p:cNvPr>
          <p:cNvGraphicFramePr/>
          <p:nvPr>
            <p:extLst>
              <p:ext uri="{D42A27DB-BD31-4B8C-83A1-F6EECF244321}">
                <p14:modId xmlns:p14="http://schemas.microsoft.com/office/powerpoint/2010/main" val="3196251071"/>
              </p:ext>
            </p:extLst>
          </p:nvPr>
        </p:nvGraphicFramePr>
        <p:xfrm>
          <a:off x="548640" y="973837"/>
          <a:ext cx="4434840" cy="2897774"/>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6">
            <a:extLst>
              <a:ext uri="{FF2B5EF4-FFF2-40B4-BE49-F238E27FC236}">
                <a16:creationId xmlns:a16="http://schemas.microsoft.com/office/drawing/2014/main" id="{F0310065-1721-F752-A470-5D559C8505CA}"/>
              </a:ext>
            </a:extLst>
          </p:cNvPr>
          <p:cNvSpPr/>
          <p:nvPr/>
        </p:nvSpPr>
        <p:spPr>
          <a:xfrm>
            <a:off x="5212080" y="1101195"/>
            <a:ext cx="3383280" cy="932688"/>
          </a:xfrm>
          <a:prstGeom prst="roundRect">
            <a:avLst>
              <a:gd name="adj" fmla="val 5882"/>
            </a:avLst>
          </a:prstGeom>
          <a:solidFill>
            <a:srgbClr val="FFFFFF"/>
          </a:solidFill>
          <a:ln w="11430">
            <a:solidFill>
              <a:srgbClr val="800020"/>
            </a:solidFill>
            <a:prstDash val="solid"/>
          </a:ln>
        </p:spPr>
      </p:sp>
      <p:sp>
        <p:nvSpPr>
          <p:cNvPr id="6" name="Text 7">
            <a:extLst>
              <a:ext uri="{FF2B5EF4-FFF2-40B4-BE49-F238E27FC236}">
                <a16:creationId xmlns:a16="http://schemas.microsoft.com/office/drawing/2014/main" id="{73CA70F1-A7DF-AA98-2646-C145BC3D0188}"/>
              </a:ext>
            </a:extLst>
          </p:cNvPr>
          <p:cNvSpPr/>
          <p:nvPr/>
        </p:nvSpPr>
        <p:spPr>
          <a:xfrm>
            <a:off x="5321808" y="1174347"/>
            <a:ext cx="2194560" cy="201168"/>
          </a:xfrm>
          <a:prstGeom prst="rect">
            <a:avLst/>
          </a:prstGeom>
          <a:noFill/>
          <a:ln/>
        </p:spPr>
        <p:txBody>
          <a:bodyPr wrap="square" lIns="0" tIns="0" rIns="0" bIns="0" rtlCol="0" anchor="ctr"/>
          <a:lstStyle/>
          <a:p>
            <a:pPr marL="0" indent="0">
              <a:buNone/>
            </a:pPr>
            <a:r>
              <a:rPr lang="en-US" sz="1400" b="1" dirty="0">
                <a:solidFill>
                  <a:srgbClr val="800020"/>
                </a:solidFill>
                <a:latin typeface="Calibri" pitchFamily="34" charset="0"/>
                <a:ea typeface="Calibri" pitchFamily="34" charset="-122"/>
                <a:cs typeface="Calibri" pitchFamily="34" charset="-120"/>
              </a:rPr>
              <a:t>1. Oracle Leakage</a:t>
            </a:r>
            <a:endParaRPr lang="en-US" sz="1400" dirty="0"/>
          </a:p>
        </p:txBody>
      </p:sp>
      <p:sp>
        <p:nvSpPr>
          <p:cNvPr id="7" name="Shape 8">
            <a:extLst>
              <a:ext uri="{FF2B5EF4-FFF2-40B4-BE49-F238E27FC236}">
                <a16:creationId xmlns:a16="http://schemas.microsoft.com/office/drawing/2014/main" id="{25F50260-547F-CC44-CF50-565B4CA75416}"/>
              </a:ext>
            </a:extLst>
          </p:cNvPr>
          <p:cNvSpPr/>
          <p:nvPr/>
        </p:nvSpPr>
        <p:spPr>
          <a:xfrm>
            <a:off x="7360920" y="1174347"/>
            <a:ext cx="1143000" cy="201168"/>
          </a:xfrm>
          <a:prstGeom prst="roundRect">
            <a:avLst>
              <a:gd name="adj" fmla="val 18182"/>
            </a:avLst>
          </a:prstGeom>
          <a:solidFill>
            <a:srgbClr val="F8FAFC"/>
          </a:solidFill>
          <a:ln w="7620">
            <a:solidFill>
              <a:srgbClr val="800020"/>
            </a:solidFill>
            <a:prstDash val="solid"/>
          </a:ln>
        </p:spPr>
      </p:sp>
      <p:sp>
        <p:nvSpPr>
          <p:cNvPr id="8" name="Text 9">
            <a:extLst>
              <a:ext uri="{FF2B5EF4-FFF2-40B4-BE49-F238E27FC236}">
                <a16:creationId xmlns:a16="http://schemas.microsoft.com/office/drawing/2014/main" id="{6A0826CF-B261-0A42-7D4D-7DD812357E66}"/>
              </a:ext>
            </a:extLst>
          </p:cNvPr>
          <p:cNvSpPr/>
          <p:nvPr/>
        </p:nvSpPr>
        <p:spPr>
          <a:xfrm>
            <a:off x="7360920" y="1174347"/>
            <a:ext cx="1143000" cy="201168"/>
          </a:xfrm>
          <a:prstGeom prst="rect">
            <a:avLst/>
          </a:prstGeom>
          <a:noFill/>
          <a:ln/>
        </p:spPr>
        <p:txBody>
          <a:bodyPr wrap="square" lIns="0" tIns="0" rIns="0" bIns="0" rtlCol="0" anchor="ctr"/>
          <a:lstStyle/>
          <a:p>
            <a:pPr marL="0" indent="0" algn="ctr">
              <a:buNone/>
            </a:pPr>
            <a:r>
              <a:rPr lang="en-US" sz="1200" b="1" dirty="0">
                <a:solidFill>
                  <a:srgbClr val="800020"/>
                </a:solidFill>
                <a:latin typeface="Calibri" pitchFamily="34" charset="0"/>
                <a:ea typeface="Calibri" pitchFamily="34" charset="-122"/>
                <a:cs typeface="Calibri" pitchFamily="34" charset="-120"/>
              </a:rPr>
              <a:t>+10.5% → -2.5%</a:t>
            </a:r>
            <a:endParaRPr lang="en-US" sz="1200" dirty="0"/>
          </a:p>
        </p:txBody>
      </p:sp>
      <p:sp>
        <p:nvSpPr>
          <p:cNvPr id="9" name="Text 10">
            <a:extLst>
              <a:ext uri="{FF2B5EF4-FFF2-40B4-BE49-F238E27FC236}">
                <a16:creationId xmlns:a16="http://schemas.microsoft.com/office/drawing/2014/main" id="{579FC5A9-5579-4CEC-5AFB-3AF430030B9C}"/>
              </a:ext>
            </a:extLst>
          </p:cNvPr>
          <p:cNvSpPr/>
          <p:nvPr/>
        </p:nvSpPr>
        <p:spPr>
          <a:xfrm>
            <a:off x="5321808" y="1412091"/>
            <a:ext cx="3163824" cy="530352"/>
          </a:xfrm>
          <a:prstGeom prst="rect">
            <a:avLst/>
          </a:prstGeom>
          <a:noFill/>
          <a:ln/>
        </p:spPr>
        <p:txBody>
          <a:bodyPr wrap="square" lIns="0" tIns="0" rIns="0" bIns="0" rtlCol="0" anchor="ctr"/>
          <a:lstStyle/>
          <a:p>
            <a:pPr marL="0" indent="0">
              <a:lnSpc>
                <a:spcPct val="110000"/>
              </a:lnSpc>
              <a:buNone/>
            </a:pPr>
            <a:r>
              <a:rPr lang="en-US" sz="1200" dirty="0">
                <a:solidFill>
                  <a:srgbClr val="1E293B"/>
                </a:solidFill>
                <a:latin typeface="Calibri" pitchFamily="34" charset="0"/>
                <a:ea typeface="Calibri" pitchFamily="34" charset="-122"/>
                <a:cs typeface="Calibri" pitchFamily="34" charset="-120"/>
              </a:rPr>
              <a:t>Shield correct answers, only fix wrong ones.</a:t>
            </a:r>
            <a:endParaRPr lang="en-US" sz="1200" dirty="0"/>
          </a:p>
        </p:txBody>
      </p:sp>
      <p:sp>
        <p:nvSpPr>
          <p:cNvPr id="10" name="Shape 11">
            <a:extLst>
              <a:ext uri="{FF2B5EF4-FFF2-40B4-BE49-F238E27FC236}">
                <a16:creationId xmlns:a16="http://schemas.microsoft.com/office/drawing/2014/main" id="{81ECE206-4947-D3FF-F095-18F279CCACB0}"/>
              </a:ext>
            </a:extLst>
          </p:cNvPr>
          <p:cNvSpPr/>
          <p:nvPr/>
        </p:nvSpPr>
        <p:spPr>
          <a:xfrm>
            <a:off x="5212080" y="2125323"/>
            <a:ext cx="3383280" cy="932688"/>
          </a:xfrm>
          <a:prstGeom prst="roundRect">
            <a:avLst>
              <a:gd name="adj" fmla="val 5882"/>
            </a:avLst>
          </a:prstGeom>
          <a:solidFill>
            <a:srgbClr val="FFFFFF"/>
          </a:solidFill>
          <a:ln w="11430">
            <a:solidFill>
              <a:srgbClr val="B45309"/>
            </a:solidFill>
            <a:prstDash val="solid"/>
          </a:ln>
        </p:spPr>
      </p:sp>
      <p:sp>
        <p:nvSpPr>
          <p:cNvPr id="11" name="Text 12">
            <a:extLst>
              <a:ext uri="{FF2B5EF4-FFF2-40B4-BE49-F238E27FC236}">
                <a16:creationId xmlns:a16="http://schemas.microsoft.com/office/drawing/2014/main" id="{CF5595B7-6E41-BE7D-39C1-F8E637E9E143}"/>
              </a:ext>
            </a:extLst>
          </p:cNvPr>
          <p:cNvSpPr/>
          <p:nvPr/>
        </p:nvSpPr>
        <p:spPr>
          <a:xfrm>
            <a:off x="5321808" y="2198475"/>
            <a:ext cx="2194560" cy="201168"/>
          </a:xfrm>
          <a:prstGeom prst="rect">
            <a:avLst/>
          </a:prstGeom>
          <a:noFill/>
          <a:ln/>
        </p:spPr>
        <p:txBody>
          <a:bodyPr wrap="square" lIns="0" tIns="0" rIns="0" bIns="0" rtlCol="0" anchor="ctr"/>
          <a:lstStyle/>
          <a:p>
            <a:pPr marL="0" indent="0">
              <a:buNone/>
            </a:pPr>
            <a:r>
              <a:rPr lang="en-US" sz="1400" b="1" dirty="0">
                <a:solidFill>
                  <a:srgbClr val="B45309"/>
                </a:solidFill>
                <a:latin typeface="Calibri" pitchFamily="34" charset="0"/>
                <a:ea typeface="Calibri" pitchFamily="34" charset="-122"/>
                <a:cs typeface="Calibri" pitchFamily="34" charset="-120"/>
              </a:rPr>
              <a:t>2. Compute Gap</a:t>
            </a:r>
            <a:endParaRPr lang="en-US" sz="1400" dirty="0"/>
          </a:p>
        </p:txBody>
      </p:sp>
      <p:sp>
        <p:nvSpPr>
          <p:cNvPr id="12" name="Shape 13">
            <a:extLst>
              <a:ext uri="{FF2B5EF4-FFF2-40B4-BE49-F238E27FC236}">
                <a16:creationId xmlns:a16="http://schemas.microsoft.com/office/drawing/2014/main" id="{AEAC9AE9-7851-C211-FE1A-A5B49EADB12C}"/>
              </a:ext>
            </a:extLst>
          </p:cNvPr>
          <p:cNvSpPr/>
          <p:nvPr/>
        </p:nvSpPr>
        <p:spPr>
          <a:xfrm>
            <a:off x="7360920" y="2198475"/>
            <a:ext cx="1143000" cy="201168"/>
          </a:xfrm>
          <a:prstGeom prst="roundRect">
            <a:avLst>
              <a:gd name="adj" fmla="val 18182"/>
            </a:avLst>
          </a:prstGeom>
          <a:solidFill>
            <a:srgbClr val="F8FAFC"/>
          </a:solidFill>
          <a:ln w="7620">
            <a:solidFill>
              <a:srgbClr val="B45309"/>
            </a:solidFill>
            <a:prstDash val="solid"/>
          </a:ln>
        </p:spPr>
      </p:sp>
      <p:sp>
        <p:nvSpPr>
          <p:cNvPr id="13" name="Text 14">
            <a:extLst>
              <a:ext uri="{FF2B5EF4-FFF2-40B4-BE49-F238E27FC236}">
                <a16:creationId xmlns:a16="http://schemas.microsoft.com/office/drawing/2014/main" id="{A1DDFBE6-7FCB-2E51-47CD-38D5F4D55AB3}"/>
              </a:ext>
            </a:extLst>
          </p:cNvPr>
          <p:cNvSpPr/>
          <p:nvPr/>
        </p:nvSpPr>
        <p:spPr>
          <a:xfrm>
            <a:off x="7360920" y="2198475"/>
            <a:ext cx="1143000" cy="201168"/>
          </a:xfrm>
          <a:prstGeom prst="rect">
            <a:avLst/>
          </a:prstGeom>
          <a:noFill/>
          <a:ln/>
        </p:spPr>
        <p:txBody>
          <a:bodyPr wrap="square" lIns="0" tIns="0" rIns="0" bIns="0" rtlCol="0" anchor="ctr"/>
          <a:lstStyle/>
          <a:p>
            <a:pPr marL="0" indent="0" algn="ctr">
              <a:buNone/>
            </a:pPr>
            <a:r>
              <a:rPr lang="en-US" sz="1200" b="1" dirty="0">
                <a:solidFill>
                  <a:srgbClr val="B45309"/>
                </a:solidFill>
                <a:latin typeface="Calibri" pitchFamily="34" charset="0"/>
                <a:ea typeface="Calibri" pitchFamily="34" charset="-122"/>
                <a:cs typeface="Calibri" pitchFamily="34" charset="-120"/>
              </a:rPr>
              <a:t>+4.0% → -1.5%</a:t>
            </a:r>
            <a:endParaRPr lang="en-US" sz="1200" dirty="0"/>
          </a:p>
        </p:txBody>
      </p:sp>
      <p:sp>
        <p:nvSpPr>
          <p:cNvPr id="14" name="Text 15">
            <a:extLst>
              <a:ext uri="{FF2B5EF4-FFF2-40B4-BE49-F238E27FC236}">
                <a16:creationId xmlns:a16="http://schemas.microsoft.com/office/drawing/2014/main" id="{924A2BC8-B001-FF4B-A5E6-D104C974908E}"/>
              </a:ext>
            </a:extLst>
          </p:cNvPr>
          <p:cNvSpPr/>
          <p:nvPr/>
        </p:nvSpPr>
        <p:spPr>
          <a:xfrm>
            <a:off x="5321808" y="2436219"/>
            <a:ext cx="3163824" cy="530352"/>
          </a:xfrm>
          <a:prstGeom prst="rect">
            <a:avLst/>
          </a:prstGeom>
          <a:noFill/>
          <a:ln/>
        </p:spPr>
        <p:txBody>
          <a:bodyPr wrap="square" lIns="0" tIns="0" rIns="0" bIns="0" rtlCol="0" anchor="ctr"/>
          <a:lstStyle/>
          <a:p>
            <a:pPr marL="0" indent="0">
              <a:lnSpc>
                <a:spcPct val="110000"/>
              </a:lnSpc>
              <a:buNone/>
            </a:pPr>
            <a:r>
              <a:rPr lang="en-US" sz="1200" dirty="0">
                <a:solidFill>
                  <a:srgbClr val="1E293B"/>
                </a:solidFill>
                <a:latin typeface="Calibri" pitchFamily="34" charset="0"/>
                <a:ea typeface="Calibri" pitchFamily="34" charset="-122"/>
                <a:cs typeface="Calibri" pitchFamily="34" charset="-120"/>
              </a:rPr>
              <a:t>Debate loses to Self-Consistency at equal cost.</a:t>
            </a:r>
            <a:endParaRPr lang="en-US" sz="1200" dirty="0"/>
          </a:p>
        </p:txBody>
      </p:sp>
      <p:sp>
        <p:nvSpPr>
          <p:cNvPr id="15" name="Shape 16">
            <a:extLst>
              <a:ext uri="{FF2B5EF4-FFF2-40B4-BE49-F238E27FC236}">
                <a16:creationId xmlns:a16="http://schemas.microsoft.com/office/drawing/2014/main" id="{090B24C7-11E6-1299-4C1C-E5E2DEE77FFF}"/>
              </a:ext>
            </a:extLst>
          </p:cNvPr>
          <p:cNvSpPr/>
          <p:nvPr/>
        </p:nvSpPr>
        <p:spPr>
          <a:xfrm>
            <a:off x="5212080" y="3149451"/>
            <a:ext cx="3383280" cy="932688"/>
          </a:xfrm>
          <a:prstGeom prst="roundRect">
            <a:avLst>
              <a:gd name="adj" fmla="val 5882"/>
            </a:avLst>
          </a:prstGeom>
          <a:solidFill>
            <a:srgbClr val="FFFFFF"/>
          </a:solidFill>
          <a:ln w="11430">
            <a:solidFill>
              <a:srgbClr val="0F172A"/>
            </a:solidFill>
            <a:prstDash val="solid"/>
          </a:ln>
        </p:spPr>
      </p:sp>
      <p:sp>
        <p:nvSpPr>
          <p:cNvPr id="16" name="Text 17">
            <a:extLst>
              <a:ext uri="{FF2B5EF4-FFF2-40B4-BE49-F238E27FC236}">
                <a16:creationId xmlns:a16="http://schemas.microsoft.com/office/drawing/2014/main" id="{559A6C50-C79F-FF48-F234-3ED1B83A155C}"/>
              </a:ext>
            </a:extLst>
          </p:cNvPr>
          <p:cNvSpPr/>
          <p:nvPr/>
        </p:nvSpPr>
        <p:spPr>
          <a:xfrm>
            <a:off x="5321808" y="3222603"/>
            <a:ext cx="2194560" cy="201168"/>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3. Prompt Trick</a:t>
            </a:r>
            <a:endParaRPr lang="en-US" sz="1400" dirty="0"/>
          </a:p>
        </p:txBody>
      </p:sp>
      <p:sp>
        <p:nvSpPr>
          <p:cNvPr id="17" name="Shape 18">
            <a:extLst>
              <a:ext uri="{FF2B5EF4-FFF2-40B4-BE49-F238E27FC236}">
                <a16:creationId xmlns:a16="http://schemas.microsoft.com/office/drawing/2014/main" id="{2D0C70B6-AFB5-40FF-6B4D-801BEB2EC899}"/>
              </a:ext>
            </a:extLst>
          </p:cNvPr>
          <p:cNvSpPr/>
          <p:nvPr/>
        </p:nvSpPr>
        <p:spPr>
          <a:xfrm>
            <a:off x="7360920" y="3222603"/>
            <a:ext cx="1143000" cy="201168"/>
          </a:xfrm>
          <a:prstGeom prst="roundRect">
            <a:avLst>
              <a:gd name="adj" fmla="val 18182"/>
            </a:avLst>
          </a:prstGeom>
          <a:solidFill>
            <a:srgbClr val="F8FAFC"/>
          </a:solidFill>
          <a:ln w="7620">
            <a:solidFill>
              <a:srgbClr val="0F172A"/>
            </a:solidFill>
            <a:prstDash val="solid"/>
          </a:ln>
        </p:spPr>
      </p:sp>
      <p:sp>
        <p:nvSpPr>
          <p:cNvPr id="18" name="Text 19">
            <a:extLst>
              <a:ext uri="{FF2B5EF4-FFF2-40B4-BE49-F238E27FC236}">
                <a16:creationId xmlns:a16="http://schemas.microsoft.com/office/drawing/2014/main" id="{3ABA76D4-425F-9324-4D9A-3C8B949535CE}"/>
              </a:ext>
            </a:extLst>
          </p:cNvPr>
          <p:cNvSpPr/>
          <p:nvPr/>
        </p:nvSpPr>
        <p:spPr>
          <a:xfrm>
            <a:off x="7360920" y="3222603"/>
            <a:ext cx="1143000" cy="201168"/>
          </a:xfrm>
          <a:prstGeom prst="rect">
            <a:avLst/>
          </a:prstGeom>
          <a:noFill/>
          <a:ln/>
        </p:spPr>
        <p:txBody>
          <a:bodyPr wrap="square" lIns="0" tIns="0" rIns="0" bIns="0" rtlCol="0" anchor="ctr"/>
          <a:lstStyle/>
          <a:p>
            <a:pPr marL="0" indent="0" algn="ctr">
              <a:buNone/>
            </a:pPr>
            <a:r>
              <a:rPr lang="en-US" sz="1200" b="1" dirty="0">
                <a:solidFill>
                  <a:srgbClr val="0F172A"/>
                </a:solidFill>
                <a:latin typeface="Calibri" pitchFamily="34" charset="0"/>
                <a:ea typeface="Calibri" pitchFamily="34" charset="-122"/>
                <a:cs typeface="Calibri" pitchFamily="34" charset="-120"/>
              </a:rPr>
              <a:t>+10.0% → 0.0%</a:t>
            </a:r>
            <a:endParaRPr lang="en-US" sz="1200" dirty="0"/>
          </a:p>
        </p:txBody>
      </p:sp>
      <p:sp>
        <p:nvSpPr>
          <p:cNvPr id="19" name="Text 20">
            <a:extLst>
              <a:ext uri="{FF2B5EF4-FFF2-40B4-BE49-F238E27FC236}">
                <a16:creationId xmlns:a16="http://schemas.microsoft.com/office/drawing/2014/main" id="{16F85C30-A709-C94F-59E9-3405E4C8895F}"/>
              </a:ext>
            </a:extLst>
          </p:cNvPr>
          <p:cNvSpPr/>
          <p:nvPr/>
        </p:nvSpPr>
        <p:spPr>
          <a:xfrm>
            <a:off x="5321808" y="3460347"/>
            <a:ext cx="3163824" cy="530352"/>
          </a:xfrm>
          <a:prstGeom prst="rect">
            <a:avLst/>
          </a:prstGeom>
          <a:noFill/>
          <a:ln/>
        </p:spPr>
        <p:txBody>
          <a:bodyPr wrap="square" lIns="0" tIns="0" rIns="0" bIns="0" rtlCol="0" anchor="ctr"/>
          <a:lstStyle/>
          <a:p>
            <a:pPr marL="0" indent="0">
              <a:lnSpc>
                <a:spcPct val="110000"/>
              </a:lnSpc>
              <a:buNone/>
            </a:pPr>
            <a:r>
              <a:rPr lang="en-US" sz="1200" dirty="0">
                <a:solidFill>
                  <a:srgbClr val="1E293B"/>
                </a:solidFill>
                <a:latin typeface="Calibri" pitchFamily="34" charset="0"/>
                <a:ea typeface="Calibri" pitchFamily="34" charset="-122"/>
                <a:cs typeface="Calibri" pitchFamily="34" charset="-120"/>
              </a:rPr>
              <a:t>Weak start vs rule rich feedback.</a:t>
            </a:r>
            <a:endParaRPr lang="en-US" sz="1200" dirty="0"/>
          </a:p>
        </p:txBody>
      </p:sp>
      <p:sp>
        <p:nvSpPr>
          <p:cNvPr id="20" name="Shape 21">
            <a:extLst>
              <a:ext uri="{FF2B5EF4-FFF2-40B4-BE49-F238E27FC236}">
                <a16:creationId xmlns:a16="http://schemas.microsoft.com/office/drawing/2014/main" id="{CC15EF12-F350-F150-1AB8-B3FFDA821CC7}"/>
              </a:ext>
            </a:extLst>
          </p:cNvPr>
          <p:cNvSpPr/>
          <p:nvPr/>
        </p:nvSpPr>
        <p:spPr>
          <a:xfrm>
            <a:off x="548640" y="4300434"/>
            <a:ext cx="8046720" cy="384048"/>
          </a:xfrm>
          <a:prstGeom prst="roundRect">
            <a:avLst>
              <a:gd name="adj" fmla="val 9524"/>
            </a:avLst>
          </a:prstGeom>
          <a:solidFill>
            <a:srgbClr val="FFF1F2"/>
          </a:solidFill>
          <a:ln w="7620">
            <a:solidFill>
              <a:srgbClr val="800020"/>
            </a:solidFill>
            <a:prstDash val="solid"/>
          </a:ln>
        </p:spPr>
      </p:sp>
      <p:sp>
        <p:nvSpPr>
          <p:cNvPr id="21" name="Text 22">
            <a:extLst>
              <a:ext uri="{FF2B5EF4-FFF2-40B4-BE49-F238E27FC236}">
                <a16:creationId xmlns:a16="http://schemas.microsoft.com/office/drawing/2014/main" id="{DE8A2FAD-E676-C93A-5F4F-CBC975965A08}"/>
              </a:ext>
            </a:extLst>
          </p:cNvPr>
          <p:cNvSpPr/>
          <p:nvPr/>
        </p:nvSpPr>
        <p:spPr>
          <a:xfrm>
            <a:off x="640080" y="4300434"/>
            <a:ext cx="7863840" cy="384048"/>
          </a:xfrm>
          <a:prstGeom prst="rect">
            <a:avLst/>
          </a:prstGeom>
          <a:noFill/>
          <a:ln/>
        </p:spPr>
        <p:txBody>
          <a:bodyPr wrap="square" lIns="0" tIns="0" rIns="0" bIns="0" rtlCol="0" anchor="ctr"/>
          <a:lstStyle/>
          <a:p>
            <a:pPr marL="0" indent="0" algn="ctr">
              <a:buNone/>
            </a:pPr>
            <a:r>
              <a:rPr lang="en-US" sz="1200" b="1" dirty="0">
                <a:solidFill>
                  <a:srgbClr val="5C0017"/>
                </a:solidFill>
                <a:latin typeface="Calibri" pitchFamily="34" charset="0"/>
                <a:ea typeface="Calibri" pitchFamily="34" charset="-122"/>
                <a:cs typeface="Calibri" pitchFamily="34" charset="-120"/>
              </a:rPr>
              <a:t>Insights: Red collapses to green at or below zero. No confounder survives a fair test.</a:t>
            </a:r>
            <a:endParaRPr lang="en-US" sz="1200" dirty="0"/>
          </a:p>
        </p:txBody>
      </p:sp>
      <p:sp>
        <p:nvSpPr>
          <p:cNvPr id="22" name="Text 6">
            <a:extLst>
              <a:ext uri="{FF2B5EF4-FFF2-40B4-BE49-F238E27FC236}">
                <a16:creationId xmlns:a16="http://schemas.microsoft.com/office/drawing/2014/main" id="{05C63EB5-4E42-FDC1-30FC-785A12BB0A39}"/>
              </a:ext>
            </a:extLst>
          </p:cNvPr>
          <p:cNvSpPr/>
          <p:nvPr/>
        </p:nvSpPr>
        <p:spPr>
          <a:xfrm>
            <a:off x="548640" y="4041648"/>
            <a:ext cx="4434840" cy="128016"/>
          </a:xfrm>
          <a:prstGeom prst="rect">
            <a:avLst/>
          </a:prstGeom>
          <a:noFill/>
          <a:ln/>
        </p:spPr>
        <p:txBody>
          <a:bodyPr wrap="square" lIns="0" tIns="0" rIns="0" bIns="0" rtlCol="0" anchor="ctr"/>
          <a:lstStyle/>
          <a:p>
            <a:pPr algn="ctr"/>
            <a:r>
              <a:rPr lang="en-US" sz="800" b="1" i="1" dirty="0">
                <a:solidFill>
                  <a:srgbClr val="0F172A"/>
                </a:solidFill>
                <a:latin typeface="Calibri" pitchFamily="34" charset="0"/>
                <a:ea typeface="Calibri" pitchFamily="34" charset="-122"/>
                <a:cs typeface="Calibri" pitchFamily="34" charset="-120"/>
              </a:rPr>
              <a:t>Figure-3: Accuracy Change (%) by Confounder Type</a:t>
            </a:r>
            <a:endParaRPr lang="en-US" sz="800" dirty="0"/>
          </a:p>
        </p:txBody>
      </p:sp>
      <p:sp>
        <p:nvSpPr>
          <p:cNvPr id="25" name="Text 6">
            <a:extLst>
              <a:ext uri="{FF2B5EF4-FFF2-40B4-BE49-F238E27FC236}">
                <a16:creationId xmlns:a16="http://schemas.microsoft.com/office/drawing/2014/main" id="{A87F8FB9-B19D-1CD4-A454-57098BC9F5DA}"/>
              </a:ext>
            </a:extLst>
          </p:cNvPr>
          <p:cNvSpPr/>
          <p:nvPr/>
        </p:nvSpPr>
        <p:spPr>
          <a:xfrm rot="16200000">
            <a:off x="67056" y="2424027"/>
            <a:ext cx="932688" cy="152400"/>
          </a:xfrm>
          <a:prstGeom prst="rect">
            <a:avLst/>
          </a:prstGeom>
          <a:noFill/>
          <a:ln/>
        </p:spPr>
        <p:txBody>
          <a:bodyPr wrap="square" lIns="0" tIns="0" rIns="0" bIns="0" rtlCol="0" anchor="ctr"/>
          <a:lstStyle/>
          <a:p>
            <a:pPr algn="ctr"/>
            <a:r>
              <a:rPr lang="en-US" sz="800" i="1" dirty="0">
                <a:solidFill>
                  <a:srgbClr val="0F172A"/>
                </a:solidFill>
                <a:latin typeface="Calibri" pitchFamily="34" charset="0"/>
                <a:ea typeface="Calibri" pitchFamily="34" charset="-122"/>
                <a:cs typeface="Calibri" pitchFamily="34" charset="-120"/>
              </a:rPr>
              <a:t>Accuracy Change (%)</a:t>
            </a:r>
            <a:endParaRPr lang="en-US" sz="800" dirty="0"/>
          </a:p>
        </p:txBody>
      </p:sp>
      <p:sp>
        <p:nvSpPr>
          <p:cNvPr id="26" name="Text 6">
            <a:extLst>
              <a:ext uri="{FF2B5EF4-FFF2-40B4-BE49-F238E27FC236}">
                <a16:creationId xmlns:a16="http://schemas.microsoft.com/office/drawing/2014/main" id="{86D6BBF9-E491-0FFC-A8A7-344599E07A61}"/>
              </a:ext>
            </a:extLst>
          </p:cNvPr>
          <p:cNvSpPr/>
          <p:nvPr/>
        </p:nvSpPr>
        <p:spPr>
          <a:xfrm>
            <a:off x="2407920" y="3820604"/>
            <a:ext cx="716280" cy="159154"/>
          </a:xfrm>
          <a:prstGeom prst="rect">
            <a:avLst/>
          </a:prstGeom>
          <a:noFill/>
          <a:ln/>
        </p:spPr>
        <p:txBody>
          <a:bodyPr wrap="square" lIns="0" tIns="0" rIns="0" bIns="0" rtlCol="0" anchor="ctr"/>
          <a:lstStyle/>
          <a:p>
            <a:pPr algn="ctr"/>
            <a:r>
              <a:rPr lang="en-US" sz="800" i="1" dirty="0">
                <a:solidFill>
                  <a:srgbClr val="0F172A"/>
                </a:solidFill>
                <a:latin typeface="Calibri" pitchFamily="34" charset="0"/>
                <a:ea typeface="Calibri" pitchFamily="34" charset="-122"/>
                <a:cs typeface="Calibri" pitchFamily="34" charset="-120"/>
              </a:rPr>
              <a:t>Confounder Type</a:t>
            </a:r>
            <a:endParaRPr lang="en-US" sz="800" dirty="0"/>
          </a:p>
        </p:txBody>
      </p:sp>
    </p:spTree>
    <p:extLst>
      <p:ext uri="{BB962C8B-B14F-4D97-AF65-F5344CB8AC3E}">
        <p14:creationId xmlns:p14="http://schemas.microsoft.com/office/powerpoint/2010/main" val="3332007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marL="0" indent="0">
              <a:buNone/>
            </a:pPr>
            <a:r>
              <a:rPr lang="en-US" sz="900" b="1" kern="0" spc="150" dirty="0">
                <a:solidFill>
                  <a:srgbClr val="800020"/>
                </a:solidFill>
                <a:latin typeface="Calibri" pitchFamily="34" charset="0"/>
                <a:ea typeface="Calibri" pitchFamily="34" charset="-122"/>
                <a:cs typeface="Calibri" pitchFamily="34" charset="-120"/>
              </a:rPr>
              <a:t>3. METHODOLOGY</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marL="0" indent="0">
              <a:buNone/>
            </a:pPr>
            <a:r>
              <a:rPr lang="en-US" sz="2300" b="1" dirty="0">
                <a:solidFill>
                  <a:srgbClr val="0F172A"/>
                </a:solidFill>
                <a:latin typeface="Century Schoolbook" pitchFamily="34" charset="0"/>
                <a:ea typeface="Century Schoolbook" pitchFamily="34" charset="-122"/>
                <a:cs typeface="Century Schoolbook" pitchFamily="34" charset="-120"/>
              </a:rPr>
              <a:t>Benchmarks Used to Test Reasoning</a:t>
            </a:r>
          </a:p>
        </p:txBody>
      </p:sp>
      <p:sp>
        <p:nvSpPr>
          <p:cNvPr id="4" name="Text 2"/>
          <p:cNvSpPr/>
          <p:nvPr/>
        </p:nvSpPr>
        <p:spPr>
          <a:xfrm>
            <a:off x="548640" y="868680"/>
            <a:ext cx="8046720" cy="2286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Test a model's step-by-step logical and mathematical reasoning ability:</a:t>
            </a:r>
          </a:p>
        </p:txBody>
      </p:sp>
      <p:sp>
        <p:nvSpPr>
          <p:cNvPr id="33" name="Text 30"/>
          <p:cNvSpPr/>
          <p:nvPr/>
        </p:nvSpPr>
        <p:spPr>
          <a:xfrm>
            <a:off x="548640" y="4736592"/>
            <a:ext cx="6583680" cy="274320"/>
          </a:xfrm>
          <a:prstGeom prst="rect">
            <a:avLst/>
          </a:prstGeom>
          <a:noFill/>
          <a:ln/>
        </p:spPr>
        <p:txBody>
          <a:bodyPr wrap="square" lIns="0" tIns="0" rIns="0" bIns="0"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34" name="Text 31"/>
          <p:cNvSpPr/>
          <p:nvPr/>
        </p:nvSpPr>
        <p:spPr>
          <a:xfrm>
            <a:off x="7315200" y="4736592"/>
            <a:ext cx="128016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09/23</a:t>
            </a:r>
            <a:endParaRPr lang="en-US" sz="850" dirty="0"/>
          </a:p>
        </p:txBody>
      </p:sp>
      <p:graphicFrame>
        <p:nvGraphicFramePr>
          <p:cNvPr id="38" name="Table 37">
            <a:extLst>
              <a:ext uri="{FF2B5EF4-FFF2-40B4-BE49-F238E27FC236}">
                <a16:creationId xmlns:a16="http://schemas.microsoft.com/office/drawing/2014/main" id="{05339023-FD06-9A4B-FC89-677380258BBC}"/>
              </a:ext>
            </a:extLst>
          </p:cNvPr>
          <p:cNvGraphicFramePr/>
          <p:nvPr>
            <p:custDataLst>
              <p:tags r:id="rId1"/>
            </p:custDataLst>
            <p:extLst>
              <p:ext uri="{D42A27DB-BD31-4B8C-83A1-F6EECF244321}">
                <p14:modId xmlns:p14="http://schemas.microsoft.com/office/powerpoint/2010/main" val="469552415"/>
              </p:ext>
            </p:extLst>
          </p:nvPr>
        </p:nvGraphicFramePr>
        <p:xfrm>
          <a:off x="503555" y="1108075"/>
          <a:ext cx="8208010" cy="2286000"/>
        </p:xfrm>
        <a:graphic>
          <a:graphicData uri="http://schemas.openxmlformats.org/drawingml/2006/table">
            <a:tbl>
              <a:tblPr firstRow="1" bandRow="1"/>
              <a:tblGrid>
                <a:gridCol w="1664970">
                  <a:extLst>
                    <a:ext uri="{9D8B030D-6E8A-4147-A177-3AD203B41FA5}">
                      <a16:colId xmlns:a16="http://schemas.microsoft.com/office/drawing/2014/main" val="20000"/>
                    </a:ext>
                  </a:extLst>
                </a:gridCol>
                <a:gridCol w="2736215">
                  <a:extLst>
                    <a:ext uri="{9D8B030D-6E8A-4147-A177-3AD203B41FA5}">
                      <a16:colId xmlns:a16="http://schemas.microsoft.com/office/drawing/2014/main" val="20001"/>
                    </a:ext>
                  </a:extLst>
                </a:gridCol>
                <a:gridCol w="1964055">
                  <a:extLst>
                    <a:ext uri="{9D8B030D-6E8A-4147-A177-3AD203B41FA5}">
                      <a16:colId xmlns:a16="http://schemas.microsoft.com/office/drawing/2014/main" val="20002"/>
                    </a:ext>
                  </a:extLst>
                </a:gridCol>
                <a:gridCol w="1842770">
                  <a:extLst>
                    <a:ext uri="{9D8B030D-6E8A-4147-A177-3AD203B41FA5}">
                      <a16:colId xmlns:a16="http://schemas.microsoft.com/office/drawing/2014/main" val="20003"/>
                    </a:ext>
                  </a:extLst>
                </a:gridCol>
              </a:tblGrid>
              <a:tr h="5486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indent="0" algn="ctr">
                        <a:buNone/>
                      </a:pPr>
                      <a:r>
                        <a:rPr lang="en-US" sz="1250" b="1" dirty="0">
                          <a:solidFill>
                            <a:srgbClr val="FFFFFF"/>
                          </a:solidFill>
                        </a:rPr>
                        <a:t>Dataset</a:t>
                      </a:r>
                      <a:endParaRPr lang="en-US" sz="1250" dirty="0"/>
                    </a:p>
                  </a:txBody>
                  <a:tcPr marL="127000" marR="127000" marT="76200" marB="7620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A24A48"/>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indent="0" algn="ctr">
                        <a:buNone/>
                      </a:pPr>
                      <a:r>
                        <a:rPr lang="en-US" sz="1250" b="1" dirty="0">
                          <a:solidFill>
                            <a:srgbClr val="FFFFFF"/>
                          </a:solidFill>
                        </a:rPr>
                        <a:t>Reasoning Task</a:t>
                      </a:r>
                      <a:endParaRPr lang="en-US" sz="1250" dirty="0"/>
                    </a:p>
                  </a:txBody>
                  <a:tcPr marL="127000" marR="127000" marT="76200" marB="7620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A24A48"/>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indent="0" algn="ctr">
                        <a:buNone/>
                      </a:pPr>
                      <a:r>
                        <a:rPr lang="en-US" sz="1300" b="1" dirty="0">
                          <a:solidFill>
                            <a:srgbClr val="FFFFFF"/>
                          </a:solidFill>
                        </a:rPr>
                        <a:t>Test Size</a:t>
                      </a:r>
                      <a:endParaRPr lang="en-US" sz="1300" dirty="0"/>
                    </a:p>
                  </a:txBody>
                  <a:tcPr marL="127000" marR="127000" marT="76200" marB="7620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A24A48"/>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indent="0" algn="ctr">
                        <a:buNone/>
                      </a:pPr>
                      <a:r>
                        <a:rPr lang="en-US" sz="1300" b="1" dirty="0">
                          <a:solidFill>
                            <a:srgbClr val="FFFFFF"/>
                          </a:solidFill>
                        </a:rPr>
                        <a:t>Prior Gain Claimed</a:t>
                      </a:r>
                      <a:endParaRPr lang="en-US" sz="1300" dirty="0"/>
                    </a:p>
                  </a:txBody>
                  <a:tcPr marL="127000" marR="127000" marT="76200" marB="7620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A24A48"/>
                    </a:solidFill>
                  </a:tcPr>
                </a:tc>
                <a:extLst>
                  <a:ext uri="{0D108BD9-81ED-4DB2-BD59-A6C34878D82A}">
                    <a16:rowId xmlns:a16="http://schemas.microsoft.com/office/drawing/2014/main" val="10000"/>
                  </a:ext>
                </a:extLst>
              </a:tr>
              <a:tr h="51816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00" b="0" dirty="0">
                          <a:solidFill>
                            <a:schemeClr val="accent2">
                              <a:lumMod val="50000"/>
                            </a:schemeClr>
                          </a:solidFill>
                        </a:rPr>
                        <a:t>GSM8K</a:t>
                      </a:r>
                    </a:p>
                  </a:txBody>
                  <a:tcPr marL="127000" marR="127000" marT="76200" marB="7620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00" dirty="0">
                          <a:solidFill>
                            <a:srgbClr val="1A1A1A"/>
                          </a:solidFill>
                        </a:rPr>
                        <a:t>Grade-school math word problems</a:t>
                      </a:r>
                    </a:p>
                  </a:txBody>
                  <a:tcPr marL="127000" marR="127000" marT="76200" marB="7620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00" dirty="0">
                          <a:solidFill>
                            <a:srgbClr val="1A1A1A"/>
                          </a:solidFill>
                        </a:rPr>
                        <a:t>1,319 questions</a:t>
                      </a:r>
                    </a:p>
                  </a:txBody>
                  <a:tcPr marL="127000" marR="127000" marT="76200" marB="7620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00" dirty="0">
                          <a:solidFill>
                            <a:schemeClr val="accent2">
                              <a:lumMod val="50000"/>
                            </a:schemeClr>
                          </a:solidFill>
                        </a:rPr>
                        <a:t>~7% </a:t>
                      </a:r>
                      <a:r>
                        <a:rPr lang="en-US" sz="1200" dirty="0">
                          <a:solidFill>
                            <a:srgbClr val="1A1A1A"/>
                          </a:solidFill>
                        </a:rPr>
                        <a:t>(Kim et al., 2023)</a:t>
                      </a:r>
                    </a:p>
                  </a:txBody>
                  <a:tcPr marL="127000" marR="127000" marT="76200" marB="7620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40000"/>
                      </a:srgbClr>
                    </a:solidFill>
                  </a:tcPr>
                </a:tc>
                <a:extLst>
                  <a:ext uri="{0D108BD9-81ED-4DB2-BD59-A6C34878D82A}">
                    <a16:rowId xmlns:a16="http://schemas.microsoft.com/office/drawing/2014/main" val="10001"/>
                  </a:ext>
                </a:extLst>
              </a:tr>
              <a:tr h="7010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00" b="0" dirty="0">
                          <a:solidFill>
                            <a:schemeClr val="accent2">
                              <a:lumMod val="50000"/>
                            </a:schemeClr>
                          </a:solidFill>
                        </a:rPr>
                        <a:t>CommonSenseQA</a:t>
                      </a:r>
                    </a:p>
                  </a:txBody>
                  <a:tcPr marL="127000" marR="127000" marT="76200" marB="7620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00" dirty="0">
                          <a:solidFill>
                            <a:srgbClr val="1A1A1A"/>
                          </a:solidFill>
                        </a:rPr>
                        <a:t>5-choice commonsense reasoning</a:t>
                      </a:r>
                    </a:p>
                  </a:txBody>
                  <a:tcPr marL="127000" marR="127000" marT="76200" marB="7620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00" dirty="0">
                          <a:solidFill>
                            <a:srgbClr val="1A1A1A"/>
                          </a:solidFill>
                        </a:rPr>
                        <a:t>1,221 questions (dev set)</a:t>
                      </a:r>
                    </a:p>
                  </a:txBody>
                  <a:tcPr marL="127000" marR="127000" marT="76200" marB="7620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00" dirty="0">
                          <a:solidFill>
                            <a:schemeClr val="accent2">
                              <a:lumMod val="50000"/>
                            </a:schemeClr>
                          </a:solidFill>
                        </a:rPr>
                        <a:t>~15% </a:t>
                      </a:r>
                      <a:r>
                        <a:rPr lang="en-US" sz="1200" dirty="0">
                          <a:solidFill>
                            <a:srgbClr val="1A1A1A"/>
                          </a:solidFill>
                        </a:rPr>
                        <a:t>(Kim et al., 2023)</a:t>
                      </a:r>
                    </a:p>
                  </a:txBody>
                  <a:tcPr marL="127000" marR="127000" marT="76200" marB="7620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20000"/>
                      </a:srgbClr>
                    </a:solidFill>
                  </a:tcPr>
                </a:tc>
                <a:extLst>
                  <a:ext uri="{0D108BD9-81ED-4DB2-BD59-A6C34878D82A}">
                    <a16:rowId xmlns:a16="http://schemas.microsoft.com/office/drawing/2014/main" val="10002"/>
                  </a:ext>
                </a:extLst>
              </a:tr>
              <a:tr h="51816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00" b="0" dirty="0">
                          <a:solidFill>
                            <a:schemeClr val="accent2">
                              <a:lumMod val="50000"/>
                            </a:schemeClr>
                          </a:solidFill>
                        </a:rPr>
                        <a:t>HotpotQA</a:t>
                      </a:r>
                    </a:p>
                  </a:txBody>
                  <a:tcPr marL="127000" marR="127000" marT="76200" marB="7620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00" dirty="0">
                          <a:solidFill>
                            <a:srgbClr val="1A1A1A"/>
                          </a:solidFill>
                        </a:rPr>
                        <a:t>Open-domain, multi-hop Q&amp;A</a:t>
                      </a:r>
                    </a:p>
                  </a:txBody>
                  <a:tcPr marL="127000" marR="127000" marT="76200" marB="7620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00" dirty="0">
                          <a:solidFill>
                            <a:srgbClr val="1A1A1A"/>
                          </a:solidFill>
                        </a:rPr>
                        <a:t>100 questions</a:t>
                      </a:r>
                    </a:p>
                  </a:txBody>
                  <a:tcPr marL="127000" marR="127000" marT="76200" marB="7620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00" dirty="0">
                          <a:solidFill>
                            <a:srgbClr val="1A1A1A"/>
                          </a:solidFill>
                        </a:rPr>
                        <a:t>Sizeable gain (Shinn et al., 2023)</a:t>
                      </a:r>
                    </a:p>
                  </a:txBody>
                  <a:tcPr marL="127000" marR="127000" marT="76200" marB="7620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40000"/>
                      </a:srgbClr>
                    </a:solidFill>
                  </a:tcPr>
                </a:tc>
                <a:extLst>
                  <a:ext uri="{0D108BD9-81ED-4DB2-BD59-A6C34878D82A}">
                    <a16:rowId xmlns:a16="http://schemas.microsoft.com/office/drawing/2014/main" val="10003"/>
                  </a:ext>
                </a:extLst>
              </a:tr>
            </a:tbl>
          </a:graphicData>
        </a:graphic>
      </p:graphicFrame>
      <p:sp>
        <p:nvSpPr>
          <p:cNvPr id="39" name="Shape 3">
            <a:extLst>
              <a:ext uri="{FF2B5EF4-FFF2-40B4-BE49-F238E27FC236}">
                <a16:creationId xmlns:a16="http://schemas.microsoft.com/office/drawing/2014/main" id="{55DAD6D8-8D74-1A24-69E8-8C058F35576E}"/>
              </a:ext>
            </a:extLst>
          </p:cNvPr>
          <p:cNvSpPr/>
          <p:nvPr/>
        </p:nvSpPr>
        <p:spPr>
          <a:xfrm>
            <a:off x="476885" y="3587750"/>
            <a:ext cx="8234680" cy="969010"/>
          </a:xfrm>
          <a:prstGeom prst="roundRect">
            <a:avLst>
              <a:gd name="adj" fmla="val 5882"/>
            </a:avLst>
          </a:prstGeom>
          <a:solidFill>
            <a:srgbClr val="411401">
              <a:lumMod val="90000"/>
              <a:lumOff val="10000"/>
              <a:alpha val="20000"/>
            </a:srgbClr>
          </a:solidFill>
          <a:ln w="12700" cap="flat" cmpd="sng" algn="ctr">
            <a:solidFill>
              <a:sysClr val="window" lastClr="FFFFFF"/>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0" name="Text Box 53">
            <a:extLst>
              <a:ext uri="{FF2B5EF4-FFF2-40B4-BE49-F238E27FC236}">
                <a16:creationId xmlns:a16="http://schemas.microsoft.com/office/drawing/2014/main" id="{D6D40F80-F2D3-0F6B-41D1-797D95CC020D}"/>
              </a:ext>
            </a:extLst>
          </p:cNvPr>
          <p:cNvSpPr txBox="1"/>
          <p:nvPr/>
        </p:nvSpPr>
        <p:spPr>
          <a:xfrm>
            <a:off x="548639" y="3651757"/>
            <a:ext cx="2403475" cy="287726"/>
          </a:xfrm>
          <a:prstGeom prst="rect">
            <a:avLst/>
          </a:prstGeom>
          <a:noFill/>
        </p:spPr>
        <p:txBody>
          <a:bodyPr wrap="square" rtlCol="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411401">
                    <a:lumMod val="90000"/>
                    <a:lumOff val="10000"/>
                  </a:srgbClr>
                </a:solidFill>
                <a:effectLst/>
                <a:uLnTx/>
                <a:uFillTx/>
              </a:rPr>
              <a:t>Why these three?</a:t>
            </a:r>
          </a:p>
        </p:txBody>
      </p:sp>
      <p:sp>
        <p:nvSpPr>
          <p:cNvPr id="41" name="Text Box 54">
            <a:extLst>
              <a:ext uri="{FF2B5EF4-FFF2-40B4-BE49-F238E27FC236}">
                <a16:creationId xmlns:a16="http://schemas.microsoft.com/office/drawing/2014/main" id="{353774BD-03B3-25D9-45B0-B3AC651287FF}"/>
              </a:ext>
            </a:extLst>
          </p:cNvPr>
          <p:cNvSpPr txBox="1"/>
          <p:nvPr/>
        </p:nvSpPr>
        <p:spPr>
          <a:xfrm>
            <a:off x="548640" y="3939482"/>
            <a:ext cx="7858760" cy="527107"/>
          </a:xfrm>
          <a:prstGeom prst="rect">
            <a:avLst/>
          </a:prstGeom>
          <a:noFill/>
        </p:spPr>
        <p:txBody>
          <a:bodyPr wrap="square" rtlCol="0">
            <a:noAutofit/>
          </a:bodyPr>
          <a:lstStyle/>
          <a:p>
            <a:pPr marL="0" marR="0" lvl="0" indent="0" algn="just" defTabSz="914400" eaLnBrk="1" fontAlgn="auto" latinLnBrk="0" hangingPunct="1">
              <a:lnSpc>
                <a:spcPct val="90000"/>
              </a:lnSpc>
              <a:spcBef>
                <a:spcPts val="0"/>
              </a:spcBef>
              <a:spcAft>
                <a:spcPts val="0"/>
              </a:spcAft>
              <a:buClrTx/>
              <a:buSzTx/>
              <a:buFontTx/>
              <a:buNone/>
              <a:tabLst/>
              <a:defRPr/>
            </a:pPr>
            <a:r>
              <a:rPr kumimoji="0" lang="en-US" sz="1300" b="0" i="0" u="none" strike="noStrike" kern="0" cap="none" spc="0" normalizeH="0" baseline="0" noProof="0" dirty="0">
                <a:ln>
                  <a:noFill/>
                </a:ln>
                <a:solidFill>
                  <a:srgbClr val="1A1A1A"/>
                </a:solidFill>
                <a:effectLst/>
                <a:uLnTx/>
                <a:uFillTx/>
                <a:ea typeface="Calibri" pitchFamily="34" charset="-122"/>
                <a:cs typeface="Calibri" pitchFamily="34" charset="-120"/>
                <a:sym typeface="+mn-ea"/>
              </a:rPr>
              <a:t>Each dataset was chosen because earlier self-correction papers reported their biggest improvements on it, giving this study the fairest and most challenging test of whether those gains hold up without oracle answer labels.</a:t>
            </a:r>
            <a:endParaRPr kumimoji="0" lang="en-US" sz="1800" b="0" i="0" u="none" strike="noStrike" kern="0" cap="none" spc="0" normalizeH="0" baseline="0" noProof="0" dirty="0">
              <a:ln>
                <a:noFill/>
              </a:ln>
              <a:solidFill>
                <a:prstClr val="black"/>
              </a:solidFill>
              <a:effectLst/>
              <a:uLnTx/>
              <a:uFillTx/>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marL="0" indent="0">
              <a:buNone/>
            </a:pPr>
            <a:r>
              <a:rPr lang="en-US" sz="900" b="1" kern="0" spc="150" dirty="0">
                <a:solidFill>
                  <a:srgbClr val="800020"/>
                </a:solidFill>
                <a:latin typeface="Calibri" pitchFamily="34" charset="0"/>
                <a:ea typeface="Calibri" pitchFamily="34" charset="-122"/>
                <a:cs typeface="Calibri" pitchFamily="34" charset="-120"/>
              </a:rPr>
              <a:t>3. METHODOLOGY</a:t>
            </a:r>
            <a:endParaRPr lang="en-US" sz="9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Minor changes in these settings can shift benchmark scores significantly:</a:t>
            </a:r>
          </a:p>
        </p:txBody>
      </p:sp>
      <p:sp>
        <p:nvSpPr>
          <p:cNvPr id="36" name="Text 33"/>
          <p:cNvSpPr/>
          <p:nvPr/>
        </p:nvSpPr>
        <p:spPr>
          <a:xfrm>
            <a:off x="548640" y="4736592"/>
            <a:ext cx="6583680" cy="274320"/>
          </a:xfrm>
          <a:prstGeom prst="rect">
            <a:avLst/>
          </a:prstGeom>
          <a:noFill/>
          <a:ln/>
        </p:spPr>
        <p:txBody>
          <a:bodyPr wrap="square" lIns="0" tIns="0" rIns="0" bIns="0"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37" name="Text 34"/>
          <p:cNvSpPr/>
          <p:nvPr/>
        </p:nvSpPr>
        <p:spPr>
          <a:xfrm>
            <a:off x="7315200" y="4736592"/>
            <a:ext cx="128016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10/23</a:t>
            </a:r>
            <a:endParaRPr lang="en-US" sz="850" dirty="0"/>
          </a:p>
        </p:txBody>
      </p:sp>
      <p:sp>
        <p:nvSpPr>
          <p:cNvPr id="40" name="Text 10">
            <a:extLst>
              <a:ext uri="{FF2B5EF4-FFF2-40B4-BE49-F238E27FC236}">
                <a16:creationId xmlns:a16="http://schemas.microsoft.com/office/drawing/2014/main" id="{0A028AFE-A372-3808-1C09-4DCE216EEF6D}"/>
              </a:ext>
            </a:extLst>
          </p:cNvPr>
          <p:cNvSpPr/>
          <p:nvPr/>
        </p:nvSpPr>
        <p:spPr>
          <a:xfrm>
            <a:off x="777240" y="2459736"/>
            <a:ext cx="256032" cy="256032"/>
          </a:xfrm>
          <a:prstGeom prst="rect">
            <a:avLst/>
          </a:prstGeom>
          <a:noFill/>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FFFFFF"/>
                </a:solidFill>
                <a:effectLst/>
                <a:uLnTx/>
                <a:uFillTx/>
                <a:ea typeface="Calibri" pitchFamily="34" charset="-122"/>
                <a:cs typeface="Calibri" pitchFamily="34" charset="-120"/>
              </a:rPr>
              <a:t>2</a:t>
            </a:r>
            <a:endParaRPr kumimoji="0" lang="en-US" sz="1100" b="0" i="0" u="none" strike="noStrike" kern="0" cap="none" spc="0" normalizeH="0" baseline="0" noProof="0" dirty="0">
              <a:ln>
                <a:noFill/>
              </a:ln>
              <a:solidFill>
                <a:prstClr val="black"/>
              </a:solidFill>
              <a:effectLst/>
              <a:uLnTx/>
              <a:uFillTx/>
            </a:endParaRPr>
          </a:p>
        </p:txBody>
      </p:sp>
      <p:graphicFrame>
        <p:nvGraphicFramePr>
          <p:cNvPr id="41" name="Table 40">
            <a:extLst>
              <a:ext uri="{FF2B5EF4-FFF2-40B4-BE49-F238E27FC236}">
                <a16:creationId xmlns:a16="http://schemas.microsoft.com/office/drawing/2014/main" id="{98A364CD-37F3-1A4F-1E44-F9E561DFE9EE}"/>
              </a:ext>
            </a:extLst>
          </p:cNvPr>
          <p:cNvGraphicFramePr/>
          <p:nvPr>
            <p:extLst>
              <p:ext uri="{D42A27DB-BD31-4B8C-83A1-F6EECF244321}">
                <p14:modId xmlns:p14="http://schemas.microsoft.com/office/powerpoint/2010/main" val="3559041301"/>
              </p:ext>
            </p:extLst>
          </p:nvPr>
        </p:nvGraphicFramePr>
        <p:xfrm>
          <a:off x="534035" y="1280795"/>
          <a:ext cx="8046085" cy="2819400"/>
        </p:xfrm>
        <a:graphic>
          <a:graphicData uri="http://schemas.openxmlformats.org/drawingml/2006/table">
            <a:tbl>
              <a:tblPr firstRow="1" bandRow="1"/>
              <a:tblGrid>
                <a:gridCol w="2022475">
                  <a:extLst>
                    <a:ext uri="{9D8B030D-6E8A-4147-A177-3AD203B41FA5}">
                      <a16:colId xmlns:a16="http://schemas.microsoft.com/office/drawing/2014/main" val="20000"/>
                    </a:ext>
                  </a:extLst>
                </a:gridCol>
                <a:gridCol w="2007870">
                  <a:extLst>
                    <a:ext uri="{9D8B030D-6E8A-4147-A177-3AD203B41FA5}">
                      <a16:colId xmlns:a16="http://schemas.microsoft.com/office/drawing/2014/main" val="20001"/>
                    </a:ext>
                  </a:extLst>
                </a:gridCol>
                <a:gridCol w="2007870">
                  <a:extLst>
                    <a:ext uri="{9D8B030D-6E8A-4147-A177-3AD203B41FA5}">
                      <a16:colId xmlns:a16="http://schemas.microsoft.com/office/drawing/2014/main" val="20002"/>
                    </a:ext>
                  </a:extLst>
                </a:gridCol>
                <a:gridCol w="2007870">
                  <a:extLst>
                    <a:ext uri="{9D8B030D-6E8A-4147-A177-3AD203B41FA5}">
                      <a16:colId xmlns:a16="http://schemas.microsoft.com/office/drawing/2014/main" val="20003"/>
                    </a:ext>
                  </a:extLst>
                </a:gridCol>
              </a:tblGrid>
              <a:tr h="56388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indent="0" algn="ctr">
                        <a:buNone/>
                      </a:pPr>
                      <a:r>
                        <a:rPr lang="en-US" sz="1300" b="1" dirty="0">
                          <a:solidFill>
                            <a:srgbClr val="FFFFFF"/>
                          </a:solidFill>
                        </a:rPr>
                        <a:t>Model</a:t>
                      </a:r>
                      <a:endParaRPr lang="en-US" sz="1300" dirty="0"/>
                    </a:p>
                  </a:txBody>
                  <a:tcPr marL="101600" marR="101600" marT="63500" marB="6350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A24A48"/>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indent="0" algn="ctr">
                        <a:buNone/>
                      </a:pPr>
                      <a:r>
                        <a:rPr lang="en-US" sz="1300" b="1" dirty="0">
                          <a:solidFill>
                            <a:srgbClr val="FFFFFF"/>
                          </a:solidFill>
                        </a:rPr>
                        <a:t>Settings Tested</a:t>
                      </a:r>
                      <a:endParaRPr lang="en-US" sz="1300" dirty="0"/>
                    </a:p>
                  </a:txBody>
                  <a:tcPr marL="101600" marR="101600" marT="63500" marB="6350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A24A48"/>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indent="0" algn="ctr">
                        <a:buNone/>
                      </a:pPr>
                      <a:r>
                        <a:rPr lang="en-US" sz="1300" b="1" dirty="0">
                          <a:solidFill>
                            <a:srgbClr val="FFFFFF"/>
                          </a:solidFill>
                        </a:rPr>
                        <a:t>Temperature</a:t>
                      </a:r>
                      <a:endParaRPr lang="en-US" sz="1300" dirty="0"/>
                    </a:p>
                  </a:txBody>
                  <a:tcPr marL="101600" marR="101600" marT="63500" marB="6350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A24A48"/>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indent="0" algn="ctr">
                        <a:buNone/>
                      </a:pPr>
                      <a:r>
                        <a:rPr lang="en-US" sz="1300" b="1" dirty="0">
                          <a:solidFill>
                            <a:srgbClr val="FFFFFF"/>
                          </a:solidFill>
                        </a:rPr>
                        <a:t>Sample Size</a:t>
                      </a:r>
                      <a:endParaRPr lang="en-US" sz="1300" dirty="0"/>
                    </a:p>
                  </a:txBody>
                  <a:tcPr marL="101600" marR="101600" marT="63500" marB="6350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A24A48"/>
                    </a:solidFill>
                  </a:tcPr>
                </a:tc>
                <a:extLst>
                  <a:ext uri="{0D108BD9-81ED-4DB2-BD59-A6C34878D82A}">
                    <a16:rowId xmlns:a16="http://schemas.microsoft.com/office/drawing/2014/main" val="10000"/>
                  </a:ext>
                </a:extLst>
              </a:tr>
              <a:tr h="56388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50" b="0" dirty="0">
                          <a:solidFill>
                            <a:schemeClr val="accent2">
                              <a:lumMod val="50000"/>
                            </a:schemeClr>
                          </a:solidFill>
                        </a:rPr>
                        <a:t>GPT-3.5-Turbo</a:t>
                      </a:r>
                    </a:p>
                  </a:txBody>
                  <a:tcPr marL="101600" marR="101600" marT="63500" marB="6350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50" dirty="0">
                          <a:solidFill>
                            <a:srgbClr val="1A1A1A"/>
                          </a:solidFill>
                        </a:rPr>
                        <a:t>Oracle + Intrinsic</a:t>
                      </a:r>
                      <a:endParaRPr lang="en-US" sz="1250" dirty="0"/>
                    </a:p>
                  </a:txBody>
                  <a:tcPr marL="101600" marR="101600" marT="63500" marB="6350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50" dirty="0">
                          <a:solidFill>
                            <a:srgbClr val="1A1A1A"/>
                          </a:solidFill>
                        </a:rPr>
                        <a:t>1.0</a:t>
                      </a:r>
                      <a:endParaRPr lang="en-US" sz="1250" dirty="0"/>
                    </a:p>
                  </a:txBody>
                  <a:tcPr marL="101600" marR="101600" marT="63500" marB="6350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50" dirty="0">
                          <a:solidFill>
                            <a:srgbClr val="1A1A1A"/>
                          </a:solidFill>
                        </a:rPr>
                        <a:t>Full test set</a:t>
                      </a:r>
                      <a:endParaRPr lang="en-US" sz="1250" dirty="0"/>
                    </a:p>
                  </a:txBody>
                  <a:tcPr marL="101600" marR="101600" marT="63500" marB="6350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40000"/>
                      </a:srgbClr>
                    </a:solidFill>
                  </a:tcPr>
                </a:tc>
                <a:extLst>
                  <a:ext uri="{0D108BD9-81ED-4DB2-BD59-A6C34878D82A}">
                    <a16:rowId xmlns:a16="http://schemas.microsoft.com/office/drawing/2014/main" val="10001"/>
                  </a:ext>
                </a:extLst>
              </a:tr>
              <a:tr h="56388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50" b="0" dirty="0">
                          <a:solidFill>
                            <a:schemeClr val="accent2">
                              <a:lumMod val="50000"/>
                            </a:schemeClr>
                          </a:solidFill>
                        </a:rPr>
                        <a:t>GPT-4</a:t>
                      </a:r>
                    </a:p>
                  </a:txBody>
                  <a:tcPr marL="101600" marR="101600" marT="63500" marB="6350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50" dirty="0">
                          <a:solidFill>
                            <a:srgbClr val="1A1A1A"/>
                          </a:solidFill>
                        </a:rPr>
                        <a:t>Oracle + Intrinsic</a:t>
                      </a:r>
                      <a:endParaRPr lang="en-US" sz="1250" dirty="0"/>
                    </a:p>
                  </a:txBody>
                  <a:tcPr marL="101600" marR="101600" marT="63500" marB="6350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50" dirty="0">
                          <a:solidFill>
                            <a:srgbClr val="1A1A1A"/>
                          </a:solidFill>
                        </a:rPr>
                        <a:t>1.0</a:t>
                      </a:r>
                      <a:endParaRPr lang="en-US" sz="1250" dirty="0"/>
                    </a:p>
                  </a:txBody>
                  <a:tcPr marL="101600" marR="101600" marT="63500" marB="6350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50" dirty="0">
                          <a:solidFill>
                            <a:srgbClr val="1A1A1A"/>
                          </a:solidFill>
                        </a:rPr>
                        <a:t>200 / 100 Qs</a:t>
                      </a:r>
                      <a:endParaRPr lang="en-US" sz="1250" dirty="0"/>
                    </a:p>
                  </a:txBody>
                  <a:tcPr marL="101600" marR="101600" marT="63500" marB="6350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20000"/>
                      </a:srgbClr>
                    </a:solidFill>
                  </a:tcPr>
                </a:tc>
                <a:extLst>
                  <a:ext uri="{0D108BD9-81ED-4DB2-BD59-A6C34878D82A}">
                    <a16:rowId xmlns:a16="http://schemas.microsoft.com/office/drawing/2014/main" val="10002"/>
                  </a:ext>
                </a:extLst>
              </a:tr>
              <a:tr h="56388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50" b="0" dirty="0">
                          <a:solidFill>
                            <a:schemeClr val="accent2">
                              <a:lumMod val="50000"/>
                            </a:schemeClr>
                          </a:solidFill>
                        </a:rPr>
                        <a:t>GPT-4-Turbo</a:t>
                      </a:r>
                    </a:p>
                  </a:txBody>
                  <a:tcPr marL="101600" marR="101600" marT="63500" marB="6350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50" dirty="0">
                          <a:solidFill>
                            <a:srgbClr val="1A1A1A"/>
                          </a:solidFill>
                        </a:rPr>
                        <a:t>Intrinsic only</a:t>
                      </a:r>
                      <a:endParaRPr lang="en-US" sz="1250" dirty="0"/>
                    </a:p>
                  </a:txBody>
                  <a:tcPr marL="101600" marR="101600" marT="63500" marB="6350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50" dirty="0">
                          <a:solidFill>
                            <a:srgbClr val="1A1A1A"/>
                          </a:solidFill>
                        </a:rPr>
                        <a:t>0</a:t>
                      </a:r>
                      <a:endParaRPr lang="en-US" sz="1250" dirty="0"/>
                    </a:p>
                  </a:txBody>
                  <a:tcPr marL="101600" marR="101600" marT="63500" marB="6350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50" dirty="0">
                          <a:solidFill>
                            <a:srgbClr val="1A1A1A"/>
                          </a:solidFill>
                        </a:rPr>
                        <a:t>200 Qs</a:t>
                      </a:r>
                      <a:endParaRPr lang="en-US" sz="1250" dirty="0"/>
                    </a:p>
                  </a:txBody>
                  <a:tcPr marL="101600" marR="101600" marT="63500" marB="6350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40000"/>
                      </a:srgbClr>
                    </a:solidFill>
                  </a:tcPr>
                </a:tc>
                <a:extLst>
                  <a:ext uri="{0D108BD9-81ED-4DB2-BD59-A6C34878D82A}">
                    <a16:rowId xmlns:a16="http://schemas.microsoft.com/office/drawing/2014/main" val="10003"/>
                  </a:ext>
                </a:extLst>
              </a:tr>
              <a:tr h="56388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50" b="0" dirty="0">
                          <a:solidFill>
                            <a:schemeClr val="accent2">
                              <a:lumMod val="50000"/>
                            </a:schemeClr>
                          </a:solidFill>
                        </a:rPr>
                        <a:t>Llama-2-70B-Chat</a:t>
                      </a:r>
                    </a:p>
                  </a:txBody>
                  <a:tcPr marL="101600" marR="101600" marT="63500" marB="6350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50" dirty="0">
                          <a:solidFill>
                            <a:srgbClr val="1A1A1A"/>
                          </a:solidFill>
                        </a:rPr>
                        <a:t>Intrinsic only</a:t>
                      </a:r>
                      <a:endParaRPr lang="en-US" sz="1250" dirty="0"/>
                    </a:p>
                  </a:txBody>
                  <a:tcPr marL="101600" marR="101600" marT="63500" marB="6350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50" dirty="0">
                          <a:solidFill>
                            <a:srgbClr val="1A1A1A"/>
                          </a:solidFill>
                        </a:rPr>
                        <a:t>0</a:t>
                      </a:r>
                      <a:endParaRPr lang="en-US" sz="1250" dirty="0"/>
                    </a:p>
                  </a:txBody>
                  <a:tcPr marL="101600" marR="101600" marT="63500" marB="6350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lgn="ctr">
                        <a:buNone/>
                      </a:pPr>
                      <a:r>
                        <a:rPr lang="en-US" sz="1250" dirty="0">
                          <a:solidFill>
                            <a:srgbClr val="1A1A1A"/>
                          </a:solidFill>
                        </a:rPr>
                        <a:t>200 Qs</a:t>
                      </a:r>
                      <a:endParaRPr lang="en-US" sz="1250" dirty="0"/>
                    </a:p>
                  </a:txBody>
                  <a:tcPr marL="101600" marR="101600" marT="63500" marB="6350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A24A48">
                        <a:tint val="20000"/>
                      </a:srgbClr>
                    </a:solidFill>
                  </a:tcPr>
                </a:tc>
                <a:extLst>
                  <a:ext uri="{0D108BD9-81ED-4DB2-BD59-A6C34878D82A}">
                    <a16:rowId xmlns:a16="http://schemas.microsoft.com/office/drawing/2014/main" val="10004"/>
                  </a:ext>
                </a:extLst>
              </a:tr>
            </a:tbl>
          </a:graphicData>
        </a:graphic>
      </p:graphicFrame>
      <p:sp>
        <p:nvSpPr>
          <p:cNvPr id="42" name="Text Box 46">
            <a:extLst>
              <a:ext uri="{FF2B5EF4-FFF2-40B4-BE49-F238E27FC236}">
                <a16:creationId xmlns:a16="http://schemas.microsoft.com/office/drawing/2014/main" id="{A7E8481A-3AEB-A219-1767-5F660A9CC8FB}"/>
              </a:ext>
            </a:extLst>
          </p:cNvPr>
          <p:cNvSpPr txBox="1"/>
          <p:nvPr/>
        </p:nvSpPr>
        <p:spPr>
          <a:xfrm>
            <a:off x="462280" y="4100195"/>
            <a:ext cx="8074660" cy="312420"/>
          </a:xfrm>
          <a:prstGeom prst="rect">
            <a:avLst/>
          </a:prstGeom>
          <a:noFill/>
        </p:spPr>
        <p:txBody>
          <a:bodyPr wrap="square" rtlCol="0" anchor="t">
            <a:spAutoFit/>
          </a:bodyPr>
          <a:lstStyle/>
          <a:p>
            <a:pPr>
              <a:lnSpc>
                <a:spcPct val="120000"/>
              </a:lnSpc>
            </a:pPr>
            <a:r>
              <a:rPr lang="en-US" sz="1200" b="1" dirty="0">
                <a:solidFill>
                  <a:srgbClr val="411401">
                    <a:lumMod val="90000"/>
                    <a:lumOff val="10000"/>
                  </a:srgbClr>
                </a:solidFill>
                <a:ea typeface="Calibri" pitchFamily="34" charset="-122"/>
                <a:cs typeface="Calibri" pitchFamily="34" charset="-120"/>
                <a:sym typeface="+mn-ea"/>
              </a:rPr>
              <a:t>Max 2 rounds</a:t>
            </a:r>
            <a:r>
              <a:rPr lang="en-US" sz="1200" dirty="0">
                <a:solidFill>
                  <a:srgbClr val="411401">
                    <a:lumMod val="90000"/>
                    <a:lumOff val="10000"/>
                  </a:srgbClr>
                </a:solidFill>
                <a:ea typeface="Calibri" pitchFamily="34" charset="-122"/>
                <a:cs typeface="Calibri" pitchFamily="34" charset="-120"/>
                <a:sym typeface="+mn-ea"/>
              </a:rPr>
              <a:t> </a:t>
            </a:r>
            <a:r>
              <a:rPr lang="en-US" sz="1200" dirty="0">
                <a:solidFill>
                  <a:srgbClr val="1A1A1A"/>
                </a:solidFill>
                <a:ea typeface="Calibri" pitchFamily="34" charset="-122"/>
                <a:cs typeface="Calibri" pitchFamily="34" charset="-120"/>
                <a:sym typeface="+mn-ea"/>
              </a:rPr>
              <a:t>of self-correction were allowed per question, keeping inference cost comparable across models.</a:t>
            </a:r>
          </a:p>
        </p:txBody>
      </p:sp>
      <p:sp>
        <p:nvSpPr>
          <p:cNvPr id="43" name="Text 1">
            <a:extLst>
              <a:ext uri="{FF2B5EF4-FFF2-40B4-BE49-F238E27FC236}">
                <a16:creationId xmlns:a16="http://schemas.microsoft.com/office/drawing/2014/main" id="{04246E28-1A9C-ACFF-A8AA-5F659517C193}"/>
              </a:ext>
            </a:extLst>
          </p:cNvPr>
          <p:cNvSpPr/>
          <p:nvPr/>
        </p:nvSpPr>
        <p:spPr>
          <a:xfrm>
            <a:off x="548640" y="438912"/>
            <a:ext cx="8046720" cy="411480"/>
          </a:xfrm>
          <a:prstGeom prst="rect">
            <a:avLst/>
          </a:prstGeom>
          <a:noFill/>
          <a:ln/>
        </p:spPr>
        <p:txBody>
          <a:bodyPr wrap="square" lIns="0" tIns="0" rIns="0" bIns="0" rtlCol="0" anchor="ctr"/>
          <a:lstStyle/>
          <a:p>
            <a:pPr lvl="0">
              <a:defRPr/>
            </a:pPr>
            <a:r>
              <a:rPr lang="en-US" sz="2300" b="1" dirty="0">
                <a:solidFill>
                  <a:srgbClr val="0F172A"/>
                </a:solidFill>
                <a:latin typeface="Century Schoolbook" panose="02040604050505020304" pitchFamily="18" charset="0"/>
                <a:ea typeface="Calibri" pitchFamily="34" charset="0"/>
                <a:cs typeface="Calibri" pitchFamily="34" charset="0"/>
              </a:rPr>
              <a:t>Models &amp; Test Conditions</a:t>
            </a:r>
            <a:endParaRPr lang="en-US" sz="2300" dirty="0">
              <a:solidFill>
                <a:prstClr val="black"/>
              </a:solidFill>
              <a:latin typeface="Century Schoolbook" panose="02040604050505020304" pitchFamily="18" charset="0"/>
              <a:ea typeface="Calibri" pitchFamily="34" charset="0"/>
              <a:cs typeface="Calibri"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marL="0" indent="0">
              <a:buNone/>
            </a:pPr>
            <a:r>
              <a:rPr lang="en-US" sz="900" b="1" kern="0" spc="150" dirty="0">
                <a:solidFill>
                  <a:srgbClr val="800020"/>
                </a:solidFill>
                <a:latin typeface="Calibri" pitchFamily="34" charset="0"/>
                <a:ea typeface="Calibri" pitchFamily="34" charset="-122"/>
                <a:cs typeface="Calibri" pitchFamily="34" charset="-120"/>
              </a:rPr>
              <a:t>3. METHODOLOGY</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marL="0" indent="0">
              <a:buNone/>
            </a:pPr>
            <a:r>
              <a:rPr lang="en-US" sz="2300" b="1" dirty="0">
                <a:solidFill>
                  <a:srgbClr val="0F172A"/>
                </a:solidFill>
                <a:latin typeface="Century Schoolbook" pitchFamily="34" charset="0"/>
                <a:ea typeface="Century Schoolbook" pitchFamily="34" charset="-122"/>
                <a:cs typeface="Century Schoolbook" pitchFamily="34" charset="-120"/>
              </a:rPr>
              <a:t>Prompting Procedures</a:t>
            </a:r>
            <a:endParaRPr lang="en-US" sz="23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Flow: intrinsic vs oracle regimes</a:t>
            </a:r>
            <a:endParaRPr lang="en-US" sz="1100" dirty="0"/>
          </a:p>
        </p:txBody>
      </p:sp>
      <p:sp>
        <p:nvSpPr>
          <p:cNvPr id="41" name="Text 38"/>
          <p:cNvSpPr/>
          <p:nvPr/>
        </p:nvSpPr>
        <p:spPr>
          <a:xfrm>
            <a:off x="548640" y="4736592"/>
            <a:ext cx="6583680" cy="274320"/>
          </a:xfrm>
          <a:prstGeom prst="rect">
            <a:avLst/>
          </a:prstGeom>
          <a:noFill/>
          <a:ln/>
        </p:spPr>
        <p:txBody>
          <a:bodyPr wrap="square" lIns="0" tIns="0" rIns="0" bIns="0"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42" name="Text 39"/>
          <p:cNvSpPr/>
          <p:nvPr/>
        </p:nvSpPr>
        <p:spPr>
          <a:xfrm>
            <a:off x="7315200" y="4736592"/>
            <a:ext cx="128016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11/23</a:t>
            </a:r>
            <a:endParaRPr lang="en-US" sz="850" dirty="0"/>
          </a:p>
        </p:txBody>
      </p:sp>
      <p:sp>
        <p:nvSpPr>
          <p:cNvPr id="77" name="Shape 3">
            <a:extLst>
              <a:ext uri="{FF2B5EF4-FFF2-40B4-BE49-F238E27FC236}">
                <a16:creationId xmlns:a16="http://schemas.microsoft.com/office/drawing/2014/main" id="{9E4264CF-79A4-5132-B4B3-7E6D3ADFF31B}"/>
              </a:ext>
            </a:extLst>
          </p:cNvPr>
          <p:cNvSpPr/>
          <p:nvPr/>
        </p:nvSpPr>
        <p:spPr>
          <a:xfrm>
            <a:off x="548640" y="1207008"/>
            <a:ext cx="1874520" cy="1051560"/>
          </a:xfrm>
          <a:prstGeom prst="roundRect">
            <a:avLst>
              <a:gd name="adj" fmla="val 6957"/>
            </a:avLst>
          </a:prstGeom>
          <a:solidFill>
            <a:srgbClr val="FFE6E6"/>
          </a:solidFill>
          <a:ln w="12700">
            <a:solidFill>
              <a:srgbClr val="E2E8F0"/>
            </a:solidFill>
            <a:prstDash val="solid"/>
          </a:ln>
        </p:spPr>
      </p:sp>
      <p:sp>
        <p:nvSpPr>
          <p:cNvPr id="78" name="Shape 4">
            <a:extLst>
              <a:ext uri="{FF2B5EF4-FFF2-40B4-BE49-F238E27FC236}">
                <a16:creationId xmlns:a16="http://schemas.microsoft.com/office/drawing/2014/main" id="{159414AB-11D0-0601-E017-F8D4B270F31E}"/>
              </a:ext>
            </a:extLst>
          </p:cNvPr>
          <p:cNvSpPr/>
          <p:nvPr/>
        </p:nvSpPr>
        <p:spPr>
          <a:xfrm>
            <a:off x="685800" y="1353312"/>
            <a:ext cx="256032" cy="256032"/>
          </a:xfrm>
          <a:prstGeom prst="ellipse">
            <a:avLst/>
          </a:prstGeom>
          <a:solidFill>
            <a:srgbClr val="800020"/>
          </a:solidFill>
        </p:spPr>
      </p:sp>
      <p:sp>
        <p:nvSpPr>
          <p:cNvPr id="79" name="Text 5">
            <a:extLst>
              <a:ext uri="{FF2B5EF4-FFF2-40B4-BE49-F238E27FC236}">
                <a16:creationId xmlns:a16="http://schemas.microsoft.com/office/drawing/2014/main" id="{6D3B3FFA-AD70-6EB3-5932-D646D0B9763D}"/>
              </a:ext>
            </a:extLst>
          </p:cNvPr>
          <p:cNvSpPr/>
          <p:nvPr/>
        </p:nvSpPr>
        <p:spPr>
          <a:xfrm>
            <a:off x="685800" y="1353312"/>
            <a:ext cx="256032" cy="256032"/>
          </a:xfrm>
          <a:prstGeom prst="rect">
            <a:avLst/>
          </a:prstGeom>
          <a:noFill/>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FFFFFF"/>
                </a:solidFill>
                <a:effectLst/>
                <a:uLnTx/>
                <a:uFillTx/>
                <a:ea typeface="Calibri" pitchFamily="34" charset="-122"/>
                <a:cs typeface="Calibri" pitchFamily="34" charset="-120"/>
              </a:rPr>
              <a:t>1</a:t>
            </a:r>
            <a:endParaRPr kumimoji="0" lang="en-US" sz="1100" b="0" i="0" u="none" strike="noStrike" kern="0" cap="none" spc="0" normalizeH="0" baseline="0" noProof="0" dirty="0">
              <a:ln>
                <a:noFill/>
              </a:ln>
              <a:solidFill>
                <a:prstClr val="black"/>
              </a:solidFill>
              <a:effectLst/>
              <a:uLnTx/>
              <a:uFillTx/>
            </a:endParaRPr>
          </a:p>
        </p:txBody>
      </p:sp>
      <p:sp>
        <p:nvSpPr>
          <p:cNvPr id="80" name="Text 6">
            <a:extLst>
              <a:ext uri="{FF2B5EF4-FFF2-40B4-BE49-F238E27FC236}">
                <a16:creationId xmlns:a16="http://schemas.microsoft.com/office/drawing/2014/main" id="{D110AC43-3830-F298-86A6-C0E3FD4746C3}"/>
              </a:ext>
            </a:extLst>
          </p:cNvPr>
          <p:cNvSpPr/>
          <p:nvPr/>
        </p:nvSpPr>
        <p:spPr>
          <a:xfrm>
            <a:off x="1005840" y="1353312"/>
            <a:ext cx="1325880" cy="256032"/>
          </a:xfrm>
          <a:prstGeom prst="rect">
            <a:avLst/>
          </a:prstGeom>
          <a:noFill/>
        </p:spPr>
        <p:txBody>
          <a:bodyPr wrap="square" lIns="0" tIns="0" rIns="0" bIns="0" rtlCol="0" anchor="ctr"/>
          <a:lstStyle/>
          <a:p>
            <a:r>
              <a:rPr lang="en-US" altLang="zh-CN" sz="1700" b="1" dirty="0">
                <a:solidFill>
                  <a:srgbClr val="0F172A"/>
                </a:solidFill>
                <a:ea typeface="Calibri" pitchFamily="34" charset="0"/>
                <a:cs typeface="Calibri" pitchFamily="34" charset="0"/>
              </a:rPr>
              <a:t>Ini</a:t>
            </a:r>
            <a:r>
              <a:rPr lang="en-US" sz="1700" b="1" dirty="0">
                <a:solidFill>
                  <a:srgbClr val="0F172A"/>
                </a:solidFill>
                <a:ea typeface="Calibri" pitchFamily="34" charset="0"/>
                <a:cs typeface="Calibri" pitchFamily="34" charset="0"/>
              </a:rPr>
              <a:t>itial</a:t>
            </a:r>
            <a:endParaRPr lang="en-US" sz="1700" dirty="0">
              <a:solidFill>
                <a:prstClr val="black"/>
              </a:solidFill>
              <a:ea typeface="Calibri" pitchFamily="34" charset="0"/>
              <a:cs typeface="Calibri" pitchFamily="34" charset="0"/>
            </a:endParaRPr>
          </a:p>
        </p:txBody>
      </p:sp>
      <p:sp>
        <p:nvSpPr>
          <p:cNvPr id="81" name="Text 7">
            <a:extLst>
              <a:ext uri="{FF2B5EF4-FFF2-40B4-BE49-F238E27FC236}">
                <a16:creationId xmlns:a16="http://schemas.microsoft.com/office/drawing/2014/main" id="{AF7D1C68-EE66-E62A-A12A-62AA7E0B48C5}"/>
              </a:ext>
            </a:extLst>
          </p:cNvPr>
          <p:cNvSpPr/>
          <p:nvPr/>
        </p:nvSpPr>
        <p:spPr>
          <a:xfrm>
            <a:off x="685800" y="1664208"/>
            <a:ext cx="1600200" cy="457200"/>
          </a:xfrm>
          <a:prstGeom prst="rect">
            <a:avLst/>
          </a:prstGeom>
          <a:noFill/>
        </p:spPr>
        <p:txBody>
          <a:bodyPr wrap="square" lIns="0" tIns="0" rIns="0" bIns="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93B"/>
                </a:solidFill>
                <a:effectLst/>
                <a:uLnTx/>
                <a:uFillTx/>
                <a:ea typeface="Calibri" pitchFamily="34" charset="-122"/>
                <a:cs typeface="Calibri" pitchFamily="34" charset="-120"/>
              </a:rPr>
              <a:t>Generate draft</a:t>
            </a:r>
            <a:endParaRPr kumimoji="0" lang="en-US" sz="950" b="0" i="0" u="none" strike="noStrike" kern="0" cap="none" spc="0" normalizeH="0" baseline="0" noProof="0" dirty="0">
              <a:ln>
                <a:noFill/>
              </a:ln>
              <a:solidFill>
                <a:prstClr val="black"/>
              </a:solidFill>
              <a:effectLst/>
              <a:uLnTx/>
              <a:uFillTx/>
            </a:endParaRPr>
          </a:p>
        </p:txBody>
      </p:sp>
      <p:sp>
        <p:nvSpPr>
          <p:cNvPr id="82" name="Shape 8">
            <a:extLst>
              <a:ext uri="{FF2B5EF4-FFF2-40B4-BE49-F238E27FC236}">
                <a16:creationId xmlns:a16="http://schemas.microsoft.com/office/drawing/2014/main" id="{D0A6E98D-B9FD-1A6E-2F87-C130237EE805}"/>
              </a:ext>
            </a:extLst>
          </p:cNvPr>
          <p:cNvSpPr/>
          <p:nvPr/>
        </p:nvSpPr>
        <p:spPr>
          <a:xfrm>
            <a:off x="2441448" y="1664208"/>
            <a:ext cx="146304" cy="128016"/>
          </a:xfrm>
          <a:prstGeom prst="rightArrow">
            <a:avLst/>
          </a:prstGeom>
          <a:solidFill>
            <a:srgbClr val="64748B"/>
          </a:solidFill>
          <a:ln w="12700">
            <a:solidFill>
              <a:srgbClr val="64748B"/>
            </a:solidFill>
            <a:prstDash val="solid"/>
          </a:ln>
        </p:spPr>
      </p:sp>
      <p:sp>
        <p:nvSpPr>
          <p:cNvPr id="83" name="Shape 9">
            <a:extLst>
              <a:ext uri="{FF2B5EF4-FFF2-40B4-BE49-F238E27FC236}">
                <a16:creationId xmlns:a16="http://schemas.microsoft.com/office/drawing/2014/main" id="{319BE3D8-4EF1-FC8A-1D60-1A425F89B851}"/>
              </a:ext>
            </a:extLst>
          </p:cNvPr>
          <p:cNvSpPr/>
          <p:nvPr/>
        </p:nvSpPr>
        <p:spPr>
          <a:xfrm>
            <a:off x="2606040" y="1207008"/>
            <a:ext cx="1874520" cy="1051560"/>
          </a:xfrm>
          <a:prstGeom prst="roundRect">
            <a:avLst>
              <a:gd name="adj" fmla="val 6957"/>
            </a:avLst>
          </a:prstGeom>
          <a:solidFill>
            <a:srgbClr val="FFE6E6"/>
          </a:solidFill>
          <a:ln w="12700">
            <a:solidFill>
              <a:srgbClr val="E2E8F0"/>
            </a:solidFill>
            <a:prstDash val="solid"/>
          </a:ln>
        </p:spPr>
      </p:sp>
      <p:sp>
        <p:nvSpPr>
          <p:cNvPr id="84" name="Shape 10">
            <a:extLst>
              <a:ext uri="{FF2B5EF4-FFF2-40B4-BE49-F238E27FC236}">
                <a16:creationId xmlns:a16="http://schemas.microsoft.com/office/drawing/2014/main" id="{6ADFD640-95AC-EE88-0364-F422698A0380}"/>
              </a:ext>
            </a:extLst>
          </p:cNvPr>
          <p:cNvSpPr/>
          <p:nvPr/>
        </p:nvSpPr>
        <p:spPr>
          <a:xfrm>
            <a:off x="2743200" y="1353312"/>
            <a:ext cx="256032" cy="256032"/>
          </a:xfrm>
          <a:prstGeom prst="ellipse">
            <a:avLst/>
          </a:prstGeom>
          <a:solidFill>
            <a:srgbClr val="800020"/>
          </a:solidFill>
        </p:spPr>
      </p:sp>
      <p:sp>
        <p:nvSpPr>
          <p:cNvPr id="85" name="Text 11">
            <a:extLst>
              <a:ext uri="{FF2B5EF4-FFF2-40B4-BE49-F238E27FC236}">
                <a16:creationId xmlns:a16="http://schemas.microsoft.com/office/drawing/2014/main" id="{7CE2BBE7-5CEC-6684-E486-416EBB7F95F6}"/>
              </a:ext>
            </a:extLst>
          </p:cNvPr>
          <p:cNvSpPr/>
          <p:nvPr/>
        </p:nvSpPr>
        <p:spPr>
          <a:xfrm>
            <a:off x="2743200" y="1353312"/>
            <a:ext cx="256032" cy="256032"/>
          </a:xfrm>
          <a:prstGeom prst="rect">
            <a:avLst/>
          </a:prstGeom>
          <a:noFill/>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FFFFFF"/>
                </a:solidFill>
                <a:effectLst/>
                <a:uLnTx/>
                <a:uFillTx/>
                <a:ea typeface="Calibri" pitchFamily="34" charset="-122"/>
                <a:cs typeface="Calibri" pitchFamily="34" charset="-120"/>
              </a:rPr>
              <a:t>2</a:t>
            </a:r>
            <a:endParaRPr kumimoji="0" lang="en-US" sz="1100" b="0" i="0" u="none" strike="noStrike" kern="0" cap="none" spc="0" normalizeH="0" baseline="0" noProof="0" dirty="0">
              <a:ln>
                <a:noFill/>
              </a:ln>
              <a:solidFill>
                <a:prstClr val="black"/>
              </a:solidFill>
              <a:effectLst/>
              <a:uLnTx/>
              <a:uFillTx/>
            </a:endParaRPr>
          </a:p>
        </p:txBody>
      </p:sp>
      <p:sp>
        <p:nvSpPr>
          <p:cNvPr id="86" name="Text 12">
            <a:extLst>
              <a:ext uri="{FF2B5EF4-FFF2-40B4-BE49-F238E27FC236}">
                <a16:creationId xmlns:a16="http://schemas.microsoft.com/office/drawing/2014/main" id="{4A5031F6-B239-7015-31FC-8510832CAFCB}"/>
              </a:ext>
            </a:extLst>
          </p:cNvPr>
          <p:cNvSpPr/>
          <p:nvPr/>
        </p:nvSpPr>
        <p:spPr>
          <a:xfrm>
            <a:off x="3063240" y="1353312"/>
            <a:ext cx="1325880" cy="256032"/>
          </a:xfrm>
          <a:prstGeom prst="rect">
            <a:avLst/>
          </a:prstGeom>
          <a:noFill/>
        </p:spPr>
        <p:txBody>
          <a:bodyPr wrap="square" lIns="0" tIns="0" rIns="0" bIns="0" rtlCol="0" anchor="ctr"/>
          <a:lstStyle/>
          <a:p>
            <a:r>
              <a:rPr lang="en-US" altLang="zh-CN" sz="1700" b="1" dirty="0">
                <a:solidFill>
                  <a:srgbClr val="0F172A"/>
                </a:solidFill>
                <a:ea typeface="Calibri" pitchFamily="34" charset="0"/>
                <a:cs typeface="Calibri" pitchFamily="34" charset="0"/>
              </a:rPr>
              <a:t>Cr</a:t>
            </a:r>
            <a:r>
              <a:rPr lang="en-US" sz="1700" b="1" dirty="0">
                <a:solidFill>
                  <a:srgbClr val="0F172A"/>
                </a:solidFill>
                <a:ea typeface="Calibri" pitchFamily="34" charset="0"/>
                <a:cs typeface="Calibri" pitchFamily="34" charset="0"/>
              </a:rPr>
              <a:t>itique</a:t>
            </a:r>
            <a:endParaRPr lang="en-US" sz="1700" dirty="0">
              <a:solidFill>
                <a:prstClr val="black"/>
              </a:solidFill>
              <a:ea typeface="Calibri" pitchFamily="34" charset="0"/>
              <a:cs typeface="Calibri" pitchFamily="34" charset="0"/>
            </a:endParaRPr>
          </a:p>
        </p:txBody>
      </p:sp>
      <p:sp>
        <p:nvSpPr>
          <p:cNvPr id="87" name="Text 13">
            <a:extLst>
              <a:ext uri="{FF2B5EF4-FFF2-40B4-BE49-F238E27FC236}">
                <a16:creationId xmlns:a16="http://schemas.microsoft.com/office/drawing/2014/main" id="{F9241421-CD57-5BF9-2890-47224D789CBA}"/>
              </a:ext>
            </a:extLst>
          </p:cNvPr>
          <p:cNvSpPr/>
          <p:nvPr/>
        </p:nvSpPr>
        <p:spPr>
          <a:xfrm>
            <a:off x="2743200" y="1664208"/>
            <a:ext cx="1600200" cy="457200"/>
          </a:xfrm>
          <a:prstGeom prst="rect">
            <a:avLst/>
          </a:prstGeom>
          <a:noFill/>
        </p:spPr>
        <p:txBody>
          <a:bodyPr wrap="square" lIns="0" tIns="0" rIns="0" bIns="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93B"/>
                </a:solidFill>
                <a:effectLst/>
                <a:uLnTx/>
                <a:uFillTx/>
                <a:ea typeface="Calibri" pitchFamily="34" charset="-122"/>
                <a:cs typeface="Calibri" pitchFamily="34" charset="-120"/>
              </a:rPr>
              <a:t>Review logic</a:t>
            </a:r>
            <a:endParaRPr kumimoji="0" lang="en-US" sz="950" b="0" i="0" u="none" strike="noStrike" kern="0" cap="none" spc="0" normalizeH="0" baseline="0" noProof="0" dirty="0">
              <a:ln>
                <a:noFill/>
              </a:ln>
              <a:solidFill>
                <a:prstClr val="black"/>
              </a:solidFill>
              <a:effectLst/>
              <a:uLnTx/>
              <a:uFillTx/>
            </a:endParaRPr>
          </a:p>
        </p:txBody>
      </p:sp>
      <p:sp>
        <p:nvSpPr>
          <p:cNvPr id="88" name="Shape 14">
            <a:extLst>
              <a:ext uri="{FF2B5EF4-FFF2-40B4-BE49-F238E27FC236}">
                <a16:creationId xmlns:a16="http://schemas.microsoft.com/office/drawing/2014/main" id="{3B009D99-35BA-CBC0-6AC4-04CDC6CF829E}"/>
              </a:ext>
            </a:extLst>
          </p:cNvPr>
          <p:cNvSpPr/>
          <p:nvPr/>
        </p:nvSpPr>
        <p:spPr>
          <a:xfrm>
            <a:off x="4498848" y="1664208"/>
            <a:ext cx="146304" cy="128016"/>
          </a:xfrm>
          <a:prstGeom prst="rightArrow">
            <a:avLst/>
          </a:prstGeom>
          <a:solidFill>
            <a:srgbClr val="64748B"/>
          </a:solidFill>
          <a:ln w="12700">
            <a:solidFill>
              <a:srgbClr val="64748B"/>
            </a:solidFill>
            <a:prstDash val="solid"/>
          </a:ln>
        </p:spPr>
      </p:sp>
      <p:sp>
        <p:nvSpPr>
          <p:cNvPr id="89" name="Shape 15">
            <a:extLst>
              <a:ext uri="{FF2B5EF4-FFF2-40B4-BE49-F238E27FC236}">
                <a16:creationId xmlns:a16="http://schemas.microsoft.com/office/drawing/2014/main" id="{E5A88A57-58AE-7CE6-26C5-3AC8BBDD9FAA}"/>
              </a:ext>
            </a:extLst>
          </p:cNvPr>
          <p:cNvSpPr/>
          <p:nvPr/>
        </p:nvSpPr>
        <p:spPr>
          <a:xfrm>
            <a:off x="4663440" y="1207008"/>
            <a:ext cx="1874520" cy="1051560"/>
          </a:xfrm>
          <a:prstGeom prst="roundRect">
            <a:avLst>
              <a:gd name="adj" fmla="val 6957"/>
            </a:avLst>
          </a:prstGeom>
          <a:solidFill>
            <a:srgbClr val="FFE6E6"/>
          </a:solidFill>
          <a:ln w="12700">
            <a:solidFill>
              <a:srgbClr val="E2E8F0"/>
            </a:solidFill>
            <a:prstDash val="solid"/>
          </a:ln>
        </p:spPr>
      </p:sp>
      <p:sp>
        <p:nvSpPr>
          <p:cNvPr id="90" name="Shape 16">
            <a:extLst>
              <a:ext uri="{FF2B5EF4-FFF2-40B4-BE49-F238E27FC236}">
                <a16:creationId xmlns:a16="http://schemas.microsoft.com/office/drawing/2014/main" id="{0DE4F36C-662F-94D3-5DF5-F90CDF0F48B8}"/>
              </a:ext>
            </a:extLst>
          </p:cNvPr>
          <p:cNvSpPr/>
          <p:nvPr/>
        </p:nvSpPr>
        <p:spPr>
          <a:xfrm>
            <a:off x="4800600" y="1353312"/>
            <a:ext cx="256032" cy="256032"/>
          </a:xfrm>
          <a:prstGeom prst="ellipse">
            <a:avLst/>
          </a:prstGeom>
          <a:solidFill>
            <a:srgbClr val="800020"/>
          </a:solidFill>
        </p:spPr>
      </p:sp>
      <p:sp>
        <p:nvSpPr>
          <p:cNvPr id="91" name="Text 17">
            <a:extLst>
              <a:ext uri="{FF2B5EF4-FFF2-40B4-BE49-F238E27FC236}">
                <a16:creationId xmlns:a16="http://schemas.microsoft.com/office/drawing/2014/main" id="{762CE6AA-38B9-CD44-FD2B-EA8244BD0B96}"/>
              </a:ext>
            </a:extLst>
          </p:cNvPr>
          <p:cNvSpPr/>
          <p:nvPr/>
        </p:nvSpPr>
        <p:spPr>
          <a:xfrm>
            <a:off x="4800600" y="1353312"/>
            <a:ext cx="256032" cy="256032"/>
          </a:xfrm>
          <a:prstGeom prst="rect">
            <a:avLst/>
          </a:prstGeom>
          <a:noFill/>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FFFFFF"/>
                </a:solidFill>
                <a:effectLst/>
                <a:uLnTx/>
                <a:uFillTx/>
                <a:ea typeface="Calibri" pitchFamily="34" charset="-122"/>
                <a:cs typeface="Calibri" pitchFamily="34" charset="-120"/>
              </a:rPr>
              <a:t>3</a:t>
            </a:r>
            <a:endParaRPr kumimoji="0" lang="en-US" sz="1100" b="0" i="0" u="none" strike="noStrike" kern="0" cap="none" spc="0" normalizeH="0" baseline="0" noProof="0" dirty="0">
              <a:ln>
                <a:noFill/>
              </a:ln>
              <a:solidFill>
                <a:prstClr val="black"/>
              </a:solidFill>
              <a:effectLst/>
              <a:uLnTx/>
              <a:uFillTx/>
            </a:endParaRPr>
          </a:p>
        </p:txBody>
      </p:sp>
      <p:sp>
        <p:nvSpPr>
          <p:cNvPr id="92" name="Text 18">
            <a:extLst>
              <a:ext uri="{FF2B5EF4-FFF2-40B4-BE49-F238E27FC236}">
                <a16:creationId xmlns:a16="http://schemas.microsoft.com/office/drawing/2014/main" id="{D26CF056-938A-2BF3-B32B-21FC189C736E}"/>
              </a:ext>
            </a:extLst>
          </p:cNvPr>
          <p:cNvSpPr/>
          <p:nvPr/>
        </p:nvSpPr>
        <p:spPr>
          <a:xfrm>
            <a:off x="5120640" y="1353312"/>
            <a:ext cx="1325880" cy="256032"/>
          </a:xfrm>
          <a:prstGeom prst="rect">
            <a:avLst/>
          </a:prstGeom>
          <a:noFill/>
        </p:spPr>
        <p:txBody>
          <a:bodyPr wrap="square" lIns="0" tIns="0" rIns="0" bIns="0" rtlCol="0" anchor="ctr"/>
          <a:lstStyle/>
          <a:p>
            <a:r>
              <a:rPr lang="en-US" altLang="zh-CN" sz="1700" b="1" dirty="0">
                <a:solidFill>
                  <a:srgbClr val="0F172A"/>
                </a:solidFill>
                <a:ea typeface="Calibri" pitchFamily="34" charset="0"/>
                <a:cs typeface="Calibri" pitchFamily="34" charset="0"/>
              </a:rPr>
              <a:t>Re</a:t>
            </a:r>
            <a:r>
              <a:rPr lang="en-US" sz="1700" b="1" dirty="0">
                <a:solidFill>
                  <a:srgbClr val="0F172A"/>
                </a:solidFill>
                <a:ea typeface="Calibri" pitchFamily="34" charset="0"/>
                <a:cs typeface="Calibri" pitchFamily="34" charset="0"/>
              </a:rPr>
              <a:t>vise</a:t>
            </a:r>
            <a:endParaRPr lang="en-US" sz="1700" dirty="0">
              <a:solidFill>
                <a:prstClr val="black"/>
              </a:solidFill>
              <a:ea typeface="Calibri" pitchFamily="34" charset="0"/>
              <a:cs typeface="Calibri" pitchFamily="34" charset="0"/>
            </a:endParaRPr>
          </a:p>
        </p:txBody>
      </p:sp>
      <p:sp>
        <p:nvSpPr>
          <p:cNvPr id="93" name="Text 19">
            <a:extLst>
              <a:ext uri="{FF2B5EF4-FFF2-40B4-BE49-F238E27FC236}">
                <a16:creationId xmlns:a16="http://schemas.microsoft.com/office/drawing/2014/main" id="{29FB5257-34DA-9A06-8592-CB71E919010F}"/>
              </a:ext>
            </a:extLst>
          </p:cNvPr>
          <p:cNvSpPr/>
          <p:nvPr/>
        </p:nvSpPr>
        <p:spPr>
          <a:xfrm>
            <a:off x="4800600" y="1664208"/>
            <a:ext cx="1600200" cy="457200"/>
          </a:xfrm>
          <a:prstGeom prst="rect">
            <a:avLst/>
          </a:prstGeom>
          <a:noFill/>
        </p:spPr>
        <p:txBody>
          <a:bodyPr wrap="square" lIns="0" tIns="0" rIns="0" bIns="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93B"/>
                </a:solidFill>
                <a:effectLst/>
                <a:uLnTx/>
                <a:uFillTx/>
                <a:ea typeface="Calibri" pitchFamily="34" charset="-122"/>
                <a:cs typeface="Calibri" pitchFamily="34" charset="-120"/>
              </a:rPr>
              <a:t>New reasoning</a:t>
            </a:r>
            <a:endParaRPr kumimoji="0" lang="en-US" sz="950" b="0" i="0" u="none" strike="noStrike" kern="0" cap="none" spc="0" normalizeH="0" baseline="0" noProof="0" dirty="0">
              <a:ln>
                <a:noFill/>
              </a:ln>
              <a:solidFill>
                <a:prstClr val="black"/>
              </a:solidFill>
              <a:effectLst/>
              <a:uLnTx/>
              <a:uFillTx/>
            </a:endParaRPr>
          </a:p>
        </p:txBody>
      </p:sp>
      <p:sp>
        <p:nvSpPr>
          <p:cNvPr id="94" name="Shape 20">
            <a:extLst>
              <a:ext uri="{FF2B5EF4-FFF2-40B4-BE49-F238E27FC236}">
                <a16:creationId xmlns:a16="http://schemas.microsoft.com/office/drawing/2014/main" id="{8546BE52-52E9-CC2A-6D77-8E42F0964E66}"/>
              </a:ext>
            </a:extLst>
          </p:cNvPr>
          <p:cNvSpPr/>
          <p:nvPr/>
        </p:nvSpPr>
        <p:spPr>
          <a:xfrm>
            <a:off x="6556248" y="1664208"/>
            <a:ext cx="146304" cy="128016"/>
          </a:xfrm>
          <a:prstGeom prst="rightArrow">
            <a:avLst/>
          </a:prstGeom>
          <a:solidFill>
            <a:srgbClr val="64748B"/>
          </a:solidFill>
          <a:ln w="12700">
            <a:solidFill>
              <a:srgbClr val="64748B"/>
            </a:solidFill>
            <a:prstDash val="solid"/>
          </a:ln>
        </p:spPr>
      </p:sp>
      <p:sp>
        <p:nvSpPr>
          <p:cNvPr id="95" name="Shape 21">
            <a:extLst>
              <a:ext uri="{FF2B5EF4-FFF2-40B4-BE49-F238E27FC236}">
                <a16:creationId xmlns:a16="http://schemas.microsoft.com/office/drawing/2014/main" id="{1DA3BCD5-EBE0-9BC2-C166-D500A743BF52}"/>
              </a:ext>
            </a:extLst>
          </p:cNvPr>
          <p:cNvSpPr/>
          <p:nvPr/>
        </p:nvSpPr>
        <p:spPr>
          <a:xfrm>
            <a:off x="6720849" y="1207041"/>
            <a:ext cx="1874520" cy="1051560"/>
          </a:xfrm>
          <a:prstGeom prst="roundRect">
            <a:avLst>
              <a:gd name="adj" fmla="val 6957"/>
            </a:avLst>
          </a:prstGeom>
          <a:solidFill>
            <a:srgbClr val="FFE6E6"/>
          </a:solidFill>
          <a:ln w="12700">
            <a:solidFill>
              <a:srgbClr val="E2E8F0"/>
            </a:solidFill>
            <a:prstDash val="solid"/>
          </a:ln>
        </p:spPr>
      </p:sp>
      <p:sp>
        <p:nvSpPr>
          <p:cNvPr id="96" name="Shape 22">
            <a:extLst>
              <a:ext uri="{FF2B5EF4-FFF2-40B4-BE49-F238E27FC236}">
                <a16:creationId xmlns:a16="http://schemas.microsoft.com/office/drawing/2014/main" id="{BB8C3339-8265-4903-73CF-2F31875ACC65}"/>
              </a:ext>
            </a:extLst>
          </p:cNvPr>
          <p:cNvSpPr/>
          <p:nvPr/>
        </p:nvSpPr>
        <p:spPr>
          <a:xfrm>
            <a:off x="6858000" y="1353312"/>
            <a:ext cx="256032" cy="256032"/>
          </a:xfrm>
          <a:prstGeom prst="ellipse">
            <a:avLst/>
          </a:prstGeom>
          <a:solidFill>
            <a:srgbClr val="800020"/>
          </a:solidFill>
        </p:spPr>
      </p:sp>
      <p:sp>
        <p:nvSpPr>
          <p:cNvPr id="97" name="Text 23">
            <a:extLst>
              <a:ext uri="{FF2B5EF4-FFF2-40B4-BE49-F238E27FC236}">
                <a16:creationId xmlns:a16="http://schemas.microsoft.com/office/drawing/2014/main" id="{EB6BA682-5535-5089-9A38-321A1497C461}"/>
              </a:ext>
            </a:extLst>
          </p:cNvPr>
          <p:cNvSpPr/>
          <p:nvPr/>
        </p:nvSpPr>
        <p:spPr>
          <a:xfrm>
            <a:off x="6858000" y="1353312"/>
            <a:ext cx="256032" cy="256032"/>
          </a:xfrm>
          <a:prstGeom prst="rect">
            <a:avLst/>
          </a:prstGeom>
          <a:noFill/>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FFFFFF"/>
                </a:solidFill>
                <a:effectLst/>
                <a:uLnTx/>
                <a:uFillTx/>
                <a:ea typeface="Calibri" pitchFamily="34" charset="-122"/>
                <a:cs typeface="Calibri" pitchFamily="34" charset="-120"/>
              </a:rPr>
              <a:t>4</a:t>
            </a:r>
            <a:endParaRPr kumimoji="0" lang="en-US" sz="1100" b="0" i="0" u="none" strike="noStrike" kern="0" cap="none" spc="0" normalizeH="0" baseline="0" noProof="0" dirty="0">
              <a:ln>
                <a:noFill/>
              </a:ln>
              <a:solidFill>
                <a:prstClr val="black"/>
              </a:solidFill>
              <a:effectLst/>
              <a:uLnTx/>
              <a:uFillTx/>
            </a:endParaRPr>
          </a:p>
        </p:txBody>
      </p:sp>
      <p:sp>
        <p:nvSpPr>
          <p:cNvPr id="98" name="Text 24">
            <a:extLst>
              <a:ext uri="{FF2B5EF4-FFF2-40B4-BE49-F238E27FC236}">
                <a16:creationId xmlns:a16="http://schemas.microsoft.com/office/drawing/2014/main" id="{ACC33ABE-2079-3941-ABD8-877FA26E916A}"/>
              </a:ext>
            </a:extLst>
          </p:cNvPr>
          <p:cNvSpPr/>
          <p:nvPr/>
        </p:nvSpPr>
        <p:spPr>
          <a:xfrm>
            <a:off x="6720830" y="1375563"/>
            <a:ext cx="1324109" cy="211590"/>
          </a:xfrm>
          <a:prstGeom prst="rect">
            <a:avLst/>
          </a:prstGeom>
          <a:noFill/>
        </p:spPr>
        <p:txBody>
          <a:bodyPr wrap="square" lIns="0" tIns="0" rIns="0" bIns="0" rtlCol="0" anchor="ctr"/>
          <a:lstStyle/>
          <a:p>
            <a:pPr marL="0" marR="0" lvl="0" indent="457200" defTabSz="914400" eaLnBrk="1" fontAlgn="auto" latinLnBrk="0" hangingPunct="1">
              <a:lnSpc>
                <a:spcPct val="100000"/>
              </a:lnSpc>
              <a:spcBef>
                <a:spcPts val="0"/>
              </a:spcBef>
              <a:spcAft>
                <a:spcPts val="0"/>
              </a:spcAft>
              <a:buClrTx/>
              <a:buSzTx/>
              <a:buFontTx/>
              <a:buNone/>
              <a:tabLst/>
              <a:defRPr/>
            </a:pPr>
            <a:r>
              <a:rPr kumimoji="0" lang="en-US" altLang="zh-CN" sz="1700" b="0" i="0" u="none" strike="noStrike" kern="0" cap="none" spc="0" normalizeH="0" baseline="0" noProof="0" dirty="0">
                <a:ln>
                  <a:noFill/>
                </a:ln>
                <a:solidFill>
                  <a:prstClr val="black"/>
                </a:solidFill>
                <a:effectLst/>
                <a:uLnTx/>
                <a:uFillTx/>
              </a:rPr>
              <a:t>Iterate</a:t>
            </a:r>
            <a:endParaRPr kumimoji="0" lang="en-US" sz="1700" b="0" i="0" u="none" strike="noStrike" kern="0" cap="none" spc="0" normalizeH="0" baseline="0" noProof="0" dirty="0">
              <a:ln>
                <a:noFill/>
              </a:ln>
              <a:solidFill>
                <a:prstClr val="black"/>
              </a:solidFill>
              <a:effectLst/>
              <a:uLnTx/>
              <a:uFillTx/>
            </a:endParaRPr>
          </a:p>
        </p:txBody>
      </p:sp>
      <p:sp>
        <p:nvSpPr>
          <p:cNvPr id="99" name="Text 25">
            <a:extLst>
              <a:ext uri="{FF2B5EF4-FFF2-40B4-BE49-F238E27FC236}">
                <a16:creationId xmlns:a16="http://schemas.microsoft.com/office/drawing/2014/main" id="{98A9350D-CFED-794B-4D30-0F4D4F5108E7}"/>
              </a:ext>
            </a:extLst>
          </p:cNvPr>
          <p:cNvSpPr/>
          <p:nvPr/>
        </p:nvSpPr>
        <p:spPr>
          <a:xfrm>
            <a:off x="6858000" y="1664208"/>
            <a:ext cx="1600200" cy="457200"/>
          </a:xfrm>
          <a:prstGeom prst="rect">
            <a:avLst/>
          </a:prstGeom>
          <a:noFill/>
        </p:spPr>
        <p:txBody>
          <a:bodyPr wrap="square" lIns="0" tIns="0" rIns="0" bIns="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93B"/>
                </a:solidFill>
                <a:effectLst/>
                <a:uLnTx/>
                <a:uFillTx/>
                <a:ea typeface="Calibri" pitchFamily="34" charset="-122"/>
                <a:cs typeface="Calibri" pitchFamily="34" charset="-120"/>
              </a:rPr>
              <a:t>Round 2 repeat</a:t>
            </a:r>
            <a:endParaRPr kumimoji="0" lang="en-US" sz="950" b="0" i="0" u="none" strike="noStrike" kern="0" cap="none" spc="0" normalizeH="0" baseline="0" noProof="0" dirty="0">
              <a:ln>
                <a:noFill/>
              </a:ln>
              <a:solidFill>
                <a:prstClr val="black"/>
              </a:solidFill>
              <a:effectLst/>
              <a:uLnTx/>
              <a:uFillTx/>
            </a:endParaRPr>
          </a:p>
        </p:txBody>
      </p:sp>
      <p:sp>
        <p:nvSpPr>
          <p:cNvPr id="100" name="Shape 26">
            <a:extLst>
              <a:ext uri="{FF2B5EF4-FFF2-40B4-BE49-F238E27FC236}">
                <a16:creationId xmlns:a16="http://schemas.microsoft.com/office/drawing/2014/main" id="{940F9579-72F5-31E8-130B-3CDA0826A755}"/>
              </a:ext>
            </a:extLst>
          </p:cNvPr>
          <p:cNvSpPr/>
          <p:nvPr/>
        </p:nvSpPr>
        <p:spPr>
          <a:xfrm>
            <a:off x="548640" y="2468880"/>
            <a:ext cx="3886200" cy="1965960"/>
          </a:xfrm>
          <a:prstGeom prst="roundRect">
            <a:avLst>
              <a:gd name="adj" fmla="val 3721"/>
            </a:avLst>
          </a:prstGeom>
          <a:solidFill>
            <a:srgbClr val="F0FDF4"/>
          </a:solidFill>
          <a:ln w="12700">
            <a:solidFill>
              <a:srgbClr val="166534"/>
            </a:solidFill>
            <a:prstDash val="solid"/>
          </a:ln>
        </p:spPr>
      </p:sp>
      <p:sp>
        <p:nvSpPr>
          <p:cNvPr id="101" name="Shape 27">
            <a:extLst>
              <a:ext uri="{FF2B5EF4-FFF2-40B4-BE49-F238E27FC236}">
                <a16:creationId xmlns:a16="http://schemas.microsoft.com/office/drawing/2014/main" id="{CCB91234-EAB4-6F92-0302-E642E479C689}"/>
              </a:ext>
            </a:extLst>
          </p:cNvPr>
          <p:cNvSpPr/>
          <p:nvPr/>
        </p:nvSpPr>
        <p:spPr>
          <a:xfrm>
            <a:off x="731520" y="2633472"/>
            <a:ext cx="256032" cy="256032"/>
          </a:xfrm>
          <a:prstGeom prst="ellipse">
            <a:avLst/>
          </a:prstGeom>
          <a:solidFill>
            <a:srgbClr val="166534"/>
          </a:solidFill>
        </p:spPr>
      </p:sp>
      <p:sp>
        <p:nvSpPr>
          <p:cNvPr id="102" name="Text 28">
            <a:extLst>
              <a:ext uri="{FF2B5EF4-FFF2-40B4-BE49-F238E27FC236}">
                <a16:creationId xmlns:a16="http://schemas.microsoft.com/office/drawing/2014/main" id="{3AC473CB-AF45-2222-E635-95B9BEA97F09}"/>
              </a:ext>
            </a:extLst>
          </p:cNvPr>
          <p:cNvSpPr/>
          <p:nvPr/>
        </p:nvSpPr>
        <p:spPr>
          <a:xfrm>
            <a:off x="731520" y="2633472"/>
            <a:ext cx="256032" cy="256032"/>
          </a:xfrm>
          <a:prstGeom prst="rect">
            <a:avLst/>
          </a:prstGeom>
          <a:noFill/>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ea typeface="Calibri" pitchFamily="34" charset="-122"/>
                <a:cs typeface="Calibri" pitchFamily="34" charset="-120"/>
              </a:rPr>
              <a:t>✓</a:t>
            </a:r>
            <a:endParaRPr kumimoji="0" lang="en-US" sz="1000" b="0" i="0" u="none" strike="noStrike" kern="0" cap="none" spc="0" normalizeH="0" baseline="0" noProof="0" dirty="0">
              <a:ln>
                <a:noFill/>
              </a:ln>
              <a:solidFill>
                <a:prstClr val="black"/>
              </a:solidFill>
              <a:effectLst/>
              <a:uLnTx/>
              <a:uFillTx/>
            </a:endParaRPr>
          </a:p>
        </p:txBody>
      </p:sp>
      <p:sp>
        <p:nvSpPr>
          <p:cNvPr id="103" name="Text 29">
            <a:extLst>
              <a:ext uri="{FF2B5EF4-FFF2-40B4-BE49-F238E27FC236}">
                <a16:creationId xmlns:a16="http://schemas.microsoft.com/office/drawing/2014/main" id="{3275ED65-97A5-A1C1-581C-40C6A101A33E}"/>
              </a:ext>
            </a:extLst>
          </p:cNvPr>
          <p:cNvSpPr/>
          <p:nvPr/>
        </p:nvSpPr>
        <p:spPr>
          <a:xfrm>
            <a:off x="1051560" y="2633472"/>
            <a:ext cx="3246120" cy="256032"/>
          </a:xfrm>
          <a:prstGeom prst="rect">
            <a:avLst/>
          </a:prstGeom>
          <a:noFill/>
        </p:spPr>
        <p:txBody>
          <a:bodyPr wrap="square" lIns="0" tIns="0" rIns="0" bIns="0" rtlCol="0" anchor="ctr"/>
          <a:lstStyle/>
          <a:p>
            <a:r>
              <a:rPr lang="en-US" b="1" dirty="0">
                <a:solidFill>
                  <a:srgbClr val="166534"/>
                </a:solidFill>
                <a:ea typeface="Calibri" pitchFamily="34" charset="0"/>
                <a:cs typeface="Calibri" pitchFamily="34" charset="0"/>
              </a:rPr>
              <a:t>With Oracle (Flawed)</a:t>
            </a:r>
            <a:endParaRPr lang="en-US" dirty="0">
              <a:solidFill>
                <a:prstClr val="black"/>
              </a:solidFill>
              <a:ea typeface="Calibri" pitchFamily="34" charset="0"/>
              <a:cs typeface="Calibri" pitchFamily="34" charset="0"/>
            </a:endParaRPr>
          </a:p>
        </p:txBody>
      </p:sp>
      <p:sp>
        <p:nvSpPr>
          <p:cNvPr id="104" name="Text 30">
            <a:extLst>
              <a:ext uri="{FF2B5EF4-FFF2-40B4-BE49-F238E27FC236}">
                <a16:creationId xmlns:a16="http://schemas.microsoft.com/office/drawing/2014/main" id="{2AAACCCD-307A-B1E2-BF51-4E2F1139C2D7}"/>
              </a:ext>
            </a:extLst>
          </p:cNvPr>
          <p:cNvSpPr/>
          <p:nvPr/>
        </p:nvSpPr>
        <p:spPr>
          <a:xfrm>
            <a:off x="777240" y="2971800"/>
            <a:ext cx="3429000" cy="1280160"/>
          </a:xfrm>
          <a:prstGeom prst="rect">
            <a:avLst/>
          </a:prstGeom>
          <a:noFill/>
        </p:spPr>
        <p:txBody>
          <a:bodyPr wrap="square" lIns="0" tIns="0" rIns="0" bIns="0" rtlCol="0" anchor="ctr"/>
          <a:lstStyle/>
          <a:p>
            <a:pPr marL="0" marR="0" lvl="0" indent="0"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E293B"/>
                </a:solidFill>
                <a:effectLst/>
                <a:uLnTx/>
                <a:uFillTx/>
                <a:ea typeface="Calibri" pitchFamily="34" charset="-122"/>
                <a:cs typeface="Calibri" pitchFamily="34" charset="-120"/>
              </a:rPr>
              <a:t>• Verifier checks answer</a:t>
            </a:r>
            <a:endParaRPr kumimoji="0" lang="en-US" sz="1000" b="0"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E293B"/>
                </a:solidFill>
                <a:effectLst/>
                <a:uLnTx/>
                <a:uFillTx/>
                <a:ea typeface="Calibri" pitchFamily="34" charset="-122"/>
                <a:cs typeface="Calibri" pitchFamily="34" charset="-120"/>
              </a:rPr>
              <a:t>• Tells model </a:t>
            </a:r>
            <a:r>
              <a:rPr kumimoji="0" lang="en-US" altLang="zh-CN" sz="1000" b="0" i="0" u="none" strike="noStrike" kern="0" cap="none" spc="0" normalizeH="0" baseline="0" noProof="0" dirty="0">
                <a:ln>
                  <a:noFill/>
                </a:ln>
                <a:solidFill>
                  <a:srgbClr val="1E293B"/>
                </a:solidFill>
                <a:effectLst/>
                <a:uLnTx/>
                <a:uFillTx/>
                <a:ea typeface="Calibri" pitchFamily="34" charset="-122"/>
                <a:cs typeface="Calibri" pitchFamily="34" charset="-120"/>
              </a:rPr>
              <a:t>when</a:t>
            </a:r>
            <a:r>
              <a:rPr kumimoji="0" lang="en-US" sz="1000" b="0" i="0" u="none" strike="noStrike" kern="0" cap="none" spc="0" normalizeH="0" baseline="0" noProof="0" dirty="0">
                <a:ln>
                  <a:noFill/>
                </a:ln>
                <a:solidFill>
                  <a:srgbClr val="1E293B"/>
                </a:solidFill>
                <a:effectLst/>
                <a:uLnTx/>
                <a:uFillTx/>
                <a:ea typeface="Calibri" pitchFamily="34" charset="-122"/>
                <a:cs typeface="Calibri" pitchFamily="34" charset="-120"/>
              </a:rPr>
              <a:t> wrong</a:t>
            </a:r>
            <a:endParaRPr kumimoji="0" lang="en-US" sz="1000" b="0"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E293B"/>
                </a:solidFill>
                <a:effectLst/>
                <a:uLnTx/>
                <a:uFillTx/>
                <a:ea typeface="Calibri" pitchFamily="34" charset="-122"/>
                <a:cs typeface="Calibri" pitchFamily="34" charset="-120"/>
              </a:rPr>
              <a:t>• Correct answers untouched -&gt; inflated</a:t>
            </a:r>
            <a:endParaRPr kumimoji="0" lang="en-US" sz="1000" b="0" i="0" u="none" strike="noStrike" kern="0" cap="none" spc="0" normalizeH="0" baseline="0" noProof="0" dirty="0">
              <a:ln>
                <a:noFill/>
              </a:ln>
              <a:solidFill>
                <a:prstClr val="black"/>
              </a:solidFill>
              <a:effectLst/>
              <a:uLnTx/>
              <a:uFillTx/>
            </a:endParaRPr>
          </a:p>
        </p:txBody>
      </p:sp>
      <p:sp>
        <p:nvSpPr>
          <p:cNvPr id="105" name="Shape 31">
            <a:extLst>
              <a:ext uri="{FF2B5EF4-FFF2-40B4-BE49-F238E27FC236}">
                <a16:creationId xmlns:a16="http://schemas.microsoft.com/office/drawing/2014/main" id="{CACA7A73-E555-0F69-C69E-C568249932EB}"/>
              </a:ext>
            </a:extLst>
          </p:cNvPr>
          <p:cNvSpPr/>
          <p:nvPr/>
        </p:nvSpPr>
        <p:spPr>
          <a:xfrm>
            <a:off x="4709160" y="2468880"/>
            <a:ext cx="3886200" cy="1965960"/>
          </a:xfrm>
          <a:prstGeom prst="roundRect">
            <a:avLst>
              <a:gd name="adj" fmla="val 3721"/>
            </a:avLst>
          </a:prstGeom>
          <a:solidFill>
            <a:sysClr val="windowText" lastClr="000000">
              <a:lumMod val="50000"/>
              <a:lumOff val="50000"/>
              <a:alpha val="52000"/>
            </a:sysClr>
          </a:solidFill>
          <a:ln w="12700" cap="flat" cmpd="sng">
            <a:solidFill>
              <a:srgbClr val="A24A48"/>
            </a:solidFill>
            <a:prstDash val="solid"/>
          </a:ln>
        </p:spPr>
      </p:sp>
      <p:sp>
        <p:nvSpPr>
          <p:cNvPr id="106" name="Shape 32">
            <a:extLst>
              <a:ext uri="{FF2B5EF4-FFF2-40B4-BE49-F238E27FC236}">
                <a16:creationId xmlns:a16="http://schemas.microsoft.com/office/drawing/2014/main" id="{AD7F98E4-AB92-2FCE-06CF-1DC86DF81D94}"/>
              </a:ext>
            </a:extLst>
          </p:cNvPr>
          <p:cNvSpPr/>
          <p:nvPr/>
        </p:nvSpPr>
        <p:spPr>
          <a:xfrm>
            <a:off x="4892040" y="2633472"/>
            <a:ext cx="256032" cy="256032"/>
          </a:xfrm>
          <a:prstGeom prst="ellipse">
            <a:avLst/>
          </a:prstGeom>
          <a:solidFill>
            <a:srgbClr val="800020"/>
          </a:solidFill>
        </p:spPr>
      </p:sp>
      <p:sp>
        <p:nvSpPr>
          <p:cNvPr id="107" name="Text 33">
            <a:extLst>
              <a:ext uri="{FF2B5EF4-FFF2-40B4-BE49-F238E27FC236}">
                <a16:creationId xmlns:a16="http://schemas.microsoft.com/office/drawing/2014/main" id="{AA50728F-48B6-B4F9-7660-E8A9CF29D62C}"/>
              </a:ext>
            </a:extLst>
          </p:cNvPr>
          <p:cNvSpPr/>
          <p:nvPr/>
        </p:nvSpPr>
        <p:spPr>
          <a:xfrm>
            <a:off x="4892040" y="2633472"/>
            <a:ext cx="256032" cy="256032"/>
          </a:xfrm>
          <a:prstGeom prst="rect">
            <a:avLst/>
          </a:prstGeom>
          <a:noFill/>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ea typeface="Calibri" pitchFamily="34" charset="-122"/>
                <a:cs typeface="Calibri" pitchFamily="34" charset="-120"/>
              </a:rPr>
              <a:t>✗</a:t>
            </a:r>
            <a:endParaRPr kumimoji="0" lang="en-US" sz="1000" b="0" i="0" u="none" strike="noStrike" kern="0" cap="none" spc="0" normalizeH="0" baseline="0" noProof="0" dirty="0">
              <a:ln>
                <a:noFill/>
              </a:ln>
              <a:solidFill>
                <a:prstClr val="black"/>
              </a:solidFill>
              <a:effectLst/>
              <a:uLnTx/>
              <a:uFillTx/>
            </a:endParaRPr>
          </a:p>
        </p:txBody>
      </p:sp>
      <p:sp>
        <p:nvSpPr>
          <p:cNvPr id="108" name="Text 34">
            <a:extLst>
              <a:ext uri="{FF2B5EF4-FFF2-40B4-BE49-F238E27FC236}">
                <a16:creationId xmlns:a16="http://schemas.microsoft.com/office/drawing/2014/main" id="{4C1C8C27-AA5A-03D1-E409-7720796E2062}"/>
              </a:ext>
            </a:extLst>
          </p:cNvPr>
          <p:cNvSpPr/>
          <p:nvPr/>
        </p:nvSpPr>
        <p:spPr>
          <a:xfrm>
            <a:off x="5212080" y="2633472"/>
            <a:ext cx="3246120" cy="256032"/>
          </a:xfrm>
          <a:prstGeom prst="rect">
            <a:avLst/>
          </a:prstGeom>
          <a:noFill/>
        </p:spPr>
        <p:txBody>
          <a:bodyPr wrap="square" lIns="0" tIns="0" rIns="0" bIns="0" rtlCol="0" anchor="ctr"/>
          <a:lstStyle/>
          <a:p>
            <a:r>
              <a:rPr lang="en-US" altLang="zh-CN" b="1" dirty="0">
                <a:solidFill>
                  <a:srgbClr val="800020"/>
                </a:solidFill>
                <a:ea typeface="Calibri" pitchFamily="34" charset="0"/>
                <a:cs typeface="Calibri" pitchFamily="34" charset="0"/>
              </a:rPr>
              <a:t>I</a:t>
            </a:r>
            <a:r>
              <a:rPr lang="en-US" b="1" dirty="0">
                <a:solidFill>
                  <a:srgbClr val="800020"/>
                </a:solidFill>
                <a:ea typeface="Calibri" pitchFamily="34" charset="0"/>
                <a:cs typeface="Calibri" pitchFamily="34" charset="0"/>
              </a:rPr>
              <a:t>ntrinsic (Realistic)</a:t>
            </a:r>
            <a:endParaRPr lang="en-US" dirty="0">
              <a:solidFill>
                <a:prstClr val="black"/>
              </a:solidFill>
              <a:ea typeface="Calibri" pitchFamily="34" charset="0"/>
              <a:cs typeface="Calibri" pitchFamily="34" charset="0"/>
            </a:endParaRPr>
          </a:p>
        </p:txBody>
      </p:sp>
      <p:sp>
        <p:nvSpPr>
          <p:cNvPr id="109" name="Text 35">
            <a:extLst>
              <a:ext uri="{FF2B5EF4-FFF2-40B4-BE49-F238E27FC236}">
                <a16:creationId xmlns:a16="http://schemas.microsoft.com/office/drawing/2014/main" id="{09495B98-D398-DD24-FC26-28C3238B1656}"/>
              </a:ext>
            </a:extLst>
          </p:cNvPr>
          <p:cNvSpPr/>
          <p:nvPr/>
        </p:nvSpPr>
        <p:spPr>
          <a:xfrm>
            <a:off x="4937760" y="2971800"/>
            <a:ext cx="3429000" cy="1280160"/>
          </a:xfrm>
          <a:prstGeom prst="rect">
            <a:avLst/>
          </a:prstGeom>
          <a:noFill/>
        </p:spPr>
        <p:txBody>
          <a:bodyPr wrap="square" lIns="0" tIns="0" rIns="0" bIns="0" rtlCol="0" anchor="ctr"/>
          <a:lstStyle/>
          <a:p>
            <a:pPr marL="0" marR="0" lvl="0" indent="0"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E293B"/>
                </a:solidFill>
                <a:effectLst/>
                <a:uLnTx/>
                <a:uFillTx/>
                <a:ea typeface="Calibri" pitchFamily="34" charset="-122"/>
                <a:cs typeface="Calibri" pitchFamily="34" charset="-120"/>
              </a:rPr>
              <a:t>• No external signal</a:t>
            </a:r>
            <a:endParaRPr kumimoji="0" lang="en-US" sz="1000" b="0"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E293B"/>
                </a:solidFill>
                <a:effectLst/>
                <a:uLnTx/>
                <a:uFillTx/>
                <a:ea typeface="Calibri" pitchFamily="34" charset="-122"/>
                <a:cs typeface="Calibri" pitchFamily="34" charset="-120"/>
              </a:rPr>
              <a:t>• Model judges itself blindly</a:t>
            </a:r>
            <a:endParaRPr kumimoji="0" lang="en-US" sz="1000" b="0"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1E293B"/>
                </a:solidFill>
                <a:effectLst/>
                <a:uLnTx/>
                <a:uFillTx/>
                <a:ea typeface="Calibri" pitchFamily="34" charset="-122"/>
                <a:cs typeface="Calibri" pitchFamily="34" charset="-120"/>
              </a:rPr>
              <a:t>• Flips correct -&gt; wrong -&gt; drops</a:t>
            </a:r>
            <a:endParaRPr kumimoji="0" lang="en-US" sz="1000" b="0" i="0" u="none" strike="noStrike" kern="0" cap="none" spc="0" normalizeH="0" baseline="0" noProof="0" dirty="0">
              <a:ln>
                <a:noFill/>
              </a:ln>
              <a:solidFill>
                <a:prstClr val="black"/>
              </a:solidFill>
              <a:effectLst/>
              <a:uLnTx/>
              <a:uFillTx/>
            </a:endParaRPr>
          </a:p>
        </p:txBody>
      </p:sp>
      <p:sp>
        <p:nvSpPr>
          <p:cNvPr id="110" name="Shape 36">
            <a:extLst>
              <a:ext uri="{FF2B5EF4-FFF2-40B4-BE49-F238E27FC236}">
                <a16:creationId xmlns:a16="http://schemas.microsoft.com/office/drawing/2014/main" id="{E8B0AB26-3E06-8CA1-ECE8-AD7223F11A24}"/>
              </a:ext>
            </a:extLst>
          </p:cNvPr>
          <p:cNvSpPr/>
          <p:nvPr/>
        </p:nvSpPr>
        <p:spPr>
          <a:xfrm>
            <a:off x="1417320" y="2286000"/>
            <a:ext cx="164592" cy="109728"/>
          </a:xfrm>
          <a:prstGeom prst="downArrow">
            <a:avLst/>
          </a:prstGeom>
          <a:solidFill>
            <a:srgbClr val="166534"/>
          </a:solidFill>
          <a:ln w="12700">
            <a:solidFill>
              <a:srgbClr val="166534"/>
            </a:solidFill>
            <a:prstDash val="solid"/>
          </a:ln>
        </p:spPr>
      </p:sp>
      <p:sp>
        <p:nvSpPr>
          <p:cNvPr id="111" name="Shape 37">
            <a:extLst>
              <a:ext uri="{FF2B5EF4-FFF2-40B4-BE49-F238E27FC236}">
                <a16:creationId xmlns:a16="http://schemas.microsoft.com/office/drawing/2014/main" id="{4DD43763-5287-EA70-3DBA-1BCE8D0BE5BD}"/>
              </a:ext>
            </a:extLst>
          </p:cNvPr>
          <p:cNvSpPr/>
          <p:nvPr/>
        </p:nvSpPr>
        <p:spPr>
          <a:xfrm>
            <a:off x="6400800" y="2286000"/>
            <a:ext cx="164592" cy="109728"/>
          </a:xfrm>
          <a:prstGeom prst="downArrow">
            <a:avLst/>
          </a:prstGeom>
          <a:solidFill>
            <a:srgbClr val="800020"/>
          </a:solidFill>
          <a:ln w="12700">
            <a:solidFill>
              <a:srgbClr val="800020"/>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C3094-42F9-20DB-9C76-ACC0C1E0C4A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02C5338-FE17-1172-FCE0-0B23B43AB372}"/>
              </a:ext>
            </a:extLst>
          </p:cNvPr>
          <p:cNvSpPr/>
          <p:nvPr/>
        </p:nvSpPr>
        <p:spPr>
          <a:xfrm>
            <a:off x="548640" y="201168"/>
            <a:ext cx="8046720" cy="228600"/>
          </a:xfrm>
          <a:prstGeom prst="rect">
            <a:avLst/>
          </a:prstGeom>
          <a:noFill/>
          <a:ln/>
        </p:spPr>
        <p:txBody>
          <a:bodyPr wrap="square" lIns="0" tIns="0" rIns="0" bIns="0" rtlCol="0" anchor="ctr"/>
          <a:lstStyle/>
          <a:p>
            <a:pPr marL="0" indent="0">
              <a:buNone/>
            </a:pPr>
            <a:r>
              <a:rPr lang="en-US" sz="900" b="1" kern="0" spc="150" dirty="0">
                <a:solidFill>
                  <a:srgbClr val="800020"/>
                </a:solidFill>
                <a:latin typeface="Calibri" pitchFamily="34" charset="0"/>
                <a:ea typeface="Calibri" pitchFamily="34" charset="-122"/>
                <a:cs typeface="Calibri" pitchFamily="34" charset="-120"/>
              </a:rPr>
              <a:t>3. METHODOLOGY</a:t>
            </a:r>
            <a:endParaRPr lang="en-US" sz="900" dirty="0"/>
          </a:p>
        </p:txBody>
      </p:sp>
      <p:sp>
        <p:nvSpPr>
          <p:cNvPr id="3" name="Text 1">
            <a:extLst>
              <a:ext uri="{FF2B5EF4-FFF2-40B4-BE49-F238E27FC236}">
                <a16:creationId xmlns:a16="http://schemas.microsoft.com/office/drawing/2014/main" id="{28F18F84-3F80-BC4F-E836-C099A4586B51}"/>
              </a:ext>
            </a:extLst>
          </p:cNvPr>
          <p:cNvSpPr/>
          <p:nvPr/>
        </p:nvSpPr>
        <p:spPr>
          <a:xfrm>
            <a:off x="548640" y="438912"/>
            <a:ext cx="8046720" cy="411480"/>
          </a:xfrm>
          <a:prstGeom prst="rect">
            <a:avLst/>
          </a:prstGeom>
          <a:noFill/>
          <a:ln/>
        </p:spPr>
        <p:txBody>
          <a:bodyPr wrap="square" lIns="0" tIns="0" rIns="0" bIns="0" rtlCol="0" anchor="ctr"/>
          <a:lstStyle/>
          <a:p>
            <a:pPr marL="0" indent="0">
              <a:buNone/>
            </a:pPr>
            <a:r>
              <a:rPr lang="en-US" sz="2300" b="1" dirty="0">
                <a:solidFill>
                  <a:srgbClr val="0F172A"/>
                </a:solidFill>
                <a:latin typeface="Century Schoolbook" pitchFamily="34" charset="0"/>
                <a:ea typeface="Century Schoolbook" pitchFamily="34" charset="-122"/>
                <a:cs typeface="Century Schoolbook" pitchFamily="34" charset="-120"/>
              </a:rPr>
              <a:t>Keeping the Evaluation Fair</a:t>
            </a:r>
          </a:p>
        </p:txBody>
      </p:sp>
      <p:sp>
        <p:nvSpPr>
          <p:cNvPr id="4" name="Text 2">
            <a:extLst>
              <a:ext uri="{FF2B5EF4-FFF2-40B4-BE49-F238E27FC236}">
                <a16:creationId xmlns:a16="http://schemas.microsoft.com/office/drawing/2014/main" id="{C86AE33B-C9FB-C8D1-F4EF-3B1775E617B5}"/>
              </a:ext>
            </a:extLst>
          </p:cNvPr>
          <p:cNvSpPr/>
          <p:nvPr/>
        </p:nvSpPr>
        <p:spPr>
          <a:xfrm>
            <a:off x="548640" y="868680"/>
            <a:ext cx="8046720" cy="2286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Beyond accuracy numbers, the authors built two extra checks into their methodology:</a:t>
            </a:r>
          </a:p>
        </p:txBody>
      </p:sp>
      <p:sp>
        <p:nvSpPr>
          <p:cNvPr id="41" name="Text 38">
            <a:extLst>
              <a:ext uri="{FF2B5EF4-FFF2-40B4-BE49-F238E27FC236}">
                <a16:creationId xmlns:a16="http://schemas.microsoft.com/office/drawing/2014/main" id="{1B69A130-FF4B-8F64-603A-D3032FEDE77A}"/>
              </a:ext>
            </a:extLst>
          </p:cNvPr>
          <p:cNvSpPr/>
          <p:nvPr/>
        </p:nvSpPr>
        <p:spPr>
          <a:xfrm>
            <a:off x="548640" y="4736592"/>
            <a:ext cx="6583680" cy="274320"/>
          </a:xfrm>
          <a:prstGeom prst="rect">
            <a:avLst/>
          </a:prstGeom>
          <a:noFill/>
          <a:ln/>
        </p:spPr>
        <p:txBody>
          <a:bodyPr wrap="square" lIns="0" tIns="0" rIns="0" bIns="0"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42" name="Text 39">
            <a:extLst>
              <a:ext uri="{FF2B5EF4-FFF2-40B4-BE49-F238E27FC236}">
                <a16:creationId xmlns:a16="http://schemas.microsoft.com/office/drawing/2014/main" id="{932AFC4A-8B52-4754-25ED-84DAC2605DF4}"/>
              </a:ext>
            </a:extLst>
          </p:cNvPr>
          <p:cNvSpPr/>
          <p:nvPr/>
        </p:nvSpPr>
        <p:spPr>
          <a:xfrm>
            <a:off x="7315200" y="4736592"/>
            <a:ext cx="128016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12/23</a:t>
            </a:r>
            <a:endParaRPr lang="en-US" sz="850" dirty="0"/>
          </a:p>
        </p:txBody>
      </p:sp>
      <p:sp>
        <p:nvSpPr>
          <p:cNvPr id="49" name="Shape 4">
            <a:extLst>
              <a:ext uri="{FF2B5EF4-FFF2-40B4-BE49-F238E27FC236}">
                <a16:creationId xmlns:a16="http://schemas.microsoft.com/office/drawing/2014/main" id="{3F88B7BF-2FD9-8844-222C-289F7050BEFE}"/>
              </a:ext>
            </a:extLst>
          </p:cNvPr>
          <p:cNvSpPr/>
          <p:nvPr/>
        </p:nvSpPr>
        <p:spPr>
          <a:xfrm>
            <a:off x="517071" y="1193800"/>
            <a:ext cx="4023360" cy="1677670"/>
          </a:xfrm>
          <a:prstGeom prst="roundRect">
            <a:avLst>
              <a:gd name="adj" fmla="val 4444"/>
            </a:avLst>
          </a:prstGeom>
          <a:solidFill>
            <a:srgbClr val="FFE6E6">
              <a:alpha val="64000"/>
            </a:srgbClr>
          </a:solidFill>
          <a:ln w="12700" cap="flat" cmpd="sng" algn="ctr">
            <a:solidFill>
              <a:srgbClr val="A24A48"/>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50" b="1" i="0" u="none" strike="noStrike" kern="0" cap="none" spc="0" normalizeH="0" baseline="0" noProof="0" dirty="0">
                <a:ln>
                  <a:noFill/>
                </a:ln>
                <a:solidFill>
                  <a:srgbClr val="411401">
                    <a:lumMod val="90000"/>
                    <a:lumOff val="10000"/>
                  </a:srgbClr>
                </a:solidFill>
                <a:effectLst/>
                <a:uLnTx/>
                <a:uFillTx/>
                <a:latin typeface="Calibri"/>
                <a:ea typeface="Calibri" pitchFamily="34" charset="-122"/>
                <a:cs typeface="Calibri" pitchFamily="34" charset="-120"/>
                <a:sym typeface="+mn-ea"/>
              </a:rPr>
              <a:t>        Equal Inference Cost</a:t>
            </a:r>
          </a:p>
        </p:txBody>
      </p:sp>
      <p:sp>
        <p:nvSpPr>
          <p:cNvPr id="50" name="Text Box 41">
            <a:extLst>
              <a:ext uri="{FF2B5EF4-FFF2-40B4-BE49-F238E27FC236}">
                <a16:creationId xmlns:a16="http://schemas.microsoft.com/office/drawing/2014/main" id="{A6A03A85-9B32-31A0-F498-089FED761AB0}"/>
              </a:ext>
            </a:extLst>
          </p:cNvPr>
          <p:cNvSpPr txBox="1"/>
          <p:nvPr/>
        </p:nvSpPr>
        <p:spPr>
          <a:xfrm>
            <a:off x="630736" y="1614424"/>
            <a:ext cx="3796030" cy="1090295"/>
          </a:xfrm>
          <a:prstGeom prst="rect">
            <a:avLst/>
          </a:prstGeom>
          <a:noFill/>
        </p:spPr>
        <p:txBody>
          <a:bodyPr wrap="square" rtlCol="0">
            <a:noAutofit/>
          </a:bodyPr>
          <a:lstStyle/>
          <a:p>
            <a:pPr algn="just">
              <a:lnSpc>
                <a:spcPct val="125000"/>
              </a:lnSpc>
            </a:pPr>
            <a:r>
              <a:rPr lang="en-US" sz="1200" dirty="0">
                <a:solidFill>
                  <a:prstClr val="black">
                    <a:lumMod val="95000"/>
                    <a:lumOff val="5000"/>
                  </a:prstClr>
                </a:solidFill>
                <a:ea typeface="Calibri" pitchFamily="34" charset="-122"/>
                <a:cs typeface="Calibri" pitchFamily="34" charset="-120"/>
                <a:sym typeface="+mn-ea"/>
              </a:rPr>
              <a:t>Self-correction uses multiple model calls, so it is compared against self-consistency and multi-agent debate using the same number of responses, rather than against a single-call baseline.</a:t>
            </a:r>
          </a:p>
        </p:txBody>
      </p:sp>
      <p:sp>
        <p:nvSpPr>
          <p:cNvPr id="51" name="Right Arrow 50">
            <a:extLst>
              <a:ext uri="{FF2B5EF4-FFF2-40B4-BE49-F238E27FC236}">
                <a16:creationId xmlns:a16="http://schemas.microsoft.com/office/drawing/2014/main" id="{FC93F69C-3CF1-6BDC-7D45-7B862D7D80B9}"/>
              </a:ext>
            </a:extLst>
          </p:cNvPr>
          <p:cNvSpPr/>
          <p:nvPr/>
        </p:nvSpPr>
        <p:spPr>
          <a:xfrm>
            <a:off x="614637" y="1231937"/>
            <a:ext cx="261459" cy="279377"/>
          </a:xfrm>
          <a:prstGeom prst="rightArrow">
            <a:avLst/>
          </a:prstGeom>
          <a:solidFill>
            <a:srgbClr val="A24A48"/>
          </a:solidFill>
          <a:ln w="12700" cap="flat" cmpd="sng" algn="ctr">
            <a:solidFill>
              <a:srgbClr val="A24A48">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2" name="Shape 4">
            <a:extLst>
              <a:ext uri="{FF2B5EF4-FFF2-40B4-BE49-F238E27FC236}">
                <a16:creationId xmlns:a16="http://schemas.microsoft.com/office/drawing/2014/main" id="{28E675F0-C2FC-1E30-EC46-616EC4839EC5}"/>
              </a:ext>
            </a:extLst>
          </p:cNvPr>
          <p:cNvSpPr/>
          <p:nvPr/>
        </p:nvSpPr>
        <p:spPr>
          <a:xfrm>
            <a:off x="4715485" y="1193800"/>
            <a:ext cx="4023360" cy="1677670"/>
          </a:xfrm>
          <a:prstGeom prst="roundRect">
            <a:avLst>
              <a:gd name="adj" fmla="val 4444"/>
            </a:avLst>
          </a:prstGeom>
          <a:solidFill>
            <a:srgbClr val="FFE6E6">
              <a:alpha val="64000"/>
            </a:srgbClr>
          </a:solidFill>
          <a:ln w="12700" cap="flat" cmpd="sng" algn="ctr">
            <a:solidFill>
              <a:srgbClr val="A24A48"/>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50" b="1" i="0" u="none" strike="noStrike" kern="0" cap="none" spc="0" normalizeH="0" baseline="0" noProof="0" dirty="0">
                <a:ln>
                  <a:noFill/>
                </a:ln>
                <a:solidFill>
                  <a:srgbClr val="411401">
                    <a:lumMod val="90000"/>
                    <a:lumOff val="10000"/>
                  </a:srgbClr>
                </a:solidFill>
                <a:effectLst/>
                <a:uLnTx/>
                <a:uFillTx/>
                <a:latin typeface="Calibri"/>
                <a:ea typeface="Calibri" pitchFamily="34" charset="-122"/>
                <a:cs typeface="Calibri" pitchFamily="34" charset="-120"/>
                <a:sym typeface="+mn-ea"/>
              </a:rPr>
              <a:t>         Equal Prompt Effort</a:t>
            </a:r>
          </a:p>
        </p:txBody>
      </p:sp>
      <p:sp>
        <p:nvSpPr>
          <p:cNvPr id="53" name="Right Arrow 52">
            <a:extLst>
              <a:ext uri="{FF2B5EF4-FFF2-40B4-BE49-F238E27FC236}">
                <a16:creationId xmlns:a16="http://schemas.microsoft.com/office/drawing/2014/main" id="{647D0349-B4AC-1A27-9832-CB9461B8D561}"/>
              </a:ext>
            </a:extLst>
          </p:cNvPr>
          <p:cNvSpPr/>
          <p:nvPr/>
        </p:nvSpPr>
        <p:spPr>
          <a:xfrm>
            <a:off x="4815815" y="1224763"/>
            <a:ext cx="241321" cy="279377"/>
          </a:xfrm>
          <a:prstGeom prst="rightArrow">
            <a:avLst/>
          </a:prstGeom>
          <a:solidFill>
            <a:srgbClr val="A24A48"/>
          </a:solidFill>
          <a:ln w="12700" cap="flat" cmpd="sng" algn="ctr">
            <a:solidFill>
              <a:srgbClr val="A24A48">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4" name="Text Box 50">
            <a:extLst>
              <a:ext uri="{FF2B5EF4-FFF2-40B4-BE49-F238E27FC236}">
                <a16:creationId xmlns:a16="http://schemas.microsoft.com/office/drawing/2014/main" id="{E7DBDEE5-318C-8A0C-5813-F6FE4B4D19AA}"/>
              </a:ext>
            </a:extLst>
          </p:cNvPr>
          <p:cNvSpPr txBox="1"/>
          <p:nvPr/>
        </p:nvSpPr>
        <p:spPr>
          <a:xfrm>
            <a:off x="4829150" y="1622293"/>
            <a:ext cx="3796030" cy="1376680"/>
          </a:xfrm>
          <a:prstGeom prst="rect">
            <a:avLst/>
          </a:prstGeom>
          <a:noFill/>
        </p:spPr>
        <p:txBody>
          <a:bodyPr wrap="square" rtlCol="0">
            <a:noAutofit/>
          </a:bodyPr>
          <a:lstStyle/>
          <a:p>
            <a:pPr marL="0" marR="0" lvl="0" indent="0" algn="just" defTabSz="914400" eaLnBrk="1" fontAlgn="auto" latinLnBrk="0" hangingPunct="1">
              <a:lnSpc>
                <a:spcPct val="125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1A1A1A"/>
                </a:solidFill>
                <a:effectLst/>
                <a:uLnTx/>
                <a:uFillTx/>
                <a:ea typeface="Calibri" pitchFamily="34" charset="-122"/>
                <a:cs typeface="Calibri" pitchFamily="34" charset="-120"/>
                <a:sym typeface="+mn-ea"/>
              </a:rPr>
              <a:t>The initial-answer prompt and the feedback prompt are given the same level of detail, so gains can't come from simply hiding instructions in the correction step.</a:t>
            </a:r>
            <a:endParaRPr kumimoji="0" lang="en-US" sz="1200" b="0" i="0" u="none" strike="noStrike" kern="0" cap="none" spc="0" normalizeH="0" baseline="0" noProof="0" dirty="0">
              <a:ln>
                <a:noFill/>
              </a:ln>
              <a:solidFill>
                <a:prstClr val="black"/>
              </a:solidFill>
              <a:effectLst/>
              <a:uLnTx/>
              <a:uFillTx/>
            </a:endParaRPr>
          </a:p>
        </p:txBody>
      </p:sp>
      <p:sp>
        <p:nvSpPr>
          <p:cNvPr id="55" name="Text Box 51">
            <a:extLst>
              <a:ext uri="{FF2B5EF4-FFF2-40B4-BE49-F238E27FC236}">
                <a16:creationId xmlns:a16="http://schemas.microsoft.com/office/drawing/2014/main" id="{59D5CE49-3EAA-5F6F-7B60-23A82F8749AE}"/>
              </a:ext>
            </a:extLst>
          </p:cNvPr>
          <p:cNvSpPr txBox="1"/>
          <p:nvPr/>
        </p:nvSpPr>
        <p:spPr>
          <a:xfrm>
            <a:off x="445770" y="2990850"/>
            <a:ext cx="8251825" cy="281937"/>
          </a:xfrm>
          <a:prstGeom prst="rect">
            <a:avLst/>
          </a:prstGeom>
          <a:noFill/>
        </p:spPr>
        <p:txBody>
          <a:bodyPr wrap="square" rtlCol="0" anchor="t">
            <a:spAutoFit/>
          </a:bodyPr>
          <a:lstStyle/>
          <a:p>
            <a:pPr>
              <a:lnSpc>
                <a:spcPct val="120000"/>
              </a:lnSpc>
            </a:pPr>
            <a:r>
              <a:rPr lang="en-US" sz="1100" b="1" dirty="0">
                <a:solidFill>
                  <a:srgbClr val="411401">
                    <a:lumMod val="90000"/>
                    <a:lumOff val="10000"/>
                  </a:srgbClr>
                </a:solidFill>
                <a:ea typeface="Calibri" pitchFamily="34" charset="-122"/>
                <a:cs typeface="Calibri" pitchFamily="34" charset="-120"/>
                <a:sym typeface="+mn-ea"/>
              </a:rPr>
              <a:t>Multi-agent debate</a:t>
            </a:r>
            <a:r>
              <a:rPr lang="en-US" sz="1100" dirty="0">
                <a:solidFill>
                  <a:srgbClr val="411401">
                    <a:lumMod val="90000"/>
                    <a:lumOff val="10000"/>
                  </a:srgbClr>
                </a:solidFill>
                <a:ea typeface="Calibri" pitchFamily="34" charset="-122"/>
                <a:cs typeface="Calibri" pitchFamily="34" charset="-120"/>
                <a:sym typeface="+mn-ea"/>
              </a:rPr>
              <a:t>  </a:t>
            </a:r>
            <a:r>
              <a:rPr lang="en-US" sz="1100" dirty="0">
                <a:solidFill>
                  <a:srgbClr val="1A1A1A"/>
                </a:solidFill>
                <a:ea typeface="Calibri" pitchFamily="34" charset="-122"/>
                <a:cs typeface="Calibri" pitchFamily="34" charset="-120"/>
                <a:sym typeface="+mn-ea"/>
              </a:rPr>
              <a:t>vs. self-consistency, and </a:t>
            </a:r>
            <a:r>
              <a:rPr lang="en-US" sz="1100" b="1" dirty="0">
                <a:solidFill>
                  <a:srgbClr val="411401">
                    <a:lumMod val="90000"/>
                    <a:lumOff val="10000"/>
                  </a:srgbClr>
                </a:solidFill>
                <a:ea typeface="Calibri" pitchFamily="34" charset="-122"/>
                <a:cs typeface="Calibri" pitchFamily="34" charset="-120"/>
                <a:sym typeface="+mn-ea"/>
              </a:rPr>
              <a:t>prompt-design comparisons</a:t>
            </a:r>
            <a:r>
              <a:rPr lang="en-US" sz="1100" dirty="0">
                <a:solidFill>
                  <a:srgbClr val="411401">
                    <a:lumMod val="90000"/>
                    <a:lumOff val="10000"/>
                  </a:srgbClr>
                </a:solidFill>
                <a:ea typeface="Calibri" pitchFamily="34" charset="-122"/>
                <a:cs typeface="Calibri" pitchFamily="34" charset="-120"/>
                <a:sym typeface="+mn-ea"/>
              </a:rPr>
              <a:t> </a:t>
            </a:r>
            <a:r>
              <a:rPr lang="en-US" sz="1100" dirty="0">
                <a:solidFill>
                  <a:srgbClr val="1A1A1A"/>
                </a:solidFill>
                <a:ea typeface="Calibri" pitchFamily="34" charset="-122"/>
                <a:cs typeface="Calibri" pitchFamily="34" charset="-120"/>
                <a:sym typeface="+mn-ea"/>
              </a:rPr>
              <a:t>both use this same fairness lens.</a:t>
            </a:r>
          </a:p>
        </p:txBody>
      </p:sp>
    </p:spTree>
    <p:extLst>
      <p:ext uri="{BB962C8B-B14F-4D97-AF65-F5344CB8AC3E}">
        <p14:creationId xmlns:p14="http://schemas.microsoft.com/office/powerpoint/2010/main" val="2418230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marL="0" indent="0">
              <a:buNone/>
            </a:pPr>
            <a:r>
              <a:rPr lang="en-US" sz="900" b="1" kern="0" spc="150" dirty="0">
                <a:solidFill>
                  <a:srgbClr val="800020"/>
                </a:solidFill>
                <a:latin typeface="Calibri" pitchFamily="34" charset="0"/>
                <a:ea typeface="Calibri" pitchFamily="34" charset="-122"/>
                <a:cs typeface="Calibri" pitchFamily="34" charset="-120"/>
              </a:rPr>
              <a:t>4. RESULTS</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marL="0" indent="0">
              <a:buNone/>
            </a:pPr>
            <a:r>
              <a:rPr lang="en-US" sz="2300" b="1" dirty="0">
                <a:solidFill>
                  <a:srgbClr val="0F172A"/>
                </a:solidFill>
                <a:latin typeface="Century Schoolbook" pitchFamily="34" charset="0"/>
                <a:ea typeface="Century Schoolbook" pitchFamily="34" charset="-122"/>
                <a:cs typeface="Century Schoolbook" pitchFamily="34" charset="-120"/>
              </a:rPr>
              <a:t>Intrinsic Self-Correction Fails</a:t>
            </a:r>
            <a:endParaRPr lang="en-US" sz="23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Main Finding: Performance declines after self-correction</a:t>
            </a:r>
            <a:endParaRPr lang="en-US" sz="1100" dirty="0"/>
          </a:p>
        </p:txBody>
      </p:sp>
      <p:sp>
        <p:nvSpPr>
          <p:cNvPr id="5" name="Shape 3"/>
          <p:cNvSpPr/>
          <p:nvPr/>
        </p:nvSpPr>
        <p:spPr>
          <a:xfrm>
            <a:off x="548640" y="1207008"/>
            <a:ext cx="8046720" cy="914400"/>
          </a:xfrm>
          <a:prstGeom prst="roundRect">
            <a:avLst>
              <a:gd name="adj" fmla="val 8000"/>
            </a:avLst>
          </a:prstGeom>
          <a:solidFill>
            <a:srgbClr val="FFF1F2"/>
          </a:solidFill>
          <a:ln w="19050">
            <a:solidFill>
              <a:srgbClr val="800020"/>
            </a:solidFill>
            <a:prstDash val="solid"/>
          </a:ln>
        </p:spPr>
      </p:sp>
      <p:sp>
        <p:nvSpPr>
          <p:cNvPr id="6" name="Text 4"/>
          <p:cNvSpPr/>
          <p:nvPr/>
        </p:nvSpPr>
        <p:spPr>
          <a:xfrm>
            <a:off x="777240" y="1325880"/>
            <a:ext cx="7589520" cy="201168"/>
          </a:xfrm>
          <a:prstGeom prst="rect">
            <a:avLst/>
          </a:prstGeom>
          <a:noFill/>
          <a:ln/>
        </p:spPr>
        <p:txBody>
          <a:bodyPr wrap="square" lIns="0" tIns="0" rIns="0" bIns="0" rtlCol="0" anchor="ctr"/>
          <a:lstStyle/>
          <a:p>
            <a:pPr marL="0" indent="0">
              <a:buNone/>
            </a:pPr>
            <a:r>
              <a:rPr lang="en-US" sz="950" b="1" kern="0" spc="150" dirty="0">
                <a:solidFill>
                  <a:srgbClr val="800020"/>
                </a:solidFill>
                <a:latin typeface="Calibri" pitchFamily="34" charset="0"/>
                <a:ea typeface="Calibri" pitchFamily="34" charset="-122"/>
                <a:cs typeface="Calibri" pitchFamily="34" charset="-120"/>
              </a:rPr>
              <a:t>CENTRAL EMPIRICAL FINDING</a:t>
            </a:r>
            <a:endParaRPr lang="en-US" sz="950" dirty="0"/>
          </a:p>
        </p:txBody>
      </p:sp>
      <p:sp>
        <p:nvSpPr>
          <p:cNvPr id="7" name="Text 5"/>
          <p:cNvSpPr/>
          <p:nvPr/>
        </p:nvSpPr>
        <p:spPr>
          <a:xfrm>
            <a:off x="777240" y="1554480"/>
            <a:ext cx="7589520" cy="502920"/>
          </a:xfrm>
          <a:prstGeom prst="rect">
            <a:avLst/>
          </a:prstGeom>
          <a:noFill/>
          <a:ln/>
        </p:spPr>
        <p:txBody>
          <a:bodyPr wrap="square" lIns="0" tIns="0" rIns="0" bIns="0" rtlCol="0" anchor="ctr"/>
          <a:lstStyle/>
          <a:p>
            <a:pPr marL="0" indent="0">
              <a:buNone/>
            </a:pPr>
            <a:r>
              <a:rPr lang="en-US" sz="1350" b="1" dirty="0">
                <a:solidFill>
                  <a:srgbClr val="0F172A"/>
                </a:solidFill>
                <a:latin typeface="Century Schoolbook" pitchFamily="34" charset="0"/>
                <a:ea typeface="Century Schoolbook" pitchFamily="34" charset="-122"/>
                <a:cs typeface="Century Schoolbook" pitchFamily="34" charset="-120"/>
              </a:rPr>
              <a:t>Intrinsic self-correction does NOT improve accuracy. Scores drop across all models and tasks.</a:t>
            </a:r>
            <a:endParaRPr lang="en-US" sz="1350" dirty="0"/>
          </a:p>
        </p:txBody>
      </p:sp>
      <p:sp>
        <p:nvSpPr>
          <p:cNvPr id="8" name="Shape 6"/>
          <p:cNvSpPr/>
          <p:nvPr/>
        </p:nvSpPr>
        <p:spPr>
          <a:xfrm>
            <a:off x="548640" y="2286000"/>
            <a:ext cx="2560320" cy="2148840"/>
          </a:xfrm>
          <a:prstGeom prst="roundRect">
            <a:avLst>
              <a:gd name="adj" fmla="val 3404"/>
            </a:avLst>
          </a:prstGeom>
          <a:solidFill>
            <a:srgbClr val="F8FAFC"/>
          </a:solidFill>
          <a:ln w="12700">
            <a:solidFill>
              <a:srgbClr val="E2E8F0"/>
            </a:solidFill>
            <a:prstDash val="solid"/>
          </a:ln>
        </p:spPr>
      </p:sp>
      <p:sp>
        <p:nvSpPr>
          <p:cNvPr id="9" name="Shape 7"/>
          <p:cNvSpPr/>
          <p:nvPr/>
        </p:nvSpPr>
        <p:spPr>
          <a:xfrm>
            <a:off x="731520" y="2468880"/>
            <a:ext cx="292608" cy="292608"/>
          </a:xfrm>
          <a:prstGeom prst="ellipse">
            <a:avLst/>
          </a:prstGeom>
          <a:solidFill>
            <a:srgbClr val="800020"/>
          </a:solidFill>
          <a:ln/>
        </p:spPr>
      </p:sp>
      <p:sp>
        <p:nvSpPr>
          <p:cNvPr id="10" name="Text 8"/>
          <p:cNvSpPr/>
          <p:nvPr/>
        </p:nvSpPr>
        <p:spPr>
          <a:xfrm>
            <a:off x="731520" y="246888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9"/>
          <p:cNvSpPr/>
          <p:nvPr/>
        </p:nvSpPr>
        <p:spPr>
          <a:xfrm>
            <a:off x="1097280" y="2468880"/>
            <a:ext cx="1828800" cy="274320"/>
          </a:xfrm>
          <a:prstGeom prst="rect">
            <a:avLst/>
          </a:prstGeom>
          <a:noFill/>
          <a:ln/>
        </p:spPr>
        <p:txBody>
          <a:bodyPr wrap="square" lIns="0" tIns="0" rIns="0" bIns="0" rtlCol="0" anchor="ctr"/>
          <a:lstStyle/>
          <a:p>
            <a:pPr marL="0" indent="0">
              <a:buNone/>
            </a:pPr>
            <a:r>
              <a:rPr lang="en-US" sz="1250" b="1" dirty="0">
                <a:solidFill>
                  <a:srgbClr val="0F172A"/>
                </a:solidFill>
                <a:latin typeface="Century Schoolbook" pitchFamily="34" charset="0"/>
                <a:ea typeface="Century Schoolbook" pitchFamily="34" charset="-122"/>
                <a:cs typeface="Century Schoolbook" pitchFamily="34" charset="-120"/>
              </a:rPr>
              <a:t>Universal</a:t>
            </a:r>
            <a:endParaRPr lang="en-US" sz="1250" dirty="0"/>
          </a:p>
        </p:txBody>
      </p:sp>
      <p:sp>
        <p:nvSpPr>
          <p:cNvPr id="12" name="Shape 10"/>
          <p:cNvSpPr/>
          <p:nvPr/>
        </p:nvSpPr>
        <p:spPr>
          <a:xfrm>
            <a:off x="731520" y="2834640"/>
            <a:ext cx="2194560" cy="201168"/>
          </a:xfrm>
          <a:prstGeom prst="roundRect">
            <a:avLst>
              <a:gd name="adj" fmla="val 18182"/>
            </a:avLst>
          </a:prstGeom>
          <a:solidFill>
            <a:srgbClr val="FFFFFF"/>
          </a:solidFill>
          <a:ln w="6350">
            <a:solidFill>
              <a:srgbClr val="E2E8F0"/>
            </a:solidFill>
            <a:prstDash val="solid"/>
          </a:ln>
        </p:spPr>
      </p:sp>
      <p:sp>
        <p:nvSpPr>
          <p:cNvPr id="13" name="Text 11"/>
          <p:cNvSpPr/>
          <p:nvPr/>
        </p:nvSpPr>
        <p:spPr>
          <a:xfrm>
            <a:off x="731520" y="2834640"/>
            <a:ext cx="2194560" cy="201168"/>
          </a:xfrm>
          <a:prstGeom prst="rect">
            <a:avLst/>
          </a:prstGeom>
          <a:noFill/>
          <a:ln/>
        </p:spPr>
        <p:txBody>
          <a:bodyPr wrap="square" lIns="0" tIns="0" rIns="0" bIns="0" rtlCol="0" anchor="ctr"/>
          <a:lstStyle/>
          <a:p>
            <a:pPr marL="0" indent="0" algn="ctr">
              <a:buNone/>
            </a:pPr>
            <a:r>
              <a:rPr lang="en-US" sz="850" b="1" dirty="0">
                <a:solidFill>
                  <a:srgbClr val="800020"/>
                </a:solidFill>
                <a:latin typeface="Calibri" pitchFamily="34" charset="0"/>
                <a:ea typeface="Calibri" pitchFamily="34" charset="-122"/>
                <a:cs typeface="Calibri" pitchFamily="34" charset="-120"/>
              </a:rPr>
              <a:t>All models</a:t>
            </a:r>
            <a:endParaRPr lang="en-US" sz="850" dirty="0"/>
          </a:p>
        </p:txBody>
      </p:sp>
      <p:sp>
        <p:nvSpPr>
          <p:cNvPr id="14" name="Text 12"/>
          <p:cNvSpPr/>
          <p:nvPr/>
        </p:nvSpPr>
        <p:spPr>
          <a:xfrm>
            <a:off x="731520" y="3154680"/>
            <a:ext cx="2194560" cy="1143000"/>
          </a:xfrm>
          <a:prstGeom prst="rect">
            <a:avLst/>
          </a:prstGeom>
          <a:noFill/>
          <a:ln/>
        </p:spPr>
        <p:txBody>
          <a:bodyPr wrap="square" lIns="0" tIns="0" rIns="0" bIns="0" rtlCol="0" anchor="t"/>
          <a:lstStyle/>
          <a:p>
            <a:pPr marL="0" indent="0" algn="ctr">
              <a:lnSpc>
                <a:spcPct val="115000"/>
              </a:lnSpc>
              <a:buNone/>
            </a:pPr>
            <a:r>
              <a:rPr lang="en-US" sz="1000" dirty="0">
                <a:solidFill>
                  <a:srgbClr val="1E293B"/>
                </a:solidFill>
                <a:latin typeface="Calibri" pitchFamily="34" charset="0"/>
                <a:ea typeface="Calibri" pitchFamily="34" charset="-122"/>
                <a:cs typeface="Calibri" pitchFamily="34" charset="-120"/>
              </a:rPr>
              <a:t>GPT-3.5, GPT-4, Turbo, Llama-2 all decline after R1 and R2.</a:t>
            </a:r>
            <a:endParaRPr lang="en-US" sz="1000" dirty="0"/>
          </a:p>
        </p:txBody>
      </p:sp>
      <p:sp>
        <p:nvSpPr>
          <p:cNvPr id="15" name="Shape 13"/>
          <p:cNvSpPr/>
          <p:nvPr/>
        </p:nvSpPr>
        <p:spPr>
          <a:xfrm>
            <a:off x="1600200" y="3703320"/>
            <a:ext cx="457200" cy="457200"/>
          </a:xfrm>
          <a:prstGeom prst="ellipse">
            <a:avLst/>
          </a:prstGeom>
          <a:solidFill>
            <a:srgbClr val="FFFFFF"/>
          </a:solidFill>
          <a:ln w="10160">
            <a:solidFill>
              <a:srgbClr val="CBD5E1"/>
            </a:solidFill>
            <a:prstDash val="solid"/>
          </a:ln>
        </p:spPr>
      </p:sp>
      <p:sp>
        <p:nvSpPr>
          <p:cNvPr id="16" name="Text 14"/>
          <p:cNvSpPr/>
          <p:nvPr/>
        </p:nvSpPr>
        <p:spPr>
          <a:xfrm>
            <a:off x="1600200" y="3703320"/>
            <a:ext cx="457200" cy="457200"/>
          </a:xfrm>
          <a:prstGeom prst="rect">
            <a:avLst/>
          </a:prstGeom>
          <a:noFill/>
          <a:ln/>
        </p:spPr>
        <p:txBody>
          <a:bodyPr wrap="square" lIns="0" tIns="0" rIns="0" bIns="0" rtlCol="0" anchor="ctr"/>
          <a:lstStyle/>
          <a:p>
            <a:pPr marL="0" indent="0" algn="ctr">
              <a:buNone/>
            </a:pPr>
            <a:r>
              <a:rPr lang="en-US" sz="1600" b="1" dirty="0">
                <a:solidFill>
                  <a:srgbClr val="800020"/>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3337560" y="2286000"/>
            <a:ext cx="2560320" cy="2148840"/>
          </a:xfrm>
          <a:prstGeom prst="roundRect">
            <a:avLst>
              <a:gd name="adj" fmla="val 3404"/>
            </a:avLst>
          </a:prstGeom>
          <a:solidFill>
            <a:srgbClr val="F8FAFC"/>
          </a:solidFill>
          <a:ln w="12700">
            <a:solidFill>
              <a:srgbClr val="E2E8F0"/>
            </a:solidFill>
            <a:prstDash val="solid"/>
          </a:ln>
        </p:spPr>
      </p:sp>
      <p:sp>
        <p:nvSpPr>
          <p:cNvPr id="18" name="Shape 16"/>
          <p:cNvSpPr/>
          <p:nvPr/>
        </p:nvSpPr>
        <p:spPr>
          <a:xfrm>
            <a:off x="3520440" y="2468880"/>
            <a:ext cx="292608" cy="292608"/>
          </a:xfrm>
          <a:prstGeom prst="ellipse">
            <a:avLst/>
          </a:prstGeom>
          <a:solidFill>
            <a:srgbClr val="800020"/>
          </a:solidFill>
          <a:ln/>
        </p:spPr>
      </p:sp>
      <p:sp>
        <p:nvSpPr>
          <p:cNvPr id="19" name="Text 17"/>
          <p:cNvSpPr/>
          <p:nvPr/>
        </p:nvSpPr>
        <p:spPr>
          <a:xfrm>
            <a:off x="3520440" y="246888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0" name="Text 18"/>
          <p:cNvSpPr/>
          <p:nvPr/>
        </p:nvSpPr>
        <p:spPr>
          <a:xfrm>
            <a:off x="3886200" y="2468880"/>
            <a:ext cx="1828800" cy="274320"/>
          </a:xfrm>
          <a:prstGeom prst="rect">
            <a:avLst/>
          </a:prstGeom>
          <a:noFill/>
          <a:ln/>
        </p:spPr>
        <p:txBody>
          <a:bodyPr wrap="square" lIns="0" tIns="0" rIns="0" bIns="0" rtlCol="0" anchor="ctr"/>
          <a:lstStyle/>
          <a:p>
            <a:pPr marL="0" indent="0">
              <a:buNone/>
            </a:pPr>
            <a:r>
              <a:rPr lang="en-US" sz="1250" b="1" dirty="0">
                <a:solidFill>
                  <a:srgbClr val="0F172A"/>
                </a:solidFill>
                <a:latin typeface="Century Schoolbook" pitchFamily="34" charset="0"/>
                <a:ea typeface="Century Schoolbook" pitchFamily="34" charset="-122"/>
                <a:cs typeface="Century Schoolbook" pitchFamily="34" charset="-120"/>
              </a:rPr>
              <a:t>Task-Agnostic</a:t>
            </a:r>
            <a:endParaRPr lang="en-US" sz="1250" dirty="0"/>
          </a:p>
        </p:txBody>
      </p:sp>
      <p:sp>
        <p:nvSpPr>
          <p:cNvPr id="21" name="Shape 19"/>
          <p:cNvSpPr/>
          <p:nvPr/>
        </p:nvSpPr>
        <p:spPr>
          <a:xfrm>
            <a:off x="3520440" y="2834640"/>
            <a:ext cx="2194560" cy="201168"/>
          </a:xfrm>
          <a:prstGeom prst="roundRect">
            <a:avLst>
              <a:gd name="adj" fmla="val 18182"/>
            </a:avLst>
          </a:prstGeom>
          <a:solidFill>
            <a:srgbClr val="FFFFFF"/>
          </a:solidFill>
          <a:ln w="6350">
            <a:solidFill>
              <a:srgbClr val="E2E8F0"/>
            </a:solidFill>
            <a:prstDash val="solid"/>
          </a:ln>
        </p:spPr>
      </p:sp>
      <p:sp>
        <p:nvSpPr>
          <p:cNvPr id="22" name="Text 20"/>
          <p:cNvSpPr/>
          <p:nvPr/>
        </p:nvSpPr>
        <p:spPr>
          <a:xfrm>
            <a:off x="3520440" y="2834640"/>
            <a:ext cx="2194560" cy="201168"/>
          </a:xfrm>
          <a:prstGeom prst="rect">
            <a:avLst/>
          </a:prstGeom>
          <a:noFill/>
          <a:ln/>
        </p:spPr>
        <p:txBody>
          <a:bodyPr wrap="square" lIns="0" tIns="0" rIns="0" bIns="0" rtlCol="0" anchor="ctr"/>
          <a:lstStyle/>
          <a:p>
            <a:pPr marL="0" indent="0" algn="ctr">
              <a:buNone/>
            </a:pPr>
            <a:r>
              <a:rPr lang="en-US" sz="850" b="1" dirty="0">
                <a:solidFill>
                  <a:srgbClr val="800020"/>
                </a:solidFill>
                <a:latin typeface="Calibri" pitchFamily="34" charset="0"/>
                <a:ea typeface="Calibri" pitchFamily="34" charset="-122"/>
                <a:cs typeface="Calibri" pitchFamily="34" charset="-120"/>
              </a:rPr>
              <a:t>All tasks</a:t>
            </a:r>
            <a:endParaRPr lang="en-US" sz="850" dirty="0"/>
          </a:p>
        </p:txBody>
      </p:sp>
      <p:sp>
        <p:nvSpPr>
          <p:cNvPr id="23" name="Text 21"/>
          <p:cNvSpPr/>
          <p:nvPr/>
        </p:nvSpPr>
        <p:spPr>
          <a:xfrm>
            <a:off x="3520440" y="3154680"/>
            <a:ext cx="2194560" cy="1143000"/>
          </a:xfrm>
          <a:prstGeom prst="rect">
            <a:avLst/>
          </a:prstGeom>
          <a:noFill/>
          <a:ln/>
        </p:spPr>
        <p:txBody>
          <a:bodyPr wrap="square" lIns="0" tIns="0" rIns="0" bIns="0" rtlCol="0" anchor="t"/>
          <a:lstStyle/>
          <a:p>
            <a:pPr marL="0" indent="0" algn="ctr">
              <a:lnSpc>
                <a:spcPct val="115000"/>
              </a:lnSpc>
              <a:buNone/>
            </a:pPr>
            <a:r>
              <a:rPr lang="en-US" sz="1000" dirty="0">
                <a:solidFill>
                  <a:srgbClr val="1E293B"/>
                </a:solidFill>
                <a:latin typeface="Calibri" pitchFamily="34" charset="0"/>
                <a:ea typeface="Calibri" pitchFamily="34" charset="-122"/>
                <a:cs typeface="Calibri" pitchFamily="34" charset="-120"/>
              </a:rPr>
              <a:t>Math (GSM8K), logic (CSQA), QA (HotpotQA) all fail.</a:t>
            </a:r>
            <a:endParaRPr lang="en-US" sz="1000" dirty="0"/>
          </a:p>
        </p:txBody>
      </p:sp>
      <p:sp>
        <p:nvSpPr>
          <p:cNvPr id="24" name="Shape 22"/>
          <p:cNvSpPr/>
          <p:nvPr/>
        </p:nvSpPr>
        <p:spPr>
          <a:xfrm>
            <a:off x="4389120" y="3703320"/>
            <a:ext cx="457200" cy="457200"/>
          </a:xfrm>
          <a:prstGeom prst="ellipse">
            <a:avLst/>
          </a:prstGeom>
          <a:solidFill>
            <a:srgbClr val="FFFFFF"/>
          </a:solidFill>
          <a:ln w="10160">
            <a:solidFill>
              <a:srgbClr val="CBD5E1"/>
            </a:solidFill>
            <a:prstDash val="solid"/>
          </a:ln>
        </p:spPr>
      </p:sp>
      <p:sp>
        <p:nvSpPr>
          <p:cNvPr id="25" name="Text 23"/>
          <p:cNvSpPr/>
          <p:nvPr/>
        </p:nvSpPr>
        <p:spPr>
          <a:xfrm>
            <a:off x="4389120" y="3703320"/>
            <a:ext cx="457200" cy="457200"/>
          </a:xfrm>
          <a:prstGeom prst="rect">
            <a:avLst/>
          </a:prstGeom>
          <a:noFill/>
          <a:ln/>
        </p:spPr>
        <p:txBody>
          <a:bodyPr wrap="square" lIns="0" tIns="0" rIns="0" bIns="0" rtlCol="0" anchor="ctr"/>
          <a:lstStyle/>
          <a:p>
            <a:pPr marL="0" indent="0" algn="ctr">
              <a:buNone/>
            </a:pPr>
            <a:r>
              <a:rPr lang="en-US" sz="1600" b="1" dirty="0">
                <a:solidFill>
                  <a:srgbClr val="800020"/>
                </a:solidFill>
                <a:latin typeface="Calibri" pitchFamily="34" charset="0"/>
                <a:ea typeface="Calibri" pitchFamily="34" charset="-122"/>
                <a:cs typeface="Calibri" pitchFamily="34" charset="-120"/>
              </a:rPr>
              <a:t>↓</a:t>
            </a:r>
            <a:endParaRPr lang="en-US" sz="1600" dirty="0"/>
          </a:p>
        </p:txBody>
      </p:sp>
      <p:sp>
        <p:nvSpPr>
          <p:cNvPr id="26" name="Shape 24"/>
          <p:cNvSpPr/>
          <p:nvPr/>
        </p:nvSpPr>
        <p:spPr>
          <a:xfrm>
            <a:off x="6126480" y="2286000"/>
            <a:ext cx="2560320" cy="2148840"/>
          </a:xfrm>
          <a:prstGeom prst="roundRect">
            <a:avLst>
              <a:gd name="adj" fmla="val 3404"/>
            </a:avLst>
          </a:prstGeom>
          <a:solidFill>
            <a:srgbClr val="FFFBEB"/>
          </a:solidFill>
          <a:ln w="12700">
            <a:solidFill>
              <a:srgbClr val="E2E8F0"/>
            </a:solidFill>
            <a:prstDash val="solid"/>
          </a:ln>
        </p:spPr>
      </p:sp>
      <p:sp>
        <p:nvSpPr>
          <p:cNvPr id="27" name="Shape 25"/>
          <p:cNvSpPr/>
          <p:nvPr/>
        </p:nvSpPr>
        <p:spPr>
          <a:xfrm>
            <a:off x="6309360" y="2468880"/>
            <a:ext cx="292608" cy="292608"/>
          </a:xfrm>
          <a:prstGeom prst="ellipse">
            <a:avLst/>
          </a:prstGeom>
          <a:solidFill>
            <a:srgbClr val="800020"/>
          </a:solidFill>
          <a:ln/>
        </p:spPr>
      </p:sp>
      <p:sp>
        <p:nvSpPr>
          <p:cNvPr id="28" name="Text 26"/>
          <p:cNvSpPr/>
          <p:nvPr/>
        </p:nvSpPr>
        <p:spPr>
          <a:xfrm>
            <a:off x="6309360" y="246888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9" name="Text 27"/>
          <p:cNvSpPr/>
          <p:nvPr/>
        </p:nvSpPr>
        <p:spPr>
          <a:xfrm>
            <a:off x="6675120" y="2468880"/>
            <a:ext cx="1828800" cy="274320"/>
          </a:xfrm>
          <a:prstGeom prst="rect">
            <a:avLst/>
          </a:prstGeom>
          <a:noFill/>
          <a:ln/>
        </p:spPr>
        <p:txBody>
          <a:bodyPr wrap="square" lIns="0" tIns="0" rIns="0" bIns="0" rtlCol="0" anchor="ctr"/>
          <a:lstStyle/>
          <a:p>
            <a:pPr marL="0" indent="0">
              <a:buNone/>
            </a:pPr>
            <a:r>
              <a:rPr lang="en-US" sz="1250" b="1" dirty="0">
                <a:solidFill>
                  <a:srgbClr val="0F172A"/>
                </a:solidFill>
                <a:latin typeface="Century Schoolbook" pitchFamily="34" charset="0"/>
                <a:ea typeface="Century Schoolbook" pitchFamily="34" charset="-122"/>
                <a:cs typeface="Century Schoolbook" pitchFamily="34" charset="-120"/>
              </a:rPr>
              <a:t>Oracle Illusion</a:t>
            </a:r>
            <a:endParaRPr lang="en-US" sz="1250" dirty="0"/>
          </a:p>
        </p:txBody>
      </p:sp>
      <p:sp>
        <p:nvSpPr>
          <p:cNvPr id="30" name="Shape 28"/>
          <p:cNvSpPr/>
          <p:nvPr/>
        </p:nvSpPr>
        <p:spPr>
          <a:xfrm>
            <a:off x="6309360" y="2834640"/>
            <a:ext cx="2194560" cy="201168"/>
          </a:xfrm>
          <a:prstGeom prst="roundRect">
            <a:avLst>
              <a:gd name="adj" fmla="val 18182"/>
            </a:avLst>
          </a:prstGeom>
          <a:solidFill>
            <a:srgbClr val="FFFFFF"/>
          </a:solidFill>
          <a:ln w="6350">
            <a:solidFill>
              <a:srgbClr val="E2E8F0"/>
            </a:solidFill>
            <a:prstDash val="solid"/>
          </a:ln>
        </p:spPr>
      </p:sp>
      <p:sp>
        <p:nvSpPr>
          <p:cNvPr id="31" name="Text 29"/>
          <p:cNvSpPr/>
          <p:nvPr/>
        </p:nvSpPr>
        <p:spPr>
          <a:xfrm>
            <a:off x="6309360" y="2834640"/>
            <a:ext cx="2194560" cy="201168"/>
          </a:xfrm>
          <a:prstGeom prst="rect">
            <a:avLst/>
          </a:prstGeom>
          <a:noFill/>
          <a:ln/>
        </p:spPr>
        <p:txBody>
          <a:bodyPr wrap="square" lIns="0" tIns="0" rIns="0" bIns="0" rtlCol="0" anchor="ctr"/>
          <a:lstStyle/>
          <a:p>
            <a:pPr marL="0" indent="0" algn="ctr">
              <a:buNone/>
            </a:pPr>
            <a:r>
              <a:rPr lang="en-US" sz="850" b="1" dirty="0">
                <a:solidFill>
                  <a:srgbClr val="800020"/>
                </a:solidFill>
                <a:latin typeface="Calibri" pitchFamily="34" charset="0"/>
                <a:ea typeface="Calibri" pitchFamily="34" charset="-122"/>
                <a:cs typeface="Calibri" pitchFamily="34" charset="-120"/>
              </a:rPr>
              <a:t>Prior artifact</a:t>
            </a:r>
            <a:endParaRPr lang="en-US" sz="850" dirty="0"/>
          </a:p>
        </p:txBody>
      </p:sp>
      <p:sp>
        <p:nvSpPr>
          <p:cNvPr id="32" name="Text 30"/>
          <p:cNvSpPr/>
          <p:nvPr/>
        </p:nvSpPr>
        <p:spPr>
          <a:xfrm>
            <a:off x="6309360" y="3154680"/>
            <a:ext cx="2194560" cy="1143000"/>
          </a:xfrm>
          <a:prstGeom prst="rect">
            <a:avLst/>
          </a:prstGeom>
          <a:noFill/>
          <a:ln/>
        </p:spPr>
        <p:txBody>
          <a:bodyPr wrap="square" lIns="0" tIns="0" rIns="0" bIns="0" rtlCol="0" anchor="t"/>
          <a:lstStyle/>
          <a:p>
            <a:pPr marL="0" indent="0" algn="ctr">
              <a:lnSpc>
                <a:spcPct val="115000"/>
              </a:lnSpc>
              <a:buNone/>
            </a:pPr>
            <a:r>
              <a:rPr lang="en-US" sz="1000" dirty="0">
                <a:solidFill>
                  <a:srgbClr val="1E293B"/>
                </a:solidFill>
                <a:latin typeface="Calibri" pitchFamily="34" charset="0"/>
                <a:ea typeface="Calibri" pitchFamily="34" charset="-122"/>
                <a:cs typeface="Calibri" pitchFamily="34" charset="-120"/>
              </a:rPr>
              <a:t>Gains only with external labels guiding when to fix.</a:t>
            </a:r>
            <a:endParaRPr lang="en-US" sz="1000" dirty="0"/>
          </a:p>
        </p:txBody>
      </p:sp>
      <p:sp>
        <p:nvSpPr>
          <p:cNvPr id="33" name="Shape 31"/>
          <p:cNvSpPr/>
          <p:nvPr/>
        </p:nvSpPr>
        <p:spPr>
          <a:xfrm>
            <a:off x="7178040" y="3703320"/>
            <a:ext cx="457200" cy="457200"/>
          </a:xfrm>
          <a:prstGeom prst="ellipse">
            <a:avLst/>
          </a:prstGeom>
          <a:solidFill>
            <a:srgbClr val="FFFFFF"/>
          </a:solidFill>
          <a:ln w="10160">
            <a:solidFill>
              <a:srgbClr val="CBD5E1"/>
            </a:solidFill>
            <a:prstDash val="solid"/>
          </a:ln>
        </p:spPr>
      </p:sp>
      <p:sp>
        <p:nvSpPr>
          <p:cNvPr id="34" name="Text 32"/>
          <p:cNvSpPr/>
          <p:nvPr/>
        </p:nvSpPr>
        <p:spPr>
          <a:xfrm>
            <a:off x="7178040" y="3703320"/>
            <a:ext cx="457200" cy="457200"/>
          </a:xfrm>
          <a:prstGeom prst="rect">
            <a:avLst/>
          </a:prstGeom>
          <a:noFill/>
          <a:ln/>
        </p:spPr>
        <p:txBody>
          <a:bodyPr wrap="square" lIns="0" tIns="0" rIns="0" bIns="0" rtlCol="0" anchor="ctr"/>
          <a:lstStyle/>
          <a:p>
            <a:pPr marL="0" indent="0" algn="ctr">
              <a:buNone/>
            </a:pPr>
            <a:r>
              <a:rPr lang="en-US" sz="1600" b="1" dirty="0">
                <a:solidFill>
                  <a:srgbClr val="B45309"/>
                </a:solidFill>
                <a:latin typeface="Calibri" pitchFamily="34" charset="0"/>
                <a:ea typeface="Calibri" pitchFamily="34" charset="-122"/>
                <a:cs typeface="Calibri" pitchFamily="34" charset="-120"/>
              </a:rPr>
              <a:t>!</a:t>
            </a:r>
            <a:endParaRPr lang="en-US" sz="1600" dirty="0"/>
          </a:p>
        </p:txBody>
      </p:sp>
      <p:sp>
        <p:nvSpPr>
          <p:cNvPr id="36" name="Text 33"/>
          <p:cNvSpPr/>
          <p:nvPr/>
        </p:nvSpPr>
        <p:spPr>
          <a:xfrm>
            <a:off x="548640" y="4736592"/>
            <a:ext cx="6583680" cy="274320"/>
          </a:xfrm>
          <a:prstGeom prst="rect">
            <a:avLst/>
          </a:prstGeom>
          <a:noFill/>
          <a:ln/>
        </p:spPr>
        <p:txBody>
          <a:bodyPr wrap="square" lIns="0" tIns="0" rIns="0" bIns="0"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37" name="Text 34"/>
          <p:cNvSpPr/>
          <p:nvPr/>
        </p:nvSpPr>
        <p:spPr>
          <a:xfrm>
            <a:off x="7315200" y="4736592"/>
            <a:ext cx="128016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13/23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marL="0" indent="0">
              <a:buNone/>
            </a:pPr>
            <a:r>
              <a:rPr lang="en-US" sz="900" b="1" kern="0" spc="150" dirty="0">
                <a:solidFill>
                  <a:srgbClr val="800020"/>
                </a:solidFill>
                <a:latin typeface="Calibri" pitchFamily="34" charset="0"/>
                <a:ea typeface="Calibri" pitchFamily="34" charset="-122"/>
                <a:cs typeface="Calibri" pitchFamily="34" charset="-120"/>
              </a:rPr>
              <a:t>4. RESULTS</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marL="0" indent="0">
              <a:buNone/>
            </a:pPr>
            <a:r>
              <a:rPr lang="en-US" sz="2300" b="1" dirty="0">
                <a:solidFill>
                  <a:srgbClr val="0F172A"/>
                </a:solidFill>
                <a:latin typeface="Century Schoolbook" pitchFamily="34" charset="0"/>
                <a:ea typeface="Century Schoolbook" pitchFamily="34" charset="-122"/>
                <a:cs typeface="Century Schoolbook" pitchFamily="34" charset="-120"/>
              </a:rPr>
              <a:t>GPT-3.5 &amp; GPT-4 Benchmark Results</a:t>
            </a:r>
            <a:endParaRPr lang="en-US" sz="23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Accuracy drops across rounds (Table 2)</a:t>
            </a:r>
            <a:endParaRPr lang="en-US" sz="1100" dirty="0"/>
          </a:p>
        </p:txBody>
      </p:sp>
      <p:graphicFrame>
        <p:nvGraphicFramePr>
          <p:cNvPr id="5" name="Chart 0"/>
          <p:cNvGraphicFramePr/>
          <p:nvPr/>
        </p:nvGraphicFramePr>
        <p:xfrm>
          <a:off x="548640" y="1207008"/>
          <a:ext cx="475488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577840" y="1207008"/>
            <a:ext cx="3017520" cy="3246120"/>
          </a:xfrm>
          <a:prstGeom prst="roundRect">
            <a:avLst>
              <a:gd name="adj" fmla="val 3030"/>
            </a:avLst>
          </a:prstGeom>
          <a:solidFill>
            <a:srgbClr val="F8FAFC"/>
          </a:solidFill>
          <a:ln w="12700">
            <a:solidFill>
              <a:srgbClr val="E2E8F0"/>
            </a:solidFill>
            <a:prstDash val="solid"/>
          </a:ln>
        </p:spPr>
      </p:sp>
      <p:sp>
        <p:nvSpPr>
          <p:cNvPr id="7" name="Text 4"/>
          <p:cNvSpPr/>
          <p:nvPr/>
        </p:nvSpPr>
        <p:spPr>
          <a:xfrm>
            <a:off x="5760720" y="1371600"/>
            <a:ext cx="2651760" cy="274320"/>
          </a:xfrm>
          <a:prstGeom prst="rect">
            <a:avLst/>
          </a:prstGeom>
          <a:noFill/>
          <a:ln/>
        </p:spPr>
        <p:txBody>
          <a:bodyPr wrap="square" lIns="0" tIns="0" rIns="0" bIns="0" rtlCol="0" anchor="ctr"/>
          <a:lstStyle/>
          <a:p>
            <a:pPr marL="0" indent="0">
              <a:buNone/>
            </a:pPr>
            <a:r>
              <a:rPr lang="en-US" sz="1300" b="1" dirty="0">
                <a:solidFill>
                  <a:srgbClr val="800020"/>
                </a:solidFill>
                <a:latin typeface="Century Schoolbook" pitchFamily="34" charset="0"/>
                <a:ea typeface="Century Schoolbook" pitchFamily="34" charset="-122"/>
                <a:cs typeface="Century Schoolbook" pitchFamily="34" charset="-120"/>
              </a:rPr>
              <a:t>Key Drops</a:t>
            </a:r>
            <a:endParaRPr lang="en-US" sz="1300" dirty="0"/>
          </a:p>
        </p:txBody>
      </p:sp>
      <p:sp>
        <p:nvSpPr>
          <p:cNvPr id="8" name="Shape 5"/>
          <p:cNvSpPr/>
          <p:nvPr/>
        </p:nvSpPr>
        <p:spPr>
          <a:xfrm>
            <a:off x="5760720" y="1755648"/>
            <a:ext cx="2651760" cy="731520"/>
          </a:xfrm>
          <a:prstGeom prst="roundRect">
            <a:avLst>
              <a:gd name="adj" fmla="val 7500"/>
            </a:avLst>
          </a:prstGeom>
          <a:solidFill>
            <a:srgbClr val="FFFFFF"/>
          </a:solidFill>
          <a:ln w="6350">
            <a:solidFill>
              <a:srgbClr val="E2E8F0"/>
            </a:solidFill>
            <a:prstDash val="solid"/>
          </a:ln>
        </p:spPr>
      </p:sp>
      <p:sp>
        <p:nvSpPr>
          <p:cNvPr id="9" name="Text 6"/>
          <p:cNvSpPr/>
          <p:nvPr/>
        </p:nvSpPr>
        <p:spPr>
          <a:xfrm>
            <a:off x="5897880" y="1828800"/>
            <a:ext cx="2377440" cy="201168"/>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GPT-3.5 on CSQA</a:t>
            </a:r>
            <a:endParaRPr lang="en-US" sz="1000" dirty="0"/>
          </a:p>
        </p:txBody>
      </p:sp>
      <p:sp>
        <p:nvSpPr>
          <p:cNvPr id="10" name="Text 7"/>
          <p:cNvSpPr/>
          <p:nvPr/>
        </p:nvSpPr>
        <p:spPr>
          <a:xfrm>
            <a:off x="5897880" y="1828800"/>
            <a:ext cx="2377440" cy="201168"/>
          </a:xfrm>
          <a:prstGeom prst="rect">
            <a:avLst/>
          </a:prstGeom>
          <a:noFill/>
          <a:ln/>
        </p:spPr>
        <p:txBody>
          <a:bodyPr wrap="square" lIns="0" tIns="0" rIns="0" bIns="0" rtlCol="0" anchor="ctr"/>
          <a:lstStyle/>
          <a:p>
            <a:pPr marL="0" indent="0" algn="r">
              <a:buNone/>
            </a:pPr>
            <a:r>
              <a:rPr lang="en-US" sz="1000" b="1" dirty="0">
                <a:solidFill>
                  <a:srgbClr val="800020"/>
                </a:solidFill>
                <a:latin typeface="Calibri" pitchFamily="34" charset="0"/>
                <a:ea typeface="Calibri" pitchFamily="34" charset="-122"/>
                <a:cs typeface="Calibri" pitchFamily="34" charset="-120"/>
              </a:rPr>
              <a:t>-17.2%</a:t>
            </a:r>
            <a:endParaRPr lang="en-US" sz="1000" dirty="0"/>
          </a:p>
        </p:txBody>
      </p:sp>
      <p:sp>
        <p:nvSpPr>
          <p:cNvPr id="11" name="Text 8"/>
          <p:cNvSpPr/>
          <p:nvPr/>
        </p:nvSpPr>
        <p:spPr>
          <a:xfrm>
            <a:off x="5897880" y="2048256"/>
            <a:ext cx="2377440" cy="38404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72.5% -&gt; 55.3% (R2)</a:t>
            </a:r>
            <a:endParaRPr lang="en-US" sz="900" dirty="0"/>
          </a:p>
        </p:txBody>
      </p:sp>
      <p:sp>
        <p:nvSpPr>
          <p:cNvPr id="12" name="Shape 9"/>
          <p:cNvSpPr/>
          <p:nvPr/>
        </p:nvSpPr>
        <p:spPr>
          <a:xfrm>
            <a:off x="5760720" y="2596896"/>
            <a:ext cx="2651760" cy="731520"/>
          </a:xfrm>
          <a:prstGeom prst="roundRect">
            <a:avLst>
              <a:gd name="adj" fmla="val 7500"/>
            </a:avLst>
          </a:prstGeom>
          <a:solidFill>
            <a:srgbClr val="FFFFFF"/>
          </a:solidFill>
          <a:ln w="6350">
            <a:solidFill>
              <a:srgbClr val="E2E8F0"/>
            </a:solidFill>
            <a:prstDash val="solid"/>
          </a:ln>
        </p:spPr>
      </p:sp>
      <p:sp>
        <p:nvSpPr>
          <p:cNvPr id="13" name="Text 10"/>
          <p:cNvSpPr/>
          <p:nvPr/>
        </p:nvSpPr>
        <p:spPr>
          <a:xfrm>
            <a:off x="5897880" y="2670048"/>
            <a:ext cx="2377440" cy="201168"/>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GPT-4 on HotpotQA</a:t>
            </a:r>
            <a:endParaRPr lang="en-US" sz="1000" dirty="0"/>
          </a:p>
        </p:txBody>
      </p:sp>
      <p:sp>
        <p:nvSpPr>
          <p:cNvPr id="14" name="Text 11"/>
          <p:cNvSpPr/>
          <p:nvPr/>
        </p:nvSpPr>
        <p:spPr>
          <a:xfrm>
            <a:off x="5897880" y="2670048"/>
            <a:ext cx="2377440" cy="201168"/>
          </a:xfrm>
          <a:prstGeom prst="rect">
            <a:avLst/>
          </a:prstGeom>
          <a:noFill/>
          <a:ln/>
        </p:spPr>
        <p:txBody>
          <a:bodyPr wrap="square" lIns="0" tIns="0" rIns="0" bIns="0" rtlCol="0" anchor="ctr"/>
          <a:lstStyle/>
          <a:p>
            <a:pPr marL="0" indent="0" algn="r">
              <a:buNone/>
            </a:pPr>
            <a:r>
              <a:rPr lang="en-US" sz="1000" b="1" dirty="0">
                <a:solidFill>
                  <a:srgbClr val="800020"/>
                </a:solidFill>
                <a:latin typeface="Calibri" pitchFamily="34" charset="0"/>
                <a:ea typeface="Calibri" pitchFamily="34" charset="-122"/>
                <a:cs typeface="Calibri" pitchFamily="34" charset="-120"/>
              </a:rPr>
              <a:t>-11.0%</a:t>
            </a:r>
            <a:endParaRPr lang="en-US" sz="1000" dirty="0"/>
          </a:p>
        </p:txBody>
      </p:sp>
      <p:sp>
        <p:nvSpPr>
          <p:cNvPr id="15" name="Text 12"/>
          <p:cNvSpPr/>
          <p:nvPr/>
        </p:nvSpPr>
        <p:spPr>
          <a:xfrm>
            <a:off x="5897880" y="2889504"/>
            <a:ext cx="2377440" cy="38404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53.0% -&gt; 42.0%</a:t>
            </a:r>
            <a:endParaRPr lang="en-US" sz="900" dirty="0"/>
          </a:p>
        </p:txBody>
      </p:sp>
      <p:sp>
        <p:nvSpPr>
          <p:cNvPr id="16" name="Shape 13"/>
          <p:cNvSpPr/>
          <p:nvPr/>
        </p:nvSpPr>
        <p:spPr>
          <a:xfrm>
            <a:off x="5760720" y="3438144"/>
            <a:ext cx="2651760" cy="731520"/>
          </a:xfrm>
          <a:prstGeom prst="roundRect">
            <a:avLst>
              <a:gd name="adj" fmla="val 7500"/>
            </a:avLst>
          </a:prstGeom>
          <a:solidFill>
            <a:srgbClr val="FFFFFF"/>
          </a:solidFill>
          <a:ln w="6350">
            <a:solidFill>
              <a:srgbClr val="E2E8F0"/>
            </a:solidFill>
            <a:prstDash val="solid"/>
          </a:ln>
        </p:spPr>
      </p:sp>
      <p:sp>
        <p:nvSpPr>
          <p:cNvPr id="17" name="Text 14"/>
          <p:cNvSpPr/>
          <p:nvPr/>
        </p:nvSpPr>
        <p:spPr>
          <a:xfrm>
            <a:off x="5897880" y="3511296"/>
            <a:ext cx="2377440" cy="201168"/>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GPT-4 on GSM8K</a:t>
            </a:r>
            <a:endParaRPr lang="en-US" sz="1000" dirty="0"/>
          </a:p>
        </p:txBody>
      </p:sp>
      <p:sp>
        <p:nvSpPr>
          <p:cNvPr id="18" name="Text 15"/>
          <p:cNvSpPr/>
          <p:nvPr/>
        </p:nvSpPr>
        <p:spPr>
          <a:xfrm>
            <a:off x="5897880" y="3511296"/>
            <a:ext cx="2377440" cy="201168"/>
          </a:xfrm>
          <a:prstGeom prst="rect">
            <a:avLst/>
          </a:prstGeom>
          <a:noFill/>
          <a:ln/>
        </p:spPr>
        <p:txBody>
          <a:bodyPr wrap="square" lIns="0" tIns="0" rIns="0" bIns="0" rtlCol="0" anchor="ctr"/>
          <a:lstStyle/>
          <a:p>
            <a:pPr marL="0" indent="0" algn="r">
              <a:buNone/>
            </a:pPr>
            <a:r>
              <a:rPr lang="en-US" sz="1000" b="1" dirty="0">
                <a:solidFill>
                  <a:srgbClr val="800020"/>
                </a:solidFill>
                <a:latin typeface="Calibri" pitchFamily="34" charset="0"/>
                <a:ea typeface="Calibri" pitchFamily="34" charset="-122"/>
                <a:cs typeface="Calibri" pitchFamily="34" charset="-120"/>
              </a:rPr>
              <a:t>-4.0%</a:t>
            </a:r>
            <a:endParaRPr lang="en-US" sz="1000" dirty="0"/>
          </a:p>
        </p:txBody>
      </p:sp>
      <p:sp>
        <p:nvSpPr>
          <p:cNvPr id="19" name="Text 16"/>
          <p:cNvSpPr/>
          <p:nvPr/>
        </p:nvSpPr>
        <p:spPr>
          <a:xfrm>
            <a:off x="5897880" y="3730752"/>
            <a:ext cx="2377440" cy="38404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92.0% -&gt; 88.0%</a:t>
            </a:r>
            <a:endParaRPr lang="en-US" sz="900" dirty="0"/>
          </a:p>
        </p:txBody>
      </p:sp>
      <p:sp>
        <p:nvSpPr>
          <p:cNvPr id="20" name="Text 17"/>
          <p:cNvSpPr/>
          <p:nvPr/>
        </p:nvSpPr>
        <p:spPr>
          <a:xfrm>
            <a:off x="548640" y="4526280"/>
            <a:ext cx="8046720" cy="164592"/>
          </a:xfrm>
          <a:prstGeom prst="rect">
            <a:avLst/>
          </a:prstGeom>
          <a:noFill/>
          <a:ln/>
        </p:spPr>
        <p:txBody>
          <a:bodyPr wrap="square" lIns="0" tIns="0" rIns="0" bIns="0" rtlCol="0" anchor="ctr"/>
          <a:lstStyle/>
          <a:p>
            <a:pPr marL="0" indent="0" algn="ctr">
              <a:buNone/>
            </a:pPr>
            <a:r>
              <a:rPr lang="en-US" sz="750" i="1" dirty="0">
                <a:solidFill>
                  <a:srgbClr val="64748B"/>
                </a:solidFill>
                <a:latin typeface="Calibri" pitchFamily="34" charset="0"/>
                <a:ea typeface="Calibri" pitchFamily="34" charset="-122"/>
                <a:cs typeface="Calibri" pitchFamily="34" charset="-120"/>
              </a:rPr>
              <a:t>Table-1: GPT-3.5 and GPT-4 accuracy across two self-correction rounds</a:t>
            </a:r>
            <a:endParaRPr lang="en-US" sz="750" dirty="0"/>
          </a:p>
        </p:txBody>
      </p:sp>
      <p:sp>
        <p:nvSpPr>
          <p:cNvPr id="22" name="Text 18"/>
          <p:cNvSpPr/>
          <p:nvPr/>
        </p:nvSpPr>
        <p:spPr>
          <a:xfrm>
            <a:off x="548640" y="4736592"/>
            <a:ext cx="6583680" cy="274320"/>
          </a:xfrm>
          <a:prstGeom prst="rect">
            <a:avLst/>
          </a:prstGeom>
          <a:noFill/>
          <a:ln/>
        </p:spPr>
        <p:txBody>
          <a:bodyPr wrap="square" lIns="0" tIns="0" rIns="0" bIns="0"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23" name="Text 19"/>
          <p:cNvSpPr/>
          <p:nvPr/>
        </p:nvSpPr>
        <p:spPr>
          <a:xfrm>
            <a:off x="7315200" y="4736592"/>
            <a:ext cx="128016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14/23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marL="0" indent="0">
              <a:buNone/>
            </a:pPr>
            <a:r>
              <a:rPr lang="en-US" sz="900" b="1" kern="0" spc="150" dirty="0">
                <a:solidFill>
                  <a:srgbClr val="800020"/>
                </a:solidFill>
                <a:latin typeface="Calibri" pitchFamily="34" charset="0"/>
                <a:ea typeface="Calibri" pitchFamily="34" charset="-122"/>
                <a:cs typeface="Calibri" pitchFamily="34" charset="-120"/>
              </a:rPr>
              <a:t>4. RESULTS</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marL="0" indent="0">
              <a:buNone/>
            </a:pPr>
            <a:r>
              <a:rPr lang="en-US" sz="2300" b="1" dirty="0">
                <a:solidFill>
                  <a:srgbClr val="0F172A"/>
                </a:solidFill>
                <a:latin typeface="Century Schoolbook" pitchFamily="34" charset="0"/>
                <a:ea typeface="Century Schoolbook" pitchFamily="34" charset="-122"/>
                <a:cs typeface="Century Schoolbook" pitchFamily="34" charset="-120"/>
              </a:rPr>
              <a:t>GPT-4-Turbo &amp; Llama-2 Results</a:t>
            </a:r>
            <a:endParaRPr lang="en-US" sz="23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Failure generalizes across open and proprietary models</a:t>
            </a:r>
            <a:endParaRPr lang="en-US" sz="1100" dirty="0"/>
          </a:p>
        </p:txBody>
      </p:sp>
      <p:graphicFrame>
        <p:nvGraphicFramePr>
          <p:cNvPr id="5" name="Chart 0"/>
          <p:cNvGraphicFramePr/>
          <p:nvPr/>
        </p:nvGraphicFramePr>
        <p:xfrm>
          <a:off x="548640" y="1207008"/>
          <a:ext cx="475488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577840" y="1207008"/>
            <a:ext cx="3017520" cy="3246120"/>
          </a:xfrm>
          <a:prstGeom prst="roundRect">
            <a:avLst>
              <a:gd name="adj" fmla="val 3030"/>
            </a:avLst>
          </a:prstGeom>
          <a:solidFill>
            <a:srgbClr val="FFF1F2"/>
          </a:solidFill>
          <a:ln w="15240">
            <a:solidFill>
              <a:srgbClr val="800020"/>
            </a:solidFill>
            <a:prstDash val="solid"/>
          </a:ln>
        </p:spPr>
      </p:sp>
      <p:sp>
        <p:nvSpPr>
          <p:cNvPr id="7" name="Text 4"/>
          <p:cNvSpPr/>
          <p:nvPr/>
        </p:nvSpPr>
        <p:spPr>
          <a:xfrm>
            <a:off x="5760720" y="1371600"/>
            <a:ext cx="2651760" cy="274320"/>
          </a:xfrm>
          <a:prstGeom prst="rect">
            <a:avLst/>
          </a:prstGeom>
          <a:noFill/>
          <a:ln/>
        </p:spPr>
        <p:txBody>
          <a:bodyPr wrap="square" lIns="0" tIns="0" rIns="0" bIns="0" rtlCol="0" anchor="ctr"/>
          <a:lstStyle/>
          <a:p>
            <a:pPr marL="0" indent="0">
              <a:buNone/>
            </a:pPr>
            <a:r>
              <a:rPr lang="en-US" sz="1400" b="1" dirty="0">
                <a:solidFill>
                  <a:srgbClr val="800020"/>
                </a:solidFill>
                <a:latin typeface="Century Schoolbook" pitchFamily="34" charset="0"/>
                <a:ea typeface="Century Schoolbook" pitchFamily="34" charset="-122"/>
                <a:cs typeface="Century Schoolbook" pitchFamily="34" charset="-120"/>
              </a:rPr>
              <a:t>Llama-2 Collapse</a:t>
            </a:r>
            <a:endParaRPr lang="en-US" sz="1400" dirty="0"/>
          </a:p>
        </p:txBody>
      </p:sp>
      <p:sp>
        <p:nvSpPr>
          <p:cNvPr id="8" name="Text 5"/>
          <p:cNvSpPr/>
          <p:nvPr/>
        </p:nvSpPr>
        <p:spPr>
          <a:xfrm>
            <a:off x="5760720" y="1755648"/>
            <a:ext cx="2651760" cy="457200"/>
          </a:xfrm>
          <a:prstGeom prst="rect">
            <a:avLst/>
          </a:prstGeom>
          <a:noFill/>
          <a:ln/>
        </p:spPr>
        <p:txBody>
          <a:bodyPr wrap="square" lIns="0" tIns="0" rIns="0" bIns="0" rtlCol="0" anchor="ctr"/>
          <a:lstStyle/>
          <a:p>
            <a:pPr marL="0" indent="0">
              <a:lnSpc>
                <a:spcPct val="120000"/>
              </a:lnSpc>
              <a:buNone/>
            </a:pPr>
            <a:r>
              <a:rPr lang="en-US" sz="1200" b="1" dirty="0">
                <a:solidFill>
                  <a:srgbClr val="800020"/>
                </a:solidFill>
                <a:latin typeface="Calibri" pitchFamily="34" charset="0"/>
                <a:ea typeface="Calibri" pitchFamily="34" charset="-122"/>
                <a:cs typeface="Calibri" pitchFamily="34" charset="-120"/>
              </a:rPr>
              <a:t>GSM8K: 62.0% -&gt; 36.5% (-25.5%)</a:t>
            </a:r>
            <a:endParaRPr lang="en-US" sz="1200" dirty="0"/>
          </a:p>
          <a:p>
            <a:pPr marL="0" indent="0">
              <a:lnSpc>
                <a:spcPct val="120000"/>
              </a:lnSpc>
              <a:buNone/>
            </a:pPr>
            <a:r>
              <a:rPr lang="en-US" sz="1200" b="1" dirty="0">
                <a:solidFill>
                  <a:srgbClr val="800020"/>
                </a:solidFill>
                <a:latin typeface="Calibri" pitchFamily="34" charset="0"/>
                <a:ea typeface="Calibri" pitchFamily="34" charset="-122"/>
                <a:cs typeface="Calibri" pitchFamily="34" charset="-120"/>
              </a:rPr>
              <a:t>CSQA: 64.0% -&gt; 36.5% (-27.5%)</a:t>
            </a:r>
            <a:endParaRPr lang="en-US" sz="1200" dirty="0"/>
          </a:p>
        </p:txBody>
      </p:sp>
      <p:sp>
        <p:nvSpPr>
          <p:cNvPr id="9" name="Text 6"/>
          <p:cNvSpPr/>
          <p:nvPr/>
        </p:nvSpPr>
        <p:spPr>
          <a:xfrm>
            <a:off x="5760720" y="2331720"/>
            <a:ext cx="2651760" cy="1645920"/>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Open-weight models are highly prompt-compliant: they abandon correct answers when asked to "find flaws".</a:t>
            </a:r>
            <a:endParaRPr lang="en-US" sz="1000" dirty="0"/>
          </a:p>
        </p:txBody>
      </p:sp>
      <p:sp>
        <p:nvSpPr>
          <p:cNvPr id="10" name="Shape 7"/>
          <p:cNvSpPr/>
          <p:nvPr/>
        </p:nvSpPr>
        <p:spPr>
          <a:xfrm>
            <a:off x="6896845" y="3264408"/>
            <a:ext cx="457200" cy="457200"/>
          </a:xfrm>
          <a:prstGeom prst="ellipse">
            <a:avLst/>
          </a:prstGeom>
          <a:solidFill>
            <a:srgbClr val="FFFFFF"/>
          </a:solidFill>
          <a:ln w="12700">
            <a:solidFill>
              <a:srgbClr val="800020"/>
            </a:solidFill>
            <a:prstDash val="solid"/>
          </a:ln>
        </p:spPr>
      </p:sp>
      <p:sp>
        <p:nvSpPr>
          <p:cNvPr id="11" name="Text 8"/>
          <p:cNvSpPr/>
          <p:nvPr/>
        </p:nvSpPr>
        <p:spPr>
          <a:xfrm>
            <a:off x="6896845" y="3264408"/>
            <a:ext cx="457200" cy="457200"/>
          </a:xfrm>
          <a:prstGeom prst="rect">
            <a:avLst/>
          </a:prstGeom>
          <a:noFill/>
          <a:ln/>
        </p:spPr>
        <p:txBody>
          <a:bodyPr wrap="square" lIns="0" tIns="0" rIns="0" bIns="0" rtlCol="0" anchor="ctr"/>
          <a:lstStyle/>
          <a:p>
            <a:pPr marL="0" indent="0" algn="ctr">
              <a:buNone/>
            </a:pPr>
            <a:r>
              <a:rPr lang="en-US" sz="1800" b="1" dirty="0">
                <a:solidFill>
                  <a:srgbClr val="800020"/>
                </a:solidFill>
                <a:latin typeface="Calibri" pitchFamily="34" charset="0"/>
                <a:ea typeface="Calibri" pitchFamily="34" charset="-122"/>
                <a:cs typeface="Calibri" pitchFamily="34" charset="-120"/>
              </a:rPr>
              <a:t>!</a:t>
            </a:r>
            <a:endParaRPr lang="en-US" sz="1800" dirty="0"/>
          </a:p>
        </p:txBody>
      </p:sp>
      <p:sp>
        <p:nvSpPr>
          <p:cNvPr id="12" name="Text 9"/>
          <p:cNvSpPr/>
          <p:nvPr/>
        </p:nvSpPr>
        <p:spPr>
          <a:xfrm>
            <a:off x="5760720" y="3840480"/>
            <a:ext cx="2651760" cy="36576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Extreme compliance vulnerability</a:t>
            </a:r>
            <a:endParaRPr lang="en-US" sz="1200" dirty="0"/>
          </a:p>
        </p:txBody>
      </p:sp>
      <p:sp>
        <p:nvSpPr>
          <p:cNvPr id="13" name="Text 10"/>
          <p:cNvSpPr/>
          <p:nvPr/>
        </p:nvSpPr>
        <p:spPr>
          <a:xfrm>
            <a:off x="548640" y="4526280"/>
            <a:ext cx="8046720" cy="164592"/>
          </a:xfrm>
          <a:prstGeom prst="rect">
            <a:avLst/>
          </a:prstGeom>
          <a:noFill/>
          <a:ln/>
        </p:spPr>
        <p:txBody>
          <a:bodyPr wrap="square" lIns="0" tIns="0" rIns="0" bIns="0" rtlCol="0" anchor="ctr"/>
          <a:lstStyle/>
          <a:p>
            <a:pPr marL="0" indent="0" algn="ctr">
              <a:buNone/>
            </a:pPr>
            <a:r>
              <a:rPr lang="en-US" sz="750" i="1" dirty="0">
                <a:solidFill>
                  <a:srgbClr val="64748B"/>
                </a:solidFill>
                <a:latin typeface="Calibri" pitchFamily="34" charset="0"/>
                <a:ea typeface="Calibri" pitchFamily="34" charset="-122"/>
                <a:cs typeface="Calibri" pitchFamily="34" charset="-120"/>
              </a:rPr>
              <a:t>Table-2: GPT-4-Turbo and Llama-2 results across self-correction rounds</a:t>
            </a:r>
            <a:endParaRPr lang="en-US" sz="750" dirty="0"/>
          </a:p>
        </p:txBody>
      </p:sp>
      <p:sp>
        <p:nvSpPr>
          <p:cNvPr id="15" name="Text 11"/>
          <p:cNvSpPr/>
          <p:nvPr/>
        </p:nvSpPr>
        <p:spPr>
          <a:xfrm>
            <a:off x="548640" y="4736592"/>
            <a:ext cx="6583680" cy="274320"/>
          </a:xfrm>
          <a:prstGeom prst="rect">
            <a:avLst/>
          </a:prstGeom>
          <a:noFill/>
          <a:ln/>
        </p:spPr>
        <p:txBody>
          <a:bodyPr wrap="square" lIns="0" tIns="0" rIns="0" bIns="0"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16" name="Text 12"/>
          <p:cNvSpPr/>
          <p:nvPr/>
        </p:nvSpPr>
        <p:spPr>
          <a:xfrm>
            <a:off x="7315200" y="4736592"/>
            <a:ext cx="128016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15/23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marL="0" indent="0">
              <a:buNone/>
            </a:pPr>
            <a:r>
              <a:rPr lang="en-US" sz="900" b="1" kern="0" spc="150" dirty="0">
                <a:solidFill>
                  <a:srgbClr val="800020"/>
                </a:solidFill>
                <a:latin typeface="Calibri" pitchFamily="34" charset="0"/>
                <a:ea typeface="Calibri" pitchFamily="34" charset="-122"/>
                <a:cs typeface="Calibri" pitchFamily="34" charset="-120"/>
              </a:rPr>
              <a:t>4. RESULTS</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marL="0" indent="0">
              <a:buNone/>
            </a:pPr>
            <a:r>
              <a:rPr lang="en-US" sz="2300" b="1" dirty="0">
                <a:solidFill>
                  <a:srgbClr val="0F172A"/>
                </a:solidFill>
                <a:latin typeface="Century Schoolbook" pitchFamily="34" charset="0"/>
                <a:ea typeface="Century Schoolbook" pitchFamily="34" charset="-122"/>
                <a:cs typeface="Century Schoolbook" pitchFamily="34" charset="-120"/>
              </a:rPr>
              <a:t>Answer Transition Dynamics</a:t>
            </a:r>
            <a:endParaRPr lang="en-US" sz="23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Why accuracy drops: net-negative flips (Figure 1)</a:t>
            </a:r>
            <a:endParaRPr lang="en-US" sz="1100" dirty="0"/>
          </a:p>
        </p:txBody>
      </p:sp>
      <p:graphicFrame>
        <p:nvGraphicFramePr>
          <p:cNvPr id="5" name="Chart 0"/>
          <p:cNvGraphicFramePr/>
          <p:nvPr/>
        </p:nvGraphicFramePr>
        <p:xfrm>
          <a:off x="548640" y="1207008"/>
          <a:ext cx="438912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212080" y="1207008"/>
            <a:ext cx="3383280" cy="731520"/>
          </a:xfrm>
          <a:prstGeom prst="roundRect">
            <a:avLst>
              <a:gd name="adj" fmla="val 10000"/>
            </a:avLst>
          </a:prstGeom>
          <a:solidFill>
            <a:srgbClr val="F8FAFC"/>
          </a:solidFill>
          <a:ln w="9525">
            <a:solidFill>
              <a:srgbClr val="E2E8F0"/>
            </a:solidFill>
            <a:prstDash val="solid"/>
          </a:ln>
        </p:spPr>
      </p:sp>
      <p:sp>
        <p:nvSpPr>
          <p:cNvPr id="7" name="Text 4"/>
          <p:cNvSpPr/>
          <p:nvPr/>
        </p:nvSpPr>
        <p:spPr>
          <a:xfrm>
            <a:off x="5349240" y="1298448"/>
            <a:ext cx="914400" cy="548640"/>
          </a:xfrm>
          <a:prstGeom prst="rect">
            <a:avLst/>
          </a:prstGeom>
          <a:noFill/>
          <a:ln/>
        </p:spPr>
        <p:txBody>
          <a:bodyPr wrap="square" lIns="0" tIns="0" rIns="0" bIns="0" rtlCol="0" anchor="ctr"/>
          <a:lstStyle/>
          <a:p>
            <a:pPr marL="0" indent="0">
              <a:buNone/>
            </a:pPr>
            <a:r>
              <a:rPr lang="en-US" sz="1600" b="1" dirty="0">
                <a:solidFill>
                  <a:srgbClr val="0F172A"/>
                </a:solidFill>
                <a:latin typeface="Century Schoolbook" pitchFamily="34" charset="0"/>
                <a:ea typeface="Century Schoolbook" pitchFamily="34" charset="-122"/>
                <a:cs typeface="Century Schoolbook" pitchFamily="34" charset="-120"/>
              </a:rPr>
              <a:t>74.7%</a:t>
            </a:r>
            <a:endParaRPr lang="en-US" sz="1600" dirty="0"/>
          </a:p>
        </p:txBody>
      </p:sp>
      <p:sp>
        <p:nvSpPr>
          <p:cNvPr id="8" name="Text 5"/>
          <p:cNvSpPr/>
          <p:nvPr/>
        </p:nvSpPr>
        <p:spPr>
          <a:xfrm>
            <a:off x="6309360" y="1316736"/>
            <a:ext cx="2194560" cy="22860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Unchanged</a:t>
            </a:r>
            <a:endParaRPr lang="en-US" sz="1300" dirty="0"/>
          </a:p>
        </p:txBody>
      </p:sp>
      <p:sp>
        <p:nvSpPr>
          <p:cNvPr id="9" name="Text 6"/>
          <p:cNvSpPr/>
          <p:nvPr/>
        </p:nvSpPr>
        <p:spPr>
          <a:xfrm>
            <a:off x="6309360" y="1554480"/>
            <a:ext cx="2194560" cy="29260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Kept initial answer</a:t>
            </a:r>
            <a:endParaRPr lang="en-US" sz="1200" dirty="0"/>
          </a:p>
        </p:txBody>
      </p:sp>
      <p:sp>
        <p:nvSpPr>
          <p:cNvPr id="10" name="Shape 7"/>
          <p:cNvSpPr/>
          <p:nvPr/>
        </p:nvSpPr>
        <p:spPr>
          <a:xfrm>
            <a:off x="5212080" y="2029968"/>
            <a:ext cx="3383280" cy="731520"/>
          </a:xfrm>
          <a:prstGeom prst="roundRect">
            <a:avLst>
              <a:gd name="adj" fmla="val 10000"/>
            </a:avLst>
          </a:prstGeom>
          <a:solidFill>
            <a:srgbClr val="FFF1F2"/>
          </a:solidFill>
          <a:ln w="9525">
            <a:solidFill>
              <a:srgbClr val="E2E8F0"/>
            </a:solidFill>
            <a:prstDash val="solid"/>
          </a:ln>
        </p:spPr>
      </p:sp>
      <p:sp>
        <p:nvSpPr>
          <p:cNvPr id="11" name="Text 8"/>
          <p:cNvSpPr/>
          <p:nvPr/>
        </p:nvSpPr>
        <p:spPr>
          <a:xfrm>
            <a:off x="5349240" y="2121408"/>
            <a:ext cx="914400" cy="548640"/>
          </a:xfrm>
          <a:prstGeom prst="rect">
            <a:avLst/>
          </a:prstGeom>
          <a:noFill/>
          <a:ln/>
        </p:spPr>
        <p:txBody>
          <a:bodyPr wrap="square" lIns="0" tIns="0" rIns="0" bIns="0" rtlCol="0" anchor="ctr"/>
          <a:lstStyle/>
          <a:p>
            <a:pPr marL="0" indent="0">
              <a:buNone/>
            </a:pPr>
            <a:r>
              <a:rPr lang="en-US" sz="1600" b="1" dirty="0">
                <a:solidFill>
                  <a:srgbClr val="800020"/>
                </a:solidFill>
                <a:latin typeface="Century Schoolbook" pitchFamily="34" charset="0"/>
                <a:ea typeface="Century Schoolbook" pitchFamily="34" charset="-122"/>
                <a:cs typeface="Century Schoolbook" pitchFamily="34" charset="-120"/>
              </a:rPr>
              <a:t>8.9%</a:t>
            </a:r>
            <a:endParaRPr lang="en-US" sz="1600" dirty="0"/>
          </a:p>
        </p:txBody>
      </p:sp>
      <p:sp>
        <p:nvSpPr>
          <p:cNvPr id="12" name="Text 9"/>
          <p:cNvSpPr/>
          <p:nvPr/>
        </p:nvSpPr>
        <p:spPr>
          <a:xfrm>
            <a:off x="6309360" y="2139696"/>
            <a:ext cx="2194560" cy="228600"/>
          </a:xfrm>
          <a:prstGeom prst="rect">
            <a:avLst/>
          </a:prstGeom>
          <a:noFill/>
          <a:ln/>
        </p:spPr>
        <p:txBody>
          <a:bodyPr wrap="square" lIns="0" tIns="0" rIns="0" bIns="0" rtlCol="0" anchor="ctr"/>
          <a:lstStyle/>
          <a:p>
            <a:pPr marL="0" indent="0">
              <a:buNone/>
            </a:pPr>
            <a:r>
              <a:rPr lang="en-US" sz="1300" b="1" dirty="0">
                <a:solidFill>
                  <a:srgbClr val="800020"/>
                </a:solidFill>
                <a:latin typeface="Calibri" pitchFamily="34" charset="0"/>
                <a:ea typeface="Calibri" pitchFamily="34" charset="-122"/>
                <a:cs typeface="Calibri" pitchFamily="34" charset="-120"/>
              </a:rPr>
              <a:t>Correct -&gt; Wrong</a:t>
            </a:r>
            <a:endParaRPr lang="en-US" sz="1300" dirty="0"/>
          </a:p>
        </p:txBody>
      </p:sp>
      <p:sp>
        <p:nvSpPr>
          <p:cNvPr id="13" name="Text 10"/>
          <p:cNvSpPr/>
          <p:nvPr/>
        </p:nvSpPr>
        <p:spPr>
          <a:xfrm>
            <a:off x="6309360" y="2377440"/>
            <a:ext cx="2194560" cy="29260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Harmful flip</a:t>
            </a:r>
            <a:endParaRPr lang="en-US" sz="1200" dirty="0"/>
          </a:p>
        </p:txBody>
      </p:sp>
      <p:sp>
        <p:nvSpPr>
          <p:cNvPr id="14" name="Shape 11"/>
          <p:cNvSpPr/>
          <p:nvPr/>
        </p:nvSpPr>
        <p:spPr>
          <a:xfrm>
            <a:off x="5212080" y="2852928"/>
            <a:ext cx="3383280" cy="731520"/>
          </a:xfrm>
          <a:prstGeom prst="roundRect">
            <a:avLst>
              <a:gd name="adj" fmla="val 10000"/>
            </a:avLst>
          </a:prstGeom>
          <a:solidFill>
            <a:srgbClr val="F0FDF4"/>
          </a:solidFill>
          <a:ln w="9525">
            <a:solidFill>
              <a:srgbClr val="E2E8F0"/>
            </a:solidFill>
            <a:prstDash val="solid"/>
          </a:ln>
        </p:spPr>
      </p:sp>
      <p:sp>
        <p:nvSpPr>
          <p:cNvPr id="15" name="Text 12"/>
          <p:cNvSpPr/>
          <p:nvPr/>
        </p:nvSpPr>
        <p:spPr>
          <a:xfrm>
            <a:off x="5349240" y="2944368"/>
            <a:ext cx="914400" cy="548640"/>
          </a:xfrm>
          <a:prstGeom prst="rect">
            <a:avLst/>
          </a:prstGeom>
          <a:noFill/>
          <a:ln/>
        </p:spPr>
        <p:txBody>
          <a:bodyPr wrap="square" lIns="0" tIns="0" rIns="0" bIns="0" rtlCol="0" anchor="ctr"/>
          <a:lstStyle/>
          <a:p>
            <a:pPr marL="0" indent="0">
              <a:buNone/>
            </a:pPr>
            <a:r>
              <a:rPr lang="en-US" sz="1600" b="1" dirty="0">
                <a:solidFill>
                  <a:srgbClr val="166534"/>
                </a:solidFill>
                <a:latin typeface="Century Schoolbook" pitchFamily="34" charset="0"/>
                <a:ea typeface="Century Schoolbook" pitchFamily="34" charset="-122"/>
                <a:cs typeface="Century Schoolbook" pitchFamily="34" charset="-120"/>
              </a:rPr>
              <a:t>7.6%</a:t>
            </a:r>
            <a:endParaRPr lang="en-US" sz="1600" dirty="0"/>
          </a:p>
        </p:txBody>
      </p:sp>
      <p:sp>
        <p:nvSpPr>
          <p:cNvPr id="16" name="Text 13"/>
          <p:cNvSpPr/>
          <p:nvPr/>
        </p:nvSpPr>
        <p:spPr>
          <a:xfrm>
            <a:off x="6309360" y="2962656"/>
            <a:ext cx="2194560" cy="228600"/>
          </a:xfrm>
          <a:prstGeom prst="rect">
            <a:avLst/>
          </a:prstGeom>
          <a:noFill/>
          <a:ln/>
        </p:spPr>
        <p:txBody>
          <a:bodyPr wrap="square" lIns="0" tIns="0" rIns="0" bIns="0" rtlCol="0" anchor="ctr"/>
          <a:lstStyle/>
          <a:p>
            <a:pPr marL="0" indent="0">
              <a:buNone/>
            </a:pPr>
            <a:r>
              <a:rPr lang="en-US" sz="1300" b="1" dirty="0">
                <a:solidFill>
                  <a:srgbClr val="166534"/>
                </a:solidFill>
                <a:latin typeface="Calibri" pitchFamily="34" charset="0"/>
                <a:ea typeface="Calibri" pitchFamily="34" charset="-122"/>
                <a:cs typeface="Calibri" pitchFamily="34" charset="-120"/>
              </a:rPr>
              <a:t>Wrong -&gt; Correct</a:t>
            </a:r>
            <a:endParaRPr lang="en-US" sz="1300" dirty="0"/>
          </a:p>
        </p:txBody>
      </p:sp>
      <p:sp>
        <p:nvSpPr>
          <p:cNvPr id="17" name="Text 14"/>
          <p:cNvSpPr/>
          <p:nvPr/>
        </p:nvSpPr>
        <p:spPr>
          <a:xfrm>
            <a:off x="6309360" y="3200400"/>
            <a:ext cx="2194560" cy="29260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Beneficial fix</a:t>
            </a:r>
            <a:endParaRPr lang="en-US" sz="1200" dirty="0"/>
          </a:p>
        </p:txBody>
      </p:sp>
      <p:sp>
        <p:nvSpPr>
          <p:cNvPr id="18" name="Shape 15"/>
          <p:cNvSpPr/>
          <p:nvPr/>
        </p:nvSpPr>
        <p:spPr>
          <a:xfrm>
            <a:off x="5212080" y="3675888"/>
            <a:ext cx="3383280" cy="731520"/>
          </a:xfrm>
          <a:prstGeom prst="roundRect">
            <a:avLst>
              <a:gd name="adj" fmla="val 10000"/>
            </a:avLst>
          </a:prstGeom>
          <a:solidFill>
            <a:srgbClr val="FFF1F2"/>
          </a:solidFill>
          <a:ln w="9525">
            <a:solidFill>
              <a:srgbClr val="E2E8F0"/>
            </a:solidFill>
            <a:prstDash val="solid"/>
          </a:ln>
        </p:spPr>
      </p:sp>
      <p:sp>
        <p:nvSpPr>
          <p:cNvPr id="19" name="Text 16"/>
          <p:cNvSpPr/>
          <p:nvPr/>
        </p:nvSpPr>
        <p:spPr>
          <a:xfrm>
            <a:off x="5349240" y="3767328"/>
            <a:ext cx="914400" cy="548640"/>
          </a:xfrm>
          <a:prstGeom prst="rect">
            <a:avLst/>
          </a:prstGeom>
          <a:noFill/>
          <a:ln/>
        </p:spPr>
        <p:txBody>
          <a:bodyPr wrap="square" lIns="0" tIns="0" rIns="0" bIns="0" rtlCol="0" anchor="ctr"/>
          <a:lstStyle/>
          <a:p>
            <a:pPr marL="0" indent="0">
              <a:buNone/>
            </a:pPr>
            <a:r>
              <a:rPr lang="en-US" sz="1600" b="1" dirty="0">
                <a:solidFill>
                  <a:srgbClr val="800020"/>
                </a:solidFill>
                <a:latin typeface="Century Schoolbook" pitchFamily="34" charset="0"/>
                <a:ea typeface="Century Schoolbook" pitchFamily="34" charset="-122"/>
                <a:cs typeface="Century Schoolbook" pitchFamily="34" charset="-120"/>
              </a:rPr>
              <a:t>-1.3%</a:t>
            </a:r>
            <a:endParaRPr lang="en-US" sz="1600" dirty="0"/>
          </a:p>
        </p:txBody>
      </p:sp>
      <p:sp>
        <p:nvSpPr>
          <p:cNvPr id="20" name="Text 17"/>
          <p:cNvSpPr/>
          <p:nvPr/>
        </p:nvSpPr>
        <p:spPr>
          <a:xfrm>
            <a:off x="6309360" y="3785616"/>
            <a:ext cx="2194560" cy="228600"/>
          </a:xfrm>
          <a:prstGeom prst="rect">
            <a:avLst/>
          </a:prstGeom>
          <a:noFill/>
          <a:ln/>
        </p:spPr>
        <p:txBody>
          <a:bodyPr wrap="square" lIns="0" tIns="0" rIns="0" bIns="0" rtlCol="0" anchor="ctr"/>
          <a:lstStyle/>
          <a:p>
            <a:pPr marL="0" indent="0">
              <a:buNone/>
            </a:pPr>
            <a:r>
              <a:rPr lang="en-US" sz="1300" b="1" dirty="0">
                <a:solidFill>
                  <a:srgbClr val="800020"/>
                </a:solidFill>
                <a:latin typeface="Calibri" pitchFamily="34" charset="0"/>
                <a:ea typeface="Calibri" pitchFamily="34" charset="-122"/>
                <a:cs typeface="Calibri" pitchFamily="34" charset="-120"/>
              </a:rPr>
              <a:t>Net Loss</a:t>
            </a:r>
            <a:endParaRPr lang="en-US" sz="1300" dirty="0"/>
          </a:p>
        </p:txBody>
      </p:sp>
      <p:sp>
        <p:nvSpPr>
          <p:cNvPr id="21" name="Text 18"/>
          <p:cNvSpPr/>
          <p:nvPr/>
        </p:nvSpPr>
        <p:spPr>
          <a:xfrm>
            <a:off x="6309360" y="4023360"/>
            <a:ext cx="2194560" cy="29260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Harm &gt; help</a:t>
            </a:r>
            <a:endParaRPr lang="en-US" sz="1200" dirty="0"/>
          </a:p>
        </p:txBody>
      </p:sp>
      <p:sp>
        <p:nvSpPr>
          <p:cNvPr id="22" name="Text 19"/>
          <p:cNvSpPr/>
          <p:nvPr/>
        </p:nvSpPr>
        <p:spPr>
          <a:xfrm>
            <a:off x="548640" y="4526280"/>
            <a:ext cx="8046720" cy="164592"/>
          </a:xfrm>
          <a:prstGeom prst="rect">
            <a:avLst/>
          </a:prstGeom>
          <a:noFill/>
          <a:ln/>
        </p:spPr>
        <p:txBody>
          <a:bodyPr wrap="square" lIns="0" tIns="0" rIns="0" bIns="0" rtlCol="0" anchor="ctr"/>
          <a:lstStyle/>
          <a:p>
            <a:pPr marL="0" indent="0" algn="ctr">
              <a:buNone/>
            </a:pPr>
            <a:r>
              <a:rPr lang="en-US" sz="750" i="1" dirty="0">
                <a:solidFill>
                  <a:srgbClr val="64748B"/>
                </a:solidFill>
                <a:latin typeface="Calibri" pitchFamily="34" charset="0"/>
                <a:ea typeface="Calibri" pitchFamily="34" charset="-122"/>
                <a:cs typeface="Calibri" pitchFamily="34" charset="-120"/>
              </a:rPr>
              <a:t>Figure-4: Answer transition dynamics after two self-correction rounds on GSM8K (GPT-3.5)</a:t>
            </a:r>
            <a:endParaRPr lang="en-US" sz="750" dirty="0"/>
          </a:p>
        </p:txBody>
      </p:sp>
      <p:sp>
        <p:nvSpPr>
          <p:cNvPr id="24" name="Text 20"/>
          <p:cNvSpPr/>
          <p:nvPr/>
        </p:nvSpPr>
        <p:spPr>
          <a:xfrm>
            <a:off x="548640" y="4736592"/>
            <a:ext cx="6583680" cy="274320"/>
          </a:xfrm>
          <a:prstGeom prst="rect">
            <a:avLst/>
          </a:prstGeom>
          <a:noFill/>
          <a:ln/>
        </p:spPr>
        <p:txBody>
          <a:bodyPr wrap="square" lIns="0" tIns="0" rIns="0" bIns="0"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25" name="Text 21"/>
          <p:cNvSpPr/>
          <p:nvPr/>
        </p:nvSpPr>
        <p:spPr>
          <a:xfrm>
            <a:off x="7315200" y="4736592"/>
            <a:ext cx="128016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16/23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r>
              <a:rPr lang="en-US" sz="900" b="1" kern="0" spc="150" dirty="0">
                <a:solidFill>
                  <a:srgbClr val="800020"/>
                </a:solidFill>
                <a:latin typeface="Calibri" pitchFamily="34" charset="0"/>
                <a:ea typeface="Calibri" pitchFamily="34" charset="-122"/>
                <a:cs typeface="Calibri" pitchFamily="34" charset="-120"/>
              </a:rPr>
              <a:t>5. ANALYSIS</a:t>
            </a:r>
            <a:endParaRPr lang="en-US" sz="900" dirty="0"/>
          </a:p>
        </p:txBody>
      </p:sp>
      <p:sp>
        <p:nvSpPr>
          <p:cNvPr id="4" name="Text 2"/>
          <p:cNvSpPr/>
          <p:nvPr/>
        </p:nvSpPr>
        <p:spPr>
          <a:xfrm>
            <a:off x="548640" y="868680"/>
            <a:ext cx="8046720" cy="274320"/>
          </a:xfrm>
          <a:prstGeom prst="rect">
            <a:avLst/>
          </a:prstGeom>
          <a:noFill/>
          <a:ln/>
        </p:spPr>
        <p:txBody>
          <a:bodyPr wrap="square" lIns="0" tIns="0" rIns="0" bIns="0" rtlCol="0" anchor="ctr"/>
          <a:lstStyle/>
          <a:p>
            <a:pPr marL="0" indent="0" algn="l">
              <a:buNone/>
            </a:pPr>
            <a:r>
              <a:rPr lang="en-US" sz="1100" dirty="0">
                <a:solidFill>
                  <a:srgbClr val="64748B"/>
                </a:solidFill>
                <a:latin typeface="Calibri" pitchFamily="34" charset="0"/>
                <a:ea typeface="Calibri" pitchFamily="34" charset="-122"/>
                <a:cs typeface="Calibri" pitchFamily="34" charset="-120"/>
              </a:rPr>
              <a:t>What self-correction means, and the question this paper puts to the test.</a:t>
            </a:r>
            <a:endParaRPr lang="en-US" sz="1100" dirty="0"/>
          </a:p>
        </p:txBody>
      </p:sp>
      <p:sp>
        <p:nvSpPr>
          <p:cNvPr id="5" name="Text 3"/>
          <p:cNvSpPr/>
          <p:nvPr/>
        </p:nvSpPr>
        <p:spPr>
          <a:xfrm>
            <a:off x="548640" y="1371600"/>
            <a:ext cx="4572000" cy="2651760"/>
          </a:xfrm>
          <a:prstGeom prst="rect">
            <a:avLst/>
          </a:prstGeom>
          <a:noFill/>
          <a:ln/>
        </p:spPr>
        <p:txBody>
          <a:bodyPr wrap="square" lIns="0" tIns="0" rIns="0" bIns="0" rtlCol="0" anchor="t"/>
          <a:lstStyle/>
          <a:p>
            <a:pPr marL="177800" indent="-177800" algn="l">
              <a:lnSpc>
                <a:spcPct val="115000"/>
              </a:lnSpc>
              <a:spcAft>
                <a:spcPts val="1600"/>
              </a:spcAft>
              <a:buSzPct val="100000"/>
              <a:buChar char="•"/>
            </a:pPr>
            <a:r>
              <a:rPr lang="en-US" sz="1300" dirty="0">
                <a:solidFill>
                  <a:srgbClr val="1E293B"/>
                </a:solidFill>
                <a:latin typeface="Calibri" pitchFamily="34" charset="0"/>
                <a:ea typeface="Calibri" pitchFamily="34" charset="-122"/>
                <a:cs typeface="Calibri" pitchFamily="34" charset="-120"/>
              </a:rPr>
              <a:t>Self-correction: an LLM revises its own answer using feedback on a prior output.</a:t>
            </a:r>
            <a:endParaRPr lang="en-US" sz="1300" dirty="0"/>
          </a:p>
          <a:p>
            <a:pPr marL="177800" indent="-177800" algn="l">
              <a:lnSpc>
                <a:spcPct val="115000"/>
              </a:lnSpc>
              <a:spcAft>
                <a:spcPts val="1600"/>
              </a:spcAft>
              <a:buSzPct val="100000"/>
              <a:buChar char="•"/>
            </a:pPr>
            <a:r>
              <a:rPr lang="en-US" sz="1300" dirty="0">
                <a:solidFill>
                  <a:srgbClr val="1E293B"/>
                </a:solidFill>
                <a:latin typeface="Calibri" pitchFamily="34" charset="0"/>
                <a:ea typeface="Calibri" pitchFamily="34" charset="-122"/>
                <a:cs typeface="Calibri" pitchFamily="34" charset="-120"/>
              </a:rPr>
              <a:t>This paper studies intrinsic self-correction, where the model corrects itself using only its own knowledge, with no external feedback or oracle labels.</a:t>
            </a:r>
            <a:endParaRPr lang="en-US" sz="1300" dirty="0"/>
          </a:p>
          <a:p>
            <a:pPr marL="177800" indent="-177800" algn="l">
              <a:lnSpc>
                <a:spcPct val="115000"/>
              </a:lnSpc>
              <a:spcAft>
                <a:spcPts val="1600"/>
              </a:spcAft>
              <a:buSzPct val="100000"/>
              <a:buChar char="•"/>
            </a:pPr>
            <a:r>
              <a:rPr lang="en-US" sz="1300" dirty="0">
                <a:solidFill>
                  <a:srgbClr val="1E293B"/>
                </a:solidFill>
                <a:latin typeface="Calibri" pitchFamily="34" charset="0"/>
                <a:ea typeface="Calibri" pitchFamily="34" charset="-122"/>
                <a:cs typeface="Calibri" pitchFamily="34" charset="-120"/>
              </a:rPr>
              <a:t>Central question: if a model can self-correct, why not answer correctly the first time?</a:t>
            </a:r>
            <a:endParaRPr lang="en-US" sz="1300" dirty="0"/>
          </a:p>
          <a:p>
            <a:pPr marL="177800" indent="-177800" algn="l">
              <a:lnSpc>
                <a:spcPct val="115000"/>
              </a:lnSpc>
              <a:spcAft>
                <a:spcPts val="1600"/>
              </a:spcAft>
              <a:buSzPct val="100000"/>
              <a:buChar char="•"/>
            </a:pPr>
            <a:r>
              <a:rPr lang="en-US" sz="1300" b="1" dirty="0">
                <a:solidFill>
                  <a:srgbClr val="800020"/>
                </a:solidFill>
                <a:latin typeface="Calibri" pitchFamily="34" charset="0"/>
                <a:ea typeface="Calibri" pitchFamily="34" charset="-122"/>
                <a:cs typeface="Calibri" pitchFamily="34" charset="-120"/>
              </a:rPr>
              <a:t>Finding: without external feedback, LLMs largely fail to self-correct reasoning and often get worse.</a:t>
            </a:r>
            <a:endParaRPr lang="en-US" sz="1300" dirty="0"/>
          </a:p>
        </p:txBody>
      </p:sp>
      <p:sp>
        <p:nvSpPr>
          <p:cNvPr id="6" name="Shape 4"/>
          <p:cNvSpPr/>
          <p:nvPr/>
        </p:nvSpPr>
        <p:spPr>
          <a:xfrm>
            <a:off x="5989320" y="1851660"/>
            <a:ext cx="0" cy="2011680"/>
          </a:xfrm>
          <a:prstGeom prst="line">
            <a:avLst/>
          </a:prstGeom>
          <a:noFill/>
          <a:ln w="28575">
            <a:solidFill>
              <a:srgbClr val="E2E8F0"/>
            </a:solidFill>
            <a:prstDash val="solid"/>
          </a:ln>
        </p:spPr>
      </p:sp>
      <p:sp>
        <p:nvSpPr>
          <p:cNvPr id="7" name="Shape 5"/>
          <p:cNvSpPr/>
          <p:nvPr/>
        </p:nvSpPr>
        <p:spPr>
          <a:xfrm>
            <a:off x="5737860" y="1600200"/>
            <a:ext cx="502920" cy="502920"/>
          </a:xfrm>
          <a:prstGeom prst="ellipse">
            <a:avLst/>
          </a:prstGeom>
          <a:solidFill>
            <a:srgbClr val="C00000">
              <a:shade val="30000"/>
              <a:satMod val="115000"/>
            </a:srgbClr>
          </a:solidFill>
          <a:ln/>
        </p:spPr>
      </p:sp>
      <p:sp>
        <p:nvSpPr>
          <p:cNvPr id="8" name="Text 6"/>
          <p:cNvSpPr/>
          <p:nvPr/>
        </p:nvSpPr>
        <p:spPr>
          <a:xfrm>
            <a:off x="5737860" y="1600200"/>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6423660" y="1600200"/>
            <a:ext cx="1828800" cy="502920"/>
          </a:xfrm>
          <a:prstGeom prst="rect">
            <a:avLst/>
          </a:prstGeom>
          <a:noFill/>
          <a:ln/>
        </p:spPr>
        <p:txBody>
          <a:bodyPr wrap="square" lIns="0" tIns="0" rIns="0" bIns="0" rtlCol="0" anchor="ctr"/>
          <a:lstStyle/>
          <a:p>
            <a:pPr marL="0" indent="0" algn="l">
              <a:buNone/>
            </a:pPr>
            <a:r>
              <a:rPr lang="en-US" sz="1200" dirty="0">
                <a:solidFill>
                  <a:srgbClr val="1E293B"/>
                </a:solidFill>
                <a:latin typeface="Calibri" pitchFamily="34" charset="0"/>
                <a:ea typeface="Calibri" pitchFamily="34" charset="-122"/>
                <a:cs typeface="Calibri" pitchFamily="34" charset="-120"/>
              </a:rPr>
              <a:t>Generate answer</a:t>
            </a:r>
            <a:endParaRPr lang="en-US" sz="1200" dirty="0"/>
          </a:p>
        </p:txBody>
      </p:sp>
      <p:sp>
        <p:nvSpPr>
          <p:cNvPr id="10" name="Shape 8"/>
          <p:cNvSpPr/>
          <p:nvPr/>
        </p:nvSpPr>
        <p:spPr>
          <a:xfrm>
            <a:off x="5737860" y="2606040"/>
            <a:ext cx="502920" cy="502920"/>
          </a:xfrm>
          <a:prstGeom prst="ellipse">
            <a:avLst/>
          </a:prstGeom>
          <a:solidFill>
            <a:srgbClr val="C00000">
              <a:shade val="30000"/>
              <a:satMod val="115000"/>
            </a:srgbClr>
          </a:solidFill>
          <a:ln/>
        </p:spPr>
      </p:sp>
      <p:sp>
        <p:nvSpPr>
          <p:cNvPr id="11" name="Text 9"/>
          <p:cNvSpPr/>
          <p:nvPr/>
        </p:nvSpPr>
        <p:spPr>
          <a:xfrm>
            <a:off x="5737860" y="2606040"/>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6423660" y="2606040"/>
            <a:ext cx="1828800" cy="502920"/>
          </a:xfrm>
          <a:prstGeom prst="rect">
            <a:avLst/>
          </a:prstGeom>
          <a:noFill/>
          <a:ln/>
        </p:spPr>
        <p:txBody>
          <a:bodyPr wrap="square" lIns="0" tIns="0" rIns="0" bIns="0" rtlCol="0" anchor="ctr"/>
          <a:lstStyle/>
          <a:p>
            <a:pPr marL="0" indent="0" algn="l">
              <a:buNone/>
            </a:pPr>
            <a:r>
              <a:rPr lang="en-US" sz="1200" dirty="0">
                <a:solidFill>
                  <a:srgbClr val="1E293B"/>
                </a:solidFill>
                <a:latin typeface="Calibri" pitchFamily="34" charset="0"/>
                <a:ea typeface="Calibri" pitchFamily="34" charset="-122"/>
                <a:cs typeface="Calibri" pitchFamily="34" charset="-120"/>
              </a:rPr>
              <a:t>Self-review</a:t>
            </a:r>
            <a:endParaRPr lang="en-US" sz="1200" dirty="0"/>
          </a:p>
          <a:p>
            <a:pPr marL="0" indent="0" algn="l">
              <a:buNone/>
            </a:pPr>
            <a:r>
              <a:rPr lang="en-US" sz="1200" dirty="0">
                <a:solidFill>
                  <a:srgbClr val="1E293B"/>
                </a:solidFill>
                <a:latin typeface="Calibri" pitchFamily="34" charset="0"/>
                <a:ea typeface="Calibri" pitchFamily="34" charset="-122"/>
                <a:cs typeface="Calibri" pitchFamily="34" charset="-120"/>
              </a:rPr>
              <a:t>(no oracle)</a:t>
            </a:r>
            <a:endParaRPr lang="en-US" sz="1200" dirty="0"/>
          </a:p>
        </p:txBody>
      </p:sp>
      <p:sp>
        <p:nvSpPr>
          <p:cNvPr id="13" name="Shape 11"/>
          <p:cNvSpPr/>
          <p:nvPr/>
        </p:nvSpPr>
        <p:spPr>
          <a:xfrm>
            <a:off x="5737860" y="3611880"/>
            <a:ext cx="502920" cy="502920"/>
          </a:xfrm>
          <a:prstGeom prst="ellipse">
            <a:avLst/>
          </a:prstGeom>
          <a:solidFill>
            <a:srgbClr val="C00000">
              <a:shade val="30000"/>
              <a:satMod val="115000"/>
            </a:srgbClr>
          </a:solidFill>
          <a:ln/>
        </p:spPr>
      </p:sp>
      <p:sp>
        <p:nvSpPr>
          <p:cNvPr id="14" name="Text 12"/>
          <p:cNvSpPr/>
          <p:nvPr/>
        </p:nvSpPr>
        <p:spPr>
          <a:xfrm>
            <a:off x="5737860" y="3611880"/>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6423660" y="3611880"/>
            <a:ext cx="1828800" cy="502920"/>
          </a:xfrm>
          <a:prstGeom prst="rect">
            <a:avLst/>
          </a:prstGeom>
          <a:noFill/>
          <a:ln/>
        </p:spPr>
        <p:txBody>
          <a:bodyPr wrap="square" lIns="0" tIns="0" rIns="0" bIns="0" rtlCol="0" anchor="ctr"/>
          <a:lstStyle/>
          <a:p>
            <a:pPr marL="0" indent="0" algn="l">
              <a:buNone/>
            </a:pPr>
            <a:r>
              <a:rPr lang="en-US" sz="1200" dirty="0">
                <a:solidFill>
                  <a:srgbClr val="1E293B"/>
                </a:solidFill>
                <a:latin typeface="Calibri" pitchFamily="34" charset="0"/>
                <a:ea typeface="Calibri" pitchFamily="34" charset="-122"/>
                <a:cs typeface="Calibri" pitchFamily="34" charset="-120"/>
              </a:rPr>
              <a:t>Revised answer</a:t>
            </a:r>
            <a:endParaRPr lang="en-US" sz="1200" dirty="0"/>
          </a:p>
        </p:txBody>
      </p:sp>
      <p:sp>
        <p:nvSpPr>
          <p:cNvPr id="17" name="Text 15"/>
          <p:cNvSpPr/>
          <p:nvPr/>
        </p:nvSpPr>
        <p:spPr>
          <a:xfrm>
            <a:off x="548640" y="4736592"/>
            <a:ext cx="5852160" cy="274320"/>
          </a:xfrm>
          <a:prstGeom prst="rect">
            <a:avLst/>
          </a:prstGeom>
          <a:noFill/>
          <a:ln/>
        </p:spPr>
        <p:txBody>
          <a:bodyPr wrap="square" lIns="0" tIns="0" rIns="0" bIns="0" rtlCol="0" anchor="ctr"/>
          <a:lstStyle/>
          <a:p>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18" name="Text 16"/>
          <p:cNvSpPr/>
          <p:nvPr/>
        </p:nvSpPr>
        <p:spPr>
          <a:xfrm>
            <a:off x="7315200" y="4736592"/>
            <a:ext cx="1280160" cy="274320"/>
          </a:xfrm>
          <a:prstGeom prst="rect">
            <a:avLst/>
          </a:prstGeom>
          <a:noFill/>
          <a:ln/>
        </p:spPr>
        <p:txBody>
          <a:bodyPr wrap="square" lIns="0" tIns="0" rIns="0" bIns="0" rtlCol="0" anchor="ctr"/>
          <a:lstStyle/>
          <a:p>
            <a:pPr algn="r"/>
            <a:r>
              <a:rPr lang="en-US" sz="850" b="1" dirty="0">
                <a:solidFill>
                  <a:srgbClr val="64748B"/>
                </a:solidFill>
                <a:latin typeface="Calibri" pitchFamily="34" charset="0"/>
                <a:ea typeface="Calibri" pitchFamily="34" charset="-122"/>
                <a:cs typeface="Calibri" pitchFamily="34" charset="-120"/>
              </a:rPr>
              <a:t>17/23</a:t>
            </a:r>
            <a:endParaRPr lang="en-US" sz="850" dirty="0"/>
          </a:p>
        </p:txBody>
      </p:sp>
      <p:sp>
        <p:nvSpPr>
          <p:cNvPr id="16" name="Text 1">
            <a:extLst>
              <a:ext uri="{FF2B5EF4-FFF2-40B4-BE49-F238E27FC236}">
                <a16:creationId xmlns:a16="http://schemas.microsoft.com/office/drawing/2014/main" id="{60C3FAC6-4FF2-2AC4-4741-39585FEABD2C}"/>
              </a:ext>
            </a:extLst>
          </p:cNvPr>
          <p:cNvSpPr/>
          <p:nvPr/>
        </p:nvSpPr>
        <p:spPr>
          <a:xfrm>
            <a:off x="548640" y="438912"/>
            <a:ext cx="8046720" cy="411480"/>
          </a:xfrm>
          <a:prstGeom prst="rect">
            <a:avLst/>
          </a:prstGeom>
          <a:noFill/>
          <a:ln/>
        </p:spPr>
        <p:txBody>
          <a:bodyPr wrap="square" lIns="0" tIns="0" rIns="0" bIns="0" rtlCol="0" anchor="ctr"/>
          <a:lstStyle/>
          <a:p>
            <a:pPr>
              <a:lnSpc>
                <a:spcPct val="105000"/>
              </a:lnSpc>
            </a:pPr>
            <a:r>
              <a:rPr lang="en-US" sz="2300" b="1" dirty="0">
                <a:solidFill>
                  <a:srgbClr val="0F172A"/>
                </a:solidFill>
                <a:latin typeface="Century Schoolbook" pitchFamily="34" charset="0"/>
                <a:ea typeface="Century Schoolbook" pitchFamily="34" charset="-122"/>
                <a:cs typeface="Century Schoolbook" pitchFamily="34" charset="-120"/>
              </a:rPr>
              <a:t>Why Does Self-Correction Fail?</a:t>
            </a:r>
            <a:endParaRPr lang="en-US" sz="2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r>
              <a:rPr lang="en-US" sz="900" b="1" kern="0" spc="150" dirty="0">
                <a:solidFill>
                  <a:srgbClr val="800020"/>
                </a:solidFill>
                <a:latin typeface="Calibri" pitchFamily="34" charset="0"/>
                <a:ea typeface="Calibri" pitchFamily="34" charset="-122"/>
                <a:cs typeface="Calibri" pitchFamily="34" charset="-120"/>
              </a:rPr>
              <a:t>5. ANALYSIS</a:t>
            </a:r>
            <a:endParaRPr lang="en-US" sz="900" dirty="0"/>
          </a:p>
        </p:txBody>
      </p:sp>
      <p:sp>
        <p:nvSpPr>
          <p:cNvPr id="4" name="Text 2"/>
          <p:cNvSpPr/>
          <p:nvPr/>
        </p:nvSpPr>
        <p:spPr>
          <a:xfrm>
            <a:off x="548640" y="868680"/>
            <a:ext cx="8046720" cy="274320"/>
          </a:xfrm>
          <a:prstGeom prst="rect">
            <a:avLst/>
          </a:prstGeom>
          <a:noFill/>
          <a:ln/>
        </p:spPr>
        <p:txBody>
          <a:bodyPr wrap="square" lIns="0" tIns="0" rIns="0" bIns="0" rtlCol="0" anchor="ctr"/>
          <a:lstStyle/>
          <a:p>
            <a:pPr marL="0" indent="0" algn="l">
              <a:buNone/>
            </a:pPr>
            <a:r>
              <a:rPr lang="en-US" sz="1100" dirty="0">
                <a:solidFill>
                  <a:srgbClr val="64748B"/>
                </a:solidFill>
                <a:latin typeface="Calibri" pitchFamily="34" charset="0"/>
                <a:ea typeface="Calibri" pitchFamily="34" charset="-122"/>
                <a:cs typeface="Calibri" pitchFamily="34" charset="-120"/>
              </a:rPr>
              <a:t>At an equal number of model responses, debate offers no real advantage over simple majority voting (GSM8K).</a:t>
            </a:r>
            <a:endParaRPr lang="en-US" sz="1100" dirty="0"/>
          </a:p>
        </p:txBody>
      </p:sp>
      <p:graphicFrame>
        <p:nvGraphicFramePr>
          <p:cNvPr id="5" name="Table 0"/>
          <p:cNvGraphicFramePr>
            <a:graphicFrameLocks noGrp="1"/>
          </p:cNvGraphicFramePr>
          <p:nvPr/>
        </p:nvGraphicFramePr>
        <p:xfrm>
          <a:off x="548640" y="1417320"/>
          <a:ext cx="3703320" cy="2112264"/>
        </p:xfrm>
        <a:graphic>
          <a:graphicData uri="http://schemas.openxmlformats.org/drawingml/2006/table">
            <a:tbl>
              <a:tblPr/>
              <a:tblGrid>
                <a:gridCol w="17830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tblGrid>
              <a:tr h="301752">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Method</a:t>
                      </a:r>
                      <a:endParaRPr lang="en-US" sz="10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80002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 Resp.</a:t>
                      </a:r>
                      <a:endParaRPr lang="en-US" sz="10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80002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GSM8K Acc.</a:t>
                      </a:r>
                      <a:endParaRPr lang="en-US" sz="10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800020"/>
                    </a:solidFill>
                  </a:tcPr>
                </a:tc>
                <a:extLst>
                  <a:ext uri="{0D108BD9-81ED-4DB2-BD59-A6C34878D82A}">
                    <a16:rowId xmlns:a16="http://schemas.microsoft.com/office/drawing/2014/main" val="10000"/>
                  </a:ext>
                </a:extLst>
              </a:tr>
              <a:tr h="301752">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Standard Prompting</a:t>
                      </a:r>
                      <a:endParaRPr lang="en-US" sz="10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E293B"/>
                          </a:solidFill>
                          <a:latin typeface="Calibri" pitchFamily="34" charset="0"/>
                          <a:ea typeface="Calibri" pitchFamily="34" charset="-122"/>
                          <a:cs typeface="Calibri" pitchFamily="34" charset="-120"/>
                        </a:rPr>
                        <a:t>76.7</a:t>
                      </a:r>
                      <a:endParaRPr lang="en-US" sz="10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Self-Consistency</a:t>
                      </a:r>
                      <a:endParaRPr lang="en-US" sz="10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b="1" dirty="0">
                          <a:solidFill>
                            <a:srgbClr val="1E293B"/>
                          </a:solidFill>
                          <a:latin typeface="Calibri" pitchFamily="34" charset="0"/>
                          <a:ea typeface="Calibri" pitchFamily="34" charset="-122"/>
                          <a:cs typeface="Calibri" pitchFamily="34" charset="-120"/>
                        </a:rPr>
                        <a:t>82.5</a:t>
                      </a:r>
                      <a:endParaRPr lang="en-US" sz="10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301752">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Multi-Agent Debate (r1)</a:t>
                      </a:r>
                      <a:endParaRPr lang="en-US" sz="10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E293B"/>
                          </a:solidFill>
                          <a:latin typeface="Calibri" pitchFamily="34" charset="0"/>
                          <a:ea typeface="Calibri" pitchFamily="34" charset="-122"/>
                          <a:cs typeface="Calibri" pitchFamily="34" charset="-120"/>
                        </a:rPr>
                        <a:t>83.2</a:t>
                      </a:r>
                      <a:endParaRPr lang="en-US" sz="10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Self-Consistency</a:t>
                      </a:r>
                      <a:endParaRPr lang="en-US" sz="10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b="1" dirty="0">
                          <a:solidFill>
                            <a:srgbClr val="1E293B"/>
                          </a:solidFill>
                          <a:latin typeface="Calibri" pitchFamily="34" charset="0"/>
                          <a:ea typeface="Calibri" pitchFamily="34" charset="-122"/>
                          <a:cs typeface="Calibri" pitchFamily="34" charset="-120"/>
                        </a:rPr>
                        <a:t>85.3</a:t>
                      </a:r>
                      <a:endParaRPr lang="en-US" sz="10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301752">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Multi-Agent Debate (r2)</a:t>
                      </a:r>
                      <a:endParaRPr lang="en-US" sz="10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E293B"/>
                          </a:solidFill>
                          <a:latin typeface="Calibri" pitchFamily="34" charset="0"/>
                          <a:ea typeface="Calibri" pitchFamily="34" charset="-122"/>
                          <a:cs typeface="Calibri" pitchFamily="34" charset="-120"/>
                        </a:rPr>
                        <a:t>83.0</a:t>
                      </a:r>
                      <a:endParaRPr lang="en-US" sz="10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Self-Consistency</a:t>
                      </a:r>
                      <a:endParaRPr lang="en-US" sz="10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b="1" dirty="0">
                          <a:solidFill>
                            <a:srgbClr val="1E293B"/>
                          </a:solidFill>
                          <a:latin typeface="Calibri" pitchFamily="34" charset="0"/>
                          <a:ea typeface="Calibri" pitchFamily="34" charset="-122"/>
                          <a:cs typeface="Calibri" pitchFamily="34" charset="-120"/>
                        </a:rPr>
                        <a:t>88.2</a:t>
                      </a:r>
                      <a:endParaRPr lang="en-US" sz="10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bl>
          </a:graphicData>
        </a:graphic>
      </p:graphicFrame>
      <p:graphicFrame>
        <p:nvGraphicFramePr>
          <p:cNvPr id="6" name="Chart 0"/>
          <p:cNvGraphicFramePr/>
          <p:nvPr/>
        </p:nvGraphicFramePr>
        <p:xfrm>
          <a:off x="4526280" y="1280160"/>
          <a:ext cx="370332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3"/>
          <p:cNvSpPr/>
          <p:nvPr/>
        </p:nvSpPr>
        <p:spPr>
          <a:xfrm>
            <a:off x="548640" y="3703320"/>
            <a:ext cx="8046720" cy="457200"/>
          </a:xfrm>
          <a:prstGeom prst="roundRect">
            <a:avLst>
              <a:gd name="adj" fmla="val 10000"/>
            </a:avLst>
          </a:prstGeom>
          <a:solidFill>
            <a:srgbClr val="FFF2F2"/>
          </a:solidFill>
          <a:ln w="12700">
            <a:solidFill>
              <a:srgbClr val="800020"/>
            </a:solidFill>
            <a:prstDash val="solid"/>
          </a:ln>
        </p:spPr>
      </p:sp>
      <p:sp>
        <p:nvSpPr>
          <p:cNvPr id="8" name="Text 4"/>
          <p:cNvSpPr/>
          <p:nvPr/>
        </p:nvSpPr>
        <p:spPr>
          <a:xfrm>
            <a:off x="685800" y="3703320"/>
            <a:ext cx="7772400" cy="457200"/>
          </a:xfrm>
          <a:prstGeom prst="rect">
            <a:avLst/>
          </a:prstGeom>
          <a:noFill/>
          <a:ln/>
        </p:spPr>
        <p:txBody>
          <a:bodyPr wrap="square" lIns="0" tIns="0" rIns="0" bIns="0" rtlCol="0" anchor="ctr"/>
          <a:lstStyle/>
          <a:p>
            <a:pPr marL="0" indent="0" algn="l">
              <a:buNone/>
            </a:pPr>
            <a:r>
              <a:rPr lang="en-US" sz="950" b="1" dirty="0">
                <a:solidFill>
                  <a:srgbClr val="800020"/>
                </a:solidFill>
                <a:latin typeface="Calibri" pitchFamily="34" charset="0"/>
                <a:ea typeface="Calibri" pitchFamily="34" charset="-122"/>
                <a:cs typeface="Calibri" pitchFamily="34" charset="-120"/>
              </a:rPr>
              <a:t>Takeaway:  </a:t>
            </a:r>
            <a:r>
              <a:rPr lang="en-US" sz="950" dirty="0">
                <a:solidFill>
                  <a:srgbClr val="1E293B"/>
                </a:solidFill>
                <a:latin typeface="Calibri" pitchFamily="34" charset="0"/>
                <a:ea typeface="Calibri" pitchFamily="34" charset="-122"/>
                <a:cs typeface="Calibri" pitchFamily="34" charset="-120"/>
              </a:rPr>
              <a:t>Debate is really "self-consistency with model-driven voting”. With the same number of responses, plain majority-vote self-consistency matches or beats it.</a:t>
            </a:r>
            <a:endParaRPr lang="en-US" sz="950" dirty="0"/>
          </a:p>
        </p:txBody>
      </p:sp>
      <p:sp>
        <p:nvSpPr>
          <p:cNvPr id="10" name="Text 6"/>
          <p:cNvSpPr/>
          <p:nvPr/>
        </p:nvSpPr>
        <p:spPr>
          <a:xfrm>
            <a:off x="548640" y="4736592"/>
            <a:ext cx="5852160" cy="274320"/>
          </a:xfrm>
          <a:prstGeom prst="rect">
            <a:avLst/>
          </a:prstGeom>
          <a:noFill/>
          <a:ln/>
        </p:spPr>
        <p:txBody>
          <a:bodyPr wrap="square" lIns="0" tIns="0" rIns="0" bIns="0" rtlCol="0" anchor="ctr"/>
          <a:lstStyle/>
          <a:p>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11" name="Text 7"/>
          <p:cNvSpPr/>
          <p:nvPr/>
        </p:nvSpPr>
        <p:spPr>
          <a:xfrm>
            <a:off x="7315200" y="4736592"/>
            <a:ext cx="1280160" cy="274320"/>
          </a:xfrm>
          <a:prstGeom prst="rect">
            <a:avLst/>
          </a:prstGeom>
          <a:noFill/>
          <a:ln/>
        </p:spPr>
        <p:txBody>
          <a:bodyPr wrap="square" lIns="0" tIns="0" rIns="0" bIns="0" rtlCol="0" anchor="ctr"/>
          <a:lstStyle/>
          <a:p>
            <a:pPr algn="r"/>
            <a:r>
              <a:rPr lang="en-US" sz="850" b="1" dirty="0">
                <a:solidFill>
                  <a:srgbClr val="64748B"/>
                </a:solidFill>
                <a:latin typeface="Calibri" pitchFamily="34" charset="0"/>
                <a:ea typeface="Calibri" pitchFamily="34" charset="-122"/>
                <a:cs typeface="Calibri" pitchFamily="34" charset="-120"/>
              </a:rPr>
              <a:t>18/23</a:t>
            </a:r>
            <a:endParaRPr lang="en-US" sz="850" dirty="0"/>
          </a:p>
        </p:txBody>
      </p:sp>
      <p:sp>
        <p:nvSpPr>
          <p:cNvPr id="12" name="Text 1">
            <a:extLst>
              <a:ext uri="{FF2B5EF4-FFF2-40B4-BE49-F238E27FC236}">
                <a16:creationId xmlns:a16="http://schemas.microsoft.com/office/drawing/2014/main" id="{768A70BA-305D-5D27-82E5-9C3FA2C154E0}"/>
              </a:ext>
            </a:extLst>
          </p:cNvPr>
          <p:cNvSpPr/>
          <p:nvPr/>
        </p:nvSpPr>
        <p:spPr>
          <a:xfrm>
            <a:off x="548640" y="438912"/>
            <a:ext cx="8046720" cy="411480"/>
          </a:xfrm>
          <a:prstGeom prst="rect">
            <a:avLst/>
          </a:prstGeom>
          <a:noFill/>
          <a:ln/>
        </p:spPr>
        <p:txBody>
          <a:bodyPr wrap="square" lIns="0" tIns="0" rIns="0" bIns="0" rtlCol="0" anchor="ctr"/>
          <a:lstStyle/>
          <a:p>
            <a:pPr>
              <a:lnSpc>
                <a:spcPct val="105000"/>
              </a:lnSpc>
            </a:pPr>
            <a:r>
              <a:rPr lang="en-US" sz="2300" b="1" dirty="0">
                <a:solidFill>
                  <a:srgbClr val="0F172A"/>
                </a:solidFill>
                <a:latin typeface="Century Schoolbook" pitchFamily="34" charset="0"/>
                <a:ea typeface="Century Schoolbook" pitchFamily="34" charset="-122"/>
                <a:cs typeface="Century Schoolbook" pitchFamily="34" charset="-120"/>
              </a:rPr>
              <a:t>Multi-Agent Debate ≈ Self-Consistency</a:t>
            </a:r>
            <a:endParaRPr lang="en-US" sz="2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r>
              <a:rPr lang="en-US" sz="900" b="1" kern="0" spc="150" dirty="0">
                <a:solidFill>
                  <a:srgbClr val="800020"/>
                </a:solidFill>
                <a:latin typeface="Calibri" pitchFamily="34" charset="0"/>
                <a:ea typeface="Calibri" pitchFamily="34" charset="-122"/>
                <a:cs typeface="Calibri" pitchFamily="34" charset="-120"/>
              </a:rPr>
              <a:t>5. ANALYSIS</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marL="0" indent="0">
              <a:buNone/>
            </a:pPr>
            <a:r>
              <a:rPr lang="en-US" sz="2300" b="1" dirty="0">
                <a:solidFill>
                  <a:srgbClr val="0F172A"/>
                </a:solidFill>
                <a:latin typeface="Century Schoolbook" pitchFamily="34" charset="0"/>
                <a:ea typeface="Century Schoolbook" pitchFamily="34" charset="-122"/>
                <a:cs typeface="Century Schoolbook" pitchFamily="34" charset="-120"/>
              </a:rPr>
              <a:t>Case Study: The Gaslighting Effect</a:t>
            </a:r>
            <a:endParaRPr lang="en-US" sz="23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How critique prompts force correct reasoning into hallucination</a:t>
            </a:r>
            <a:endParaRPr lang="en-US" sz="1100" dirty="0"/>
          </a:p>
        </p:txBody>
      </p:sp>
      <p:sp>
        <p:nvSpPr>
          <p:cNvPr id="5" name="Shape 3"/>
          <p:cNvSpPr/>
          <p:nvPr/>
        </p:nvSpPr>
        <p:spPr>
          <a:xfrm>
            <a:off x="548640" y="1170432"/>
            <a:ext cx="8046720" cy="539496"/>
          </a:xfrm>
          <a:prstGeom prst="roundRect">
            <a:avLst>
              <a:gd name="adj" fmla="val 8824"/>
            </a:avLst>
          </a:prstGeom>
          <a:solidFill>
            <a:srgbClr val="F8FAFC"/>
          </a:solidFill>
          <a:ln w="12700">
            <a:solidFill>
              <a:srgbClr val="E2E8F0"/>
            </a:solidFill>
            <a:prstDash val="solid"/>
          </a:ln>
        </p:spPr>
      </p:sp>
      <p:sp>
        <p:nvSpPr>
          <p:cNvPr id="6" name="Shape 4"/>
          <p:cNvSpPr/>
          <p:nvPr/>
        </p:nvSpPr>
        <p:spPr>
          <a:xfrm>
            <a:off x="685800" y="1339692"/>
            <a:ext cx="960120" cy="219456"/>
          </a:xfrm>
          <a:prstGeom prst="roundRect">
            <a:avLst>
              <a:gd name="adj" fmla="val 16667"/>
            </a:avLst>
          </a:prstGeom>
          <a:solidFill>
            <a:srgbClr val="FFF1F2"/>
          </a:solidFill>
          <a:ln w="7620">
            <a:solidFill>
              <a:srgbClr val="800020"/>
            </a:solidFill>
            <a:prstDash val="solid"/>
          </a:ln>
        </p:spPr>
      </p:sp>
      <p:sp>
        <p:nvSpPr>
          <p:cNvPr id="7" name="Text 5"/>
          <p:cNvSpPr/>
          <p:nvPr/>
        </p:nvSpPr>
        <p:spPr>
          <a:xfrm>
            <a:off x="685800" y="1346177"/>
            <a:ext cx="960120" cy="219456"/>
          </a:xfrm>
          <a:prstGeom prst="rect">
            <a:avLst/>
          </a:prstGeom>
          <a:noFill/>
          <a:ln/>
        </p:spPr>
        <p:txBody>
          <a:bodyPr wrap="square" lIns="0" tIns="0" rIns="0" bIns="0" rtlCol="0" anchor="ctr"/>
          <a:lstStyle/>
          <a:p>
            <a:pPr marL="0" indent="0" algn="ctr">
              <a:buNone/>
            </a:pPr>
            <a:r>
              <a:rPr lang="en-US" sz="800" b="1" dirty="0">
                <a:solidFill>
                  <a:srgbClr val="800020"/>
                </a:solidFill>
                <a:latin typeface="Calibri" pitchFamily="34" charset="0"/>
                <a:ea typeface="Calibri" pitchFamily="34" charset="-122"/>
                <a:cs typeface="Calibri" pitchFamily="34" charset="-120"/>
              </a:rPr>
              <a:t>GSM8K TASK</a:t>
            </a:r>
            <a:endParaRPr lang="en-US" sz="800" dirty="0"/>
          </a:p>
        </p:txBody>
      </p:sp>
      <p:sp>
        <p:nvSpPr>
          <p:cNvPr id="8" name="Text 6"/>
          <p:cNvSpPr/>
          <p:nvPr/>
        </p:nvSpPr>
        <p:spPr>
          <a:xfrm>
            <a:off x="1737360" y="1234440"/>
            <a:ext cx="6720840" cy="420624"/>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Terry eats 2 yogurts a day. They are sold in 4-packs at $5.00 per pack. How much does he spend on yogurts in 30 days?</a:t>
            </a:r>
            <a:endParaRPr lang="en-US" sz="1000" dirty="0"/>
          </a:p>
        </p:txBody>
      </p:sp>
      <p:sp>
        <p:nvSpPr>
          <p:cNvPr id="9" name="Shape 7"/>
          <p:cNvSpPr/>
          <p:nvPr/>
        </p:nvSpPr>
        <p:spPr>
          <a:xfrm>
            <a:off x="548640" y="1883664"/>
            <a:ext cx="2514600" cy="2240280"/>
          </a:xfrm>
          <a:prstGeom prst="roundRect">
            <a:avLst>
              <a:gd name="adj" fmla="val 3265"/>
            </a:avLst>
          </a:prstGeom>
          <a:solidFill>
            <a:srgbClr val="F0FDF4"/>
          </a:solidFill>
          <a:ln w="15240">
            <a:solidFill>
              <a:srgbClr val="166534"/>
            </a:solidFill>
            <a:prstDash val="solid"/>
          </a:ln>
        </p:spPr>
      </p:sp>
      <p:sp>
        <p:nvSpPr>
          <p:cNvPr id="10" name="Shape 8"/>
          <p:cNvSpPr/>
          <p:nvPr/>
        </p:nvSpPr>
        <p:spPr>
          <a:xfrm>
            <a:off x="685800" y="1993392"/>
            <a:ext cx="2240280" cy="256032"/>
          </a:xfrm>
          <a:prstGeom prst="roundRect">
            <a:avLst>
              <a:gd name="adj" fmla="val 14286"/>
            </a:avLst>
          </a:prstGeom>
          <a:solidFill>
            <a:srgbClr val="166534"/>
          </a:solidFill>
          <a:ln w="12700">
            <a:solidFill>
              <a:srgbClr val="166534"/>
            </a:solidFill>
            <a:prstDash val="solid"/>
          </a:ln>
        </p:spPr>
      </p:sp>
      <p:sp>
        <p:nvSpPr>
          <p:cNvPr id="11" name="Text 9"/>
          <p:cNvSpPr/>
          <p:nvPr/>
        </p:nvSpPr>
        <p:spPr>
          <a:xfrm>
            <a:off x="685800" y="1993392"/>
            <a:ext cx="224028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ROUND 1: CORRECT</a:t>
            </a:r>
            <a:endParaRPr lang="en-US" sz="950" dirty="0"/>
          </a:p>
        </p:txBody>
      </p:sp>
      <p:sp>
        <p:nvSpPr>
          <p:cNvPr id="12" name="Text 10"/>
          <p:cNvSpPr/>
          <p:nvPr/>
        </p:nvSpPr>
        <p:spPr>
          <a:xfrm>
            <a:off x="685800" y="2286000"/>
            <a:ext cx="2240280" cy="438912"/>
          </a:xfrm>
          <a:prstGeom prst="rect">
            <a:avLst/>
          </a:prstGeom>
          <a:noFill/>
          <a:ln/>
        </p:spPr>
        <p:txBody>
          <a:bodyPr wrap="square" lIns="0" tIns="0" rIns="0" bIns="0" rtlCol="0" anchor="ctr"/>
          <a:lstStyle/>
          <a:p>
            <a:pPr marL="0" indent="0" algn="ctr">
              <a:buNone/>
            </a:pPr>
            <a:r>
              <a:rPr lang="en-US" sz="2600" b="1" dirty="0">
                <a:solidFill>
                  <a:srgbClr val="166534"/>
                </a:solidFill>
                <a:latin typeface="Century Schoolbook" pitchFamily="34" charset="0"/>
                <a:ea typeface="Century Schoolbook" pitchFamily="34" charset="-122"/>
                <a:cs typeface="Century Schoolbook" pitchFamily="34" charset="-120"/>
              </a:rPr>
              <a:t>$75</a:t>
            </a:r>
            <a:endParaRPr lang="en-US" sz="2600" dirty="0"/>
          </a:p>
        </p:txBody>
      </p:sp>
      <p:sp>
        <p:nvSpPr>
          <p:cNvPr id="13" name="Shape 11"/>
          <p:cNvSpPr/>
          <p:nvPr/>
        </p:nvSpPr>
        <p:spPr>
          <a:xfrm>
            <a:off x="685800" y="2761488"/>
            <a:ext cx="2240280" cy="1234440"/>
          </a:xfrm>
          <a:prstGeom prst="roundRect">
            <a:avLst>
              <a:gd name="adj" fmla="val 3704"/>
            </a:avLst>
          </a:prstGeom>
          <a:solidFill>
            <a:srgbClr val="FFFFFF"/>
          </a:solidFill>
          <a:ln w="7620">
            <a:solidFill>
              <a:srgbClr val="E2E8F0"/>
            </a:solidFill>
            <a:prstDash val="solid"/>
          </a:ln>
        </p:spPr>
      </p:sp>
      <p:sp>
        <p:nvSpPr>
          <p:cNvPr id="14" name="Text 12"/>
          <p:cNvSpPr/>
          <p:nvPr/>
        </p:nvSpPr>
        <p:spPr>
          <a:xfrm>
            <a:off x="777240" y="2852928"/>
            <a:ext cx="2057400" cy="1051560"/>
          </a:xfrm>
          <a:prstGeom prst="rect">
            <a:avLst/>
          </a:prstGeom>
          <a:noFill/>
          <a:ln/>
        </p:spPr>
        <p:txBody>
          <a:bodyPr wrap="square" lIns="0" tIns="0" rIns="0" bIns="0" rtlCol="0" anchor="ctr"/>
          <a:lstStyle/>
          <a:p>
            <a:pPr marL="0" indent="0">
              <a:lnSpc>
                <a:spcPct val="112000"/>
              </a:lnSpc>
              <a:buNone/>
            </a:pPr>
            <a:r>
              <a:rPr lang="en-US" sz="850" dirty="0">
                <a:solidFill>
                  <a:srgbClr val="0F172A"/>
                </a:solidFill>
                <a:latin typeface="Calibri" pitchFamily="34" charset="0"/>
                <a:ea typeface="Calibri" pitchFamily="34" charset="-122"/>
                <a:cs typeface="Calibri" pitchFamily="34" charset="-120"/>
              </a:rPr>
              <a:t>1. Total yogurts needed:</a:t>
            </a:r>
            <a:endParaRPr lang="en-US" sz="850" dirty="0"/>
          </a:p>
          <a:p>
            <a:pPr marL="0" indent="0">
              <a:lnSpc>
                <a:spcPct val="112000"/>
              </a:lnSpc>
              <a:buNone/>
            </a:pPr>
            <a:r>
              <a:rPr lang="en-US" sz="850" dirty="0">
                <a:solidFill>
                  <a:srgbClr val="0F172A"/>
                </a:solidFill>
                <a:latin typeface="Calibri" pitchFamily="34" charset="0"/>
                <a:ea typeface="Calibri" pitchFamily="34" charset="-122"/>
                <a:cs typeface="Calibri" pitchFamily="34" charset="-120"/>
              </a:rPr>
              <a:t>   30 days x 2 = 60 yogurts</a:t>
            </a:r>
            <a:endParaRPr lang="en-US" sz="850" dirty="0"/>
          </a:p>
          <a:p>
            <a:pPr marL="0" indent="0">
              <a:lnSpc>
                <a:spcPct val="112000"/>
              </a:lnSpc>
              <a:buNone/>
            </a:pPr>
            <a:endParaRPr lang="en-US" sz="850" dirty="0"/>
          </a:p>
          <a:p>
            <a:pPr marL="0" indent="0">
              <a:lnSpc>
                <a:spcPct val="112000"/>
              </a:lnSpc>
              <a:buNone/>
            </a:pPr>
            <a:r>
              <a:rPr lang="en-US" sz="850" dirty="0">
                <a:solidFill>
                  <a:srgbClr val="0F172A"/>
                </a:solidFill>
                <a:latin typeface="Calibri" pitchFamily="34" charset="0"/>
                <a:ea typeface="Calibri" pitchFamily="34" charset="-122"/>
                <a:cs typeface="Calibri" pitchFamily="34" charset="-120"/>
              </a:rPr>
              <a:t>2. 4-packs required:</a:t>
            </a:r>
            <a:endParaRPr lang="en-US" sz="850" dirty="0"/>
          </a:p>
          <a:p>
            <a:pPr marL="0" indent="0">
              <a:lnSpc>
                <a:spcPct val="112000"/>
              </a:lnSpc>
              <a:buNone/>
            </a:pPr>
            <a:r>
              <a:rPr lang="en-US" sz="850" dirty="0">
                <a:solidFill>
                  <a:srgbClr val="0F172A"/>
                </a:solidFill>
                <a:latin typeface="Calibri" pitchFamily="34" charset="0"/>
                <a:ea typeface="Calibri" pitchFamily="34" charset="-122"/>
                <a:cs typeface="Calibri" pitchFamily="34" charset="-120"/>
              </a:rPr>
              <a:t>   60 / 4 = 15 packs</a:t>
            </a:r>
            <a:endParaRPr lang="en-US" sz="850" dirty="0"/>
          </a:p>
          <a:p>
            <a:pPr marL="0" indent="0">
              <a:lnSpc>
                <a:spcPct val="112000"/>
              </a:lnSpc>
              <a:buNone/>
            </a:pPr>
            <a:endParaRPr lang="en-US" sz="850" dirty="0"/>
          </a:p>
          <a:p>
            <a:pPr marL="0" indent="0">
              <a:lnSpc>
                <a:spcPct val="112000"/>
              </a:lnSpc>
              <a:buNone/>
            </a:pPr>
            <a:r>
              <a:rPr lang="en-US" sz="850" dirty="0">
                <a:solidFill>
                  <a:srgbClr val="0F172A"/>
                </a:solidFill>
                <a:latin typeface="Calibri" pitchFamily="34" charset="0"/>
                <a:ea typeface="Calibri" pitchFamily="34" charset="-122"/>
                <a:cs typeface="Calibri" pitchFamily="34" charset="-120"/>
              </a:rPr>
              <a:t>3. Total expenditure:</a:t>
            </a:r>
            <a:endParaRPr lang="en-US" sz="850" dirty="0"/>
          </a:p>
          <a:p>
            <a:pPr marL="0" indent="0">
              <a:lnSpc>
                <a:spcPct val="112000"/>
              </a:lnSpc>
              <a:buNone/>
            </a:pPr>
            <a:r>
              <a:rPr lang="en-US" sz="850" dirty="0">
                <a:solidFill>
                  <a:srgbClr val="0F172A"/>
                </a:solidFill>
                <a:latin typeface="Calibri" pitchFamily="34" charset="0"/>
                <a:ea typeface="Calibri" pitchFamily="34" charset="-122"/>
                <a:cs typeface="Calibri" pitchFamily="34" charset="-120"/>
              </a:rPr>
              <a:t>   15 packs x $5 = $75</a:t>
            </a:r>
            <a:endParaRPr lang="en-US" sz="850" dirty="0"/>
          </a:p>
        </p:txBody>
      </p:sp>
      <p:sp>
        <p:nvSpPr>
          <p:cNvPr id="15" name="Shape 13"/>
          <p:cNvSpPr/>
          <p:nvPr/>
        </p:nvSpPr>
        <p:spPr>
          <a:xfrm>
            <a:off x="3127248" y="2935224"/>
            <a:ext cx="201168" cy="164592"/>
          </a:xfrm>
          <a:prstGeom prst="rightArrow">
            <a:avLst/>
          </a:prstGeom>
          <a:solidFill>
            <a:srgbClr val="800020"/>
          </a:solidFill>
          <a:ln w="12700">
            <a:solidFill>
              <a:srgbClr val="800020"/>
            </a:solidFill>
            <a:prstDash val="solid"/>
          </a:ln>
        </p:spPr>
      </p:sp>
      <p:sp>
        <p:nvSpPr>
          <p:cNvPr id="16" name="Shape 14"/>
          <p:cNvSpPr/>
          <p:nvPr/>
        </p:nvSpPr>
        <p:spPr>
          <a:xfrm>
            <a:off x="3364992" y="1883664"/>
            <a:ext cx="2414016" cy="2240280"/>
          </a:xfrm>
          <a:prstGeom prst="roundRect">
            <a:avLst>
              <a:gd name="adj" fmla="val 3265"/>
            </a:avLst>
          </a:prstGeom>
          <a:solidFill>
            <a:srgbClr val="FFFBEB"/>
          </a:solidFill>
          <a:ln w="15240">
            <a:solidFill>
              <a:srgbClr val="B45309"/>
            </a:solidFill>
            <a:prstDash val="solid"/>
          </a:ln>
        </p:spPr>
      </p:sp>
      <p:sp>
        <p:nvSpPr>
          <p:cNvPr id="17" name="Shape 15"/>
          <p:cNvSpPr/>
          <p:nvPr/>
        </p:nvSpPr>
        <p:spPr>
          <a:xfrm>
            <a:off x="3502152" y="1993392"/>
            <a:ext cx="2139696" cy="256032"/>
          </a:xfrm>
          <a:prstGeom prst="roundRect">
            <a:avLst>
              <a:gd name="adj" fmla="val 14286"/>
            </a:avLst>
          </a:prstGeom>
          <a:solidFill>
            <a:srgbClr val="B45309"/>
          </a:solidFill>
          <a:ln w="12700">
            <a:solidFill>
              <a:srgbClr val="B45309"/>
            </a:solidFill>
            <a:prstDash val="solid"/>
          </a:ln>
        </p:spPr>
      </p:sp>
      <p:sp>
        <p:nvSpPr>
          <p:cNvPr id="18" name="Text 16"/>
          <p:cNvSpPr/>
          <p:nvPr/>
        </p:nvSpPr>
        <p:spPr>
          <a:xfrm>
            <a:off x="3502152" y="1993392"/>
            <a:ext cx="2139696"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SELF-CRITIQUE PROMPT</a:t>
            </a:r>
            <a:endParaRPr lang="en-US" sz="950" dirty="0"/>
          </a:p>
        </p:txBody>
      </p:sp>
      <p:sp>
        <p:nvSpPr>
          <p:cNvPr id="19" name="Shape 17"/>
          <p:cNvSpPr/>
          <p:nvPr/>
        </p:nvSpPr>
        <p:spPr>
          <a:xfrm>
            <a:off x="3502152" y="2322576"/>
            <a:ext cx="2139696" cy="475488"/>
          </a:xfrm>
          <a:prstGeom prst="roundRect">
            <a:avLst>
              <a:gd name="adj" fmla="val 7692"/>
            </a:avLst>
          </a:prstGeom>
          <a:solidFill>
            <a:srgbClr val="FFFFFF"/>
          </a:solidFill>
          <a:ln w="10160">
            <a:solidFill>
              <a:srgbClr val="B45309"/>
            </a:solidFill>
            <a:prstDash val="solid"/>
          </a:ln>
        </p:spPr>
      </p:sp>
      <p:sp>
        <p:nvSpPr>
          <p:cNvPr id="20" name="Text 18"/>
          <p:cNvSpPr/>
          <p:nvPr/>
        </p:nvSpPr>
        <p:spPr>
          <a:xfrm>
            <a:off x="3547872" y="2322576"/>
            <a:ext cx="2048256" cy="475488"/>
          </a:xfrm>
          <a:prstGeom prst="rect">
            <a:avLst/>
          </a:prstGeom>
          <a:noFill/>
          <a:ln/>
        </p:spPr>
        <p:txBody>
          <a:bodyPr wrap="square" lIns="0" tIns="0" rIns="0" bIns="0" rtlCol="0" anchor="ctr"/>
          <a:lstStyle/>
          <a:p>
            <a:pPr marL="0" indent="0" algn="ctr">
              <a:buNone/>
            </a:pPr>
            <a:r>
              <a:rPr lang="en-US" sz="900" b="1" i="1" dirty="0">
                <a:solidFill>
                  <a:srgbClr val="B45309"/>
                </a:solidFill>
                <a:latin typeface="Calibri" pitchFamily="34" charset="0"/>
                <a:ea typeface="Calibri" pitchFamily="34" charset="-122"/>
                <a:cs typeface="Calibri" pitchFamily="34" charset="-120"/>
              </a:rPr>
              <a:t>"Review your answer and find flaws."</a:t>
            </a:r>
            <a:endParaRPr lang="en-US" sz="900" dirty="0"/>
          </a:p>
        </p:txBody>
      </p:sp>
      <p:sp>
        <p:nvSpPr>
          <p:cNvPr id="21" name="Shape 19"/>
          <p:cNvSpPr/>
          <p:nvPr/>
        </p:nvSpPr>
        <p:spPr>
          <a:xfrm>
            <a:off x="3502152" y="2871216"/>
            <a:ext cx="2139696" cy="1124712"/>
          </a:xfrm>
          <a:prstGeom prst="roundRect">
            <a:avLst>
              <a:gd name="adj" fmla="val 4065"/>
            </a:avLst>
          </a:prstGeom>
          <a:solidFill>
            <a:srgbClr val="FFFFFF"/>
          </a:solidFill>
          <a:ln w="7620">
            <a:solidFill>
              <a:srgbClr val="E2E8F0"/>
            </a:solidFill>
            <a:prstDash val="solid"/>
          </a:ln>
        </p:spPr>
      </p:sp>
      <p:sp>
        <p:nvSpPr>
          <p:cNvPr id="22" name="Text 20"/>
          <p:cNvSpPr/>
          <p:nvPr/>
        </p:nvSpPr>
        <p:spPr>
          <a:xfrm>
            <a:off x="3566160" y="2926080"/>
            <a:ext cx="2011680" cy="164592"/>
          </a:xfrm>
          <a:prstGeom prst="rect">
            <a:avLst/>
          </a:prstGeom>
          <a:noFill/>
          <a:ln/>
        </p:spPr>
        <p:txBody>
          <a:bodyPr wrap="square" lIns="0" tIns="0" rIns="0" bIns="0" rtlCol="0" anchor="ctr"/>
          <a:lstStyle/>
          <a:p>
            <a:pPr marL="0" indent="0">
              <a:buNone/>
            </a:pPr>
            <a:r>
              <a:rPr lang="en-US" sz="750" b="1" dirty="0">
                <a:solidFill>
                  <a:srgbClr val="B45309"/>
                </a:solidFill>
                <a:latin typeface="Calibri" pitchFamily="34" charset="0"/>
                <a:ea typeface="Calibri" pitchFamily="34" charset="-122"/>
                <a:cs typeface="Calibri" pitchFamily="34" charset="-120"/>
              </a:rPr>
              <a:t>The Compliance Trap:</a:t>
            </a:r>
            <a:endParaRPr lang="en-US" sz="750" dirty="0"/>
          </a:p>
        </p:txBody>
      </p:sp>
      <p:sp>
        <p:nvSpPr>
          <p:cNvPr id="23" name="Text 21"/>
          <p:cNvSpPr/>
          <p:nvPr/>
        </p:nvSpPr>
        <p:spPr>
          <a:xfrm>
            <a:off x="3566160" y="3108960"/>
            <a:ext cx="2029968" cy="841248"/>
          </a:xfrm>
          <a:prstGeom prst="rect">
            <a:avLst/>
          </a:prstGeom>
          <a:noFill/>
          <a:ln/>
        </p:spPr>
        <p:txBody>
          <a:bodyPr wrap="square" lIns="0" tIns="0" rIns="0" bIns="0" rtlCol="0" anchor="ctr"/>
          <a:lstStyle/>
          <a:p>
            <a:pPr marL="0" indent="0">
              <a:lnSpc>
                <a:spcPct val="115000"/>
              </a:lnSpc>
              <a:buNone/>
            </a:pPr>
            <a:r>
              <a:rPr lang="en-US" sz="800" dirty="0">
                <a:solidFill>
                  <a:srgbClr val="1E293B"/>
                </a:solidFill>
                <a:latin typeface="Calibri" pitchFamily="34" charset="0"/>
                <a:ea typeface="Calibri" pitchFamily="34" charset="-122"/>
                <a:cs typeface="Calibri" pitchFamily="34" charset="-120"/>
              </a:rPr>
              <a:t>• Instruction-following bias</a:t>
            </a:r>
            <a:endParaRPr lang="en-US" sz="800" dirty="0"/>
          </a:p>
          <a:p>
            <a:pPr marL="0" indent="0">
              <a:lnSpc>
                <a:spcPct val="115000"/>
              </a:lnSpc>
              <a:buNone/>
            </a:pPr>
            <a:r>
              <a:rPr lang="en-US" sz="800" dirty="0">
                <a:solidFill>
                  <a:srgbClr val="1E293B"/>
                </a:solidFill>
                <a:latin typeface="Calibri" pitchFamily="34" charset="0"/>
                <a:ea typeface="Calibri" pitchFamily="34" charset="-122"/>
                <a:cs typeface="Calibri" pitchFamily="34" charset="-120"/>
              </a:rPr>
              <a:t>• Model assumes prompt implies an error occurred</a:t>
            </a:r>
            <a:endParaRPr lang="en-US" sz="800" dirty="0"/>
          </a:p>
          <a:p>
            <a:pPr marL="0" indent="0">
              <a:lnSpc>
                <a:spcPct val="115000"/>
              </a:lnSpc>
              <a:buNone/>
            </a:pPr>
            <a:r>
              <a:rPr lang="en-US" sz="800" dirty="0">
                <a:solidFill>
                  <a:srgbClr val="1E293B"/>
                </a:solidFill>
                <a:latin typeface="Calibri" pitchFamily="34" charset="0"/>
                <a:ea typeface="Calibri" pitchFamily="34" charset="-122"/>
                <a:cs typeface="Calibri" pitchFamily="34" charset="-120"/>
              </a:rPr>
              <a:t>• Model invents non-existent flaws to comply</a:t>
            </a:r>
            <a:endParaRPr lang="en-US" sz="800" dirty="0"/>
          </a:p>
        </p:txBody>
      </p:sp>
      <p:sp>
        <p:nvSpPr>
          <p:cNvPr id="24" name="Shape 22"/>
          <p:cNvSpPr/>
          <p:nvPr/>
        </p:nvSpPr>
        <p:spPr>
          <a:xfrm>
            <a:off x="5833872" y="2935224"/>
            <a:ext cx="201168" cy="164592"/>
          </a:xfrm>
          <a:prstGeom prst="rightArrow">
            <a:avLst/>
          </a:prstGeom>
          <a:solidFill>
            <a:srgbClr val="800020"/>
          </a:solidFill>
          <a:ln w="12700">
            <a:solidFill>
              <a:srgbClr val="800020"/>
            </a:solidFill>
            <a:prstDash val="solid"/>
          </a:ln>
        </p:spPr>
      </p:sp>
      <p:sp>
        <p:nvSpPr>
          <p:cNvPr id="25" name="Shape 23"/>
          <p:cNvSpPr/>
          <p:nvPr/>
        </p:nvSpPr>
        <p:spPr>
          <a:xfrm>
            <a:off x="6080760" y="1883664"/>
            <a:ext cx="2514600" cy="2240280"/>
          </a:xfrm>
          <a:prstGeom prst="roundRect">
            <a:avLst>
              <a:gd name="adj" fmla="val 3265"/>
            </a:avLst>
          </a:prstGeom>
          <a:solidFill>
            <a:srgbClr val="FFF1F2"/>
          </a:solidFill>
          <a:ln w="15240">
            <a:solidFill>
              <a:srgbClr val="800020"/>
            </a:solidFill>
            <a:prstDash val="solid"/>
          </a:ln>
        </p:spPr>
      </p:sp>
      <p:sp>
        <p:nvSpPr>
          <p:cNvPr id="26" name="Shape 24"/>
          <p:cNvSpPr/>
          <p:nvPr/>
        </p:nvSpPr>
        <p:spPr>
          <a:xfrm>
            <a:off x="6217920" y="1993392"/>
            <a:ext cx="2240280" cy="256032"/>
          </a:xfrm>
          <a:prstGeom prst="roundRect">
            <a:avLst>
              <a:gd name="adj" fmla="val 14286"/>
            </a:avLst>
          </a:prstGeom>
          <a:solidFill>
            <a:srgbClr val="800020"/>
          </a:solidFill>
          <a:ln w="12700">
            <a:solidFill>
              <a:srgbClr val="800020"/>
            </a:solidFill>
            <a:prstDash val="solid"/>
          </a:ln>
        </p:spPr>
      </p:sp>
      <p:sp>
        <p:nvSpPr>
          <p:cNvPr id="27" name="Text 25"/>
          <p:cNvSpPr/>
          <p:nvPr/>
        </p:nvSpPr>
        <p:spPr>
          <a:xfrm>
            <a:off x="6217920" y="1993392"/>
            <a:ext cx="224028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ROUND 2: WRONG FLIP</a:t>
            </a:r>
            <a:endParaRPr lang="en-US" sz="950" dirty="0"/>
          </a:p>
        </p:txBody>
      </p:sp>
      <p:sp>
        <p:nvSpPr>
          <p:cNvPr id="28" name="Text 26"/>
          <p:cNvSpPr/>
          <p:nvPr/>
        </p:nvSpPr>
        <p:spPr>
          <a:xfrm>
            <a:off x="6217920" y="2286000"/>
            <a:ext cx="2240280" cy="438912"/>
          </a:xfrm>
          <a:prstGeom prst="rect">
            <a:avLst/>
          </a:prstGeom>
          <a:noFill/>
          <a:ln/>
        </p:spPr>
        <p:txBody>
          <a:bodyPr wrap="square" lIns="0" tIns="0" rIns="0" bIns="0" rtlCol="0" anchor="ctr"/>
          <a:lstStyle/>
          <a:p>
            <a:pPr marL="0" indent="0" algn="ctr">
              <a:buNone/>
            </a:pPr>
            <a:r>
              <a:rPr lang="en-US" sz="2600" b="1" dirty="0">
                <a:solidFill>
                  <a:srgbClr val="800020"/>
                </a:solidFill>
                <a:latin typeface="Century Schoolbook" pitchFamily="34" charset="0"/>
                <a:ea typeface="Century Schoolbook" pitchFamily="34" charset="-122"/>
                <a:cs typeface="Century Schoolbook" pitchFamily="34" charset="-120"/>
              </a:rPr>
              <a:t>$150</a:t>
            </a:r>
            <a:endParaRPr lang="en-US" sz="2600" dirty="0"/>
          </a:p>
        </p:txBody>
      </p:sp>
      <p:sp>
        <p:nvSpPr>
          <p:cNvPr id="29" name="Shape 27"/>
          <p:cNvSpPr/>
          <p:nvPr/>
        </p:nvSpPr>
        <p:spPr>
          <a:xfrm>
            <a:off x="6217920" y="2761488"/>
            <a:ext cx="2240280" cy="1234440"/>
          </a:xfrm>
          <a:prstGeom prst="roundRect">
            <a:avLst>
              <a:gd name="adj" fmla="val 3704"/>
            </a:avLst>
          </a:prstGeom>
          <a:solidFill>
            <a:srgbClr val="FFFFFF"/>
          </a:solidFill>
          <a:ln w="7620">
            <a:solidFill>
              <a:srgbClr val="E2E8F0"/>
            </a:solidFill>
            <a:prstDash val="solid"/>
          </a:ln>
        </p:spPr>
      </p:sp>
      <p:sp>
        <p:nvSpPr>
          <p:cNvPr id="30" name="Text 28"/>
          <p:cNvSpPr/>
          <p:nvPr/>
        </p:nvSpPr>
        <p:spPr>
          <a:xfrm>
            <a:off x="6309360" y="2852928"/>
            <a:ext cx="2057400" cy="1051560"/>
          </a:xfrm>
          <a:prstGeom prst="rect">
            <a:avLst/>
          </a:prstGeom>
          <a:noFill/>
          <a:ln/>
        </p:spPr>
        <p:txBody>
          <a:bodyPr wrap="square" lIns="0" tIns="0" rIns="0" bIns="0" rtlCol="0" anchor="ctr"/>
          <a:lstStyle/>
          <a:p>
            <a:pPr marL="0" indent="0">
              <a:lnSpc>
                <a:spcPct val="112000"/>
              </a:lnSpc>
              <a:buNone/>
            </a:pPr>
            <a:r>
              <a:rPr lang="en-US" sz="850" dirty="0">
                <a:solidFill>
                  <a:srgbClr val="0F172A"/>
                </a:solidFill>
                <a:latin typeface="Calibri" pitchFamily="34" charset="0"/>
                <a:ea typeface="Calibri" pitchFamily="34" charset="-122"/>
                <a:cs typeface="Calibri" pitchFamily="34" charset="-120"/>
              </a:rPr>
              <a:t>1. Model doubts previous logic</a:t>
            </a:r>
            <a:endParaRPr lang="en-US" sz="850" dirty="0"/>
          </a:p>
          <a:p>
            <a:pPr marL="0" indent="0">
              <a:lnSpc>
                <a:spcPct val="112000"/>
              </a:lnSpc>
              <a:buNone/>
            </a:pPr>
            <a:endParaRPr lang="en-US" sz="850" dirty="0"/>
          </a:p>
          <a:p>
            <a:pPr marL="0" indent="0">
              <a:lnSpc>
                <a:spcPct val="112000"/>
              </a:lnSpc>
              <a:buNone/>
            </a:pPr>
            <a:r>
              <a:rPr lang="en-US" sz="850" dirty="0">
                <a:solidFill>
                  <a:srgbClr val="0F172A"/>
                </a:solidFill>
                <a:latin typeface="Calibri" pitchFamily="34" charset="0"/>
                <a:ea typeface="Calibri" pitchFamily="34" charset="-122"/>
                <a:cs typeface="Calibri" pitchFamily="34" charset="-120"/>
              </a:rPr>
              <a:t>2. Hallucinates new rule:</a:t>
            </a:r>
            <a:endParaRPr lang="en-US" sz="850" dirty="0"/>
          </a:p>
          <a:p>
            <a:pPr marL="0" indent="0">
              <a:lnSpc>
                <a:spcPct val="112000"/>
              </a:lnSpc>
              <a:buNone/>
            </a:pPr>
            <a:r>
              <a:rPr lang="en-US" sz="850" dirty="0">
                <a:solidFill>
                  <a:srgbClr val="0F172A"/>
                </a:solidFill>
                <a:latin typeface="Calibri" pitchFamily="34" charset="0"/>
                <a:ea typeface="Calibri" pitchFamily="34" charset="-122"/>
                <a:cs typeface="Calibri" pitchFamily="34" charset="-120"/>
              </a:rPr>
              <a:t>   "Terry buys 1 pack daily"</a:t>
            </a:r>
            <a:endParaRPr lang="en-US" sz="850" dirty="0"/>
          </a:p>
          <a:p>
            <a:pPr marL="0" indent="0">
              <a:lnSpc>
                <a:spcPct val="112000"/>
              </a:lnSpc>
              <a:buNone/>
            </a:pPr>
            <a:endParaRPr lang="en-US" sz="850" dirty="0"/>
          </a:p>
          <a:p>
            <a:pPr marL="0" indent="0">
              <a:lnSpc>
                <a:spcPct val="112000"/>
              </a:lnSpc>
              <a:buNone/>
            </a:pPr>
            <a:r>
              <a:rPr lang="en-US" sz="850" dirty="0">
                <a:solidFill>
                  <a:srgbClr val="0F172A"/>
                </a:solidFill>
                <a:latin typeface="Calibri" pitchFamily="34" charset="0"/>
                <a:ea typeface="Calibri" pitchFamily="34" charset="-122"/>
                <a:cs typeface="Calibri" pitchFamily="34" charset="-120"/>
              </a:rPr>
              <a:t>3. Calculates 30 x $5 = $150</a:t>
            </a:r>
            <a:endParaRPr lang="en-US" sz="850" dirty="0"/>
          </a:p>
          <a:p>
            <a:pPr marL="0" indent="0">
              <a:lnSpc>
                <a:spcPct val="112000"/>
              </a:lnSpc>
              <a:buNone/>
            </a:pPr>
            <a:r>
              <a:rPr lang="en-US" sz="850" dirty="0">
                <a:solidFill>
                  <a:srgbClr val="0F172A"/>
                </a:solidFill>
                <a:latin typeface="Calibri" pitchFamily="34" charset="0"/>
                <a:ea typeface="Calibri" pitchFamily="34" charset="-122"/>
                <a:cs typeface="Calibri" pitchFamily="34" charset="-120"/>
              </a:rPr>
              <a:t>   (Flipped from 100% correct to 0%)</a:t>
            </a:r>
            <a:endParaRPr lang="en-US" sz="850" dirty="0"/>
          </a:p>
        </p:txBody>
      </p:sp>
      <p:sp>
        <p:nvSpPr>
          <p:cNvPr id="31" name="Shape 29"/>
          <p:cNvSpPr/>
          <p:nvPr/>
        </p:nvSpPr>
        <p:spPr>
          <a:xfrm>
            <a:off x="548640" y="4206240"/>
            <a:ext cx="8046720" cy="411480"/>
          </a:xfrm>
          <a:prstGeom prst="roundRect">
            <a:avLst>
              <a:gd name="adj" fmla="val 11111"/>
            </a:avLst>
          </a:prstGeom>
          <a:solidFill>
            <a:srgbClr val="FFF1F2"/>
          </a:solidFill>
          <a:ln w="12700">
            <a:solidFill>
              <a:srgbClr val="800020"/>
            </a:solidFill>
            <a:prstDash val="solid"/>
          </a:ln>
        </p:spPr>
      </p:sp>
      <p:sp>
        <p:nvSpPr>
          <p:cNvPr id="32" name="Text 30"/>
          <p:cNvSpPr/>
          <p:nvPr/>
        </p:nvSpPr>
        <p:spPr>
          <a:xfrm>
            <a:off x="640080" y="4206240"/>
            <a:ext cx="7863840" cy="411480"/>
          </a:xfrm>
          <a:prstGeom prst="rect">
            <a:avLst/>
          </a:prstGeom>
          <a:noFill/>
          <a:ln/>
        </p:spPr>
        <p:txBody>
          <a:bodyPr wrap="square" lIns="0" tIns="0" rIns="0" bIns="0" rtlCol="0" anchor="ctr"/>
          <a:lstStyle/>
          <a:p>
            <a:pPr marL="0" indent="0" algn="ctr">
              <a:buNone/>
            </a:pPr>
            <a:r>
              <a:rPr lang="en-US" sz="900" b="1" dirty="0">
                <a:solidFill>
                  <a:srgbClr val="5C0017"/>
                </a:solidFill>
                <a:latin typeface="Calibri" pitchFamily="34" charset="0"/>
                <a:ea typeface="Calibri" pitchFamily="34" charset="-122"/>
                <a:cs typeface="Calibri" pitchFamily="34" charset="-120"/>
              </a:rPr>
              <a:t>Insight: Asking an LLM to 'find flaws' acts as destructive noise because the model lacks an internal truth verifier.</a:t>
            </a:r>
            <a:endParaRPr lang="en-US" sz="900" dirty="0"/>
          </a:p>
        </p:txBody>
      </p:sp>
      <p:sp>
        <p:nvSpPr>
          <p:cNvPr id="34" name="Text 31"/>
          <p:cNvSpPr/>
          <p:nvPr/>
        </p:nvSpPr>
        <p:spPr>
          <a:xfrm>
            <a:off x="548640" y="4736592"/>
            <a:ext cx="6583680" cy="274320"/>
          </a:xfrm>
          <a:prstGeom prst="rect">
            <a:avLst/>
          </a:prstGeom>
          <a:noFill/>
          <a:ln/>
        </p:spPr>
        <p:txBody>
          <a:bodyPr wrap="square" lIns="0" tIns="0" rIns="0" bIns="0"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35" name="Text 32"/>
          <p:cNvSpPr/>
          <p:nvPr/>
        </p:nvSpPr>
        <p:spPr>
          <a:xfrm>
            <a:off x="7315200" y="4736592"/>
            <a:ext cx="128016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19/23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marL="0" indent="0">
              <a:buNone/>
            </a:pPr>
            <a:r>
              <a:rPr lang="en-US" sz="900" b="1" kern="0" spc="150" dirty="0">
                <a:solidFill>
                  <a:srgbClr val="800020"/>
                </a:solidFill>
                <a:latin typeface="Calibri" pitchFamily="34" charset="0"/>
                <a:ea typeface="Calibri" pitchFamily="34" charset="-122"/>
                <a:cs typeface="Calibri" pitchFamily="34" charset="-120"/>
              </a:rPr>
              <a:t>6. CONCLUSION &amp; FUTURE WORK</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marL="0" indent="0">
              <a:buNone/>
            </a:pPr>
            <a:r>
              <a:rPr lang="en-US" sz="2300" b="1" dirty="0">
                <a:solidFill>
                  <a:srgbClr val="0F172A"/>
                </a:solidFill>
                <a:latin typeface="Century Schoolbook" pitchFamily="34" charset="0"/>
                <a:ea typeface="Century Schoolbook" pitchFamily="34" charset="-122"/>
                <a:cs typeface="Century Schoolbook" pitchFamily="34" charset="-120"/>
              </a:rPr>
              <a:t>Key Takeaways</a:t>
            </a:r>
            <a:endParaRPr lang="en-US" sz="2300" dirty="0"/>
          </a:p>
        </p:txBody>
      </p:sp>
      <p:sp>
        <p:nvSpPr>
          <p:cNvPr id="21" name="Text 18"/>
          <p:cNvSpPr/>
          <p:nvPr/>
        </p:nvSpPr>
        <p:spPr>
          <a:xfrm>
            <a:off x="548640" y="4736592"/>
            <a:ext cx="6583680" cy="274320"/>
          </a:xfrm>
          <a:prstGeom prst="rect">
            <a:avLst/>
          </a:prstGeom>
          <a:noFill/>
          <a:ln/>
        </p:spPr>
        <p:txBody>
          <a:bodyPr wrap="square" lIns="0" tIns="0" rIns="0" bIns="0"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22" name="Text 19"/>
          <p:cNvSpPr/>
          <p:nvPr/>
        </p:nvSpPr>
        <p:spPr>
          <a:xfrm>
            <a:off x="7315200" y="4736592"/>
            <a:ext cx="128016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20/23</a:t>
            </a:r>
          </a:p>
        </p:txBody>
      </p:sp>
      <p:sp>
        <p:nvSpPr>
          <p:cNvPr id="39" name="Shape 2">
            <a:extLst>
              <a:ext uri="{FF2B5EF4-FFF2-40B4-BE49-F238E27FC236}">
                <a16:creationId xmlns:a16="http://schemas.microsoft.com/office/drawing/2014/main" id="{05C7CF24-D89A-56F8-1154-187D845FC095}"/>
              </a:ext>
            </a:extLst>
          </p:cNvPr>
          <p:cNvSpPr/>
          <p:nvPr/>
        </p:nvSpPr>
        <p:spPr>
          <a:xfrm>
            <a:off x="493980" y="1117820"/>
            <a:ext cx="2592324" cy="2434590"/>
          </a:xfrm>
          <a:prstGeom prst="roundRect">
            <a:avLst>
              <a:gd name="adj" fmla="val 2254"/>
            </a:avLst>
          </a:prstGeom>
          <a:solidFill>
            <a:srgbClr val="FBFBFD"/>
          </a:solidFill>
          <a:ln w="12700">
            <a:solidFill>
              <a:srgbClr val="D9DEEA"/>
            </a:solidFill>
            <a:prstDash val="solid"/>
          </a:ln>
          <a:effectLst>
            <a:outerShdw blurRad="76200" dist="25400" dir="5400000" algn="bl" rotWithShape="0">
              <a:srgbClr val="9AA5C4">
                <a:alpha val="25000"/>
              </a:srgbClr>
            </a:outerShdw>
          </a:effectLst>
        </p:spPr>
      </p:sp>
      <p:sp>
        <p:nvSpPr>
          <p:cNvPr id="40" name="Shape 3">
            <a:extLst>
              <a:ext uri="{FF2B5EF4-FFF2-40B4-BE49-F238E27FC236}">
                <a16:creationId xmlns:a16="http://schemas.microsoft.com/office/drawing/2014/main" id="{F317846E-7D52-C181-665F-3C339743D6FB}"/>
              </a:ext>
            </a:extLst>
          </p:cNvPr>
          <p:cNvSpPr/>
          <p:nvPr/>
        </p:nvSpPr>
        <p:spPr>
          <a:xfrm>
            <a:off x="686004" y="1323560"/>
            <a:ext cx="342900" cy="342900"/>
          </a:xfrm>
          <a:prstGeom prst="ellipse">
            <a:avLst/>
          </a:prstGeom>
          <a:solidFill>
            <a:srgbClr val="B23A2E"/>
          </a:solidFill>
          <a:ln/>
        </p:spPr>
      </p:sp>
      <p:sp>
        <p:nvSpPr>
          <p:cNvPr id="41" name="Text 4">
            <a:extLst>
              <a:ext uri="{FF2B5EF4-FFF2-40B4-BE49-F238E27FC236}">
                <a16:creationId xmlns:a16="http://schemas.microsoft.com/office/drawing/2014/main" id="{23DA04E4-761C-FAB6-3BC6-3D18DAD11B02}"/>
              </a:ext>
            </a:extLst>
          </p:cNvPr>
          <p:cNvSpPr/>
          <p:nvPr/>
        </p:nvSpPr>
        <p:spPr>
          <a:xfrm>
            <a:off x="686004" y="1323560"/>
            <a:ext cx="342900" cy="342900"/>
          </a:xfrm>
          <a:prstGeom prst="rect">
            <a:avLst/>
          </a:prstGeom>
          <a:noFill/>
          <a:ln/>
        </p:spPr>
        <p:txBody>
          <a:bodyPr wrap="square" lIns="0" tIns="0" rIns="0" bIns="0" rtlCol="0" anchor="ctr"/>
          <a:lstStyle/>
          <a:p>
            <a:pPr algn="ct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42" name="Text 5">
            <a:extLst>
              <a:ext uri="{FF2B5EF4-FFF2-40B4-BE49-F238E27FC236}">
                <a16:creationId xmlns:a16="http://schemas.microsoft.com/office/drawing/2014/main" id="{128E39DB-4071-E1B1-BE53-886BB3FE3FC9}"/>
              </a:ext>
            </a:extLst>
          </p:cNvPr>
          <p:cNvSpPr/>
          <p:nvPr/>
        </p:nvSpPr>
        <p:spPr>
          <a:xfrm>
            <a:off x="699720" y="1789904"/>
            <a:ext cx="2180844" cy="514350"/>
          </a:xfrm>
          <a:prstGeom prst="rect">
            <a:avLst/>
          </a:prstGeom>
          <a:noFill/>
          <a:ln/>
        </p:spPr>
        <p:txBody>
          <a:bodyPr wrap="square" lIns="0" tIns="0" rIns="0" bIns="0" rtlCol="0" anchor="t"/>
          <a:lstStyle/>
          <a:p>
            <a:r>
              <a:rPr lang="en-US" sz="1238" b="1" dirty="0">
                <a:solidFill>
                  <a:srgbClr val="2B2B33"/>
                </a:solidFill>
                <a:latin typeface="Cambria" pitchFamily="34" charset="0"/>
                <a:ea typeface="Cambria" pitchFamily="34" charset="-122"/>
                <a:cs typeface="Cambria" pitchFamily="34" charset="-120"/>
              </a:rPr>
              <a:t>Intrinsic Self-Correction Fails</a:t>
            </a:r>
            <a:endParaRPr lang="en-US" sz="1238" dirty="0"/>
          </a:p>
        </p:txBody>
      </p:sp>
      <p:sp>
        <p:nvSpPr>
          <p:cNvPr id="43" name="Text 6">
            <a:extLst>
              <a:ext uri="{FF2B5EF4-FFF2-40B4-BE49-F238E27FC236}">
                <a16:creationId xmlns:a16="http://schemas.microsoft.com/office/drawing/2014/main" id="{52A5073E-E310-1A70-A4DB-1C1986C98A1C}"/>
              </a:ext>
            </a:extLst>
          </p:cNvPr>
          <p:cNvSpPr/>
          <p:nvPr/>
        </p:nvSpPr>
        <p:spPr>
          <a:xfrm>
            <a:off x="699720" y="2297396"/>
            <a:ext cx="2180844" cy="1097280"/>
          </a:xfrm>
          <a:prstGeom prst="rect">
            <a:avLst/>
          </a:prstGeom>
          <a:noFill/>
          <a:ln/>
        </p:spPr>
        <p:txBody>
          <a:bodyPr wrap="square" lIns="0" tIns="0" rIns="0" bIns="0" rtlCol="0" anchor="t"/>
          <a:lstStyle/>
          <a:p>
            <a:pPr>
              <a:lnSpc>
                <a:spcPct val="115000"/>
              </a:lnSpc>
            </a:pPr>
            <a:r>
              <a:rPr lang="en-US" sz="1000" dirty="0"/>
              <a:t>Without external feedback or grounding, accuracy consistently drops after self-correction across GPT-3.5, GPT-4, GPT-4-Turbo, and Llama-2, on every reasoning benchmark tested.</a:t>
            </a:r>
            <a:endParaRPr lang="en-US" sz="938" dirty="0"/>
          </a:p>
        </p:txBody>
      </p:sp>
      <p:sp>
        <p:nvSpPr>
          <p:cNvPr id="44" name="Shape 7">
            <a:extLst>
              <a:ext uri="{FF2B5EF4-FFF2-40B4-BE49-F238E27FC236}">
                <a16:creationId xmlns:a16="http://schemas.microsoft.com/office/drawing/2014/main" id="{388C347E-40E9-D9BA-ED58-AB000B0ADFEC}"/>
              </a:ext>
            </a:extLst>
          </p:cNvPr>
          <p:cNvSpPr/>
          <p:nvPr/>
        </p:nvSpPr>
        <p:spPr>
          <a:xfrm>
            <a:off x="3278328" y="1117820"/>
            <a:ext cx="2592324" cy="2434590"/>
          </a:xfrm>
          <a:prstGeom prst="roundRect">
            <a:avLst>
              <a:gd name="adj" fmla="val 2254"/>
            </a:avLst>
          </a:prstGeom>
          <a:solidFill>
            <a:srgbClr val="FBFBFD"/>
          </a:solidFill>
          <a:ln w="12700">
            <a:solidFill>
              <a:srgbClr val="D9DEEA"/>
            </a:solidFill>
            <a:prstDash val="solid"/>
          </a:ln>
          <a:effectLst>
            <a:outerShdw blurRad="76200" dist="25400" dir="5400000" algn="bl" rotWithShape="0">
              <a:srgbClr val="9AA5C4">
                <a:alpha val="25000"/>
              </a:srgbClr>
            </a:outerShdw>
          </a:effectLst>
        </p:spPr>
      </p:sp>
      <p:sp>
        <p:nvSpPr>
          <p:cNvPr id="45" name="Shape 8">
            <a:extLst>
              <a:ext uri="{FF2B5EF4-FFF2-40B4-BE49-F238E27FC236}">
                <a16:creationId xmlns:a16="http://schemas.microsoft.com/office/drawing/2014/main" id="{04093E31-3C21-7091-9182-1A2E1AF78E9F}"/>
              </a:ext>
            </a:extLst>
          </p:cNvPr>
          <p:cNvSpPr/>
          <p:nvPr/>
        </p:nvSpPr>
        <p:spPr>
          <a:xfrm>
            <a:off x="3470352" y="1323560"/>
            <a:ext cx="342900" cy="342900"/>
          </a:xfrm>
          <a:prstGeom prst="ellipse">
            <a:avLst/>
          </a:prstGeom>
          <a:solidFill>
            <a:srgbClr val="C97A1E"/>
          </a:solidFill>
          <a:ln/>
        </p:spPr>
      </p:sp>
      <p:sp>
        <p:nvSpPr>
          <p:cNvPr id="46" name="Text 9">
            <a:extLst>
              <a:ext uri="{FF2B5EF4-FFF2-40B4-BE49-F238E27FC236}">
                <a16:creationId xmlns:a16="http://schemas.microsoft.com/office/drawing/2014/main" id="{DCA6E182-36B3-35AA-EA53-3961C67EED38}"/>
              </a:ext>
            </a:extLst>
          </p:cNvPr>
          <p:cNvSpPr/>
          <p:nvPr/>
        </p:nvSpPr>
        <p:spPr>
          <a:xfrm>
            <a:off x="3470352" y="1323560"/>
            <a:ext cx="342900" cy="342900"/>
          </a:xfrm>
          <a:prstGeom prst="rect">
            <a:avLst/>
          </a:prstGeom>
          <a:noFill/>
          <a:ln/>
        </p:spPr>
        <p:txBody>
          <a:bodyPr wrap="square" lIns="0" tIns="0" rIns="0" bIns="0" rtlCol="0" anchor="ctr"/>
          <a:lstStyle/>
          <a:p>
            <a:pPr algn="ct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47" name="Text 10">
            <a:extLst>
              <a:ext uri="{FF2B5EF4-FFF2-40B4-BE49-F238E27FC236}">
                <a16:creationId xmlns:a16="http://schemas.microsoft.com/office/drawing/2014/main" id="{6DEB31C5-C5BA-7C07-C6EB-9B575A25C728}"/>
              </a:ext>
            </a:extLst>
          </p:cNvPr>
          <p:cNvSpPr/>
          <p:nvPr/>
        </p:nvSpPr>
        <p:spPr>
          <a:xfrm>
            <a:off x="3484068" y="1789904"/>
            <a:ext cx="2180844" cy="514350"/>
          </a:xfrm>
          <a:prstGeom prst="rect">
            <a:avLst/>
          </a:prstGeom>
          <a:noFill/>
          <a:ln/>
        </p:spPr>
        <p:txBody>
          <a:bodyPr wrap="square" lIns="0" tIns="0" rIns="0" bIns="0" rtlCol="0" anchor="t"/>
          <a:lstStyle/>
          <a:p>
            <a:r>
              <a:rPr lang="en-US" sz="1238" b="1" dirty="0">
                <a:solidFill>
                  <a:srgbClr val="2B2B33"/>
                </a:solidFill>
                <a:latin typeface="Cambria" pitchFamily="34" charset="0"/>
                <a:ea typeface="Cambria" pitchFamily="34" charset="-122"/>
                <a:cs typeface="Cambria" pitchFamily="34" charset="-120"/>
              </a:rPr>
              <a:t>Prior Gains Were Evaluation Artifacts</a:t>
            </a:r>
            <a:endParaRPr lang="en-US" sz="1238" dirty="0"/>
          </a:p>
        </p:txBody>
      </p:sp>
      <p:sp>
        <p:nvSpPr>
          <p:cNvPr id="48" name="Text 11">
            <a:extLst>
              <a:ext uri="{FF2B5EF4-FFF2-40B4-BE49-F238E27FC236}">
                <a16:creationId xmlns:a16="http://schemas.microsoft.com/office/drawing/2014/main" id="{77C7A780-B5B4-B903-FB30-3F162BCF45D7}"/>
              </a:ext>
            </a:extLst>
          </p:cNvPr>
          <p:cNvSpPr/>
          <p:nvPr/>
        </p:nvSpPr>
        <p:spPr>
          <a:xfrm>
            <a:off x="3484068" y="2297396"/>
            <a:ext cx="2180844" cy="1097280"/>
          </a:xfrm>
          <a:prstGeom prst="rect">
            <a:avLst/>
          </a:prstGeom>
          <a:noFill/>
          <a:ln/>
        </p:spPr>
        <p:txBody>
          <a:bodyPr wrap="square" lIns="0" tIns="0" rIns="0" bIns="0" rtlCol="0" anchor="t"/>
          <a:lstStyle/>
          <a:p>
            <a:pPr>
              <a:lnSpc>
                <a:spcPct val="115000"/>
              </a:lnSpc>
            </a:pPr>
            <a:r>
              <a:rPr lang="en-US" sz="1000" dirty="0">
                <a:solidFill>
                  <a:srgbClr val="44485A"/>
                </a:solidFill>
                <a:latin typeface="Calibri" pitchFamily="34" charset="0"/>
                <a:ea typeface="Calibri" pitchFamily="34" charset="-122"/>
                <a:cs typeface="Calibri" pitchFamily="34" charset="-120"/>
              </a:rPr>
              <a:t>Reported improvements traced back to three confounders: oracle-label leakage (RCI, </a:t>
            </a:r>
            <a:r>
              <a:rPr lang="en-US" sz="1000" dirty="0" err="1">
                <a:solidFill>
                  <a:srgbClr val="44485A"/>
                </a:solidFill>
                <a:latin typeface="Calibri" pitchFamily="34" charset="0"/>
                <a:ea typeface="Calibri" pitchFamily="34" charset="-122"/>
                <a:cs typeface="Calibri" pitchFamily="34" charset="-120"/>
              </a:rPr>
              <a:t>Reflexion</a:t>
            </a:r>
            <a:r>
              <a:rPr lang="en-US" sz="1000" dirty="0">
                <a:solidFill>
                  <a:srgbClr val="44485A"/>
                </a:solidFill>
                <a:latin typeface="Calibri" pitchFamily="34" charset="0"/>
                <a:ea typeface="Calibri" pitchFamily="34" charset="-122"/>
                <a:cs typeface="Calibri" pitchFamily="34" charset="-120"/>
              </a:rPr>
              <a:t>), unfair compute parity (Debate vs. Self-Consistency), and sub-optimal initial prompts (Self-Refine).</a:t>
            </a:r>
            <a:endParaRPr lang="en-US" sz="1000" dirty="0"/>
          </a:p>
        </p:txBody>
      </p:sp>
      <p:sp>
        <p:nvSpPr>
          <p:cNvPr id="49" name="Shape 12">
            <a:extLst>
              <a:ext uri="{FF2B5EF4-FFF2-40B4-BE49-F238E27FC236}">
                <a16:creationId xmlns:a16="http://schemas.microsoft.com/office/drawing/2014/main" id="{44336D15-E8AF-0CF3-FE24-59D4DCD3DE24}"/>
              </a:ext>
            </a:extLst>
          </p:cNvPr>
          <p:cNvSpPr/>
          <p:nvPr/>
        </p:nvSpPr>
        <p:spPr>
          <a:xfrm>
            <a:off x="6062676" y="1117820"/>
            <a:ext cx="2592324" cy="2434590"/>
          </a:xfrm>
          <a:prstGeom prst="roundRect">
            <a:avLst>
              <a:gd name="adj" fmla="val 2254"/>
            </a:avLst>
          </a:prstGeom>
          <a:solidFill>
            <a:srgbClr val="FBFBFD"/>
          </a:solidFill>
          <a:ln w="12700">
            <a:solidFill>
              <a:srgbClr val="D9DEEA"/>
            </a:solidFill>
            <a:prstDash val="solid"/>
          </a:ln>
          <a:effectLst>
            <a:outerShdw blurRad="76200" dist="25400" dir="5400000" algn="bl" rotWithShape="0">
              <a:srgbClr val="9AA5C4">
                <a:alpha val="25000"/>
              </a:srgbClr>
            </a:outerShdw>
          </a:effectLst>
        </p:spPr>
      </p:sp>
      <p:sp>
        <p:nvSpPr>
          <p:cNvPr id="50" name="Shape 13">
            <a:extLst>
              <a:ext uri="{FF2B5EF4-FFF2-40B4-BE49-F238E27FC236}">
                <a16:creationId xmlns:a16="http://schemas.microsoft.com/office/drawing/2014/main" id="{07F84097-D92E-1236-62F9-280E9DA602AD}"/>
              </a:ext>
            </a:extLst>
          </p:cNvPr>
          <p:cNvSpPr/>
          <p:nvPr/>
        </p:nvSpPr>
        <p:spPr>
          <a:xfrm>
            <a:off x="6254700" y="1323560"/>
            <a:ext cx="342900" cy="342900"/>
          </a:xfrm>
          <a:prstGeom prst="ellipse">
            <a:avLst/>
          </a:prstGeom>
          <a:solidFill>
            <a:srgbClr val="2E7D5B"/>
          </a:solidFill>
          <a:ln/>
        </p:spPr>
      </p:sp>
      <p:sp>
        <p:nvSpPr>
          <p:cNvPr id="51" name="Text 14">
            <a:extLst>
              <a:ext uri="{FF2B5EF4-FFF2-40B4-BE49-F238E27FC236}">
                <a16:creationId xmlns:a16="http://schemas.microsoft.com/office/drawing/2014/main" id="{94CDBB07-00E1-6A2B-B001-E34DE781A678}"/>
              </a:ext>
            </a:extLst>
          </p:cNvPr>
          <p:cNvSpPr/>
          <p:nvPr/>
        </p:nvSpPr>
        <p:spPr>
          <a:xfrm>
            <a:off x="6254700" y="1323560"/>
            <a:ext cx="342900" cy="342900"/>
          </a:xfrm>
          <a:prstGeom prst="rect">
            <a:avLst/>
          </a:prstGeom>
          <a:noFill/>
          <a:ln/>
        </p:spPr>
        <p:txBody>
          <a:bodyPr wrap="square" lIns="0" tIns="0" rIns="0" bIns="0" rtlCol="0" anchor="ctr"/>
          <a:lstStyle/>
          <a:p>
            <a:pPr algn="ct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52" name="Text 15">
            <a:extLst>
              <a:ext uri="{FF2B5EF4-FFF2-40B4-BE49-F238E27FC236}">
                <a16:creationId xmlns:a16="http://schemas.microsoft.com/office/drawing/2014/main" id="{4E85690F-2434-A8AC-71BC-BD316D552D09}"/>
              </a:ext>
            </a:extLst>
          </p:cNvPr>
          <p:cNvSpPr/>
          <p:nvPr/>
        </p:nvSpPr>
        <p:spPr>
          <a:xfrm>
            <a:off x="6268416" y="1789904"/>
            <a:ext cx="2180844" cy="514350"/>
          </a:xfrm>
          <a:prstGeom prst="rect">
            <a:avLst/>
          </a:prstGeom>
          <a:noFill/>
          <a:ln/>
        </p:spPr>
        <p:txBody>
          <a:bodyPr wrap="square" lIns="0" tIns="0" rIns="0" bIns="0" rtlCol="0" anchor="t"/>
          <a:lstStyle/>
          <a:p>
            <a:r>
              <a:rPr lang="en-US" sz="1238" b="1" dirty="0">
                <a:solidFill>
                  <a:srgbClr val="2B2B33"/>
                </a:solidFill>
                <a:latin typeface="Cambria" pitchFamily="34" charset="0"/>
                <a:ea typeface="Cambria" pitchFamily="34" charset="-122"/>
                <a:cs typeface="Cambria" pitchFamily="34" charset="-120"/>
              </a:rPr>
              <a:t>Grounded Feedback Is Essential</a:t>
            </a:r>
            <a:endParaRPr lang="en-US" sz="1238" dirty="0"/>
          </a:p>
        </p:txBody>
      </p:sp>
      <p:sp>
        <p:nvSpPr>
          <p:cNvPr id="53" name="Text 16">
            <a:extLst>
              <a:ext uri="{FF2B5EF4-FFF2-40B4-BE49-F238E27FC236}">
                <a16:creationId xmlns:a16="http://schemas.microsoft.com/office/drawing/2014/main" id="{42CFEF9F-A4EA-AF72-C459-75ADF2586265}"/>
              </a:ext>
            </a:extLst>
          </p:cNvPr>
          <p:cNvSpPr/>
          <p:nvPr/>
        </p:nvSpPr>
        <p:spPr>
          <a:xfrm>
            <a:off x="6268416" y="2297396"/>
            <a:ext cx="2180844" cy="1097280"/>
          </a:xfrm>
          <a:prstGeom prst="rect">
            <a:avLst/>
          </a:prstGeom>
          <a:noFill/>
          <a:ln/>
        </p:spPr>
        <p:txBody>
          <a:bodyPr wrap="square" lIns="0" tIns="0" rIns="0" bIns="0" rtlCol="0" anchor="t"/>
          <a:lstStyle/>
          <a:p>
            <a:pPr>
              <a:lnSpc>
                <a:spcPct val="115000"/>
              </a:lnSpc>
            </a:pPr>
            <a:r>
              <a:rPr lang="en-US" sz="1000" dirty="0">
                <a:solidFill>
                  <a:srgbClr val="44485A"/>
                </a:solidFill>
                <a:latin typeface="Calibri" pitchFamily="34" charset="0"/>
                <a:ea typeface="Calibri" pitchFamily="34" charset="-122"/>
                <a:cs typeface="Calibri" pitchFamily="34" charset="-120"/>
              </a:rPr>
              <a:t>A frozen model cannot reliably verify its own reasoning. Genuine gains require external signals, such as code execution, tool use, or trained verifiers, not more self-reflection.</a:t>
            </a:r>
            <a:endParaRPr lang="en-US" sz="1000" dirty="0"/>
          </a:p>
        </p:txBody>
      </p:sp>
      <p:sp>
        <p:nvSpPr>
          <p:cNvPr id="54" name="Shape 17">
            <a:extLst>
              <a:ext uri="{FF2B5EF4-FFF2-40B4-BE49-F238E27FC236}">
                <a16:creationId xmlns:a16="http://schemas.microsoft.com/office/drawing/2014/main" id="{6E4D21BC-27B5-3FD4-7D12-F55E5C4AD74C}"/>
              </a:ext>
            </a:extLst>
          </p:cNvPr>
          <p:cNvSpPr/>
          <p:nvPr/>
        </p:nvSpPr>
        <p:spPr>
          <a:xfrm>
            <a:off x="493980" y="3792440"/>
            <a:ext cx="8161020" cy="685800"/>
          </a:xfrm>
          <a:prstGeom prst="roundRect">
            <a:avLst>
              <a:gd name="adj" fmla="val 8000"/>
            </a:avLst>
          </a:prstGeom>
          <a:solidFill>
            <a:srgbClr val="FFF2F2"/>
          </a:solidFill>
          <a:ln>
            <a:solidFill>
              <a:srgbClr val="800020"/>
            </a:solidFill>
          </a:ln>
        </p:spPr>
        <p:txBody>
          <a:bodyPr/>
          <a:lstStyle/>
          <a:p>
            <a:endParaRPr lang="en-US" dirty="0"/>
          </a:p>
        </p:txBody>
      </p:sp>
      <p:sp>
        <p:nvSpPr>
          <p:cNvPr id="55" name="Text 18">
            <a:extLst>
              <a:ext uri="{FF2B5EF4-FFF2-40B4-BE49-F238E27FC236}">
                <a16:creationId xmlns:a16="http://schemas.microsoft.com/office/drawing/2014/main" id="{8005F778-1643-611E-2486-089EC90AA632}"/>
              </a:ext>
            </a:extLst>
          </p:cNvPr>
          <p:cNvSpPr/>
          <p:nvPr/>
        </p:nvSpPr>
        <p:spPr>
          <a:xfrm>
            <a:off x="699720" y="3792440"/>
            <a:ext cx="7749540" cy="685800"/>
          </a:xfrm>
          <a:prstGeom prst="rect">
            <a:avLst/>
          </a:prstGeom>
          <a:noFill/>
          <a:ln/>
        </p:spPr>
        <p:txBody>
          <a:bodyPr wrap="square" lIns="0" tIns="0" rIns="0" bIns="0" rtlCol="0" anchor="ctr"/>
          <a:lstStyle/>
          <a:p>
            <a:pPr>
              <a:lnSpc>
                <a:spcPct val="110000"/>
              </a:lnSpc>
            </a:pPr>
            <a:r>
              <a:rPr lang="en-US" sz="900" b="1" kern="0" spc="75" dirty="0">
                <a:solidFill>
                  <a:srgbClr val="C97A1E"/>
                </a:solidFill>
                <a:latin typeface="Calibri" pitchFamily="34" charset="0"/>
                <a:ea typeface="Calibri" pitchFamily="34" charset="-122"/>
                <a:cs typeface="Calibri" pitchFamily="34" charset="-120"/>
              </a:rPr>
              <a:t>CORE PRINCIPLE:  </a:t>
            </a:r>
            <a:r>
              <a:rPr lang="en-US" sz="975" dirty="0">
                <a:latin typeface="Calibri" pitchFamily="34" charset="0"/>
                <a:ea typeface="Calibri" pitchFamily="34" charset="-122"/>
                <a:cs typeface="Calibri" pitchFamily="34" charset="-120"/>
              </a:rPr>
              <a:t>A model that cannot generate the correct answer cannot reliably judge its own answer. Self-correction needs a verifier outside the generator.</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marL="0" indent="0">
              <a:buNone/>
            </a:pPr>
            <a:r>
              <a:rPr lang="en-US" sz="900" b="1" kern="0" spc="150" dirty="0">
                <a:solidFill>
                  <a:srgbClr val="800020"/>
                </a:solidFill>
                <a:latin typeface="Calibri" pitchFamily="34" charset="0"/>
                <a:ea typeface="Calibri" pitchFamily="34" charset="-122"/>
                <a:cs typeface="Calibri" pitchFamily="34" charset="-120"/>
              </a:rPr>
              <a:t>6. CONCLUSION &amp; FUTURE WORK</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marL="0" indent="0">
              <a:buNone/>
            </a:pPr>
            <a:r>
              <a:rPr lang="en-US" sz="2300" b="1" dirty="0">
                <a:solidFill>
                  <a:srgbClr val="0F172A"/>
                </a:solidFill>
                <a:latin typeface="Century Schoolbook" pitchFamily="34" charset="0"/>
                <a:ea typeface="Century Schoolbook" pitchFamily="34" charset="-122"/>
                <a:cs typeface="Century Schoolbook" pitchFamily="34" charset="-120"/>
              </a:rPr>
              <a:t>Study Limitations &amp; Methodological Boundaries</a:t>
            </a:r>
          </a:p>
        </p:txBody>
      </p:sp>
      <p:sp>
        <p:nvSpPr>
          <p:cNvPr id="4" name="Text 2"/>
          <p:cNvSpPr/>
          <p:nvPr/>
        </p:nvSpPr>
        <p:spPr>
          <a:xfrm>
            <a:off x="548640" y="868680"/>
            <a:ext cx="8046720" cy="2286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Scope and boundaries of this research</a:t>
            </a:r>
            <a:endParaRPr lang="en-US" sz="1100" dirty="0"/>
          </a:p>
        </p:txBody>
      </p:sp>
      <p:sp>
        <p:nvSpPr>
          <p:cNvPr id="28" name="Text 25"/>
          <p:cNvSpPr/>
          <p:nvPr/>
        </p:nvSpPr>
        <p:spPr>
          <a:xfrm>
            <a:off x="548640" y="4736592"/>
            <a:ext cx="6583680" cy="274320"/>
          </a:xfrm>
          <a:prstGeom prst="rect">
            <a:avLst/>
          </a:prstGeom>
          <a:noFill/>
          <a:ln/>
        </p:spPr>
        <p:txBody>
          <a:bodyPr wrap="square" lIns="0" tIns="0" rIns="0" bIns="0"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29" name="Text 26"/>
          <p:cNvSpPr/>
          <p:nvPr/>
        </p:nvSpPr>
        <p:spPr>
          <a:xfrm>
            <a:off x="7315200" y="4736592"/>
            <a:ext cx="128016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21/23</a:t>
            </a:r>
            <a:endParaRPr lang="en-US" sz="850" dirty="0"/>
          </a:p>
        </p:txBody>
      </p:sp>
      <p:sp>
        <p:nvSpPr>
          <p:cNvPr id="27" name="Shape 2">
            <a:extLst>
              <a:ext uri="{FF2B5EF4-FFF2-40B4-BE49-F238E27FC236}">
                <a16:creationId xmlns:a16="http://schemas.microsoft.com/office/drawing/2014/main" id="{6C811FC1-4A66-8804-5EF2-82AE7D31E76E}"/>
              </a:ext>
            </a:extLst>
          </p:cNvPr>
          <p:cNvSpPr/>
          <p:nvPr/>
        </p:nvSpPr>
        <p:spPr>
          <a:xfrm>
            <a:off x="542108" y="1165860"/>
            <a:ext cx="3943350" cy="2434590"/>
          </a:xfrm>
          <a:prstGeom prst="roundRect">
            <a:avLst>
              <a:gd name="adj" fmla="val 2254"/>
            </a:avLst>
          </a:prstGeom>
          <a:solidFill>
            <a:srgbClr val="EEF3FC"/>
          </a:solidFill>
          <a:ln w="12700">
            <a:solidFill>
              <a:srgbClr val="D9DEEA"/>
            </a:solidFill>
            <a:prstDash val="solid"/>
          </a:ln>
        </p:spPr>
      </p:sp>
      <p:sp>
        <p:nvSpPr>
          <p:cNvPr id="30" name="Text 3">
            <a:extLst>
              <a:ext uri="{FF2B5EF4-FFF2-40B4-BE49-F238E27FC236}">
                <a16:creationId xmlns:a16="http://schemas.microsoft.com/office/drawing/2014/main" id="{9EC59056-C9E2-B401-EDC7-27D2CB305637}"/>
              </a:ext>
            </a:extLst>
          </p:cNvPr>
          <p:cNvSpPr/>
          <p:nvPr/>
        </p:nvSpPr>
        <p:spPr>
          <a:xfrm>
            <a:off x="747848" y="1337310"/>
            <a:ext cx="3531870" cy="274320"/>
          </a:xfrm>
          <a:prstGeom prst="rect">
            <a:avLst/>
          </a:prstGeom>
          <a:noFill/>
          <a:ln/>
        </p:spPr>
        <p:txBody>
          <a:bodyPr wrap="square" lIns="0" tIns="0" rIns="0" bIns="0" rtlCol="0" anchor="ctr"/>
          <a:lstStyle/>
          <a:p>
            <a:r>
              <a:rPr lang="en-US" sz="975" b="1" kern="0" spc="75" dirty="0">
                <a:solidFill>
                  <a:srgbClr val="1E2761"/>
                </a:solidFill>
                <a:latin typeface="Calibri" pitchFamily="34" charset="0"/>
                <a:ea typeface="Calibri" pitchFamily="34" charset="-122"/>
                <a:cs typeface="Calibri" pitchFamily="34" charset="-120"/>
              </a:rPr>
              <a:t>SCOPE LIMITATIONS</a:t>
            </a:r>
            <a:endParaRPr lang="en-US" sz="975" dirty="0"/>
          </a:p>
        </p:txBody>
      </p:sp>
      <p:sp>
        <p:nvSpPr>
          <p:cNvPr id="31" name="Shape 4">
            <a:extLst>
              <a:ext uri="{FF2B5EF4-FFF2-40B4-BE49-F238E27FC236}">
                <a16:creationId xmlns:a16="http://schemas.microsoft.com/office/drawing/2014/main" id="{98896130-00E2-44BF-031F-572CE22CE91C}"/>
              </a:ext>
            </a:extLst>
          </p:cNvPr>
          <p:cNvSpPr/>
          <p:nvPr/>
        </p:nvSpPr>
        <p:spPr>
          <a:xfrm>
            <a:off x="761564" y="1741932"/>
            <a:ext cx="82296" cy="82296"/>
          </a:xfrm>
          <a:prstGeom prst="ellipse">
            <a:avLst/>
          </a:prstGeom>
          <a:solidFill>
            <a:srgbClr val="1E2761"/>
          </a:solidFill>
          <a:ln/>
        </p:spPr>
      </p:sp>
      <p:sp>
        <p:nvSpPr>
          <p:cNvPr id="32" name="Text 5">
            <a:extLst>
              <a:ext uri="{FF2B5EF4-FFF2-40B4-BE49-F238E27FC236}">
                <a16:creationId xmlns:a16="http://schemas.microsoft.com/office/drawing/2014/main" id="{6D2CE6E1-CDAD-70E2-E88F-6E897326AC47}"/>
              </a:ext>
            </a:extLst>
          </p:cNvPr>
          <p:cNvSpPr/>
          <p:nvPr/>
        </p:nvSpPr>
        <p:spPr>
          <a:xfrm>
            <a:off x="939872" y="1645920"/>
            <a:ext cx="3326130" cy="582930"/>
          </a:xfrm>
          <a:prstGeom prst="rect">
            <a:avLst/>
          </a:prstGeom>
          <a:noFill/>
          <a:ln/>
        </p:spPr>
        <p:txBody>
          <a:bodyPr wrap="square" lIns="0" tIns="0" rIns="0" bIns="0" rtlCol="0" anchor="t"/>
          <a:lstStyle/>
          <a:p>
            <a:pPr>
              <a:lnSpc>
                <a:spcPct val="112000"/>
              </a:lnSpc>
            </a:pPr>
            <a:r>
              <a:rPr lang="en-US" sz="900" b="1" dirty="0">
                <a:solidFill>
                  <a:srgbClr val="2B2B33"/>
                </a:solidFill>
                <a:latin typeface="Calibri" pitchFamily="34" charset="0"/>
                <a:ea typeface="Calibri" pitchFamily="34" charset="-122"/>
                <a:cs typeface="Calibri" pitchFamily="34" charset="-120"/>
              </a:rPr>
              <a:t>Reasoning-Specific : </a:t>
            </a:r>
            <a:r>
              <a:rPr lang="en-US" sz="900" dirty="0">
                <a:solidFill>
                  <a:srgbClr val="44485A"/>
                </a:solidFill>
                <a:latin typeface="Calibri" pitchFamily="34" charset="0"/>
                <a:ea typeface="Calibri" pitchFamily="34" charset="-122"/>
                <a:cs typeface="Calibri" pitchFamily="34" charset="-120"/>
              </a:rPr>
              <a:t>Findings cover math, commonsense, and multi-hop QA, not style, tone, or safety self-correction.</a:t>
            </a:r>
            <a:endParaRPr lang="en-US" sz="900" dirty="0"/>
          </a:p>
        </p:txBody>
      </p:sp>
      <p:sp>
        <p:nvSpPr>
          <p:cNvPr id="33" name="Shape 6">
            <a:extLst>
              <a:ext uri="{FF2B5EF4-FFF2-40B4-BE49-F238E27FC236}">
                <a16:creationId xmlns:a16="http://schemas.microsoft.com/office/drawing/2014/main" id="{E9E91BAB-188F-9630-3022-D81CBE7E06D8}"/>
              </a:ext>
            </a:extLst>
          </p:cNvPr>
          <p:cNvSpPr/>
          <p:nvPr/>
        </p:nvSpPr>
        <p:spPr>
          <a:xfrm>
            <a:off x="761564" y="2372868"/>
            <a:ext cx="82296" cy="82296"/>
          </a:xfrm>
          <a:prstGeom prst="ellipse">
            <a:avLst/>
          </a:prstGeom>
          <a:solidFill>
            <a:srgbClr val="1E2761"/>
          </a:solidFill>
          <a:ln/>
        </p:spPr>
      </p:sp>
      <p:sp>
        <p:nvSpPr>
          <p:cNvPr id="34" name="Text 7">
            <a:extLst>
              <a:ext uri="{FF2B5EF4-FFF2-40B4-BE49-F238E27FC236}">
                <a16:creationId xmlns:a16="http://schemas.microsoft.com/office/drawing/2014/main" id="{8A3B0795-21F5-4169-27FA-55402AC15FC8}"/>
              </a:ext>
            </a:extLst>
          </p:cNvPr>
          <p:cNvSpPr/>
          <p:nvPr/>
        </p:nvSpPr>
        <p:spPr>
          <a:xfrm>
            <a:off x="939872" y="2276856"/>
            <a:ext cx="3326130" cy="582930"/>
          </a:xfrm>
          <a:prstGeom prst="rect">
            <a:avLst/>
          </a:prstGeom>
          <a:noFill/>
          <a:ln/>
        </p:spPr>
        <p:txBody>
          <a:bodyPr wrap="square" lIns="0" tIns="0" rIns="0" bIns="0" rtlCol="0" anchor="t"/>
          <a:lstStyle/>
          <a:p>
            <a:pPr>
              <a:lnSpc>
                <a:spcPct val="112000"/>
              </a:lnSpc>
            </a:pPr>
            <a:r>
              <a:rPr lang="en-US" sz="900" b="1" dirty="0">
                <a:solidFill>
                  <a:srgbClr val="2B2B33"/>
                </a:solidFill>
                <a:latin typeface="Calibri" pitchFamily="34" charset="0"/>
                <a:ea typeface="Calibri" pitchFamily="34" charset="-122"/>
                <a:cs typeface="Calibri" pitchFamily="34" charset="-120"/>
              </a:rPr>
              <a:t>Frozen Models Only : </a:t>
            </a:r>
            <a:r>
              <a:rPr lang="en-US" sz="900" dirty="0">
                <a:solidFill>
                  <a:srgbClr val="44485A"/>
                </a:solidFill>
                <a:latin typeface="Calibri" pitchFamily="34" charset="0"/>
                <a:ea typeface="Calibri" pitchFamily="34" charset="-122"/>
                <a:cs typeface="Calibri" pitchFamily="34" charset="-120"/>
              </a:rPr>
              <a:t>Models were prompted, not fine-tuned, for self-correction; training-time approaches are untested.</a:t>
            </a:r>
            <a:endParaRPr lang="en-US" sz="900" dirty="0"/>
          </a:p>
        </p:txBody>
      </p:sp>
      <p:sp>
        <p:nvSpPr>
          <p:cNvPr id="35" name="Shape 8">
            <a:extLst>
              <a:ext uri="{FF2B5EF4-FFF2-40B4-BE49-F238E27FC236}">
                <a16:creationId xmlns:a16="http://schemas.microsoft.com/office/drawing/2014/main" id="{8D7BAB47-3564-08B1-A1DE-1FDB24ACFEC9}"/>
              </a:ext>
            </a:extLst>
          </p:cNvPr>
          <p:cNvSpPr/>
          <p:nvPr/>
        </p:nvSpPr>
        <p:spPr>
          <a:xfrm>
            <a:off x="761564" y="3003804"/>
            <a:ext cx="82296" cy="82296"/>
          </a:xfrm>
          <a:prstGeom prst="ellipse">
            <a:avLst/>
          </a:prstGeom>
          <a:solidFill>
            <a:srgbClr val="1E2761"/>
          </a:solidFill>
          <a:ln/>
        </p:spPr>
      </p:sp>
      <p:sp>
        <p:nvSpPr>
          <p:cNvPr id="36" name="Text 9">
            <a:extLst>
              <a:ext uri="{FF2B5EF4-FFF2-40B4-BE49-F238E27FC236}">
                <a16:creationId xmlns:a16="http://schemas.microsoft.com/office/drawing/2014/main" id="{5DDF170A-C4FA-799E-F36D-BBB366DF2EB6}"/>
              </a:ext>
            </a:extLst>
          </p:cNvPr>
          <p:cNvSpPr/>
          <p:nvPr/>
        </p:nvSpPr>
        <p:spPr>
          <a:xfrm>
            <a:off x="939872" y="2907792"/>
            <a:ext cx="3326130" cy="582930"/>
          </a:xfrm>
          <a:prstGeom prst="rect">
            <a:avLst/>
          </a:prstGeom>
          <a:noFill/>
          <a:ln/>
        </p:spPr>
        <p:txBody>
          <a:bodyPr wrap="square" lIns="0" tIns="0" rIns="0" bIns="0" rtlCol="0" anchor="t"/>
          <a:lstStyle/>
          <a:p>
            <a:pPr>
              <a:lnSpc>
                <a:spcPct val="112000"/>
              </a:lnSpc>
            </a:pPr>
            <a:r>
              <a:rPr lang="en-US" sz="900" b="1" dirty="0">
                <a:solidFill>
                  <a:srgbClr val="2B2B33"/>
                </a:solidFill>
                <a:latin typeface="Calibri" pitchFamily="34" charset="0"/>
                <a:ea typeface="Calibri" pitchFamily="34" charset="-122"/>
                <a:cs typeface="Calibri" pitchFamily="34" charset="-120"/>
              </a:rPr>
              <a:t>2023 Model Snapshots : </a:t>
            </a:r>
            <a:r>
              <a:rPr lang="en-US" sz="900" dirty="0">
                <a:solidFill>
                  <a:srgbClr val="44485A"/>
                </a:solidFill>
                <a:latin typeface="Calibri" pitchFamily="34" charset="0"/>
                <a:ea typeface="Calibri" pitchFamily="34" charset="-122"/>
                <a:cs typeface="Calibri" pitchFamily="34" charset="-120"/>
              </a:rPr>
              <a:t>GPT-3.5, GPT-4, GPT-4-Turbo, Llama-2-70B. Newer reasoning-focused models were not evaluated.</a:t>
            </a:r>
            <a:endParaRPr lang="en-US" sz="900" dirty="0"/>
          </a:p>
        </p:txBody>
      </p:sp>
      <p:sp>
        <p:nvSpPr>
          <p:cNvPr id="37" name="Shape 10">
            <a:extLst>
              <a:ext uri="{FF2B5EF4-FFF2-40B4-BE49-F238E27FC236}">
                <a16:creationId xmlns:a16="http://schemas.microsoft.com/office/drawing/2014/main" id="{5EC9F5CE-DD8A-5BF8-6A92-30CA9CF29503}"/>
              </a:ext>
            </a:extLst>
          </p:cNvPr>
          <p:cNvSpPr/>
          <p:nvPr/>
        </p:nvSpPr>
        <p:spPr>
          <a:xfrm>
            <a:off x="4691198" y="1165860"/>
            <a:ext cx="3943350" cy="2434590"/>
          </a:xfrm>
          <a:prstGeom prst="roundRect">
            <a:avLst>
              <a:gd name="adj" fmla="val 2254"/>
            </a:avLst>
          </a:prstGeom>
          <a:solidFill>
            <a:srgbClr val="FBEBD8"/>
          </a:solidFill>
          <a:ln w="12700">
            <a:solidFill>
              <a:srgbClr val="D9DEEA"/>
            </a:solidFill>
            <a:prstDash val="solid"/>
          </a:ln>
        </p:spPr>
      </p:sp>
      <p:sp>
        <p:nvSpPr>
          <p:cNvPr id="38" name="Text 11">
            <a:extLst>
              <a:ext uri="{FF2B5EF4-FFF2-40B4-BE49-F238E27FC236}">
                <a16:creationId xmlns:a16="http://schemas.microsoft.com/office/drawing/2014/main" id="{3D620234-3F37-F22C-8346-885EA79D1081}"/>
              </a:ext>
            </a:extLst>
          </p:cNvPr>
          <p:cNvSpPr/>
          <p:nvPr/>
        </p:nvSpPr>
        <p:spPr>
          <a:xfrm>
            <a:off x="4896938" y="1337310"/>
            <a:ext cx="3531870" cy="274320"/>
          </a:xfrm>
          <a:prstGeom prst="rect">
            <a:avLst/>
          </a:prstGeom>
          <a:noFill/>
          <a:ln/>
        </p:spPr>
        <p:txBody>
          <a:bodyPr wrap="square" lIns="0" tIns="0" rIns="0" bIns="0" rtlCol="0" anchor="ctr"/>
          <a:lstStyle/>
          <a:p>
            <a:r>
              <a:rPr lang="en-US" sz="975" b="1" kern="0" spc="75" dirty="0">
                <a:solidFill>
                  <a:srgbClr val="C97A1E"/>
                </a:solidFill>
                <a:latin typeface="Calibri" pitchFamily="34" charset="0"/>
                <a:ea typeface="Calibri" pitchFamily="34" charset="-122"/>
                <a:cs typeface="Calibri" pitchFamily="34" charset="-120"/>
              </a:rPr>
              <a:t>METHODOLOGICAL BOUNDARIES</a:t>
            </a:r>
            <a:endParaRPr lang="en-US" sz="975" dirty="0"/>
          </a:p>
        </p:txBody>
      </p:sp>
      <p:sp>
        <p:nvSpPr>
          <p:cNvPr id="39" name="Shape 12">
            <a:extLst>
              <a:ext uri="{FF2B5EF4-FFF2-40B4-BE49-F238E27FC236}">
                <a16:creationId xmlns:a16="http://schemas.microsoft.com/office/drawing/2014/main" id="{8076A020-4625-812C-0DE6-45F2E5BEA460}"/>
              </a:ext>
            </a:extLst>
          </p:cNvPr>
          <p:cNvSpPr/>
          <p:nvPr/>
        </p:nvSpPr>
        <p:spPr>
          <a:xfrm>
            <a:off x="4910654" y="1741932"/>
            <a:ext cx="82296" cy="82296"/>
          </a:xfrm>
          <a:prstGeom prst="ellipse">
            <a:avLst/>
          </a:prstGeom>
          <a:solidFill>
            <a:srgbClr val="C97A1E"/>
          </a:solidFill>
          <a:ln/>
        </p:spPr>
      </p:sp>
      <p:sp>
        <p:nvSpPr>
          <p:cNvPr id="40" name="Text 13">
            <a:extLst>
              <a:ext uri="{FF2B5EF4-FFF2-40B4-BE49-F238E27FC236}">
                <a16:creationId xmlns:a16="http://schemas.microsoft.com/office/drawing/2014/main" id="{8CD154EB-8390-607A-8ABB-D993FE675BA3}"/>
              </a:ext>
            </a:extLst>
          </p:cNvPr>
          <p:cNvSpPr/>
          <p:nvPr/>
        </p:nvSpPr>
        <p:spPr>
          <a:xfrm>
            <a:off x="5088962" y="1645920"/>
            <a:ext cx="3326130" cy="582930"/>
          </a:xfrm>
          <a:prstGeom prst="rect">
            <a:avLst/>
          </a:prstGeom>
          <a:noFill/>
          <a:ln/>
        </p:spPr>
        <p:txBody>
          <a:bodyPr wrap="square" lIns="0" tIns="0" rIns="0" bIns="0" rtlCol="0" anchor="t"/>
          <a:lstStyle/>
          <a:p>
            <a:pPr>
              <a:lnSpc>
                <a:spcPct val="112000"/>
              </a:lnSpc>
            </a:pPr>
            <a:r>
              <a:rPr lang="en-US" sz="900" b="1" dirty="0">
                <a:solidFill>
                  <a:srgbClr val="2B2B33"/>
                </a:solidFill>
                <a:latin typeface="Calibri" pitchFamily="34" charset="0"/>
                <a:ea typeface="Calibri" pitchFamily="34" charset="-122"/>
                <a:cs typeface="Calibri" pitchFamily="34" charset="-120"/>
              </a:rPr>
              <a:t>Sample-Size Constraints : </a:t>
            </a:r>
            <a:r>
              <a:rPr lang="en-US" sz="900" dirty="0">
                <a:solidFill>
                  <a:srgbClr val="44485A"/>
                </a:solidFill>
                <a:latin typeface="Calibri" pitchFamily="34" charset="0"/>
                <a:ea typeface="Calibri" pitchFamily="34" charset="-122"/>
                <a:cs typeface="Calibri" pitchFamily="34" charset="-120"/>
              </a:rPr>
              <a:t>HotpotQA evaluated on 100 questions to control API cost, limiting statistical resolution.</a:t>
            </a:r>
            <a:endParaRPr lang="en-US" sz="900" dirty="0"/>
          </a:p>
        </p:txBody>
      </p:sp>
      <p:sp>
        <p:nvSpPr>
          <p:cNvPr id="41" name="Shape 14">
            <a:extLst>
              <a:ext uri="{FF2B5EF4-FFF2-40B4-BE49-F238E27FC236}">
                <a16:creationId xmlns:a16="http://schemas.microsoft.com/office/drawing/2014/main" id="{E1A3A03A-ACFF-D946-24F1-2A97924BB3A0}"/>
              </a:ext>
            </a:extLst>
          </p:cNvPr>
          <p:cNvSpPr/>
          <p:nvPr/>
        </p:nvSpPr>
        <p:spPr>
          <a:xfrm>
            <a:off x="4910654" y="2372868"/>
            <a:ext cx="82296" cy="82296"/>
          </a:xfrm>
          <a:prstGeom prst="ellipse">
            <a:avLst/>
          </a:prstGeom>
          <a:solidFill>
            <a:srgbClr val="C97A1E"/>
          </a:solidFill>
          <a:ln/>
        </p:spPr>
      </p:sp>
      <p:sp>
        <p:nvSpPr>
          <p:cNvPr id="42" name="Text 15">
            <a:extLst>
              <a:ext uri="{FF2B5EF4-FFF2-40B4-BE49-F238E27FC236}">
                <a16:creationId xmlns:a16="http://schemas.microsoft.com/office/drawing/2014/main" id="{48CCA33C-3402-692C-F5CA-8728444CEAEA}"/>
              </a:ext>
            </a:extLst>
          </p:cNvPr>
          <p:cNvSpPr/>
          <p:nvPr/>
        </p:nvSpPr>
        <p:spPr>
          <a:xfrm>
            <a:off x="5088962" y="2276856"/>
            <a:ext cx="3326130" cy="582930"/>
          </a:xfrm>
          <a:prstGeom prst="rect">
            <a:avLst/>
          </a:prstGeom>
          <a:noFill/>
          <a:ln/>
        </p:spPr>
        <p:txBody>
          <a:bodyPr wrap="square" lIns="0" tIns="0" rIns="0" bIns="0" rtlCol="0" anchor="t"/>
          <a:lstStyle/>
          <a:p>
            <a:pPr>
              <a:lnSpc>
                <a:spcPct val="112000"/>
              </a:lnSpc>
            </a:pPr>
            <a:r>
              <a:rPr lang="en-US" sz="900" b="1" dirty="0">
                <a:solidFill>
                  <a:srgbClr val="2B2B33"/>
                </a:solidFill>
                <a:latin typeface="Calibri" pitchFamily="34" charset="0"/>
                <a:ea typeface="Calibri" pitchFamily="34" charset="-122"/>
                <a:cs typeface="Calibri" pitchFamily="34" charset="-120"/>
              </a:rPr>
              <a:t>Non-Exhaustive Prompts : </a:t>
            </a:r>
            <a:r>
              <a:rPr lang="en-US" sz="900" dirty="0">
                <a:solidFill>
                  <a:srgbClr val="44485A"/>
                </a:solidFill>
                <a:latin typeface="Calibri" pitchFamily="34" charset="0"/>
                <a:ea typeface="Calibri" pitchFamily="34" charset="-122"/>
                <a:cs typeface="Calibri" pitchFamily="34" charset="-120"/>
              </a:rPr>
              <a:t>Multiple feedback prompts were tested per model, but the space of possible phrasings is unbounded.</a:t>
            </a:r>
            <a:endParaRPr lang="en-US" sz="900" dirty="0"/>
          </a:p>
        </p:txBody>
      </p:sp>
      <p:sp>
        <p:nvSpPr>
          <p:cNvPr id="43" name="Shape 16">
            <a:extLst>
              <a:ext uri="{FF2B5EF4-FFF2-40B4-BE49-F238E27FC236}">
                <a16:creationId xmlns:a16="http://schemas.microsoft.com/office/drawing/2014/main" id="{033D18E0-7442-29CB-CA7B-C538DE5EE19A}"/>
              </a:ext>
            </a:extLst>
          </p:cNvPr>
          <p:cNvSpPr/>
          <p:nvPr/>
        </p:nvSpPr>
        <p:spPr>
          <a:xfrm>
            <a:off x="4910654" y="3003804"/>
            <a:ext cx="82296" cy="82296"/>
          </a:xfrm>
          <a:prstGeom prst="ellipse">
            <a:avLst/>
          </a:prstGeom>
          <a:solidFill>
            <a:srgbClr val="C97A1E"/>
          </a:solidFill>
          <a:ln/>
        </p:spPr>
      </p:sp>
      <p:sp>
        <p:nvSpPr>
          <p:cNvPr id="44" name="Text 17">
            <a:extLst>
              <a:ext uri="{FF2B5EF4-FFF2-40B4-BE49-F238E27FC236}">
                <a16:creationId xmlns:a16="http://schemas.microsoft.com/office/drawing/2014/main" id="{36E8CFB1-0C84-C196-21E6-C62FD376B0C7}"/>
              </a:ext>
            </a:extLst>
          </p:cNvPr>
          <p:cNvSpPr/>
          <p:nvPr/>
        </p:nvSpPr>
        <p:spPr>
          <a:xfrm>
            <a:off x="5088962" y="2907792"/>
            <a:ext cx="3326130" cy="582930"/>
          </a:xfrm>
          <a:prstGeom prst="rect">
            <a:avLst/>
          </a:prstGeom>
          <a:noFill/>
          <a:ln/>
        </p:spPr>
        <p:txBody>
          <a:bodyPr wrap="square" lIns="0" tIns="0" rIns="0" bIns="0" rtlCol="0" anchor="t"/>
          <a:lstStyle/>
          <a:p>
            <a:pPr>
              <a:lnSpc>
                <a:spcPct val="112000"/>
              </a:lnSpc>
            </a:pPr>
            <a:r>
              <a:rPr lang="en-US" sz="900" b="1" dirty="0">
                <a:solidFill>
                  <a:srgbClr val="2B2B33"/>
                </a:solidFill>
                <a:latin typeface="Calibri" pitchFamily="34" charset="0"/>
                <a:ea typeface="Calibri" pitchFamily="34" charset="-122"/>
                <a:cs typeface="Calibri" pitchFamily="34" charset="-120"/>
              </a:rPr>
              <a:t>Closed-Book Setting : </a:t>
            </a:r>
            <a:r>
              <a:rPr lang="en-US" sz="900" dirty="0">
                <a:solidFill>
                  <a:srgbClr val="44485A"/>
                </a:solidFill>
                <a:latin typeface="Calibri" pitchFamily="34" charset="0"/>
                <a:ea typeface="Calibri" pitchFamily="34" charset="-122"/>
                <a:cs typeface="Calibri" pitchFamily="34" charset="-120"/>
              </a:rPr>
              <a:t>No retrieval (RAG) or external documents were permitted during self-correction.</a:t>
            </a:r>
            <a:endParaRPr lang="en-US" sz="900" dirty="0"/>
          </a:p>
        </p:txBody>
      </p:sp>
      <p:sp>
        <p:nvSpPr>
          <p:cNvPr id="45" name="Shape 18">
            <a:extLst>
              <a:ext uri="{FF2B5EF4-FFF2-40B4-BE49-F238E27FC236}">
                <a16:creationId xmlns:a16="http://schemas.microsoft.com/office/drawing/2014/main" id="{9433067A-30F5-3041-2994-2B5BE3FE2ACD}"/>
              </a:ext>
            </a:extLst>
          </p:cNvPr>
          <p:cNvSpPr/>
          <p:nvPr/>
        </p:nvSpPr>
        <p:spPr>
          <a:xfrm>
            <a:off x="542108" y="3751326"/>
            <a:ext cx="8092440" cy="466344"/>
          </a:xfrm>
          <a:prstGeom prst="roundRect">
            <a:avLst>
              <a:gd name="adj" fmla="val 11765"/>
            </a:avLst>
          </a:prstGeom>
          <a:solidFill>
            <a:srgbClr val="FFF2F2"/>
          </a:solidFill>
          <a:ln>
            <a:solidFill>
              <a:srgbClr val="800020"/>
            </a:solidFill>
          </a:ln>
        </p:spPr>
      </p:sp>
      <p:sp>
        <p:nvSpPr>
          <p:cNvPr id="46" name="Text 19">
            <a:extLst>
              <a:ext uri="{FF2B5EF4-FFF2-40B4-BE49-F238E27FC236}">
                <a16:creationId xmlns:a16="http://schemas.microsoft.com/office/drawing/2014/main" id="{5C5D648C-F13A-2E11-68E8-ABE51369D537}"/>
              </a:ext>
            </a:extLst>
          </p:cNvPr>
          <p:cNvSpPr/>
          <p:nvPr/>
        </p:nvSpPr>
        <p:spPr>
          <a:xfrm>
            <a:off x="713558" y="3751326"/>
            <a:ext cx="7749540" cy="466344"/>
          </a:xfrm>
          <a:prstGeom prst="rect">
            <a:avLst/>
          </a:prstGeom>
          <a:noFill/>
          <a:ln/>
        </p:spPr>
        <p:txBody>
          <a:bodyPr wrap="square" lIns="0" tIns="0" rIns="0" bIns="0" rtlCol="0" anchor="ctr"/>
          <a:lstStyle/>
          <a:p>
            <a:pPr>
              <a:lnSpc>
                <a:spcPct val="105000"/>
              </a:lnSpc>
            </a:pPr>
            <a:r>
              <a:rPr lang="en-US" sz="863" b="1" kern="0" spc="75" dirty="0">
                <a:solidFill>
                  <a:srgbClr val="C97A1E"/>
                </a:solidFill>
                <a:latin typeface="Calibri" pitchFamily="34" charset="0"/>
                <a:ea typeface="Calibri" pitchFamily="34" charset="-122"/>
                <a:cs typeface="Calibri" pitchFamily="34" charset="-120"/>
              </a:rPr>
              <a:t>KEY INSIGHT:  </a:t>
            </a:r>
            <a:r>
              <a:rPr lang="en-US" sz="938" i="1" dirty="0">
                <a:latin typeface="Calibri" pitchFamily="34" charset="0"/>
                <a:ea typeface="Calibri" pitchFamily="34" charset="-122"/>
                <a:cs typeface="Calibri" pitchFamily="34" charset="-120"/>
              </a:rPr>
              <a:t>These findings apply to intrinsic reasoning repair — not to style, safety, or preference alignment, where models may self-judge more reliably.</a:t>
            </a:r>
            <a:endParaRPr lang="en-US" sz="863"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marL="0" indent="0">
              <a:buNone/>
            </a:pPr>
            <a:r>
              <a:rPr lang="en-US" sz="900" b="1" kern="0" spc="150" dirty="0">
                <a:solidFill>
                  <a:srgbClr val="800020"/>
                </a:solidFill>
                <a:latin typeface="Calibri" pitchFamily="34" charset="0"/>
                <a:ea typeface="Calibri" pitchFamily="34" charset="-122"/>
                <a:cs typeface="Calibri" pitchFamily="34" charset="-120"/>
              </a:rPr>
              <a:t>6. CONCLUSION &amp; FUTURE WORK</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marL="0" indent="0">
              <a:buNone/>
            </a:pPr>
            <a:r>
              <a:rPr lang="en-US" sz="2300" b="1" dirty="0">
                <a:solidFill>
                  <a:srgbClr val="0F172A"/>
                </a:solidFill>
                <a:latin typeface="Century Schoolbook" pitchFamily="34" charset="0"/>
                <a:ea typeface="Century Schoolbook" pitchFamily="34" charset="-122"/>
                <a:cs typeface="Century Schoolbook" pitchFamily="34" charset="-120"/>
              </a:rPr>
              <a:t>Future Directions &amp; Fair Evaluation Standards</a:t>
            </a:r>
          </a:p>
        </p:txBody>
      </p:sp>
      <p:sp>
        <p:nvSpPr>
          <p:cNvPr id="4" name="Text 2"/>
          <p:cNvSpPr/>
          <p:nvPr/>
        </p:nvSpPr>
        <p:spPr>
          <a:xfrm>
            <a:off x="548640" y="868680"/>
            <a:ext cx="8046720" cy="2286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Constructive paths forward</a:t>
            </a:r>
            <a:endParaRPr lang="en-US" sz="1100" dirty="0"/>
          </a:p>
        </p:txBody>
      </p:sp>
      <p:sp>
        <p:nvSpPr>
          <p:cNvPr id="26" name="Text 23"/>
          <p:cNvSpPr/>
          <p:nvPr/>
        </p:nvSpPr>
        <p:spPr>
          <a:xfrm>
            <a:off x="548640" y="4736592"/>
            <a:ext cx="6583680" cy="274320"/>
          </a:xfrm>
          <a:prstGeom prst="rect">
            <a:avLst/>
          </a:prstGeom>
          <a:noFill/>
          <a:ln/>
        </p:spPr>
        <p:txBody>
          <a:bodyPr wrap="square" lIns="0" tIns="0" rIns="0" bIns="0"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27" name="Text 24"/>
          <p:cNvSpPr/>
          <p:nvPr/>
        </p:nvSpPr>
        <p:spPr>
          <a:xfrm>
            <a:off x="7315200" y="4736592"/>
            <a:ext cx="128016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22/23</a:t>
            </a:r>
            <a:endParaRPr lang="en-US" sz="850" dirty="0"/>
          </a:p>
        </p:txBody>
      </p:sp>
      <p:sp>
        <p:nvSpPr>
          <p:cNvPr id="25" name="Shape 2">
            <a:extLst>
              <a:ext uri="{FF2B5EF4-FFF2-40B4-BE49-F238E27FC236}">
                <a16:creationId xmlns:a16="http://schemas.microsoft.com/office/drawing/2014/main" id="{E61B68EE-C745-8D24-1E25-B3228DC9B139}"/>
              </a:ext>
            </a:extLst>
          </p:cNvPr>
          <p:cNvSpPr/>
          <p:nvPr/>
        </p:nvSpPr>
        <p:spPr>
          <a:xfrm>
            <a:off x="534695" y="1200150"/>
            <a:ext cx="3943350" cy="1440180"/>
          </a:xfrm>
          <a:prstGeom prst="roundRect">
            <a:avLst>
              <a:gd name="adj" fmla="val 3810"/>
            </a:avLst>
          </a:prstGeom>
          <a:solidFill>
            <a:srgbClr val="EEF3FC"/>
          </a:solidFill>
          <a:ln w="12700">
            <a:solidFill>
              <a:srgbClr val="D9DEEA"/>
            </a:solidFill>
            <a:prstDash val="solid"/>
          </a:ln>
        </p:spPr>
      </p:sp>
      <p:sp>
        <p:nvSpPr>
          <p:cNvPr id="28" name="Shape 3">
            <a:extLst>
              <a:ext uri="{FF2B5EF4-FFF2-40B4-BE49-F238E27FC236}">
                <a16:creationId xmlns:a16="http://schemas.microsoft.com/office/drawing/2014/main" id="{6F8DA2EF-038D-2D1A-4F45-762F446044FD}"/>
              </a:ext>
            </a:extLst>
          </p:cNvPr>
          <p:cNvSpPr/>
          <p:nvPr/>
        </p:nvSpPr>
        <p:spPr>
          <a:xfrm>
            <a:off x="706145" y="1371600"/>
            <a:ext cx="342900" cy="342900"/>
          </a:xfrm>
          <a:prstGeom prst="ellipse">
            <a:avLst/>
          </a:prstGeom>
          <a:solidFill>
            <a:srgbClr val="1E2761"/>
          </a:solidFill>
          <a:ln/>
        </p:spPr>
      </p:sp>
      <p:sp>
        <p:nvSpPr>
          <p:cNvPr id="29" name="Text 4">
            <a:extLst>
              <a:ext uri="{FF2B5EF4-FFF2-40B4-BE49-F238E27FC236}">
                <a16:creationId xmlns:a16="http://schemas.microsoft.com/office/drawing/2014/main" id="{07F77413-CAA3-0E0A-32ED-9D8FF110158C}"/>
              </a:ext>
            </a:extLst>
          </p:cNvPr>
          <p:cNvSpPr/>
          <p:nvPr/>
        </p:nvSpPr>
        <p:spPr>
          <a:xfrm>
            <a:off x="706145" y="1371600"/>
            <a:ext cx="342900" cy="342900"/>
          </a:xfrm>
          <a:prstGeom prst="rect">
            <a:avLst/>
          </a:prstGeom>
          <a:noFill/>
          <a:ln/>
        </p:spPr>
        <p:txBody>
          <a:bodyPr wrap="square" lIns="0" tIns="0" rIns="0" bIns="0" rtlCol="0" anchor="ctr"/>
          <a:lstStyle/>
          <a:p>
            <a:pPr algn="ct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30" name="Text 5">
            <a:extLst>
              <a:ext uri="{FF2B5EF4-FFF2-40B4-BE49-F238E27FC236}">
                <a16:creationId xmlns:a16="http://schemas.microsoft.com/office/drawing/2014/main" id="{7BA1A25F-D5AA-8D29-081C-09767C7B631E}"/>
              </a:ext>
            </a:extLst>
          </p:cNvPr>
          <p:cNvSpPr/>
          <p:nvPr/>
        </p:nvSpPr>
        <p:spPr>
          <a:xfrm>
            <a:off x="1186205" y="1351026"/>
            <a:ext cx="3120390" cy="342900"/>
          </a:xfrm>
          <a:prstGeom prst="rect">
            <a:avLst/>
          </a:prstGeom>
          <a:noFill/>
          <a:ln/>
        </p:spPr>
        <p:txBody>
          <a:bodyPr wrap="square" lIns="0" tIns="0" rIns="0" bIns="0" rtlCol="0" anchor="ctr"/>
          <a:lstStyle/>
          <a:p>
            <a:r>
              <a:rPr lang="en-US" sz="1163" b="1" dirty="0">
                <a:solidFill>
                  <a:srgbClr val="2B2B33"/>
                </a:solidFill>
                <a:latin typeface="Cambria" pitchFamily="34" charset="0"/>
                <a:ea typeface="Cambria" pitchFamily="34" charset="-122"/>
                <a:cs typeface="Cambria" pitchFamily="34" charset="-120"/>
              </a:rPr>
              <a:t>Tool-Augmented Execution</a:t>
            </a:r>
            <a:endParaRPr lang="en-US" sz="1163" dirty="0"/>
          </a:p>
        </p:txBody>
      </p:sp>
      <p:sp>
        <p:nvSpPr>
          <p:cNvPr id="31" name="Text 6">
            <a:extLst>
              <a:ext uri="{FF2B5EF4-FFF2-40B4-BE49-F238E27FC236}">
                <a16:creationId xmlns:a16="http://schemas.microsoft.com/office/drawing/2014/main" id="{FEA6C957-E448-F27F-BE18-ADA3CF4848B9}"/>
              </a:ext>
            </a:extLst>
          </p:cNvPr>
          <p:cNvSpPr/>
          <p:nvPr/>
        </p:nvSpPr>
        <p:spPr>
          <a:xfrm>
            <a:off x="740435" y="1783080"/>
            <a:ext cx="3531870" cy="720090"/>
          </a:xfrm>
          <a:prstGeom prst="rect">
            <a:avLst/>
          </a:prstGeom>
          <a:noFill/>
          <a:ln/>
        </p:spPr>
        <p:txBody>
          <a:bodyPr wrap="square" lIns="0" tIns="0" rIns="0" bIns="0" rtlCol="0" anchor="t"/>
          <a:lstStyle/>
          <a:p>
            <a:pPr>
              <a:lnSpc>
                <a:spcPct val="112000"/>
              </a:lnSpc>
            </a:pPr>
            <a:r>
              <a:rPr lang="en-US" sz="900" dirty="0"/>
              <a:t>Route reasoning through Python REPLs, SQL engines, or solvers so an external, deterministic system, not the model itself, verifies correctness.</a:t>
            </a:r>
            <a:endParaRPr lang="en-US" sz="885" dirty="0"/>
          </a:p>
        </p:txBody>
      </p:sp>
      <p:sp>
        <p:nvSpPr>
          <p:cNvPr id="32" name="Shape 7">
            <a:extLst>
              <a:ext uri="{FF2B5EF4-FFF2-40B4-BE49-F238E27FC236}">
                <a16:creationId xmlns:a16="http://schemas.microsoft.com/office/drawing/2014/main" id="{3E2589BC-6B0F-BE1A-F7FD-7DEE39600750}"/>
              </a:ext>
            </a:extLst>
          </p:cNvPr>
          <p:cNvSpPr/>
          <p:nvPr/>
        </p:nvSpPr>
        <p:spPr>
          <a:xfrm>
            <a:off x="4683785" y="1200150"/>
            <a:ext cx="3943350" cy="1440180"/>
          </a:xfrm>
          <a:prstGeom prst="roundRect">
            <a:avLst>
              <a:gd name="adj" fmla="val 3810"/>
            </a:avLst>
          </a:prstGeom>
          <a:solidFill>
            <a:srgbClr val="E1F0E8"/>
          </a:solidFill>
          <a:ln w="12700">
            <a:solidFill>
              <a:srgbClr val="D9DEEA"/>
            </a:solidFill>
            <a:prstDash val="solid"/>
          </a:ln>
        </p:spPr>
      </p:sp>
      <p:sp>
        <p:nvSpPr>
          <p:cNvPr id="33" name="Shape 8">
            <a:extLst>
              <a:ext uri="{FF2B5EF4-FFF2-40B4-BE49-F238E27FC236}">
                <a16:creationId xmlns:a16="http://schemas.microsoft.com/office/drawing/2014/main" id="{3F861A21-6886-9EEE-FC5C-DCB8BBA48D81}"/>
              </a:ext>
            </a:extLst>
          </p:cNvPr>
          <p:cNvSpPr/>
          <p:nvPr/>
        </p:nvSpPr>
        <p:spPr>
          <a:xfrm>
            <a:off x="4855235" y="1371600"/>
            <a:ext cx="342900" cy="342900"/>
          </a:xfrm>
          <a:prstGeom prst="ellipse">
            <a:avLst/>
          </a:prstGeom>
          <a:solidFill>
            <a:srgbClr val="2E7D5B"/>
          </a:solidFill>
          <a:ln/>
        </p:spPr>
      </p:sp>
      <p:sp>
        <p:nvSpPr>
          <p:cNvPr id="34" name="Text 9">
            <a:extLst>
              <a:ext uri="{FF2B5EF4-FFF2-40B4-BE49-F238E27FC236}">
                <a16:creationId xmlns:a16="http://schemas.microsoft.com/office/drawing/2014/main" id="{7BFF8499-44D4-BBBE-23A1-825CAE97DB62}"/>
              </a:ext>
            </a:extLst>
          </p:cNvPr>
          <p:cNvSpPr/>
          <p:nvPr/>
        </p:nvSpPr>
        <p:spPr>
          <a:xfrm>
            <a:off x="4855235" y="1371600"/>
            <a:ext cx="342900" cy="342900"/>
          </a:xfrm>
          <a:prstGeom prst="rect">
            <a:avLst/>
          </a:prstGeom>
          <a:noFill/>
          <a:ln/>
        </p:spPr>
        <p:txBody>
          <a:bodyPr wrap="square" lIns="0" tIns="0" rIns="0" bIns="0" rtlCol="0" anchor="ctr"/>
          <a:lstStyle/>
          <a:p>
            <a:pPr algn="ct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35" name="Text 10">
            <a:extLst>
              <a:ext uri="{FF2B5EF4-FFF2-40B4-BE49-F238E27FC236}">
                <a16:creationId xmlns:a16="http://schemas.microsoft.com/office/drawing/2014/main" id="{9EEE5C03-0913-BA6B-24C4-E62D6C0DA183}"/>
              </a:ext>
            </a:extLst>
          </p:cNvPr>
          <p:cNvSpPr/>
          <p:nvPr/>
        </p:nvSpPr>
        <p:spPr>
          <a:xfrm>
            <a:off x="5335295" y="1351026"/>
            <a:ext cx="3120390" cy="342900"/>
          </a:xfrm>
          <a:prstGeom prst="rect">
            <a:avLst/>
          </a:prstGeom>
          <a:noFill/>
          <a:ln/>
        </p:spPr>
        <p:txBody>
          <a:bodyPr wrap="square" lIns="0" tIns="0" rIns="0" bIns="0" rtlCol="0" anchor="ctr"/>
          <a:lstStyle/>
          <a:p>
            <a:r>
              <a:rPr lang="en-US" sz="1163" b="1" dirty="0">
                <a:solidFill>
                  <a:srgbClr val="2B2B33"/>
                </a:solidFill>
                <a:latin typeface="Cambria" pitchFamily="34" charset="0"/>
                <a:ea typeface="Cambria" pitchFamily="34" charset="-122"/>
                <a:cs typeface="Cambria" pitchFamily="34" charset="-120"/>
              </a:rPr>
              <a:t>Learned Verifiers &amp; PRMs</a:t>
            </a:r>
            <a:endParaRPr lang="en-US" sz="1163" dirty="0"/>
          </a:p>
        </p:txBody>
      </p:sp>
      <p:sp>
        <p:nvSpPr>
          <p:cNvPr id="36" name="Text 11">
            <a:extLst>
              <a:ext uri="{FF2B5EF4-FFF2-40B4-BE49-F238E27FC236}">
                <a16:creationId xmlns:a16="http://schemas.microsoft.com/office/drawing/2014/main" id="{956F0A2C-EA2A-5DCD-AF40-7B76A4D3E40C}"/>
              </a:ext>
            </a:extLst>
          </p:cNvPr>
          <p:cNvSpPr/>
          <p:nvPr/>
        </p:nvSpPr>
        <p:spPr>
          <a:xfrm>
            <a:off x="4889525" y="1783080"/>
            <a:ext cx="3531870" cy="720090"/>
          </a:xfrm>
          <a:prstGeom prst="rect">
            <a:avLst/>
          </a:prstGeom>
          <a:noFill/>
          <a:ln/>
        </p:spPr>
        <p:txBody>
          <a:bodyPr wrap="square" lIns="0" tIns="0" rIns="0" bIns="0" rtlCol="0" anchor="t"/>
          <a:lstStyle/>
          <a:p>
            <a:pPr>
              <a:lnSpc>
                <a:spcPct val="112000"/>
              </a:lnSpc>
            </a:pPr>
            <a:r>
              <a:rPr lang="en-US" sz="885" dirty="0">
                <a:solidFill>
                  <a:srgbClr val="44485A"/>
                </a:solidFill>
                <a:latin typeface="Calibri" pitchFamily="34" charset="0"/>
                <a:ea typeface="Calibri" pitchFamily="34" charset="-122"/>
                <a:cs typeface="Calibri" pitchFamily="34" charset="-120"/>
              </a:rPr>
              <a:t>Train process-supervised reward models to judge intermediate reasoning steps, giving the corrector a grounded signal for where an error actually occurred.</a:t>
            </a:r>
            <a:endParaRPr lang="en-US" sz="885" dirty="0"/>
          </a:p>
        </p:txBody>
      </p:sp>
      <p:sp>
        <p:nvSpPr>
          <p:cNvPr id="37" name="Shape 12">
            <a:extLst>
              <a:ext uri="{FF2B5EF4-FFF2-40B4-BE49-F238E27FC236}">
                <a16:creationId xmlns:a16="http://schemas.microsoft.com/office/drawing/2014/main" id="{703339F4-AD8E-B04A-9D18-3B31297EB734}"/>
              </a:ext>
            </a:extLst>
          </p:cNvPr>
          <p:cNvSpPr/>
          <p:nvPr/>
        </p:nvSpPr>
        <p:spPr>
          <a:xfrm>
            <a:off x="534695" y="2811780"/>
            <a:ext cx="3943350" cy="1440180"/>
          </a:xfrm>
          <a:prstGeom prst="roundRect">
            <a:avLst>
              <a:gd name="adj" fmla="val 3810"/>
            </a:avLst>
          </a:prstGeom>
          <a:solidFill>
            <a:srgbClr val="FBEBD8"/>
          </a:solidFill>
          <a:ln w="12700">
            <a:solidFill>
              <a:srgbClr val="D9DEEA"/>
            </a:solidFill>
            <a:prstDash val="solid"/>
          </a:ln>
        </p:spPr>
      </p:sp>
      <p:sp>
        <p:nvSpPr>
          <p:cNvPr id="38" name="Shape 13">
            <a:extLst>
              <a:ext uri="{FF2B5EF4-FFF2-40B4-BE49-F238E27FC236}">
                <a16:creationId xmlns:a16="http://schemas.microsoft.com/office/drawing/2014/main" id="{236DDC2A-543F-8313-2726-F79AFDC5AA98}"/>
              </a:ext>
            </a:extLst>
          </p:cNvPr>
          <p:cNvSpPr/>
          <p:nvPr/>
        </p:nvSpPr>
        <p:spPr>
          <a:xfrm>
            <a:off x="706145" y="2983230"/>
            <a:ext cx="342900" cy="342900"/>
          </a:xfrm>
          <a:prstGeom prst="ellipse">
            <a:avLst/>
          </a:prstGeom>
          <a:solidFill>
            <a:srgbClr val="C97A1E"/>
          </a:solidFill>
          <a:ln/>
        </p:spPr>
      </p:sp>
      <p:sp>
        <p:nvSpPr>
          <p:cNvPr id="39" name="Text 14">
            <a:extLst>
              <a:ext uri="{FF2B5EF4-FFF2-40B4-BE49-F238E27FC236}">
                <a16:creationId xmlns:a16="http://schemas.microsoft.com/office/drawing/2014/main" id="{CDF1089F-286C-DC4E-6B48-9FD3ABADAF91}"/>
              </a:ext>
            </a:extLst>
          </p:cNvPr>
          <p:cNvSpPr/>
          <p:nvPr/>
        </p:nvSpPr>
        <p:spPr>
          <a:xfrm>
            <a:off x="706145" y="2983230"/>
            <a:ext cx="342900" cy="342900"/>
          </a:xfrm>
          <a:prstGeom prst="rect">
            <a:avLst/>
          </a:prstGeom>
          <a:noFill/>
          <a:ln/>
        </p:spPr>
        <p:txBody>
          <a:bodyPr wrap="square" lIns="0" tIns="0" rIns="0" bIns="0" rtlCol="0" anchor="ctr"/>
          <a:lstStyle/>
          <a:p>
            <a:pPr algn="ct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40" name="Text 15">
            <a:extLst>
              <a:ext uri="{FF2B5EF4-FFF2-40B4-BE49-F238E27FC236}">
                <a16:creationId xmlns:a16="http://schemas.microsoft.com/office/drawing/2014/main" id="{A3F6C692-28B8-C034-D54C-03FE9A1F6BCF}"/>
              </a:ext>
            </a:extLst>
          </p:cNvPr>
          <p:cNvSpPr/>
          <p:nvPr/>
        </p:nvSpPr>
        <p:spPr>
          <a:xfrm>
            <a:off x="1186205" y="2962656"/>
            <a:ext cx="3120390" cy="342900"/>
          </a:xfrm>
          <a:prstGeom prst="rect">
            <a:avLst/>
          </a:prstGeom>
          <a:noFill/>
          <a:ln/>
        </p:spPr>
        <p:txBody>
          <a:bodyPr wrap="square" lIns="0" tIns="0" rIns="0" bIns="0" rtlCol="0" anchor="ctr"/>
          <a:lstStyle/>
          <a:p>
            <a:r>
              <a:rPr lang="en-US" sz="1163" b="1" dirty="0">
                <a:solidFill>
                  <a:srgbClr val="2B2B33"/>
                </a:solidFill>
                <a:latin typeface="Cambria" pitchFamily="34" charset="0"/>
                <a:ea typeface="Cambria" pitchFamily="34" charset="-122"/>
                <a:cs typeface="Cambria" pitchFamily="34" charset="-120"/>
              </a:rPr>
              <a:t>Training-Time RL &amp; Search</a:t>
            </a:r>
            <a:endParaRPr lang="en-US" sz="1163" dirty="0"/>
          </a:p>
        </p:txBody>
      </p:sp>
      <p:sp>
        <p:nvSpPr>
          <p:cNvPr id="41" name="Text 16">
            <a:extLst>
              <a:ext uri="{FF2B5EF4-FFF2-40B4-BE49-F238E27FC236}">
                <a16:creationId xmlns:a16="http://schemas.microsoft.com/office/drawing/2014/main" id="{EADF0F5D-7312-E26E-313E-751797A8559E}"/>
              </a:ext>
            </a:extLst>
          </p:cNvPr>
          <p:cNvSpPr/>
          <p:nvPr/>
        </p:nvSpPr>
        <p:spPr>
          <a:xfrm>
            <a:off x="740435" y="3394710"/>
            <a:ext cx="3531870" cy="720090"/>
          </a:xfrm>
          <a:prstGeom prst="rect">
            <a:avLst/>
          </a:prstGeom>
          <a:noFill/>
          <a:ln/>
        </p:spPr>
        <p:txBody>
          <a:bodyPr wrap="square" lIns="0" tIns="0" rIns="0" bIns="0" rtlCol="0" anchor="t"/>
          <a:lstStyle/>
          <a:p>
            <a:pPr>
              <a:lnSpc>
                <a:spcPct val="112000"/>
              </a:lnSpc>
            </a:pPr>
            <a:r>
              <a:rPr lang="en-US" sz="885" dirty="0">
                <a:solidFill>
                  <a:srgbClr val="44485A"/>
                </a:solidFill>
                <a:latin typeface="Calibri" pitchFamily="34" charset="0"/>
                <a:ea typeface="Calibri" pitchFamily="34" charset="-122"/>
                <a:cs typeface="Calibri" pitchFamily="34" charset="-120"/>
              </a:rPr>
              <a:t>Invest in reinforcement learning and search (e.g., MCTS, test-time compute) so correction is learned during training, not bolted on as a prompting loop.</a:t>
            </a:r>
            <a:endParaRPr lang="en-US" sz="885" dirty="0"/>
          </a:p>
        </p:txBody>
      </p:sp>
      <p:sp>
        <p:nvSpPr>
          <p:cNvPr id="42" name="Shape 17">
            <a:extLst>
              <a:ext uri="{FF2B5EF4-FFF2-40B4-BE49-F238E27FC236}">
                <a16:creationId xmlns:a16="http://schemas.microsoft.com/office/drawing/2014/main" id="{1C9C984B-EEB3-2269-A7D8-1BE3393879BB}"/>
              </a:ext>
            </a:extLst>
          </p:cNvPr>
          <p:cNvSpPr/>
          <p:nvPr/>
        </p:nvSpPr>
        <p:spPr>
          <a:xfrm>
            <a:off x="4683785" y="2811780"/>
            <a:ext cx="3943350" cy="1440180"/>
          </a:xfrm>
          <a:prstGeom prst="roundRect">
            <a:avLst>
              <a:gd name="adj" fmla="val 3810"/>
            </a:avLst>
          </a:prstGeom>
          <a:solidFill>
            <a:srgbClr val="F7E3E0"/>
          </a:solidFill>
          <a:ln w="12700">
            <a:solidFill>
              <a:srgbClr val="D9DEEA"/>
            </a:solidFill>
            <a:prstDash val="solid"/>
          </a:ln>
        </p:spPr>
      </p:sp>
      <p:sp>
        <p:nvSpPr>
          <p:cNvPr id="43" name="Shape 18">
            <a:extLst>
              <a:ext uri="{FF2B5EF4-FFF2-40B4-BE49-F238E27FC236}">
                <a16:creationId xmlns:a16="http://schemas.microsoft.com/office/drawing/2014/main" id="{5B78E3B3-A811-1B91-B791-56D80D278636}"/>
              </a:ext>
            </a:extLst>
          </p:cNvPr>
          <p:cNvSpPr/>
          <p:nvPr/>
        </p:nvSpPr>
        <p:spPr>
          <a:xfrm>
            <a:off x="4855235" y="2983230"/>
            <a:ext cx="342900" cy="342900"/>
          </a:xfrm>
          <a:prstGeom prst="ellipse">
            <a:avLst/>
          </a:prstGeom>
          <a:solidFill>
            <a:srgbClr val="B23A2E"/>
          </a:solidFill>
          <a:ln/>
        </p:spPr>
      </p:sp>
      <p:sp>
        <p:nvSpPr>
          <p:cNvPr id="44" name="Text 19">
            <a:extLst>
              <a:ext uri="{FF2B5EF4-FFF2-40B4-BE49-F238E27FC236}">
                <a16:creationId xmlns:a16="http://schemas.microsoft.com/office/drawing/2014/main" id="{EC9634F1-1B6C-510E-C05A-E5DF02BF5024}"/>
              </a:ext>
            </a:extLst>
          </p:cNvPr>
          <p:cNvSpPr/>
          <p:nvPr/>
        </p:nvSpPr>
        <p:spPr>
          <a:xfrm>
            <a:off x="4855235" y="2983230"/>
            <a:ext cx="342900" cy="342900"/>
          </a:xfrm>
          <a:prstGeom prst="rect">
            <a:avLst/>
          </a:prstGeom>
          <a:noFill/>
          <a:ln/>
        </p:spPr>
        <p:txBody>
          <a:bodyPr wrap="square" lIns="0" tIns="0" rIns="0" bIns="0" rtlCol="0" anchor="ctr"/>
          <a:lstStyle/>
          <a:p>
            <a:pPr algn="ctr"/>
            <a:r>
              <a:rPr lang="en-US" sz="1350" b="1" dirty="0">
                <a:solidFill>
                  <a:srgbClr val="FFFFFF"/>
                </a:solidFill>
                <a:latin typeface="Calibri" pitchFamily="34" charset="0"/>
                <a:ea typeface="Calibri" pitchFamily="34" charset="-122"/>
                <a:cs typeface="Calibri" pitchFamily="34" charset="-120"/>
              </a:rPr>
              <a:t>4</a:t>
            </a:r>
            <a:endParaRPr lang="en-US" sz="1350" dirty="0"/>
          </a:p>
        </p:txBody>
      </p:sp>
      <p:sp>
        <p:nvSpPr>
          <p:cNvPr id="45" name="Text 20">
            <a:extLst>
              <a:ext uri="{FF2B5EF4-FFF2-40B4-BE49-F238E27FC236}">
                <a16:creationId xmlns:a16="http://schemas.microsoft.com/office/drawing/2014/main" id="{B13AEACD-1152-2FB2-DE7C-CAEF5C7A7EAA}"/>
              </a:ext>
            </a:extLst>
          </p:cNvPr>
          <p:cNvSpPr/>
          <p:nvPr/>
        </p:nvSpPr>
        <p:spPr>
          <a:xfrm>
            <a:off x="5335295" y="2962656"/>
            <a:ext cx="3120390" cy="342900"/>
          </a:xfrm>
          <a:prstGeom prst="rect">
            <a:avLst/>
          </a:prstGeom>
          <a:noFill/>
          <a:ln/>
        </p:spPr>
        <p:txBody>
          <a:bodyPr wrap="square" lIns="0" tIns="0" rIns="0" bIns="0" rtlCol="0" anchor="ctr"/>
          <a:lstStyle/>
          <a:p>
            <a:r>
              <a:rPr lang="en-US" sz="1163" b="1" dirty="0">
                <a:solidFill>
                  <a:srgbClr val="2B2B33"/>
                </a:solidFill>
                <a:latin typeface="Cambria" pitchFamily="34" charset="0"/>
                <a:ea typeface="Cambria" pitchFamily="34" charset="-122"/>
                <a:cs typeface="Cambria" pitchFamily="34" charset="-120"/>
              </a:rPr>
              <a:t>Fair Evaluation Standards</a:t>
            </a:r>
            <a:endParaRPr lang="en-US" sz="1163" dirty="0"/>
          </a:p>
        </p:txBody>
      </p:sp>
      <p:sp>
        <p:nvSpPr>
          <p:cNvPr id="46" name="Text 21">
            <a:extLst>
              <a:ext uri="{FF2B5EF4-FFF2-40B4-BE49-F238E27FC236}">
                <a16:creationId xmlns:a16="http://schemas.microsoft.com/office/drawing/2014/main" id="{7FEC85CD-0722-461F-4746-0B732984F426}"/>
              </a:ext>
            </a:extLst>
          </p:cNvPr>
          <p:cNvSpPr/>
          <p:nvPr/>
        </p:nvSpPr>
        <p:spPr>
          <a:xfrm>
            <a:off x="4889525" y="3394710"/>
            <a:ext cx="3531870" cy="720090"/>
          </a:xfrm>
          <a:prstGeom prst="rect">
            <a:avLst/>
          </a:prstGeom>
          <a:noFill/>
          <a:ln/>
        </p:spPr>
        <p:txBody>
          <a:bodyPr wrap="square" lIns="0" tIns="0" rIns="0" bIns="0" rtlCol="0" anchor="t"/>
          <a:lstStyle/>
          <a:p>
            <a:pPr>
              <a:lnSpc>
                <a:spcPct val="112000"/>
              </a:lnSpc>
            </a:pPr>
            <a:r>
              <a:rPr lang="en-US" sz="885" dirty="0">
                <a:solidFill>
                  <a:srgbClr val="44485A"/>
                </a:solidFill>
                <a:latin typeface="Calibri" pitchFamily="34" charset="0"/>
                <a:ea typeface="Calibri" pitchFamily="34" charset="-122"/>
                <a:cs typeface="Calibri" pitchFamily="34" charset="-120"/>
              </a:rPr>
              <a:t>Report inference-cost-matched baselines against self-consistency, and disclose any oracle or ground-truth signal used to gate the correction loop.</a:t>
            </a:r>
            <a:endParaRPr lang="en-US" sz="88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marL="0" indent="0">
              <a:buNone/>
            </a:pPr>
            <a:r>
              <a:rPr lang="en-US" sz="900" b="1" kern="0" spc="150" dirty="0">
                <a:solidFill>
                  <a:srgbClr val="800020"/>
                </a:solidFill>
                <a:latin typeface="Calibri" pitchFamily="34" charset="0"/>
                <a:ea typeface="Calibri" pitchFamily="34" charset="-122"/>
                <a:cs typeface="Calibri" pitchFamily="34" charset="-120"/>
              </a:rPr>
              <a:t>6. CONCLUSION &amp; FUTURE WORK</a:t>
            </a:r>
            <a:endParaRPr lang="en-US" sz="900" dirty="0"/>
          </a:p>
        </p:txBody>
      </p:sp>
      <p:sp>
        <p:nvSpPr>
          <p:cNvPr id="3" name="Text 1"/>
          <p:cNvSpPr/>
          <p:nvPr/>
        </p:nvSpPr>
        <p:spPr>
          <a:xfrm>
            <a:off x="548640" y="914400"/>
            <a:ext cx="8046720" cy="822960"/>
          </a:xfrm>
          <a:prstGeom prst="rect">
            <a:avLst/>
          </a:prstGeom>
          <a:noFill/>
          <a:ln/>
        </p:spPr>
        <p:txBody>
          <a:bodyPr wrap="square" lIns="0" tIns="0" rIns="0" bIns="0" rtlCol="0" anchor="ctr"/>
          <a:lstStyle/>
          <a:p>
            <a:pPr marL="0" indent="0" algn="ctr">
              <a:buNone/>
            </a:pPr>
            <a:r>
              <a:rPr lang="en-US" sz="4800" b="1" dirty="0">
                <a:solidFill>
                  <a:srgbClr val="0F172A"/>
                </a:solidFill>
                <a:latin typeface="Century Schoolbook" pitchFamily="34" charset="0"/>
                <a:ea typeface="Century Schoolbook" pitchFamily="34" charset="-122"/>
                <a:cs typeface="Century Schoolbook" pitchFamily="34" charset="-120"/>
              </a:rPr>
              <a:t>Thank You</a:t>
            </a:r>
            <a:endParaRPr lang="en-US" sz="4800" dirty="0"/>
          </a:p>
        </p:txBody>
      </p:sp>
      <p:sp>
        <p:nvSpPr>
          <p:cNvPr id="4" name="Shape 2"/>
          <p:cNvSpPr/>
          <p:nvPr/>
        </p:nvSpPr>
        <p:spPr>
          <a:xfrm>
            <a:off x="4023360" y="1920240"/>
            <a:ext cx="1097280" cy="18288"/>
          </a:xfrm>
          <a:prstGeom prst="rect">
            <a:avLst/>
          </a:prstGeom>
          <a:solidFill>
            <a:srgbClr val="CBD5E1"/>
          </a:solidFill>
          <a:ln w="12700">
            <a:solidFill>
              <a:srgbClr val="CBD5E1"/>
            </a:solidFill>
            <a:prstDash val="solid"/>
          </a:ln>
        </p:spPr>
      </p:sp>
      <p:sp>
        <p:nvSpPr>
          <p:cNvPr id="5" name="Text 3"/>
          <p:cNvSpPr/>
          <p:nvPr/>
        </p:nvSpPr>
        <p:spPr>
          <a:xfrm>
            <a:off x="548640" y="2148840"/>
            <a:ext cx="8046720" cy="320040"/>
          </a:xfrm>
          <a:prstGeom prst="rect">
            <a:avLst/>
          </a:prstGeom>
          <a:noFill/>
          <a:ln/>
        </p:spPr>
        <p:txBody>
          <a:bodyPr wrap="square" lIns="0" tIns="0" rIns="0" bIns="0" rtlCol="0" anchor="ctr"/>
          <a:lstStyle/>
          <a:p>
            <a:pPr marL="0" indent="0" algn="ctr">
              <a:buNone/>
            </a:pPr>
            <a:r>
              <a:rPr lang="en-US" sz="1400" b="1" dirty="0">
                <a:solidFill>
                  <a:srgbClr val="800020"/>
                </a:solidFill>
                <a:latin typeface="Century Schoolbook" pitchFamily="34" charset="0"/>
                <a:ea typeface="Century Schoolbook" pitchFamily="34" charset="-122"/>
                <a:cs typeface="Century Schoolbook" pitchFamily="34" charset="-120"/>
              </a:rPr>
              <a:t>Open Discussions</a:t>
            </a:r>
            <a:endParaRPr lang="en-US" sz="1400" dirty="0"/>
          </a:p>
        </p:txBody>
      </p:sp>
      <p:sp>
        <p:nvSpPr>
          <p:cNvPr id="6" name="Text 4"/>
          <p:cNvSpPr/>
          <p:nvPr/>
        </p:nvSpPr>
        <p:spPr>
          <a:xfrm>
            <a:off x="548640" y="2487168"/>
            <a:ext cx="8046720" cy="22860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We welcome questions from the professor and audience.</a:t>
            </a:r>
            <a:endParaRPr lang="en-US" sz="950" dirty="0"/>
          </a:p>
        </p:txBody>
      </p:sp>
      <p:sp>
        <p:nvSpPr>
          <p:cNvPr id="7" name="Shape 5"/>
          <p:cNvSpPr/>
          <p:nvPr/>
        </p:nvSpPr>
        <p:spPr>
          <a:xfrm>
            <a:off x="1097280" y="2944368"/>
            <a:ext cx="292608" cy="292608"/>
          </a:xfrm>
          <a:prstGeom prst="ellipse">
            <a:avLst/>
          </a:prstGeom>
          <a:solidFill>
            <a:srgbClr val="800020"/>
          </a:solidFill>
          <a:ln/>
        </p:spPr>
      </p:sp>
      <p:sp>
        <p:nvSpPr>
          <p:cNvPr id="8" name="Text 6"/>
          <p:cNvSpPr/>
          <p:nvPr/>
        </p:nvSpPr>
        <p:spPr>
          <a:xfrm>
            <a:off x="1097280" y="294436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1481328" y="2907792"/>
            <a:ext cx="6400800" cy="438912"/>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Why does asking a model to find flaws often make it hallucinate errors where none exist?</a:t>
            </a:r>
            <a:endParaRPr lang="en-US" sz="1100" dirty="0"/>
          </a:p>
        </p:txBody>
      </p:sp>
      <p:sp>
        <p:nvSpPr>
          <p:cNvPr id="10" name="Shape 8"/>
          <p:cNvSpPr/>
          <p:nvPr/>
        </p:nvSpPr>
        <p:spPr>
          <a:xfrm>
            <a:off x="1097280" y="3566160"/>
            <a:ext cx="292608" cy="292608"/>
          </a:xfrm>
          <a:prstGeom prst="ellipse">
            <a:avLst/>
          </a:prstGeom>
          <a:solidFill>
            <a:srgbClr val="800020"/>
          </a:solidFill>
          <a:ln/>
        </p:spPr>
      </p:sp>
      <p:sp>
        <p:nvSpPr>
          <p:cNvPr id="11" name="Text 9"/>
          <p:cNvSpPr/>
          <p:nvPr/>
        </p:nvSpPr>
        <p:spPr>
          <a:xfrm>
            <a:off x="1097280" y="356616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1481328" y="3529584"/>
            <a:ext cx="6400800" cy="438912"/>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When should we rely on external tools like Python or verifiers instead of prompting alone?</a:t>
            </a:r>
            <a:endParaRPr lang="en-US" sz="1100" dirty="0"/>
          </a:p>
        </p:txBody>
      </p:sp>
      <p:sp>
        <p:nvSpPr>
          <p:cNvPr id="13" name="Shape 11"/>
          <p:cNvSpPr/>
          <p:nvPr/>
        </p:nvSpPr>
        <p:spPr>
          <a:xfrm>
            <a:off x="1097280" y="4187952"/>
            <a:ext cx="292608" cy="292608"/>
          </a:xfrm>
          <a:prstGeom prst="ellipse">
            <a:avLst/>
          </a:prstGeom>
          <a:solidFill>
            <a:srgbClr val="800020"/>
          </a:solidFill>
          <a:ln/>
        </p:spPr>
      </p:sp>
      <p:sp>
        <p:nvSpPr>
          <p:cNvPr id="14" name="Text 12"/>
          <p:cNvSpPr/>
          <p:nvPr/>
        </p:nvSpPr>
        <p:spPr>
          <a:xfrm>
            <a:off x="1097280" y="4187952"/>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1481328" y="4151376"/>
            <a:ext cx="6400800" cy="438912"/>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How can we design a fair self-correction benchmark that avoids oracle leakage?</a:t>
            </a:r>
            <a:endParaRPr lang="en-US" sz="1100" dirty="0"/>
          </a:p>
        </p:txBody>
      </p:sp>
      <p:sp>
        <p:nvSpPr>
          <p:cNvPr id="17" name="Text 14"/>
          <p:cNvSpPr/>
          <p:nvPr/>
        </p:nvSpPr>
        <p:spPr>
          <a:xfrm>
            <a:off x="548640" y="4736592"/>
            <a:ext cx="6583680" cy="274320"/>
          </a:xfrm>
          <a:prstGeom prst="rect">
            <a:avLst/>
          </a:prstGeom>
          <a:noFill/>
          <a:ln/>
        </p:spPr>
        <p:txBody>
          <a:bodyPr wrap="square" lIns="0" tIns="0" rIns="0" bIns="0"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18" name="Text 15"/>
          <p:cNvSpPr/>
          <p:nvPr/>
        </p:nvSpPr>
        <p:spPr>
          <a:xfrm>
            <a:off x="7315200" y="4736592"/>
            <a:ext cx="128016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23/23</a:t>
            </a:r>
            <a:endParaRPr lang="en-US" sz="85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646*180"/>
  <p:tag name="TABLE_ENDDRAG_RECT" val="39*67*646*18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344</TotalTime>
  <Words>3654</Words>
  <Application>Microsoft Macintosh PowerPoint</Application>
  <PresentationFormat>On-screen Show (16:9)</PresentationFormat>
  <Paragraphs>543</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Cambria</vt:lpstr>
      <vt:lpstr>Century Schoolbook</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Large Language Models Cannot Self-Correct Reasoning Yet</dc:title>
  <dc:subject>PptxGenJS Presentation</dc:subject>
  <dc:creator>Group Presentation</dc:creator>
  <cp:lastModifiedBy>Ash Dip</cp:lastModifiedBy>
  <cp:revision>113</cp:revision>
  <dcterms:created xsi:type="dcterms:W3CDTF">2026-08-28T05:14:16Z</dcterms:created>
  <dcterms:modified xsi:type="dcterms:W3CDTF">2026-08-30T09:23:46Z</dcterms:modified>
</cp:coreProperties>
</file>