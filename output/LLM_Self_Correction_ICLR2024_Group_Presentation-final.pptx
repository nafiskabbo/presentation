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tags/tag1.xml" ContentType="application/vnd.openxmlformats-officedocument.presentationml.tag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2.xml" ContentType="application/vnd.openxmlformats-officedocument.drawingml.chart+xml"/>
  <Override PartName="/ppt/notesSlides/notesSlide16.xml" ContentType="application/vnd.openxmlformats-officedocument.presentationml.notesSlide+xml"/>
  <Override PartName="/ppt/charts/chart3.xml" ContentType="application/vnd.openxmlformats-officedocument.drawingml.chart+xml"/>
  <Override PartName="/ppt/notesSlides/notesSlide17.xml" ContentType="application/vnd.openxmlformats-officedocument.presentationml.notesSlide+xml"/>
  <Override PartName="/ppt/charts/chart4.xml" ContentType="application/vnd.openxmlformats-officedocument.drawingml.chart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rts/chart5.xml" ContentType="application/vnd.openxmlformats-officedocument.drawingml.chart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9" r:id="rId4"/>
    <p:sldId id="258" r:id="rId5"/>
    <p:sldId id="260" r:id="rId6"/>
    <p:sldId id="290" r:id="rId7"/>
    <p:sldId id="261" r:id="rId8"/>
    <p:sldId id="291" r:id="rId9"/>
    <p:sldId id="292" r:id="rId10"/>
    <p:sldId id="264" r:id="rId11"/>
    <p:sldId id="265" r:id="rId12"/>
    <p:sldId id="266" r:id="rId13"/>
    <p:sldId id="285" r:id="rId14"/>
    <p:sldId id="267" r:id="rId15"/>
    <p:sldId id="268" r:id="rId16"/>
    <p:sldId id="269" r:id="rId17"/>
    <p:sldId id="270" r:id="rId18"/>
    <p:sldId id="279" r:id="rId19"/>
    <p:sldId id="280" r:id="rId20"/>
    <p:sldId id="273" r:id="rId21"/>
    <p:sldId id="275" r:id="rId22"/>
    <p:sldId id="276" r:id="rId23"/>
    <p:sldId id="277" r:id="rId24"/>
    <p:sldId id="278" r:id="rId2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00020"/>
    <a:srgbClr val="FFF2F2"/>
    <a:srgbClr val="1D293A"/>
    <a:srgbClr val="B4520A"/>
    <a:srgbClr val="1664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790"/>
    <p:restoredTop sz="94610"/>
  </p:normalViewPr>
  <p:slideViewPr>
    <p:cSldViewPr snapToGrid="0" snapToObjects="1">
      <p:cViewPr varScale="1">
        <p:scale>
          <a:sx n="202" d="100"/>
          <a:sy n="202" d="100"/>
        </p:scale>
        <p:origin x="200" y="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800020"/>
            </a:solidFill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Oracle</c:v>
                </c:pt>
                <c:pt idx="1">
                  <c:v>Compute</c:v>
                </c:pt>
                <c:pt idx="2">
                  <c:v>Prompt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10.5</c:v>
                </c:pt>
                <c:pt idx="1">
                  <c:v>4</c:v>
                </c:pt>
                <c:pt idx="2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D38-B145-B2EA-2A0464622CC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Controlled</c:v>
                </c:pt>
              </c:strCache>
            </c:strRef>
          </c:tx>
          <c:spPr>
            <a:solidFill>
              <a:srgbClr val="166534"/>
            </a:solidFill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Oracle</c:v>
                </c:pt>
                <c:pt idx="1">
                  <c:v>Compute</c:v>
                </c:pt>
                <c:pt idx="2">
                  <c:v>Prompt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-2.5</c:v>
                </c:pt>
                <c:pt idx="1">
                  <c:v>-1.5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D38-B145-B2EA-2A0464622CC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905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0F172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"/>
          <c:min val="-4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"/>
        <c:min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00">
              <a:solidFill>
                <a:srgbClr val="0F172A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Standard (CoT)</c:v>
                </c:pt>
              </c:strCache>
            </c:strRef>
          </c:tx>
          <c:spPr>
            <a:solidFill>
              <a:srgbClr val="0F172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GSM8K (3.5)</c:v>
                </c:pt>
                <c:pt idx="1">
                  <c:v>CSQA (3.5)</c:v>
                </c:pt>
                <c:pt idx="2">
                  <c:v>Hotpot (3.5)</c:v>
                </c:pt>
                <c:pt idx="3">
                  <c:v>GSM8K (GPT-4)</c:v>
                </c:pt>
                <c:pt idx="4">
                  <c:v>CSQA (GPT-4)</c:v>
                </c:pt>
                <c:pt idx="5">
                  <c:v>Hotpot (GPT-4)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</c:v>
                </c:pt>
                <c:pt idx="1">
                  <c:v>72.5</c:v>
                </c:pt>
                <c:pt idx="2">
                  <c:v>29</c:v>
                </c:pt>
                <c:pt idx="3">
                  <c:v>92</c:v>
                </c:pt>
                <c:pt idx="4">
                  <c:v>78.5</c:v>
                </c:pt>
                <c:pt idx="5">
                  <c:v>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7E3-AA41-A669-3E3C84C8DC7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Self-Correct R1</c:v>
                </c:pt>
              </c:strCache>
            </c:strRef>
          </c:tx>
          <c:spPr>
            <a:solidFill>
              <a:srgbClr val="B45309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GSM8K (3.5)</c:v>
                </c:pt>
                <c:pt idx="1">
                  <c:v>CSQA (3.5)</c:v>
                </c:pt>
                <c:pt idx="2">
                  <c:v>Hotpot (3.5)</c:v>
                </c:pt>
                <c:pt idx="3">
                  <c:v>GSM8K (GPT-4)</c:v>
                </c:pt>
                <c:pt idx="4">
                  <c:v>CSQA (GPT-4)</c:v>
                </c:pt>
                <c:pt idx="5">
                  <c:v>Hotpot (GPT-4)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75.2</c:v>
                </c:pt>
                <c:pt idx="1">
                  <c:v>63.5</c:v>
                </c:pt>
                <c:pt idx="2">
                  <c:v>26</c:v>
                </c:pt>
                <c:pt idx="3">
                  <c:v>88.5</c:v>
                </c:pt>
                <c:pt idx="4">
                  <c:v>72.5</c:v>
                </c:pt>
                <c:pt idx="5">
                  <c:v>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7E3-AA41-A669-3E3C84C8DC7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Self-Correct R2</c:v>
                </c:pt>
              </c:strCache>
            </c:strRef>
          </c:tx>
          <c:spPr>
            <a:solidFill>
              <a:srgbClr val="80002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GSM8K (3.5)</c:v>
                </c:pt>
                <c:pt idx="1">
                  <c:v>CSQA (3.5)</c:v>
                </c:pt>
                <c:pt idx="2">
                  <c:v>Hotpot (3.5)</c:v>
                </c:pt>
                <c:pt idx="3">
                  <c:v>GSM8K (GPT-4)</c:v>
                </c:pt>
                <c:pt idx="4">
                  <c:v>CSQA (GPT-4)</c:v>
                </c:pt>
                <c:pt idx="5">
                  <c:v>Hotpot (GPT-4)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72.599999999999994</c:v>
                </c:pt>
                <c:pt idx="1">
                  <c:v>55.3</c:v>
                </c:pt>
                <c:pt idx="2">
                  <c:v>25</c:v>
                </c:pt>
                <c:pt idx="3">
                  <c:v>88</c:v>
                </c:pt>
                <c:pt idx="4">
                  <c:v>72</c:v>
                </c:pt>
                <c:pt idx="5">
                  <c:v>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7E3-AA41-A669-3E3C84C8DC7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F172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0F172A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Standard (CoT)</c:v>
                </c:pt>
              </c:strCache>
            </c:strRef>
          </c:tx>
          <c:spPr>
            <a:solidFill>
              <a:srgbClr val="0F172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GSM8K (Turbo)</c:v>
                </c:pt>
                <c:pt idx="1">
                  <c:v>CSQA (Turbo)</c:v>
                </c:pt>
                <c:pt idx="2">
                  <c:v>GSM8K (Llama-2)</c:v>
                </c:pt>
                <c:pt idx="3">
                  <c:v>CSQA (Llama-2)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91.5</c:v>
                </c:pt>
                <c:pt idx="1">
                  <c:v>84</c:v>
                </c:pt>
                <c:pt idx="2">
                  <c:v>62</c:v>
                </c:pt>
                <c:pt idx="3">
                  <c:v>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CB2-BE4D-A20B-584972B07F2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Self-Correct R1</c:v>
                </c:pt>
              </c:strCache>
            </c:strRef>
          </c:tx>
          <c:spPr>
            <a:solidFill>
              <a:srgbClr val="B45309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GSM8K (Turbo)</c:v>
                </c:pt>
                <c:pt idx="1">
                  <c:v>CSQA (Turbo)</c:v>
                </c:pt>
                <c:pt idx="2">
                  <c:v>GSM8K (Llama-2)</c:v>
                </c:pt>
                <c:pt idx="3">
                  <c:v>CSQA (Llama-2)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88</c:v>
                </c:pt>
                <c:pt idx="1">
                  <c:v>81.5</c:v>
                </c:pt>
                <c:pt idx="2">
                  <c:v>43.5</c:v>
                </c:pt>
                <c:pt idx="3">
                  <c:v>37.5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CB2-BE4D-A20B-584972B07F2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Self-Correct R2</c:v>
                </c:pt>
              </c:strCache>
            </c:strRef>
          </c:tx>
          <c:spPr>
            <a:solidFill>
              <a:srgbClr val="80002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GSM8K (Turbo)</c:v>
                </c:pt>
                <c:pt idx="1">
                  <c:v>CSQA (Turbo)</c:v>
                </c:pt>
                <c:pt idx="2">
                  <c:v>GSM8K (Llama-2)</c:v>
                </c:pt>
                <c:pt idx="3">
                  <c:v>CSQA (Llama-2)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90</c:v>
                </c:pt>
                <c:pt idx="1">
                  <c:v>83</c:v>
                </c:pt>
                <c:pt idx="2">
                  <c:v>36.5</c:v>
                </c:pt>
                <c:pt idx="3">
                  <c:v>36.5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CB2-BE4D-A20B-584972B07F2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F172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0F172A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Transitions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F172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CE5E-2942-98C0-81F2D573A737}"/>
              </c:ext>
            </c:extLst>
          </c:dPt>
          <c:dPt>
            <c:idx val="1"/>
            <c:bubble3D val="0"/>
            <c:spPr>
              <a:solidFill>
                <a:srgbClr val="80002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E5E-2942-98C0-81F2D573A737}"/>
              </c:ext>
            </c:extLst>
          </c:dPt>
          <c:dPt>
            <c:idx val="2"/>
            <c:bubble3D val="0"/>
            <c:spPr>
              <a:solidFill>
                <a:srgbClr val="16653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E5E-2942-98C0-81F2D573A737}"/>
              </c:ext>
            </c:extLst>
          </c:dPt>
          <c:dPt>
            <c:idx val="3"/>
            <c:bubble3D val="0"/>
            <c:spPr>
              <a:solidFill>
                <a:srgbClr val="80002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CE5E-2942-98C0-81F2D573A737}"/>
              </c:ext>
            </c:extLst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8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CE5E-2942-98C0-81F2D573A737}"/>
                </c:ext>
              </c:extLst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8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E5E-2942-98C0-81F2D573A737}"/>
                </c:ext>
              </c:extLst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8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E5E-2942-98C0-81F2D573A737}"/>
                </c:ext>
              </c:extLst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8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E5E-2942-98C0-81F2D573A737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Unchanged 74.7%</c:v>
                </c:pt>
                <c:pt idx="1">
                  <c:v>Correct-&gt;Wrong 8.9%</c:v>
                </c:pt>
                <c:pt idx="2">
                  <c:v>Wrong-&gt;Correct 7.6%</c:v>
                </c:pt>
                <c:pt idx="3">
                  <c:v>Stayed Wrong 8.8%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74.7</c:v>
                </c:pt>
                <c:pt idx="1">
                  <c:v>8.9</c:v>
                </c:pt>
                <c:pt idx="2">
                  <c:v>7.6</c:v>
                </c:pt>
                <c:pt idx="3">
                  <c:v>8.8000000000000007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E5E-2942-98C0-81F2D573A7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0F172A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E293B"/>
                </a:solidFill>
                <a:latin typeface="Calibri"/>
              </a:defRPr>
            </a:pPr>
            <a:r>
              <a:rPr lang="en-US" sz="1100" b="0" i="0" u="none" strike="noStrike">
                <a:solidFill>
                  <a:srgbClr val="1E293B"/>
                </a:solidFill>
                <a:latin typeface="Calibri"/>
              </a:rPr>
              <a:t>Accuracy at Equal Inference Cost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Self-Consistency</c:v>
                </c:pt>
              </c:strCache>
            </c:strRef>
          </c:tx>
          <c:spPr>
            <a:solidFill>
              <a:srgbClr val="80002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6 responses</c:v>
                </c:pt>
                <c:pt idx="1">
                  <c:v>9 responses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85.3</c:v>
                </c:pt>
                <c:pt idx="1">
                  <c:v>88.2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B4A-9448-B5E3-4F68A2B3529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Multi-Agent Debate</c:v>
                </c:pt>
              </c:strCache>
            </c:strRef>
          </c:tx>
          <c:spPr>
            <a:solidFill>
              <a:srgbClr val="0F172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6 responses</c:v>
                </c:pt>
                <c:pt idx="1">
                  <c:v>9 responses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83.2</c:v>
                </c:pt>
                <c:pt idx="1">
                  <c:v>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B4A-9448-B5E3-4F68A2B3529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98474792"/>
        <c:axId val="298475576"/>
      </c:barChart>
      <c:catAx>
        <c:axId val="29847479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98475576"/>
        <c:crosses val="autoZero"/>
        <c:auto val="1"/>
        <c:lblAlgn val="ctr"/>
        <c:lblOffset val="100"/>
        <c:noMultiLvlLbl val="1"/>
      </c:catAx>
      <c:valAx>
        <c:axId val="298475576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9847479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87837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Nafis Islam Kabbo welcomes the audience, introduces the ICLR 2024 paper, and presents the group 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Nafis Islam Kabbo outlines the roadmap across six core sections.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Nafis Islam Kabbo explains the 3-step closed-loop self-correction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Nafis Islam Kabbo explains why autoregressive generation causes error cascades in multi-step reasoning.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Nafis Islam Kabbo presents the central paradox that motivates the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84C66-BD9F-5062-3D19-F543AF5DF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72F172-E6B1-411F-0AA2-1569914750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2C104D-CCF7-F1E0-BA6C-34CFFBEC49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Nafis Islam Kabbo presents the central paradox that motivates the study.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11386F-1D1D-C937-EBD0-CD5F4278F9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811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Srijon reviews the four prior self-correction frameworks and their operational loops, highlighting that reported gains stemmed from evaluation confounders.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33C92-BD8D-A96C-9E12-AE60EED29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7DE2DE-37F1-DC1A-15F8-39528D0712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7744AD-402A-A0BF-FFCC-D052735127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Srijon reviews the four prior self-correction frameworks and their operational loops, highlighting that reported gains stemmed from evaluation confounders.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C15784-276C-084A-96D0-0BB8692574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8808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62096-9285-F29E-231D-C963C2395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34E6CD-DDEF-686C-7840-16DE555690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94337D-2E40-23DB-9CAC-4785FC9A3B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Srijon reviews the four prior self-correction frameworks and their operational loops, highlighting that reported gains stemmed from evaluation confounders.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5C16DF-D16B-A178-3A8D-B034E59ACD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2030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Anindo introduces the three evaluation tasks, covering arithmetic on GSM8K, logic on CommonSenseQA, and multi-hop reasoning on HotpotQA.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Anindo presents the evaluated models and strict experimental controls.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Anindo contrasts the oracle feedback procedure against intrinsic blind self-correction.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6589E-6975-A63E-3AD7-A7A610BBE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C3994E-C46F-5366-4266-5D91F646FE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F95ABB-156A-F466-3FFB-A9F06BCC44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Anindo contrasts the oracle feedback procedure against intrinsic blind self-correction.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57A201-FD08-55BE-90EE-5E398993BD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8196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Mahid presents the headline empirical finding that intrinsic correction fails across all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Mahid details the numerical drops across GPT-3.5 and GPT-4.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Mahid highlights the severe collapse of Llama-2 under self-correction prompting.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Mahid shows that harmful flips exceed beneficial fixes, explaining the net decline in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Jebon walks through the concrete Yogurt problem case study from Figure 2, demonstrating how self-critique prompts cause models to hallucinate errors and flip correct $75 answers to incorrect $150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Refayet synthesizes the paper's three main conclusions.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Refayet discusses the study's scope limitations and methodological boundaries.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Refayet outlines future research directions including tool integration and learned process reward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Refayet concludes the presentation and opens the floor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377440" cy="320040"/>
          </a:xfrm>
          <a:prstGeom prst="roundRect">
            <a:avLst>
              <a:gd name="adj" fmla="val 22857"/>
            </a:avLst>
          </a:prstGeom>
          <a:solidFill>
            <a:srgbClr val="FFF1F2"/>
          </a:solidFill>
          <a:ln w="12700">
            <a:solidFill>
              <a:srgbClr val="80002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ICLR 2024 CONFERENCE PAPER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1" y="868680"/>
            <a:ext cx="4023360" cy="1412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5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Large Language Models</a:t>
            </a:r>
            <a:endParaRPr lang="en-US" sz="2500" dirty="0"/>
          </a:p>
          <a:p>
            <a:pPr marL="0" indent="0" algn="l">
              <a:lnSpc>
                <a:spcPct val="108000"/>
              </a:lnSpc>
              <a:buNone/>
            </a:pPr>
            <a:r>
              <a:rPr lang="en-US" sz="25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Cannot Self-Correct Reasoning Yet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2372624"/>
            <a:ext cx="407522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Jie Huang (UIUC), Xinyun Chen, Swaroop Mishra, Huaixiu Steven Zheng, Adams Wei Yu, Xinying Song, Denny Zhou (Google DeepMind)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01/23</a:t>
            </a:r>
            <a:endParaRPr lang="en-US" sz="850" dirty="0"/>
          </a:p>
        </p:txBody>
      </p:sp>
      <p:pic>
        <p:nvPicPr>
          <p:cNvPr id="24" name="Picture 23" descr="A robot with blue lights&#10;&#10;AI-generated content may be incorrect.">
            <a:extLst>
              <a:ext uri="{FF2B5EF4-FFF2-40B4-BE49-F238E27FC236}">
                <a16:creationId xmlns:a16="http://schemas.microsoft.com/office/drawing/2014/main" id="{B2079063-6878-B8A3-B29F-2826AAC332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3865" y="287381"/>
            <a:ext cx="3971495" cy="4382341"/>
          </a:xfrm>
          <a:prstGeom prst="rect">
            <a:avLst/>
          </a:prstGeom>
        </p:spPr>
      </p:pic>
      <p:sp>
        <p:nvSpPr>
          <p:cNvPr id="28" name="Google Shape;21;p3">
            <a:extLst>
              <a:ext uri="{FF2B5EF4-FFF2-40B4-BE49-F238E27FC236}">
                <a16:creationId xmlns:a16="http://schemas.microsoft.com/office/drawing/2014/main" id="{9FEE65BD-3730-930E-9E3E-3E8AD30B7920}"/>
              </a:ext>
            </a:extLst>
          </p:cNvPr>
          <p:cNvSpPr txBox="1"/>
          <p:nvPr/>
        </p:nvSpPr>
        <p:spPr>
          <a:xfrm>
            <a:off x="548638" y="2983108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lang="en-US" sz="1100" b="1" i="0" u="none" strike="noStrike" cap="none" dirty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PRESENTED BY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Shape 0">
            <a:extLst>
              <a:ext uri="{FF2B5EF4-FFF2-40B4-BE49-F238E27FC236}">
                <a16:creationId xmlns:a16="http://schemas.microsoft.com/office/drawing/2014/main" id="{83571F2F-7A10-F589-D8D3-C8D5A1C93C93}"/>
              </a:ext>
            </a:extLst>
          </p:cNvPr>
          <p:cNvSpPr/>
          <p:nvPr/>
        </p:nvSpPr>
        <p:spPr>
          <a:xfrm>
            <a:off x="548640" y="3296412"/>
            <a:ext cx="3464948" cy="1317469"/>
          </a:xfrm>
          <a:prstGeom prst="roundRect">
            <a:avLst>
              <a:gd name="adj" fmla="val 6812"/>
            </a:avLst>
          </a:prstGeom>
          <a:solidFill>
            <a:srgbClr val="FFF1F2"/>
          </a:solidFill>
          <a:ln w="12700">
            <a:solidFill>
              <a:srgbClr val="800020"/>
            </a:solidFill>
            <a:prstDash val="solid"/>
          </a:ln>
        </p:spPr>
        <p:txBody>
          <a:bodyPr/>
          <a:lstStyle/>
          <a:p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1. MRM MUBASHSHIRUL HAQUE (2303127)</a:t>
            </a:r>
          </a:p>
          <a:p>
            <a:endParaRPr lang="en-US" sz="200" dirty="0">
              <a:solidFill>
                <a:srgbClr val="1E293B"/>
              </a:solidFill>
              <a:latin typeface="Calibri" panose="020F0502020204030204" pitchFamily="34" charset="0"/>
              <a:ea typeface="Calibri" pitchFamily="34" charset="-122"/>
              <a:cs typeface="Calibri" panose="020F0502020204030204" pitchFamily="34" charset="0"/>
            </a:endParaRPr>
          </a:p>
          <a:p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2. REFAYET HOSSAIN ANANDA (2303148)</a:t>
            </a:r>
          </a:p>
          <a:p>
            <a:endParaRPr lang="en-US" sz="400" dirty="0">
              <a:solidFill>
                <a:srgbClr val="1E293B"/>
              </a:solidFill>
              <a:latin typeface="Calibri" panose="020F0502020204030204" pitchFamily="34" charset="0"/>
              <a:ea typeface="Calibri" pitchFamily="34" charset="-122"/>
              <a:cs typeface="Calibri" panose="020F0502020204030204" pitchFamily="34" charset="0"/>
            </a:endParaRPr>
          </a:p>
          <a:p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3. MD JEBON SHEIKH (2303160)</a:t>
            </a:r>
          </a:p>
          <a:p>
            <a:endParaRPr lang="en-US" sz="400" dirty="0">
              <a:solidFill>
                <a:srgbClr val="1E293B"/>
              </a:solidFill>
              <a:latin typeface="Calibri" panose="020F0502020204030204" pitchFamily="34" charset="0"/>
              <a:ea typeface="Calibri" pitchFamily="34" charset="-122"/>
              <a:cs typeface="Calibri" panose="020F0502020204030204" pitchFamily="34" charset="0"/>
            </a:endParaRPr>
          </a:p>
          <a:p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4. MD MASFIE AMIN SRIJON (2303179)</a:t>
            </a:r>
          </a:p>
          <a:p>
            <a:endParaRPr lang="en-US" sz="400" dirty="0">
              <a:solidFill>
                <a:srgbClr val="1E293B"/>
              </a:solidFill>
              <a:latin typeface="Calibri" panose="020F0502020204030204" pitchFamily="34" charset="0"/>
              <a:ea typeface="Calibri" pitchFamily="34" charset="-122"/>
              <a:cs typeface="Calibri" panose="020F0502020204030204" pitchFamily="34" charset="0"/>
            </a:endParaRPr>
          </a:p>
          <a:p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5. NAFIS ISLAM KABBO (2303180)</a:t>
            </a:r>
          </a:p>
          <a:p>
            <a:endParaRPr lang="en-US" sz="400" dirty="0">
              <a:solidFill>
                <a:srgbClr val="1E293B"/>
              </a:solidFill>
              <a:latin typeface="Calibri" panose="020F0502020204030204" pitchFamily="34" charset="0"/>
              <a:ea typeface="Calibri" pitchFamily="34" charset="-122"/>
              <a:cs typeface="Calibri" panose="020F0502020204030204" pitchFamily="34" charset="0"/>
            </a:endParaRPr>
          </a:p>
          <a:p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6. ANINDO CHAMA (2303181)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Presentation Outline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sections tracing motivation to constructive future 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07008"/>
            <a:ext cx="3886200" cy="987552"/>
          </a:xfrm>
          <a:prstGeom prst="roundRect">
            <a:avLst>
              <a:gd name="adj" fmla="val 740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344168"/>
            <a:ext cx="320040" cy="320040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3441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78992" y="1344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Introduction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78992" y="1664208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multi-step reasoning fails and what self-correction promises.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9160" y="1207008"/>
            <a:ext cx="3886200" cy="987552"/>
          </a:xfrm>
          <a:prstGeom prst="roundRect">
            <a:avLst>
              <a:gd name="adj" fmla="val 740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6320" y="1344168"/>
            <a:ext cx="320040" cy="320040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13441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239512" y="1344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Background &amp; Related Work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239512" y="1664208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RCI, Reflexion, Self-Refine, Debate and their evaluation flaws.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2359152"/>
            <a:ext cx="3886200" cy="987552"/>
          </a:xfrm>
          <a:prstGeom prst="roundRect">
            <a:avLst>
              <a:gd name="adj" fmla="val 740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2496312"/>
            <a:ext cx="320040" cy="320040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49631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78992" y="249631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Methodology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078992" y="281635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GSM8K, CSQA, HotpotQA across GPT-3.5, GPT-4, Turbo, Llama-2.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09160" y="2359152"/>
            <a:ext cx="3886200" cy="987552"/>
          </a:xfrm>
          <a:prstGeom prst="roundRect">
            <a:avLst>
              <a:gd name="adj" fmla="val 740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46320" y="2496312"/>
            <a:ext cx="320040" cy="320040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0" y="249631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239512" y="249631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Results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239512" y="281635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declines after self-correction, net negative flips.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48640" y="3511296"/>
            <a:ext cx="3886200" cy="987552"/>
          </a:xfrm>
          <a:prstGeom prst="roundRect">
            <a:avLst>
              <a:gd name="adj" fmla="val 740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5800" y="3648456"/>
            <a:ext cx="320040" cy="320040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364845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78992" y="364845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Analysis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1078992" y="3968496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gains vanish at equal compute and without feedback.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709160" y="3511296"/>
            <a:ext cx="3886200" cy="987552"/>
          </a:xfrm>
          <a:prstGeom prst="roundRect">
            <a:avLst>
              <a:gd name="adj" fmla="val 740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46320" y="3648456"/>
            <a:ext cx="320040" cy="320040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32" name="Text 30"/>
          <p:cNvSpPr/>
          <p:nvPr/>
        </p:nvSpPr>
        <p:spPr>
          <a:xfrm>
            <a:off x="4846320" y="364845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239512" y="364845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Conclusion &amp; Future Work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239512" y="3968496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tools, verifiers, and fair evaluation standards.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02/23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INTRODUCTION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Large Language Model (LLM)</a:t>
            </a:r>
            <a:endParaRPr lang="en-US" sz="2300" dirty="0"/>
          </a:p>
        </p:txBody>
      </p:sp>
      <p:sp>
        <p:nvSpPr>
          <p:cNvPr id="43" name="Text 40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44" name="Text 41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03/23</a:t>
            </a:r>
            <a:endParaRPr lang="en-US" sz="850" dirty="0"/>
          </a:p>
        </p:txBody>
      </p:sp>
      <p:sp>
        <p:nvSpPr>
          <p:cNvPr id="7" name="Google Shape;65;p4">
            <a:extLst>
              <a:ext uri="{FF2B5EF4-FFF2-40B4-BE49-F238E27FC236}">
                <a16:creationId xmlns:a16="http://schemas.microsoft.com/office/drawing/2014/main" id="{1C1562E0-9F20-7B79-7F8C-89CB0723D7BA}"/>
              </a:ext>
            </a:extLst>
          </p:cNvPr>
          <p:cNvSpPr txBox="1"/>
          <p:nvPr/>
        </p:nvSpPr>
        <p:spPr>
          <a:xfrm>
            <a:off x="1054550" y="1764866"/>
            <a:ext cx="3474000" cy="2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0F172A"/>
              </a:buClr>
              <a:buSzPts val="1400"/>
            </a:pPr>
            <a:r>
              <a:rPr lang="en-US" sz="1050" b="1" dirty="0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Next-Token Prediction</a:t>
            </a:r>
          </a:p>
        </p:txBody>
      </p:sp>
      <p:sp>
        <p:nvSpPr>
          <p:cNvPr id="8" name="Google Shape;66;p4">
            <a:extLst>
              <a:ext uri="{FF2B5EF4-FFF2-40B4-BE49-F238E27FC236}">
                <a16:creationId xmlns:a16="http://schemas.microsoft.com/office/drawing/2014/main" id="{F494EB6D-C71D-28CE-7EC5-A27229E70D78}"/>
              </a:ext>
            </a:extLst>
          </p:cNvPr>
          <p:cNvSpPr txBox="1"/>
          <p:nvPr/>
        </p:nvSpPr>
        <p:spPr>
          <a:xfrm>
            <a:off x="1054550" y="1982503"/>
            <a:ext cx="3474000" cy="32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Predicts the next token, one at a time.</a:t>
            </a:r>
            <a:endParaRPr lang="en-US" sz="1400" dirty="0"/>
          </a:p>
        </p:txBody>
      </p:sp>
      <p:sp>
        <p:nvSpPr>
          <p:cNvPr id="12" name="Google Shape;70;p4">
            <a:extLst>
              <a:ext uri="{FF2B5EF4-FFF2-40B4-BE49-F238E27FC236}">
                <a16:creationId xmlns:a16="http://schemas.microsoft.com/office/drawing/2014/main" id="{652381E2-0F3D-B8C8-E88E-49824DF9506B}"/>
              </a:ext>
            </a:extLst>
          </p:cNvPr>
          <p:cNvSpPr txBox="1"/>
          <p:nvPr/>
        </p:nvSpPr>
        <p:spPr>
          <a:xfrm>
            <a:off x="1054550" y="2490323"/>
            <a:ext cx="3474000" cy="2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0F172A"/>
              </a:buClr>
              <a:buSzPts val="1400"/>
            </a:pPr>
            <a:r>
              <a:rPr lang="en-US" sz="1050" b="1" dirty="0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Pattern Learning</a:t>
            </a:r>
          </a:p>
        </p:txBody>
      </p:sp>
      <p:sp>
        <p:nvSpPr>
          <p:cNvPr id="13" name="Google Shape;71;p4">
            <a:extLst>
              <a:ext uri="{FF2B5EF4-FFF2-40B4-BE49-F238E27FC236}">
                <a16:creationId xmlns:a16="http://schemas.microsoft.com/office/drawing/2014/main" id="{CF766E6F-BB3A-D1C3-647F-9E77C9D6CD3E}"/>
              </a:ext>
            </a:extLst>
          </p:cNvPr>
          <p:cNvSpPr txBox="1"/>
          <p:nvPr/>
        </p:nvSpPr>
        <p:spPr>
          <a:xfrm>
            <a:off x="1054550" y="2720660"/>
            <a:ext cx="3474000" cy="398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10000"/>
              </a:lnSpc>
              <a:buClr>
                <a:srgbClr val="334155"/>
              </a:buClr>
              <a:buSzPts val="1200"/>
            </a:pPr>
            <a:r>
              <a:rPr lang="en-US" sz="1350" dirty="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Learns patterns and relationships from large amounts of text.</a:t>
            </a:r>
            <a:endParaRPr sz="13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75;p4">
            <a:extLst>
              <a:ext uri="{FF2B5EF4-FFF2-40B4-BE49-F238E27FC236}">
                <a16:creationId xmlns:a16="http://schemas.microsoft.com/office/drawing/2014/main" id="{14E4BFA5-FDBC-88C4-96B4-E576373C4B80}"/>
              </a:ext>
            </a:extLst>
          </p:cNvPr>
          <p:cNvSpPr txBox="1"/>
          <p:nvPr/>
        </p:nvSpPr>
        <p:spPr>
          <a:xfrm>
            <a:off x="1054550" y="3215780"/>
            <a:ext cx="3474000" cy="2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0F172A"/>
              </a:buClr>
              <a:buSzPts val="1400"/>
            </a:pPr>
            <a:r>
              <a:rPr lang="en-US" sz="1050" b="1" dirty="0"/>
              <a:t>Text Generation</a:t>
            </a:r>
            <a:endParaRPr sz="105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76;p4">
            <a:extLst>
              <a:ext uri="{FF2B5EF4-FFF2-40B4-BE49-F238E27FC236}">
                <a16:creationId xmlns:a16="http://schemas.microsoft.com/office/drawing/2014/main" id="{A25C3CDB-F9B4-0D62-1EA8-602B4922EC3E}"/>
              </a:ext>
            </a:extLst>
          </p:cNvPr>
          <p:cNvSpPr txBox="1"/>
          <p:nvPr/>
        </p:nvSpPr>
        <p:spPr>
          <a:xfrm>
            <a:off x="1054550" y="3433417"/>
            <a:ext cx="3695250" cy="32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10000"/>
              </a:lnSpc>
              <a:buClr>
                <a:srgbClr val="334155"/>
              </a:buClr>
              <a:buSzPts val="1200"/>
            </a:pPr>
            <a:r>
              <a:rPr lang="en-US" sz="1350" dirty="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Generates human-like text based on the given input.</a:t>
            </a:r>
            <a:endParaRPr sz="13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" name="Google Shape;77;p4">
            <a:extLst>
              <a:ext uri="{FF2B5EF4-FFF2-40B4-BE49-F238E27FC236}">
                <a16:creationId xmlns:a16="http://schemas.microsoft.com/office/drawing/2014/main" id="{25BC46BF-7A2E-3B1C-7778-CC13CEF67F27}"/>
              </a:ext>
            </a:extLst>
          </p:cNvPr>
          <p:cNvPicPr preferRelativeResize="0"/>
          <p:nvPr/>
        </p:nvPicPr>
        <p:blipFill>
          <a:blip r:embed="rId3"/>
          <a:srcRect l="4219" r="3934"/>
          <a:stretch>
            <a:fillRect/>
          </a:stretch>
        </p:blipFill>
        <p:spPr>
          <a:xfrm>
            <a:off x="5339700" y="1305420"/>
            <a:ext cx="3324853" cy="2413334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79;p4">
            <a:extLst>
              <a:ext uri="{FF2B5EF4-FFF2-40B4-BE49-F238E27FC236}">
                <a16:creationId xmlns:a16="http://schemas.microsoft.com/office/drawing/2014/main" id="{B7644AAE-1312-A0E2-8AAC-9C51F96140DD}"/>
              </a:ext>
            </a:extLst>
          </p:cNvPr>
          <p:cNvSpPr txBox="1"/>
          <p:nvPr/>
        </p:nvSpPr>
        <p:spPr>
          <a:xfrm>
            <a:off x="5265127" y="3596879"/>
            <a:ext cx="3474001" cy="3462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68569" rIns="68569" bIns="68569" anchor="t" anchorCtr="0">
            <a:spAutoFit/>
          </a:bodyPr>
          <a:lstStyle/>
          <a:p>
            <a:pPr algn="ctr"/>
            <a:r>
              <a:rPr lang="en-US" sz="1350" dirty="0"/>
              <a:t>Figure-1:Large Language Model</a:t>
            </a:r>
            <a:endParaRPr sz="1350" dirty="0"/>
          </a:p>
        </p:txBody>
      </p:sp>
      <p:sp>
        <p:nvSpPr>
          <p:cNvPr id="21" name="Google Shape;63;p4">
            <a:extLst>
              <a:ext uri="{FF2B5EF4-FFF2-40B4-BE49-F238E27FC236}">
                <a16:creationId xmlns:a16="http://schemas.microsoft.com/office/drawing/2014/main" id="{37995195-4E81-770A-C1E9-27EC8868FB45}"/>
              </a:ext>
            </a:extLst>
          </p:cNvPr>
          <p:cNvSpPr/>
          <p:nvPr/>
        </p:nvSpPr>
        <p:spPr>
          <a:xfrm>
            <a:off x="548640" y="1786630"/>
            <a:ext cx="371025" cy="398925"/>
          </a:xfrm>
          <a:prstGeom prst="ellipse">
            <a:avLst/>
          </a:prstGeom>
          <a:solidFill>
            <a:srgbClr val="800020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22" name="Google Shape;64;p4">
            <a:extLst>
              <a:ext uri="{FF2B5EF4-FFF2-40B4-BE49-F238E27FC236}">
                <a16:creationId xmlns:a16="http://schemas.microsoft.com/office/drawing/2014/main" id="{5B3CAB87-F3E5-86D7-D71B-D11938C172A7}"/>
              </a:ext>
            </a:extLst>
          </p:cNvPr>
          <p:cNvSpPr txBox="1"/>
          <p:nvPr/>
        </p:nvSpPr>
        <p:spPr>
          <a:xfrm>
            <a:off x="548640" y="1786630"/>
            <a:ext cx="371025" cy="398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buClr>
                <a:srgbClr val="FFFFFF"/>
              </a:buClr>
              <a:buSzPts val="1600"/>
            </a:pPr>
            <a:r>
              <a:rPr lang="en-US" sz="1200" b="1" dirty="0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1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3" name="Google Shape;67;p4">
            <a:extLst>
              <a:ext uri="{FF2B5EF4-FFF2-40B4-BE49-F238E27FC236}">
                <a16:creationId xmlns:a16="http://schemas.microsoft.com/office/drawing/2014/main" id="{BFFFB4EA-541B-9FB3-E220-28B6646E8166}"/>
              </a:ext>
            </a:extLst>
          </p:cNvPr>
          <p:cNvCxnSpPr/>
          <p:nvPr/>
        </p:nvCxnSpPr>
        <p:spPr>
          <a:xfrm>
            <a:off x="734140" y="2185631"/>
            <a:ext cx="0" cy="362475"/>
          </a:xfrm>
          <a:prstGeom prst="straightConnector1">
            <a:avLst/>
          </a:prstGeom>
          <a:noFill/>
          <a:ln w="19050" cap="flat" cmpd="sng">
            <a:solidFill>
              <a:srgbClr val="E2E8F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24" name="Google Shape;68;p4">
            <a:extLst>
              <a:ext uri="{FF2B5EF4-FFF2-40B4-BE49-F238E27FC236}">
                <a16:creationId xmlns:a16="http://schemas.microsoft.com/office/drawing/2014/main" id="{E83428CA-6DB2-E5AE-9AEC-9E3C499435EF}"/>
              </a:ext>
            </a:extLst>
          </p:cNvPr>
          <p:cNvSpPr/>
          <p:nvPr/>
        </p:nvSpPr>
        <p:spPr>
          <a:xfrm>
            <a:off x="548640" y="2512087"/>
            <a:ext cx="371025" cy="398925"/>
          </a:xfrm>
          <a:prstGeom prst="ellipse">
            <a:avLst/>
          </a:prstGeom>
          <a:solidFill>
            <a:srgbClr val="800020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25" name="Google Shape;69;p4">
            <a:extLst>
              <a:ext uri="{FF2B5EF4-FFF2-40B4-BE49-F238E27FC236}">
                <a16:creationId xmlns:a16="http://schemas.microsoft.com/office/drawing/2014/main" id="{2F017E4A-BF3E-D54A-2A1A-22B76E447763}"/>
              </a:ext>
            </a:extLst>
          </p:cNvPr>
          <p:cNvSpPr txBox="1"/>
          <p:nvPr/>
        </p:nvSpPr>
        <p:spPr>
          <a:xfrm>
            <a:off x="548640" y="2512011"/>
            <a:ext cx="371025" cy="399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buClr>
                <a:srgbClr val="FFFFFF"/>
              </a:buClr>
              <a:buSzPts val="1600"/>
            </a:pPr>
            <a:r>
              <a:rPr lang="en-US" sz="1200" b="1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2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6" name="Google Shape;72;p4">
            <a:extLst>
              <a:ext uri="{FF2B5EF4-FFF2-40B4-BE49-F238E27FC236}">
                <a16:creationId xmlns:a16="http://schemas.microsoft.com/office/drawing/2014/main" id="{45ABDF1F-D8AE-6490-5FCA-35A45B7ECBFF}"/>
              </a:ext>
            </a:extLst>
          </p:cNvPr>
          <p:cNvCxnSpPr/>
          <p:nvPr/>
        </p:nvCxnSpPr>
        <p:spPr>
          <a:xfrm>
            <a:off x="734140" y="2911088"/>
            <a:ext cx="0" cy="362475"/>
          </a:xfrm>
          <a:prstGeom prst="straightConnector1">
            <a:avLst/>
          </a:prstGeom>
          <a:noFill/>
          <a:ln w="19050" cap="flat" cmpd="sng">
            <a:solidFill>
              <a:srgbClr val="E2E8F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27" name="Google Shape;73;p4">
            <a:extLst>
              <a:ext uri="{FF2B5EF4-FFF2-40B4-BE49-F238E27FC236}">
                <a16:creationId xmlns:a16="http://schemas.microsoft.com/office/drawing/2014/main" id="{041E1411-A791-527D-A4B7-DAE5E1D3F95C}"/>
              </a:ext>
            </a:extLst>
          </p:cNvPr>
          <p:cNvSpPr/>
          <p:nvPr/>
        </p:nvSpPr>
        <p:spPr>
          <a:xfrm>
            <a:off x="548640" y="3237544"/>
            <a:ext cx="371025" cy="398925"/>
          </a:xfrm>
          <a:prstGeom prst="ellipse">
            <a:avLst/>
          </a:prstGeom>
          <a:solidFill>
            <a:srgbClr val="800020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28" name="Google Shape;74;p4">
            <a:extLst>
              <a:ext uri="{FF2B5EF4-FFF2-40B4-BE49-F238E27FC236}">
                <a16:creationId xmlns:a16="http://schemas.microsoft.com/office/drawing/2014/main" id="{C118A589-3331-E82D-4D92-544AF850A160}"/>
              </a:ext>
            </a:extLst>
          </p:cNvPr>
          <p:cNvSpPr txBox="1"/>
          <p:nvPr/>
        </p:nvSpPr>
        <p:spPr>
          <a:xfrm>
            <a:off x="548640" y="3237392"/>
            <a:ext cx="371025" cy="399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buClr>
                <a:srgbClr val="FFFFFF"/>
              </a:buClr>
              <a:buSzPts val="1600"/>
            </a:pPr>
            <a:r>
              <a:rPr lang="en-US" sz="1200" b="1" dirty="0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3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INTRODUCTION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300" b="1" dirty="0">
                <a:solidFill>
                  <a:srgbClr val="0F172A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LLM Self-Correction</a:t>
            </a:r>
            <a:endParaRPr lang="en-US" sz="2300" dirty="0"/>
          </a:p>
        </p:txBody>
      </p:sp>
      <p:sp>
        <p:nvSpPr>
          <p:cNvPr id="34" name="Text 31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04/23</a:t>
            </a:r>
            <a:endParaRPr lang="en-US" sz="850" dirty="0"/>
          </a:p>
        </p:txBody>
      </p:sp>
      <p:sp>
        <p:nvSpPr>
          <p:cNvPr id="54" name="Google Shape;57;p4">
            <a:extLst>
              <a:ext uri="{FF2B5EF4-FFF2-40B4-BE49-F238E27FC236}">
                <a16:creationId xmlns:a16="http://schemas.microsoft.com/office/drawing/2014/main" id="{BF62785B-9589-1715-519B-4242C4B0057B}"/>
              </a:ext>
            </a:extLst>
          </p:cNvPr>
          <p:cNvSpPr txBox="1"/>
          <p:nvPr/>
        </p:nvSpPr>
        <p:spPr>
          <a:xfrm>
            <a:off x="548640" y="953761"/>
            <a:ext cx="3840525" cy="689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20000"/>
              </a:lnSpc>
              <a:buClr>
                <a:srgbClr val="0F172A"/>
              </a:buClr>
              <a:buSzPts val="1450"/>
            </a:pPr>
            <a:r>
              <a:rPr lang="en-US" sz="1125" b="1" dirty="0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Large Language Models (LLMs) </a:t>
            </a:r>
            <a:r>
              <a:rPr lang="en-US" sz="1125" dirty="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generate text and solve problems by predicting likely word sequences, but their reasoning steps can contain errors.</a:t>
            </a:r>
            <a:endParaRPr sz="1125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63;p4">
            <a:extLst>
              <a:ext uri="{FF2B5EF4-FFF2-40B4-BE49-F238E27FC236}">
                <a16:creationId xmlns:a16="http://schemas.microsoft.com/office/drawing/2014/main" id="{FC02C950-F199-9B6E-7388-0F49CC06650A}"/>
              </a:ext>
            </a:extLst>
          </p:cNvPr>
          <p:cNvSpPr/>
          <p:nvPr/>
        </p:nvSpPr>
        <p:spPr>
          <a:xfrm>
            <a:off x="548640" y="1786630"/>
            <a:ext cx="371025" cy="398925"/>
          </a:xfrm>
          <a:prstGeom prst="ellipse">
            <a:avLst/>
          </a:prstGeom>
          <a:solidFill>
            <a:srgbClr val="800020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56" name="Google Shape;64;p4">
            <a:extLst>
              <a:ext uri="{FF2B5EF4-FFF2-40B4-BE49-F238E27FC236}">
                <a16:creationId xmlns:a16="http://schemas.microsoft.com/office/drawing/2014/main" id="{E6D0AA40-4AD1-D0BC-6153-B8CA29DF6B55}"/>
              </a:ext>
            </a:extLst>
          </p:cNvPr>
          <p:cNvSpPr txBox="1"/>
          <p:nvPr/>
        </p:nvSpPr>
        <p:spPr>
          <a:xfrm>
            <a:off x="548640" y="1786630"/>
            <a:ext cx="371025" cy="398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buClr>
                <a:srgbClr val="FFFFFF"/>
              </a:buClr>
              <a:buSzPts val="1600"/>
            </a:pPr>
            <a:r>
              <a:rPr lang="en-US" sz="1200" b="1" dirty="0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1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65;p4">
            <a:extLst>
              <a:ext uri="{FF2B5EF4-FFF2-40B4-BE49-F238E27FC236}">
                <a16:creationId xmlns:a16="http://schemas.microsoft.com/office/drawing/2014/main" id="{2738E444-34CD-D4D2-1EC4-92FD059A3ADE}"/>
              </a:ext>
            </a:extLst>
          </p:cNvPr>
          <p:cNvSpPr txBox="1"/>
          <p:nvPr/>
        </p:nvSpPr>
        <p:spPr>
          <a:xfrm>
            <a:off x="1054550" y="1764866"/>
            <a:ext cx="3474000" cy="2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0F172A"/>
              </a:buClr>
              <a:buSzPts val="1400"/>
            </a:pPr>
            <a:r>
              <a:rPr lang="en-US" sz="1050" b="1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Initial response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66;p4">
            <a:extLst>
              <a:ext uri="{FF2B5EF4-FFF2-40B4-BE49-F238E27FC236}">
                <a16:creationId xmlns:a16="http://schemas.microsoft.com/office/drawing/2014/main" id="{937E5250-E6CD-4CD0-59A2-458D5875FD62}"/>
              </a:ext>
            </a:extLst>
          </p:cNvPr>
          <p:cNvSpPr txBox="1"/>
          <p:nvPr/>
        </p:nvSpPr>
        <p:spPr>
          <a:xfrm>
            <a:off x="1054550" y="1982503"/>
            <a:ext cx="3474000" cy="32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10000"/>
              </a:lnSpc>
              <a:buClr>
                <a:srgbClr val="334155"/>
              </a:buClr>
              <a:buSzPts val="1200"/>
            </a:pPr>
            <a:r>
              <a:rPr lang="en-US" sz="135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Model answers the question on its own.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9" name="Google Shape;67;p4">
            <a:extLst>
              <a:ext uri="{FF2B5EF4-FFF2-40B4-BE49-F238E27FC236}">
                <a16:creationId xmlns:a16="http://schemas.microsoft.com/office/drawing/2014/main" id="{2B3D9696-280D-95CD-3BD7-624CE5621D83}"/>
              </a:ext>
            </a:extLst>
          </p:cNvPr>
          <p:cNvCxnSpPr/>
          <p:nvPr/>
        </p:nvCxnSpPr>
        <p:spPr>
          <a:xfrm>
            <a:off x="734140" y="2185631"/>
            <a:ext cx="0" cy="362475"/>
          </a:xfrm>
          <a:prstGeom prst="straightConnector1">
            <a:avLst/>
          </a:prstGeom>
          <a:noFill/>
          <a:ln w="19050" cap="flat" cmpd="sng">
            <a:solidFill>
              <a:srgbClr val="E2E8F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60" name="Google Shape;68;p4">
            <a:extLst>
              <a:ext uri="{FF2B5EF4-FFF2-40B4-BE49-F238E27FC236}">
                <a16:creationId xmlns:a16="http://schemas.microsoft.com/office/drawing/2014/main" id="{C60715A6-B492-1454-2FED-6BA80E6CE1D1}"/>
              </a:ext>
            </a:extLst>
          </p:cNvPr>
          <p:cNvSpPr/>
          <p:nvPr/>
        </p:nvSpPr>
        <p:spPr>
          <a:xfrm>
            <a:off x="548640" y="2512087"/>
            <a:ext cx="371025" cy="398925"/>
          </a:xfrm>
          <a:prstGeom prst="ellipse">
            <a:avLst/>
          </a:prstGeom>
          <a:solidFill>
            <a:srgbClr val="800020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61" name="Google Shape;69;p4">
            <a:extLst>
              <a:ext uri="{FF2B5EF4-FFF2-40B4-BE49-F238E27FC236}">
                <a16:creationId xmlns:a16="http://schemas.microsoft.com/office/drawing/2014/main" id="{5ABF5B8C-E29A-FC6F-C4B1-57C63FDAAF9C}"/>
              </a:ext>
            </a:extLst>
          </p:cNvPr>
          <p:cNvSpPr txBox="1"/>
          <p:nvPr/>
        </p:nvSpPr>
        <p:spPr>
          <a:xfrm>
            <a:off x="548640" y="2512011"/>
            <a:ext cx="371025" cy="399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buClr>
                <a:srgbClr val="FFFFFF"/>
              </a:buClr>
              <a:buSzPts val="1600"/>
            </a:pPr>
            <a:r>
              <a:rPr lang="en-US" sz="1200" b="1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2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70;p4">
            <a:extLst>
              <a:ext uri="{FF2B5EF4-FFF2-40B4-BE49-F238E27FC236}">
                <a16:creationId xmlns:a16="http://schemas.microsoft.com/office/drawing/2014/main" id="{7560A337-6C30-A030-BB69-F15364CD7560}"/>
              </a:ext>
            </a:extLst>
          </p:cNvPr>
          <p:cNvSpPr txBox="1"/>
          <p:nvPr/>
        </p:nvSpPr>
        <p:spPr>
          <a:xfrm>
            <a:off x="1054550" y="2490323"/>
            <a:ext cx="3474000" cy="2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0F172A"/>
              </a:buClr>
              <a:buSzPts val="1400"/>
            </a:pPr>
            <a:r>
              <a:rPr lang="en-US" sz="1050" b="1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Self-review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71;p4">
            <a:extLst>
              <a:ext uri="{FF2B5EF4-FFF2-40B4-BE49-F238E27FC236}">
                <a16:creationId xmlns:a16="http://schemas.microsoft.com/office/drawing/2014/main" id="{4F53FAF7-2262-20EE-9A50-D8F07E2158F7}"/>
              </a:ext>
            </a:extLst>
          </p:cNvPr>
          <p:cNvSpPr txBox="1"/>
          <p:nvPr/>
        </p:nvSpPr>
        <p:spPr>
          <a:xfrm>
            <a:off x="1054550" y="2707960"/>
            <a:ext cx="3474000" cy="398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10000"/>
              </a:lnSpc>
              <a:buClr>
                <a:srgbClr val="334155"/>
              </a:buClr>
              <a:buSzPts val="1200"/>
            </a:pPr>
            <a:r>
              <a:rPr lang="en-US" sz="1350" dirty="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Model is asked to check its own answer and flag problems.</a:t>
            </a:r>
            <a:endParaRPr sz="13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4" name="Google Shape;72;p4">
            <a:extLst>
              <a:ext uri="{FF2B5EF4-FFF2-40B4-BE49-F238E27FC236}">
                <a16:creationId xmlns:a16="http://schemas.microsoft.com/office/drawing/2014/main" id="{191D2CE7-5EA1-F8AF-67B8-8DDEE425C877}"/>
              </a:ext>
            </a:extLst>
          </p:cNvPr>
          <p:cNvCxnSpPr/>
          <p:nvPr/>
        </p:nvCxnSpPr>
        <p:spPr>
          <a:xfrm>
            <a:off x="734140" y="2911088"/>
            <a:ext cx="0" cy="362475"/>
          </a:xfrm>
          <a:prstGeom prst="straightConnector1">
            <a:avLst/>
          </a:prstGeom>
          <a:noFill/>
          <a:ln w="19050" cap="flat" cmpd="sng">
            <a:solidFill>
              <a:srgbClr val="E2E8F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65" name="Google Shape;73;p4">
            <a:extLst>
              <a:ext uri="{FF2B5EF4-FFF2-40B4-BE49-F238E27FC236}">
                <a16:creationId xmlns:a16="http://schemas.microsoft.com/office/drawing/2014/main" id="{19C5F608-107B-F6AE-86F1-8D730A52D6F5}"/>
              </a:ext>
            </a:extLst>
          </p:cNvPr>
          <p:cNvSpPr/>
          <p:nvPr/>
        </p:nvSpPr>
        <p:spPr>
          <a:xfrm>
            <a:off x="548640" y="3237544"/>
            <a:ext cx="371025" cy="398925"/>
          </a:xfrm>
          <a:prstGeom prst="ellipse">
            <a:avLst/>
          </a:prstGeom>
          <a:solidFill>
            <a:srgbClr val="800020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66" name="Google Shape;74;p4">
            <a:extLst>
              <a:ext uri="{FF2B5EF4-FFF2-40B4-BE49-F238E27FC236}">
                <a16:creationId xmlns:a16="http://schemas.microsoft.com/office/drawing/2014/main" id="{E0D24F2E-2D7C-924F-AD5C-2C8B9857DB48}"/>
              </a:ext>
            </a:extLst>
          </p:cNvPr>
          <p:cNvSpPr txBox="1"/>
          <p:nvPr/>
        </p:nvSpPr>
        <p:spPr>
          <a:xfrm>
            <a:off x="548640" y="3237392"/>
            <a:ext cx="371025" cy="399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buClr>
                <a:srgbClr val="FFFFFF"/>
              </a:buClr>
              <a:buSzPts val="1600"/>
            </a:pPr>
            <a:r>
              <a:rPr lang="en-US" sz="1200" b="1" dirty="0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3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75;p4">
            <a:extLst>
              <a:ext uri="{FF2B5EF4-FFF2-40B4-BE49-F238E27FC236}">
                <a16:creationId xmlns:a16="http://schemas.microsoft.com/office/drawing/2014/main" id="{80DFEC5B-B226-7121-CFAA-98A7962CD6AB}"/>
              </a:ext>
            </a:extLst>
          </p:cNvPr>
          <p:cNvSpPr txBox="1"/>
          <p:nvPr/>
        </p:nvSpPr>
        <p:spPr>
          <a:xfrm>
            <a:off x="1054550" y="3215780"/>
            <a:ext cx="3474000" cy="2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0F172A"/>
              </a:buClr>
              <a:buSzPts val="1400"/>
            </a:pPr>
            <a:r>
              <a:rPr lang="en-US" sz="1050" b="1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Revised response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76;p4">
            <a:extLst>
              <a:ext uri="{FF2B5EF4-FFF2-40B4-BE49-F238E27FC236}">
                <a16:creationId xmlns:a16="http://schemas.microsoft.com/office/drawing/2014/main" id="{9C77E120-1090-A836-F228-1A0F45373835}"/>
              </a:ext>
            </a:extLst>
          </p:cNvPr>
          <p:cNvSpPr txBox="1"/>
          <p:nvPr/>
        </p:nvSpPr>
        <p:spPr>
          <a:xfrm>
            <a:off x="1054550" y="3433417"/>
            <a:ext cx="3474000" cy="32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10000"/>
              </a:lnSpc>
              <a:buClr>
                <a:srgbClr val="334155"/>
              </a:buClr>
              <a:buSzPts val="1200"/>
            </a:pPr>
            <a:r>
              <a:rPr lang="en-US" sz="135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Model answers again, using its own feedback.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9" name="Google Shape;77;p4" title="1_Q6yNizxicP94pZ7yVuFy-w.png">
            <a:extLst>
              <a:ext uri="{FF2B5EF4-FFF2-40B4-BE49-F238E27FC236}">
                <a16:creationId xmlns:a16="http://schemas.microsoft.com/office/drawing/2014/main" id="{B6D55462-EFBC-480E-04A5-180A5FC979A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rcRect l="10843" t="12407" r="11136" b="7837"/>
          <a:stretch>
            <a:fillRect/>
          </a:stretch>
        </p:blipFill>
        <p:spPr>
          <a:xfrm>
            <a:off x="5339816" y="1020083"/>
            <a:ext cx="3175970" cy="2413334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9;p4">
            <a:extLst>
              <a:ext uri="{FF2B5EF4-FFF2-40B4-BE49-F238E27FC236}">
                <a16:creationId xmlns:a16="http://schemas.microsoft.com/office/drawing/2014/main" id="{DFCC01CA-F05A-5261-1E27-F3D728203230}"/>
              </a:ext>
            </a:extLst>
          </p:cNvPr>
          <p:cNvSpPr txBox="1"/>
          <p:nvPr/>
        </p:nvSpPr>
        <p:spPr>
          <a:xfrm>
            <a:off x="5116473" y="3596879"/>
            <a:ext cx="3622656" cy="5539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68569" rIns="68569" bIns="68569" anchor="t" anchorCtr="0">
            <a:spAutoFit/>
          </a:bodyPr>
          <a:lstStyle/>
          <a:p>
            <a:pPr algn="ctr"/>
            <a:r>
              <a:rPr lang="en-US" sz="1350" dirty="0"/>
              <a:t>Figure-2: Large Language Model Self correction procedure</a:t>
            </a:r>
            <a:endParaRPr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INTRODUCTION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300" b="1" dirty="0">
                <a:solidFill>
                  <a:srgbClr val="0F172A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The Central Question</a:t>
            </a:r>
            <a:endParaRPr lang="en-US" sz="2300" dirty="0"/>
          </a:p>
        </p:txBody>
      </p:sp>
      <p:sp>
        <p:nvSpPr>
          <p:cNvPr id="20" name="Text 17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05/23</a:t>
            </a:r>
            <a:endParaRPr lang="en-US" sz="850" dirty="0"/>
          </a:p>
        </p:txBody>
      </p:sp>
      <p:sp>
        <p:nvSpPr>
          <p:cNvPr id="33" name="Google Shape;111;p6">
            <a:extLst>
              <a:ext uri="{FF2B5EF4-FFF2-40B4-BE49-F238E27FC236}">
                <a16:creationId xmlns:a16="http://schemas.microsoft.com/office/drawing/2014/main" id="{CBA0FE43-D9CC-A22F-FFF6-A078135DD3A5}"/>
              </a:ext>
            </a:extLst>
          </p:cNvPr>
          <p:cNvSpPr/>
          <p:nvPr/>
        </p:nvSpPr>
        <p:spPr>
          <a:xfrm>
            <a:off x="548640" y="979828"/>
            <a:ext cx="7749450" cy="1104525"/>
          </a:xfrm>
          <a:prstGeom prst="rect">
            <a:avLst/>
          </a:prstGeom>
          <a:solidFill>
            <a:srgbClr val="FAF3F5"/>
          </a:solidFill>
          <a:ln w="12700" cap="flat" cmpd="sng">
            <a:solidFill>
              <a:srgbClr val="80002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34" name="Google Shape;112;p6">
            <a:extLst>
              <a:ext uri="{FF2B5EF4-FFF2-40B4-BE49-F238E27FC236}">
                <a16:creationId xmlns:a16="http://schemas.microsoft.com/office/drawing/2014/main" id="{593C7EE4-4EB6-214C-AB88-602FC97D5224}"/>
              </a:ext>
            </a:extLst>
          </p:cNvPr>
          <p:cNvSpPr txBox="1"/>
          <p:nvPr/>
        </p:nvSpPr>
        <p:spPr>
          <a:xfrm>
            <a:off x="822960" y="1080238"/>
            <a:ext cx="7200900" cy="702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800020"/>
              </a:buClr>
              <a:buSzPts val="1900"/>
            </a:pPr>
            <a:r>
              <a:rPr lang="en-US" sz="1425" i="1">
                <a:solidFill>
                  <a:srgbClr val="800020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“</a:t>
            </a:r>
            <a:r>
              <a:rPr lang="en-US" sz="1425">
                <a:solidFill>
                  <a:srgbClr val="800020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If an LLM possesses the ability to self-correct, why doesn’t it simply offer the correct answer in its initial attempt?</a:t>
            </a:r>
            <a:r>
              <a:rPr lang="en-US" sz="1425" i="1">
                <a:solidFill>
                  <a:srgbClr val="800020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”</a:t>
            </a:r>
            <a:endParaRPr sz="14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113;p6">
            <a:extLst>
              <a:ext uri="{FF2B5EF4-FFF2-40B4-BE49-F238E27FC236}">
                <a16:creationId xmlns:a16="http://schemas.microsoft.com/office/drawing/2014/main" id="{3E458182-DE32-D5D8-74B7-C867BB849380}"/>
              </a:ext>
            </a:extLst>
          </p:cNvPr>
          <p:cNvSpPr txBox="1"/>
          <p:nvPr/>
        </p:nvSpPr>
        <p:spPr>
          <a:xfrm>
            <a:off x="822960" y="1816579"/>
            <a:ext cx="7200900" cy="200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64748B"/>
              </a:buClr>
              <a:buSzPts val="1050"/>
            </a:pPr>
            <a:r>
              <a:rPr lang="en-US" sz="788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Paraphrased from Huang et al., ICLR 2024, Section 1.</a:t>
            </a:r>
            <a:endParaRPr sz="78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119;p6">
            <a:extLst>
              <a:ext uri="{FF2B5EF4-FFF2-40B4-BE49-F238E27FC236}">
                <a16:creationId xmlns:a16="http://schemas.microsoft.com/office/drawing/2014/main" id="{5B70FF20-A015-3F07-0B12-FDF43888D932}"/>
              </a:ext>
            </a:extLst>
          </p:cNvPr>
          <p:cNvSpPr txBox="1"/>
          <p:nvPr/>
        </p:nvSpPr>
        <p:spPr>
          <a:xfrm>
            <a:off x="548640" y="2359715"/>
            <a:ext cx="3511575" cy="207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64748B"/>
              </a:buClr>
              <a:buSzPts val="1115"/>
            </a:pPr>
            <a:r>
              <a:rPr lang="en-US" sz="1350" b="1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WHAT'S AHEAD</a:t>
            </a:r>
            <a:endParaRPr sz="1125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120;p6">
            <a:extLst>
              <a:ext uri="{FF2B5EF4-FFF2-40B4-BE49-F238E27FC236}">
                <a16:creationId xmlns:a16="http://schemas.microsoft.com/office/drawing/2014/main" id="{AA673F38-57B3-F2A1-D93C-CD72E4AAC1D8}"/>
              </a:ext>
            </a:extLst>
          </p:cNvPr>
          <p:cNvSpPr/>
          <p:nvPr/>
        </p:nvSpPr>
        <p:spPr>
          <a:xfrm>
            <a:off x="548640" y="2660392"/>
            <a:ext cx="97425" cy="96750"/>
          </a:xfrm>
          <a:prstGeom prst="rect">
            <a:avLst/>
          </a:prstGeom>
          <a:solidFill>
            <a:srgbClr val="800020"/>
          </a:solidFill>
          <a:ln>
            <a:noFill/>
          </a:ln>
        </p:spPr>
        <p:txBody>
          <a:bodyPr spcFirstLastPara="1" wrap="square" lIns="69525" tIns="69525" rIns="69525" bIns="69525" anchor="ctr" anchorCtr="0">
            <a:noAutofit/>
          </a:bodyPr>
          <a:lstStyle/>
          <a:p>
            <a:endParaRPr sz="1125" b="1"/>
          </a:p>
        </p:txBody>
      </p:sp>
      <p:sp>
        <p:nvSpPr>
          <p:cNvPr id="38" name="Google Shape;121;p6">
            <a:extLst>
              <a:ext uri="{FF2B5EF4-FFF2-40B4-BE49-F238E27FC236}">
                <a16:creationId xmlns:a16="http://schemas.microsoft.com/office/drawing/2014/main" id="{989EA617-B6E8-893B-261A-1478E195E23A}"/>
              </a:ext>
            </a:extLst>
          </p:cNvPr>
          <p:cNvSpPr txBox="1"/>
          <p:nvPr/>
        </p:nvSpPr>
        <p:spPr>
          <a:xfrm>
            <a:off x="757249" y="2599900"/>
            <a:ext cx="3303000" cy="2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34155"/>
              </a:buClr>
              <a:buSzPts val="1318"/>
            </a:pPr>
            <a:r>
              <a:rPr lang="en-US" sz="1125">
                <a:solidFill>
                  <a:srgbClr val="334155"/>
                </a:solidFill>
                <a:latin typeface="Georgia"/>
                <a:ea typeface="Georgia"/>
                <a:cs typeface="Georgia"/>
                <a:sym typeface="Georgia"/>
              </a:rPr>
              <a:t>Prior work and its evaluation gaps</a:t>
            </a:r>
            <a:endParaRPr sz="1125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39" name="Google Shape;122;p6">
            <a:extLst>
              <a:ext uri="{FF2B5EF4-FFF2-40B4-BE49-F238E27FC236}">
                <a16:creationId xmlns:a16="http://schemas.microsoft.com/office/drawing/2014/main" id="{9DD394D5-AC1A-6DCF-D592-9BC912DE87F2}"/>
              </a:ext>
            </a:extLst>
          </p:cNvPr>
          <p:cNvSpPr/>
          <p:nvPr/>
        </p:nvSpPr>
        <p:spPr>
          <a:xfrm>
            <a:off x="548640" y="2950618"/>
            <a:ext cx="97425" cy="96750"/>
          </a:xfrm>
          <a:prstGeom prst="rect">
            <a:avLst/>
          </a:prstGeom>
          <a:solidFill>
            <a:srgbClr val="800020"/>
          </a:solidFill>
          <a:ln>
            <a:noFill/>
          </a:ln>
        </p:spPr>
        <p:txBody>
          <a:bodyPr spcFirstLastPara="1" wrap="square" lIns="69525" tIns="69525" rIns="69525" bIns="69525" anchor="ctr" anchorCtr="0">
            <a:noAutofit/>
          </a:bodyPr>
          <a:lstStyle/>
          <a:p>
            <a:endParaRPr sz="1125" b="1"/>
          </a:p>
        </p:txBody>
      </p:sp>
      <p:sp>
        <p:nvSpPr>
          <p:cNvPr id="40" name="Google Shape;123;p6">
            <a:extLst>
              <a:ext uri="{FF2B5EF4-FFF2-40B4-BE49-F238E27FC236}">
                <a16:creationId xmlns:a16="http://schemas.microsoft.com/office/drawing/2014/main" id="{639D14A3-6CDF-F0DD-CA44-4E147AA896DC}"/>
              </a:ext>
            </a:extLst>
          </p:cNvPr>
          <p:cNvSpPr txBox="1"/>
          <p:nvPr/>
        </p:nvSpPr>
        <p:spPr>
          <a:xfrm>
            <a:off x="757249" y="2909157"/>
            <a:ext cx="3303000" cy="2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34155"/>
              </a:buClr>
              <a:buSzPts val="1318"/>
            </a:pPr>
            <a:r>
              <a:rPr lang="en-US" sz="1125">
                <a:solidFill>
                  <a:srgbClr val="334155"/>
                </a:solidFill>
                <a:latin typeface="Georgia"/>
                <a:ea typeface="Georgia"/>
                <a:cs typeface="Georgia"/>
                <a:sym typeface="Georgia"/>
              </a:rPr>
              <a:t>How the paper tests self-correction fairly</a:t>
            </a:r>
            <a:endParaRPr sz="1125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41" name="Google Shape;124;p6">
            <a:extLst>
              <a:ext uri="{FF2B5EF4-FFF2-40B4-BE49-F238E27FC236}">
                <a16:creationId xmlns:a16="http://schemas.microsoft.com/office/drawing/2014/main" id="{8F122A47-BF4A-8CD6-4A0C-82160276A7DE}"/>
              </a:ext>
            </a:extLst>
          </p:cNvPr>
          <p:cNvSpPr/>
          <p:nvPr/>
        </p:nvSpPr>
        <p:spPr>
          <a:xfrm>
            <a:off x="548640" y="3240843"/>
            <a:ext cx="97425" cy="96750"/>
          </a:xfrm>
          <a:prstGeom prst="rect">
            <a:avLst/>
          </a:prstGeom>
          <a:solidFill>
            <a:srgbClr val="800020"/>
          </a:solidFill>
          <a:ln>
            <a:noFill/>
          </a:ln>
        </p:spPr>
        <p:txBody>
          <a:bodyPr spcFirstLastPara="1" wrap="square" lIns="69525" tIns="69525" rIns="69525" bIns="69525" anchor="ctr" anchorCtr="0">
            <a:noAutofit/>
          </a:bodyPr>
          <a:lstStyle/>
          <a:p>
            <a:endParaRPr sz="1125" b="1"/>
          </a:p>
        </p:txBody>
      </p:sp>
      <p:sp>
        <p:nvSpPr>
          <p:cNvPr id="42" name="Google Shape;125;p6">
            <a:extLst>
              <a:ext uri="{FF2B5EF4-FFF2-40B4-BE49-F238E27FC236}">
                <a16:creationId xmlns:a16="http://schemas.microsoft.com/office/drawing/2014/main" id="{EB1157D2-D555-E6AD-08A3-1C3731A11B96}"/>
              </a:ext>
            </a:extLst>
          </p:cNvPr>
          <p:cNvSpPr txBox="1"/>
          <p:nvPr/>
        </p:nvSpPr>
        <p:spPr>
          <a:xfrm>
            <a:off x="757249" y="3199382"/>
            <a:ext cx="3303000" cy="2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34155"/>
              </a:buClr>
              <a:buSzPts val="1318"/>
            </a:pPr>
            <a:r>
              <a:rPr lang="en-US" sz="1125">
                <a:solidFill>
                  <a:srgbClr val="334155"/>
                </a:solidFill>
                <a:latin typeface="Georgia"/>
                <a:ea typeface="Georgia"/>
                <a:cs typeface="Georgia"/>
                <a:sym typeface="Georgia"/>
              </a:rPr>
              <a:t>The results: accuracy drops, not rises</a:t>
            </a:r>
            <a:endParaRPr sz="1125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43" name="Google Shape;126;p6">
            <a:extLst>
              <a:ext uri="{FF2B5EF4-FFF2-40B4-BE49-F238E27FC236}">
                <a16:creationId xmlns:a16="http://schemas.microsoft.com/office/drawing/2014/main" id="{ED520C4C-E493-456B-7392-F6560111FA95}"/>
              </a:ext>
            </a:extLst>
          </p:cNvPr>
          <p:cNvSpPr/>
          <p:nvPr/>
        </p:nvSpPr>
        <p:spPr>
          <a:xfrm>
            <a:off x="548640" y="3531068"/>
            <a:ext cx="97425" cy="96750"/>
          </a:xfrm>
          <a:prstGeom prst="rect">
            <a:avLst/>
          </a:prstGeom>
          <a:solidFill>
            <a:srgbClr val="800020"/>
          </a:solidFill>
          <a:ln>
            <a:noFill/>
          </a:ln>
        </p:spPr>
        <p:txBody>
          <a:bodyPr spcFirstLastPara="1" wrap="square" lIns="69525" tIns="69525" rIns="69525" bIns="69525" anchor="ctr" anchorCtr="0">
            <a:noAutofit/>
          </a:bodyPr>
          <a:lstStyle/>
          <a:p>
            <a:endParaRPr sz="1125" b="1"/>
          </a:p>
        </p:txBody>
      </p:sp>
      <p:sp>
        <p:nvSpPr>
          <p:cNvPr id="44" name="Google Shape;127;p6">
            <a:extLst>
              <a:ext uri="{FF2B5EF4-FFF2-40B4-BE49-F238E27FC236}">
                <a16:creationId xmlns:a16="http://schemas.microsoft.com/office/drawing/2014/main" id="{8DFEB9FC-0CE7-9CF7-44FC-EFA53E9022F1}"/>
              </a:ext>
            </a:extLst>
          </p:cNvPr>
          <p:cNvSpPr txBox="1"/>
          <p:nvPr/>
        </p:nvSpPr>
        <p:spPr>
          <a:xfrm>
            <a:off x="757249" y="3489607"/>
            <a:ext cx="3303000" cy="2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334155"/>
              </a:buClr>
              <a:buSzPts val="1318"/>
            </a:pPr>
            <a:r>
              <a:rPr lang="en-US" sz="1125">
                <a:solidFill>
                  <a:srgbClr val="334155"/>
                </a:solidFill>
                <a:latin typeface="Georgia"/>
                <a:ea typeface="Georgia"/>
                <a:cs typeface="Georgia"/>
                <a:sym typeface="Georgia"/>
              </a:rPr>
              <a:t>Why the drop happens, and what to do instead</a:t>
            </a:r>
            <a:endParaRPr sz="1125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45" name="Google Shape;114;p6">
            <a:extLst>
              <a:ext uri="{FF2B5EF4-FFF2-40B4-BE49-F238E27FC236}">
                <a16:creationId xmlns:a16="http://schemas.microsoft.com/office/drawing/2014/main" id="{7E349DCE-B36E-701E-0C49-BF298625E73F}"/>
              </a:ext>
            </a:extLst>
          </p:cNvPr>
          <p:cNvSpPr txBox="1"/>
          <p:nvPr/>
        </p:nvSpPr>
        <p:spPr>
          <a:xfrm>
            <a:off x="548640" y="3952565"/>
            <a:ext cx="7749450" cy="67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25000"/>
              </a:lnSpc>
              <a:buClr>
                <a:srgbClr val="0F172A"/>
              </a:buClr>
              <a:buSzPts val="1300"/>
            </a:pPr>
            <a:r>
              <a:rPr lang="en-US" sz="1350" b="1" dirty="0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Preview: </a:t>
            </a:r>
            <a:r>
              <a:rPr lang="en-US" sz="1350" dirty="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across GSM8K, </a:t>
            </a:r>
            <a:r>
              <a:rPr lang="en-US" sz="1350" dirty="0" err="1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CommonSenseQA</a:t>
            </a:r>
            <a:r>
              <a:rPr lang="en-US" sz="1350" dirty="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, and </a:t>
            </a:r>
            <a:r>
              <a:rPr lang="en-US" sz="1350" dirty="0" err="1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HotpotQA</a:t>
            </a:r>
            <a:r>
              <a:rPr lang="en-US" sz="1350" dirty="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, the paper's answer is no. Left alone, LLMs do not reliably catch their own reasoning errors, and accuracy often falls after self-correction.</a:t>
            </a:r>
            <a:endParaRPr sz="13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7B748-4F46-1737-DF01-1849C07BB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60F7247-DDB8-D5F1-A112-CB0F4C5AE221}"/>
              </a:ext>
            </a:extLst>
          </p:cNvPr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INTRODUCTION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D69BF5B-6D50-2D92-C59A-731009245A54}"/>
              </a:ext>
            </a:extLst>
          </p:cNvPr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300" b="1" dirty="0">
                <a:solidFill>
                  <a:srgbClr val="0F172A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Key Terms for This Talk</a:t>
            </a:r>
            <a:endParaRPr lang="en-US" sz="2300" dirty="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3ABCC12E-8537-4109-BC56-1E6EA33CB769}"/>
              </a:ext>
            </a:extLst>
          </p:cNvPr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1055973A-6D4A-FA08-1431-CA119991746B}"/>
              </a:ext>
            </a:extLst>
          </p:cNvPr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06/24</a:t>
            </a:r>
            <a:endParaRPr lang="en-US" sz="850" dirty="0"/>
          </a:p>
        </p:txBody>
      </p:sp>
      <p:sp>
        <p:nvSpPr>
          <p:cNvPr id="4" name="Google Shape;135;p7">
            <a:extLst>
              <a:ext uri="{FF2B5EF4-FFF2-40B4-BE49-F238E27FC236}">
                <a16:creationId xmlns:a16="http://schemas.microsoft.com/office/drawing/2014/main" id="{E0E33AF3-EFD6-571A-49F4-0B6F587A5C92}"/>
              </a:ext>
            </a:extLst>
          </p:cNvPr>
          <p:cNvSpPr/>
          <p:nvPr/>
        </p:nvSpPr>
        <p:spPr>
          <a:xfrm>
            <a:off x="548639" y="1012019"/>
            <a:ext cx="3898669" cy="1596375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5" name="Google Shape;136;p7">
            <a:extLst>
              <a:ext uri="{FF2B5EF4-FFF2-40B4-BE49-F238E27FC236}">
                <a16:creationId xmlns:a16="http://schemas.microsoft.com/office/drawing/2014/main" id="{C4B9E3EA-CAED-21F7-DDC3-059B71C8EDD1}"/>
              </a:ext>
            </a:extLst>
          </p:cNvPr>
          <p:cNvSpPr/>
          <p:nvPr/>
        </p:nvSpPr>
        <p:spPr>
          <a:xfrm>
            <a:off x="665205" y="1257720"/>
            <a:ext cx="96075" cy="114525"/>
          </a:xfrm>
          <a:prstGeom prst="ellipse">
            <a:avLst/>
          </a:prstGeom>
          <a:solidFill>
            <a:srgbClr val="800020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6" name="Google Shape;137;p7">
            <a:extLst>
              <a:ext uri="{FF2B5EF4-FFF2-40B4-BE49-F238E27FC236}">
                <a16:creationId xmlns:a16="http://schemas.microsoft.com/office/drawing/2014/main" id="{A55F590C-7F90-22FC-9369-83C6000DBA3F}"/>
              </a:ext>
            </a:extLst>
          </p:cNvPr>
          <p:cNvSpPr txBox="1"/>
          <p:nvPr/>
        </p:nvSpPr>
        <p:spPr>
          <a:xfrm>
            <a:off x="857229" y="1146444"/>
            <a:ext cx="3188925" cy="327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0F172A"/>
              </a:buClr>
              <a:buSzPts val="1650"/>
            </a:pPr>
            <a:r>
              <a:rPr lang="en-US" sz="1238" b="1">
                <a:solidFill>
                  <a:srgbClr val="0F172A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Intrinsic self-correction</a:t>
            </a:r>
            <a:endParaRPr sz="123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138;p7">
            <a:extLst>
              <a:ext uri="{FF2B5EF4-FFF2-40B4-BE49-F238E27FC236}">
                <a16:creationId xmlns:a16="http://schemas.microsoft.com/office/drawing/2014/main" id="{20A991B7-79BE-F91A-E33A-954780404E00}"/>
              </a:ext>
            </a:extLst>
          </p:cNvPr>
          <p:cNvSpPr txBox="1"/>
          <p:nvPr/>
        </p:nvSpPr>
        <p:spPr>
          <a:xfrm>
            <a:off x="665205" y="1626076"/>
            <a:ext cx="3394800" cy="7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25000"/>
              </a:lnSpc>
              <a:buClr>
                <a:srgbClr val="334155"/>
              </a:buClr>
              <a:buSzPts val="1300"/>
            </a:pPr>
            <a:r>
              <a:rPr lang="en-US" sz="975" dirty="0">
                <a:solidFill>
                  <a:srgbClr val="334155"/>
                </a:solidFill>
                <a:latin typeface="Georgia"/>
                <a:ea typeface="Georgia"/>
                <a:cs typeface="Georgia"/>
                <a:sym typeface="Georgia"/>
              </a:rPr>
              <a:t>T</a:t>
            </a:r>
            <a:r>
              <a:rPr lang="en-US" sz="1125" dirty="0">
                <a:solidFill>
                  <a:srgbClr val="334155"/>
                </a:solidFill>
                <a:latin typeface="Georgia"/>
                <a:ea typeface="Georgia"/>
                <a:cs typeface="Georgia"/>
                <a:sym typeface="Georgia"/>
              </a:rPr>
              <a:t>he model revises its own answer using only its own knowledge. No external feedback, no answer key, no tool.</a:t>
            </a:r>
            <a:endParaRPr sz="1125" dirty="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8" name="Google Shape;139;p7">
            <a:extLst>
              <a:ext uri="{FF2B5EF4-FFF2-40B4-BE49-F238E27FC236}">
                <a16:creationId xmlns:a16="http://schemas.microsoft.com/office/drawing/2014/main" id="{CDDD7A0C-93B1-15D8-37F0-7534BCB5C25B}"/>
              </a:ext>
            </a:extLst>
          </p:cNvPr>
          <p:cNvSpPr/>
          <p:nvPr/>
        </p:nvSpPr>
        <p:spPr>
          <a:xfrm>
            <a:off x="4696693" y="1012019"/>
            <a:ext cx="3898669" cy="159615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9" name="Google Shape;140;p7">
            <a:extLst>
              <a:ext uri="{FF2B5EF4-FFF2-40B4-BE49-F238E27FC236}">
                <a16:creationId xmlns:a16="http://schemas.microsoft.com/office/drawing/2014/main" id="{5E52FB6C-EA0B-4EB6-B5CA-DB81373DA4BC}"/>
              </a:ext>
            </a:extLst>
          </p:cNvPr>
          <p:cNvSpPr/>
          <p:nvPr/>
        </p:nvSpPr>
        <p:spPr>
          <a:xfrm>
            <a:off x="4995002" y="1257590"/>
            <a:ext cx="96075" cy="114525"/>
          </a:xfrm>
          <a:prstGeom prst="ellipse">
            <a:avLst/>
          </a:prstGeom>
          <a:solidFill>
            <a:srgbClr val="800020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10" name="Google Shape;141;p7">
            <a:extLst>
              <a:ext uri="{FF2B5EF4-FFF2-40B4-BE49-F238E27FC236}">
                <a16:creationId xmlns:a16="http://schemas.microsoft.com/office/drawing/2014/main" id="{3C405B4B-64E7-2F44-DCA1-43A04564C1DC}"/>
              </a:ext>
            </a:extLst>
          </p:cNvPr>
          <p:cNvSpPr txBox="1"/>
          <p:nvPr/>
        </p:nvSpPr>
        <p:spPr>
          <a:xfrm>
            <a:off x="5187026" y="1175733"/>
            <a:ext cx="3188925" cy="327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0F172A"/>
              </a:buClr>
              <a:buSzPts val="1650"/>
            </a:pPr>
            <a:r>
              <a:rPr lang="en-US" sz="1238" b="1">
                <a:solidFill>
                  <a:srgbClr val="0F172A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Oracle feedback</a:t>
            </a:r>
            <a:endParaRPr sz="123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42;p7">
            <a:extLst>
              <a:ext uri="{FF2B5EF4-FFF2-40B4-BE49-F238E27FC236}">
                <a16:creationId xmlns:a16="http://schemas.microsoft.com/office/drawing/2014/main" id="{AAF40D21-5587-2934-D954-6E2E7E0B6070}"/>
              </a:ext>
            </a:extLst>
          </p:cNvPr>
          <p:cNvSpPr txBox="1"/>
          <p:nvPr/>
        </p:nvSpPr>
        <p:spPr>
          <a:xfrm>
            <a:off x="4994909" y="1597015"/>
            <a:ext cx="3394800" cy="7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25000"/>
              </a:lnSpc>
              <a:buClr>
                <a:srgbClr val="334155"/>
              </a:buClr>
              <a:buSzPts val="1300"/>
            </a:pPr>
            <a:r>
              <a:rPr lang="en-US" sz="1125">
                <a:solidFill>
                  <a:srgbClr val="334155"/>
                </a:solidFill>
                <a:latin typeface="Georgia"/>
                <a:ea typeface="Georgia"/>
                <a:cs typeface="Georgia"/>
                <a:sym typeface="Georgia"/>
              </a:rPr>
              <a:t>Correction guided by a ground-truth label that tells the model whether its answer was already right.</a:t>
            </a:r>
            <a:endParaRPr sz="1125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2" name="Google Shape;143;p7">
            <a:extLst>
              <a:ext uri="{FF2B5EF4-FFF2-40B4-BE49-F238E27FC236}">
                <a16:creationId xmlns:a16="http://schemas.microsoft.com/office/drawing/2014/main" id="{894E7BDF-6121-01BF-6933-08A8F5CB537E}"/>
              </a:ext>
            </a:extLst>
          </p:cNvPr>
          <p:cNvSpPr/>
          <p:nvPr/>
        </p:nvSpPr>
        <p:spPr>
          <a:xfrm>
            <a:off x="548640" y="2813001"/>
            <a:ext cx="3898668" cy="159615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13" name="Google Shape;144;p7">
            <a:extLst>
              <a:ext uri="{FF2B5EF4-FFF2-40B4-BE49-F238E27FC236}">
                <a16:creationId xmlns:a16="http://schemas.microsoft.com/office/drawing/2014/main" id="{C4AED829-D06A-DD91-60DE-C8FD91858AA1}"/>
              </a:ext>
            </a:extLst>
          </p:cNvPr>
          <p:cNvSpPr/>
          <p:nvPr/>
        </p:nvSpPr>
        <p:spPr>
          <a:xfrm>
            <a:off x="754380" y="3058571"/>
            <a:ext cx="96075" cy="114525"/>
          </a:xfrm>
          <a:prstGeom prst="ellipse">
            <a:avLst/>
          </a:prstGeom>
          <a:solidFill>
            <a:srgbClr val="800020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14" name="Google Shape;145;p7">
            <a:extLst>
              <a:ext uri="{FF2B5EF4-FFF2-40B4-BE49-F238E27FC236}">
                <a16:creationId xmlns:a16="http://schemas.microsoft.com/office/drawing/2014/main" id="{E622CFF3-601E-A50C-1604-BAFF0B48CBBF}"/>
              </a:ext>
            </a:extLst>
          </p:cNvPr>
          <p:cNvSpPr txBox="1"/>
          <p:nvPr/>
        </p:nvSpPr>
        <p:spPr>
          <a:xfrm>
            <a:off x="946404" y="2976714"/>
            <a:ext cx="3188925" cy="327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0F172A"/>
              </a:buClr>
              <a:buSzPts val="1650"/>
            </a:pPr>
            <a:r>
              <a:rPr lang="en-US" sz="1238" b="1">
                <a:solidFill>
                  <a:srgbClr val="0F172A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Self-consistency</a:t>
            </a:r>
            <a:endParaRPr sz="123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46;p7">
            <a:extLst>
              <a:ext uri="{FF2B5EF4-FFF2-40B4-BE49-F238E27FC236}">
                <a16:creationId xmlns:a16="http://schemas.microsoft.com/office/drawing/2014/main" id="{A0EC9166-43AD-D414-3C13-EDB9A1FE7B7C}"/>
              </a:ext>
            </a:extLst>
          </p:cNvPr>
          <p:cNvSpPr txBox="1"/>
          <p:nvPr/>
        </p:nvSpPr>
        <p:spPr>
          <a:xfrm>
            <a:off x="754380" y="3426927"/>
            <a:ext cx="3394800" cy="7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25000"/>
              </a:lnSpc>
              <a:buClr>
                <a:srgbClr val="334155"/>
              </a:buClr>
              <a:buSzPts val="1300"/>
            </a:pPr>
            <a:r>
              <a:rPr lang="en-US" sz="1125">
                <a:solidFill>
                  <a:srgbClr val="334155"/>
                </a:solidFill>
                <a:latin typeface="Georgia"/>
                <a:ea typeface="Georgia"/>
                <a:cs typeface="Georgia"/>
                <a:sym typeface="Georgia"/>
              </a:rPr>
              <a:t>Sample several answers independently and take a majority vote. No critique step, just counting.</a:t>
            </a:r>
            <a:endParaRPr sz="1125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6" name="Google Shape;147;p7">
            <a:extLst>
              <a:ext uri="{FF2B5EF4-FFF2-40B4-BE49-F238E27FC236}">
                <a16:creationId xmlns:a16="http://schemas.microsoft.com/office/drawing/2014/main" id="{89D83046-2778-B870-67D7-48475001AEA7}"/>
              </a:ext>
            </a:extLst>
          </p:cNvPr>
          <p:cNvSpPr/>
          <p:nvPr/>
        </p:nvSpPr>
        <p:spPr>
          <a:xfrm>
            <a:off x="4696694" y="2812871"/>
            <a:ext cx="3898668" cy="159615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17" name="Google Shape;148;p7">
            <a:extLst>
              <a:ext uri="{FF2B5EF4-FFF2-40B4-BE49-F238E27FC236}">
                <a16:creationId xmlns:a16="http://schemas.microsoft.com/office/drawing/2014/main" id="{9524C5A3-6E17-4640-9797-078F310D66BD}"/>
              </a:ext>
            </a:extLst>
          </p:cNvPr>
          <p:cNvSpPr/>
          <p:nvPr/>
        </p:nvSpPr>
        <p:spPr>
          <a:xfrm>
            <a:off x="4995002" y="3058441"/>
            <a:ext cx="96075" cy="114525"/>
          </a:xfrm>
          <a:prstGeom prst="ellipse">
            <a:avLst/>
          </a:prstGeom>
          <a:solidFill>
            <a:srgbClr val="800020"/>
          </a:solidFill>
          <a:ln>
            <a:noFill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350"/>
          </a:p>
        </p:txBody>
      </p:sp>
      <p:sp>
        <p:nvSpPr>
          <p:cNvPr id="18" name="Google Shape;149;p7">
            <a:extLst>
              <a:ext uri="{FF2B5EF4-FFF2-40B4-BE49-F238E27FC236}">
                <a16:creationId xmlns:a16="http://schemas.microsoft.com/office/drawing/2014/main" id="{78705117-7F19-4600-1A6B-EA9D160FDCC3}"/>
              </a:ext>
            </a:extLst>
          </p:cNvPr>
          <p:cNvSpPr txBox="1"/>
          <p:nvPr/>
        </p:nvSpPr>
        <p:spPr>
          <a:xfrm>
            <a:off x="5187026" y="2976584"/>
            <a:ext cx="3188925" cy="327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Clr>
                <a:srgbClr val="0F172A"/>
              </a:buClr>
              <a:buSzPts val="1650"/>
            </a:pPr>
            <a:r>
              <a:rPr lang="en-US" sz="1238" b="1">
                <a:solidFill>
                  <a:srgbClr val="0F172A"/>
                </a:solidFill>
                <a:latin typeface="Century Schoolbook"/>
                <a:ea typeface="Century Schoolbook"/>
                <a:cs typeface="Century Schoolbook"/>
                <a:sym typeface="Century Schoolbook"/>
              </a:rPr>
              <a:t>Multi-agent debate</a:t>
            </a:r>
            <a:endParaRPr sz="123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50;p7">
            <a:extLst>
              <a:ext uri="{FF2B5EF4-FFF2-40B4-BE49-F238E27FC236}">
                <a16:creationId xmlns:a16="http://schemas.microsoft.com/office/drawing/2014/main" id="{2ED9D566-347B-5308-C076-D991E8259564}"/>
              </a:ext>
            </a:extLst>
          </p:cNvPr>
          <p:cNvSpPr txBox="1"/>
          <p:nvPr/>
        </p:nvSpPr>
        <p:spPr>
          <a:xfrm>
            <a:off x="4995004" y="3426804"/>
            <a:ext cx="3394800" cy="7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lnSpc>
                <a:spcPct val="125000"/>
              </a:lnSpc>
              <a:buClr>
                <a:srgbClr val="334155"/>
              </a:buClr>
              <a:buSzPts val="1300"/>
            </a:pPr>
            <a:r>
              <a:rPr lang="en-US" sz="1125">
                <a:solidFill>
                  <a:srgbClr val="334155"/>
                </a:solidFill>
                <a:latin typeface="Georgia"/>
                <a:ea typeface="Georgia"/>
                <a:cs typeface="Georgia"/>
                <a:sym typeface="Georgia"/>
              </a:rPr>
              <a:t>Several copies of a model critique each other's answers over multiple rounds before settling on one.</a:t>
            </a:r>
            <a:endParaRPr sz="1125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</p:spTree>
    <p:extLst>
      <p:ext uri="{BB962C8B-B14F-4D97-AF65-F5344CB8AC3E}">
        <p14:creationId xmlns:p14="http://schemas.microsoft.com/office/powerpoint/2010/main" val="33960687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BACKGROUND &amp; RELATED WORK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Timeline of Claims</a:t>
            </a:r>
            <a:endParaRPr lang="en-US" sz="2300" dirty="0"/>
          </a:p>
        </p:txBody>
      </p:sp>
      <p:sp>
        <p:nvSpPr>
          <p:cNvPr id="37" name="Text 33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8" name="Text 34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07/24</a:t>
            </a:r>
            <a:endParaRPr lang="en-US" sz="850" dirty="0"/>
          </a:p>
        </p:txBody>
      </p:sp>
      <p:sp>
        <p:nvSpPr>
          <p:cNvPr id="39" name="Text 2">
            <a:extLst>
              <a:ext uri="{FF2B5EF4-FFF2-40B4-BE49-F238E27FC236}">
                <a16:creationId xmlns:a16="http://schemas.microsoft.com/office/drawing/2014/main" id="{0F459FB5-3402-1315-B0C9-EFDBF95A8111}"/>
              </a:ext>
            </a:extLst>
          </p:cNvPr>
          <p:cNvSpPr/>
          <p:nvPr/>
        </p:nvSpPr>
        <p:spPr>
          <a:xfrm>
            <a:off x="548640" y="8686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2023 was packed with self-correction hype</a:t>
            </a:r>
          </a:p>
        </p:txBody>
      </p:sp>
      <p:sp>
        <p:nvSpPr>
          <p:cNvPr id="79" name="Shape 7">
            <a:extLst>
              <a:ext uri="{FF2B5EF4-FFF2-40B4-BE49-F238E27FC236}">
                <a16:creationId xmlns:a16="http://schemas.microsoft.com/office/drawing/2014/main" id="{6F423FA4-B189-83B3-6E39-04079ADFD348}"/>
              </a:ext>
            </a:extLst>
          </p:cNvPr>
          <p:cNvSpPr/>
          <p:nvPr/>
        </p:nvSpPr>
        <p:spPr>
          <a:xfrm>
            <a:off x="548640" y="2834640"/>
            <a:ext cx="8046720" cy="3657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80" name="Shape 8">
            <a:extLst>
              <a:ext uri="{FF2B5EF4-FFF2-40B4-BE49-F238E27FC236}">
                <a16:creationId xmlns:a16="http://schemas.microsoft.com/office/drawing/2014/main" id="{54663FBB-72E9-4A1D-092B-CF8CEE5C7EC1}"/>
              </a:ext>
            </a:extLst>
          </p:cNvPr>
          <p:cNvSpPr/>
          <p:nvPr/>
        </p:nvSpPr>
        <p:spPr>
          <a:xfrm>
            <a:off x="1471505" y="2788920"/>
            <a:ext cx="128016" cy="128016"/>
          </a:xfrm>
          <a:prstGeom prst="ellipse">
            <a:avLst/>
          </a:prstGeom>
          <a:solidFill>
            <a:srgbClr val="80002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9">
            <a:extLst>
              <a:ext uri="{FF2B5EF4-FFF2-40B4-BE49-F238E27FC236}">
                <a16:creationId xmlns:a16="http://schemas.microsoft.com/office/drawing/2014/main" id="{65C72EB3-D566-DAD8-7878-758DD5D120B9}"/>
              </a:ext>
            </a:extLst>
          </p:cNvPr>
          <p:cNvSpPr/>
          <p:nvPr/>
        </p:nvSpPr>
        <p:spPr>
          <a:xfrm>
            <a:off x="599040" y="2953512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2023</a:t>
            </a:r>
            <a:endParaRPr lang="en-US" sz="1000" dirty="0"/>
          </a:p>
        </p:txBody>
      </p:sp>
      <p:sp>
        <p:nvSpPr>
          <p:cNvPr id="82" name="Shape 10">
            <a:extLst>
              <a:ext uri="{FF2B5EF4-FFF2-40B4-BE49-F238E27FC236}">
                <a16:creationId xmlns:a16="http://schemas.microsoft.com/office/drawing/2014/main" id="{0AB48345-5B73-98CD-587B-CC42899BCD31}"/>
              </a:ext>
            </a:extLst>
          </p:cNvPr>
          <p:cNvSpPr/>
          <p:nvPr/>
        </p:nvSpPr>
        <p:spPr>
          <a:xfrm>
            <a:off x="3479800" y="2788920"/>
            <a:ext cx="128016" cy="128016"/>
          </a:xfrm>
          <a:prstGeom prst="ellipse">
            <a:avLst/>
          </a:prstGeom>
          <a:solidFill>
            <a:srgbClr val="1664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11">
            <a:extLst>
              <a:ext uri="{FF2B5EF4-FFF2-40B4-BE49-F238E27FC236}">
                <a16:creationId xmlns:a16="http://schemas.microsoft.com/office/drawing/2014/main" id="{4A95E874-6D2B-8DA7-6D88-E73D521FAD76}"/>
              </a:ext>
            </a:extLst>
          </p:cNvPr>
          <p:cNvSpPr/>
          <p:nvPr/>
        </p:nvSpPr>
        <p:spPr>
          <a:xfrm>
            <a:off x="2610720" y="2953512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2023</a:t>
            </a:r>
            <a:endParaRPr lang="en-US" sz="1000" dirty="0"/>
          </a:p>
        </p:txBody>
      </p:sp>
      <p:sp>
        <p:nvSpPr>
          <p:cNvPr id="84" name="Shape 12">
            <a:extLst>
              <a:ext uri="{FF2B5EF4-FFF2-40B4-BE49-F238E27FC236}">
                <a16:creationId xmlns:a16="http://schemas.microsoft.com/office/drawing/2014/main" id="{9D9160AB-ACC2-67F7-3BCD-9C3B615F706E}"/>
              </a:ext>
            </a:extLst>
          </p:cNvPr>
          <p:cNvSpPr/>
          <p:nvPr/>
        </p:nvSpPr>
        <p:spPr>
          <a:xfrm>
            <a:off x="5491480" y="2788920"/>
            <a:ext cx="128016" cy="128016"/>
          </a:xfrm>
          <a:prstGeom prst="ellipse">
            <a:avLst/>
          </a:prstGeom>
          <a:solidFill>
            <a:srgbClr val="B452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13">
            <a:extLst>
              <a:ext uri="{FF2B5EF4-FFF2-40B4-BE49-F238E27FC236}">
                <a16:creationId xmlns:a16="http://schemas.microsoft.com/office/drawing/2014/main" id="{42EF5E50-5A75-5804-2C82-43534E78CDD1}"/>
              </a:ext>
            </a:extLst>
          </p:cNvPr>
          <p:cNvSpPr/>
          <p:nvPr/>
        </p:nvSpPr>
        <p:spPr>
          <a:xfrm>
            <a:off x="4622400" y="2953512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2023</a:t>
            </a:r>
            <a:endParaRPr lang="en-US" sz="1000" dirty="0"/>
          </a:p>
        </p:txBody>
      </p:sp>
      <p:sp>
        <p:nvSpPr>
          <p:cNvPr id="86" name="Shape 14">
            <a:extLst>
              <a:ext uri="{FF2B5EF4-FFF2-40B4-BE49-F238E27FC236}">
                <a16:creationId xmlns:a16="http://schemas.microsoft.com/office/drawing/2014/main" id="{912C9600-F1BC-5B41-1A98-4DC0222B9BEE}"/>
              </a:ext>
            </a:extLst>
          </p:cNvPr>
          <p:cNvSpPr/>
          <p:nvPr/>
        </p:nvSpPr>
        <p:spPr>
          <a:xfrm>
            <a:off x="7503160" y="2788920"/>
            <a:ext cx="128016" cy="128016"/>
          </a:xfrm>
          <a:prstGeom prst="ellipse">
            <a:avLst/>
          </a:prstGeom>
          <a:solidFill>
            <a:srgbClr val="1D29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7" name="Text 15">
            <a:extLst>
              <a:ext uri="{FF2B5EF4-FFF2-40B4-BE49-F238E27FC236}">
                <a16:creationId xmlns:a16="http://schemas.microsoft.com/office/drawing/2014/main" id="{D0832309-38DB-7BB0-773E-3C78C2D799CC}"/>
              </a:ext>
            </a:extLst>
          </p:cNvPr>
          <p:cNvSpPr/>
          <p:nvPr/>
        </p:nvSpPr>
        <p:spPr>
          <a:xfrm>
            <a:off x="6634080" y="2953512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2023</a:t>
            </a:r>
            <a:endParaRPr lang="en-US" sz="1000" dirty="0"/>
          </a:p>
        </p:txBody>
      </p:sp>
      <p:sp>
        <p:nvSpPr>
          <p:cNvPr id="88" name="Shape 16">
            <a:extLst>
              <a:ext uri="{FF2B5EF4-FFF2-40B4-BE49-F238E27FC236}">
                <a16:creationId xmlns:a16="http://schemas.microsoft.com/office/drawing/2014/main" id="{E25D355F-9BF7-4263-C758-1D04CC3E7698}"/>
              </a:ext>
            </a:extLst>
          </p:cNvPr>
          <p:cNvSpPr/>
          <p:nvPr/>
        </p:nvSpPr>
        <p:spPr>
          <a:xfrm>
            <a:off x="685800" y="1325880"/>
            <a:ext cx="1691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3970">
            <a:solidFill>
              <a:srgbClr val="800020"/>
            </a:solidFill>
            <a:prstDash val="solid"/>
          </a:ln>
        </p:spPr>
      </p:sp>
      <p:sp>
        <p:nvSpPr>
          <p:cNvPr id="89" name="Shape 17">
            <a:extLst>
              <a:ext uri="{FF2B5EF4-FFF2-40B4-BE49-F238E27FC236}">
                <a16:creationId xmlns:a16="http://schemas.microsoft.com/office/drawing/2014/main" id="{A4A17B1E-C4D3-5919-460C-F7A42196B580}"/>
              </a:ext>
            </a:extLst>
          </p:cNvPr>
          <p:cNvSpPr/>
          <p:nvPr/>
        </p:nvSpPr>
        <p:spPr>
          <a:xfrm>
            <a:off x="685800" y="1325880"/>
            <a:ext cx="1691640" cy="54864"/>
          </a:xfrm>
          <a:prstGeom prst="roundRect">
            <a:avLst>
              <a:gd name="adj" fmla="val 133333"/>
            </a:avLst>
          </a:prstGeom>
          <a:solidFill>
            <a:srgbClr val="800020"/>
          </a:solidFill>
          <a:ln w="12700">
            <a:solidFill>
              <a:srgbClr val="800020"/>
            </a:solidFill>
            <a:prstDash val="solid"/>
          </a:ln>
        </p:spPr>
      </p:sp>
      <p:sp>
        <p:nvSpPr>
          <p:cNvPr id="90" name="Shape 18">
            <a:extLst>
              <a:ext uri="{FF2B5EF4-FFF2-40B4-BE49-F238E27FC236}">
                <a16:creationId xmlns:a16="http://schemas.microsoft.com/office/drawing/2014/main" id="{2A04F705-07CB-300D-269F-2E853C50267C}"/>
              </a:ext>
            </a:extLst>
          </p:cNvPr>
          <p:cNvSpPr/>
          <p:nvPr/>
        </p:nvSpPr>
        <p:spPr>
          <a:xfrm>
            <a:off x="1275588" y="1444752"/>
            <a:ext cx="201168" cy="201168"/>
          </a:xfrm>
          <a:prstGeom prst="ellipse">
            <a:avLst/>
          </a:prstGeom>
          <a:solidFill>
            <a:srgbClr val="FFF1F2"/>
          </a:solidFill>
          <a:ln w="8890">
            <a:solidFill>
              <a:srgbClr val="800020"/>
            </a:solidFill>
            <a:prstDash val="solid"/>
          </a:ln>
        </p:spPr>
      </p:sp>
      <p:sp>
        <p:nvSpPr>
          <p:cNvPr id="91" name="Text 19">
            <a:extLst>
              <a:ext uri="{FF2B5EF4-FFF2-40B4-BE49-F238E27FC236}">
                <a16:creationId xmlns:a16="http://schemas.microsoft.com/office/drawing/2014/main" id="{0E7ABA7A-675D-A053-60DA-D3DF2F49D75F}"/>
              </a:ext>
            </a:extLst>
          </p:cNvPr>
          <p:cNvSpPr/>
          <p:nvPr/>
        </p:nvSpPr>
        <p:spPr>
          <a:xfrm>
            <a:off x="1275588" y="144475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800" dirty="0"/>
          </a:p>
        </p:txBody>
      </p:sp>
      <p:sp>
        <p:nvSpPr>
          <p:cNvPr id="92" name="Text 20">
            <a:extLst>
              <a:ext uri="{FF2B5EF4-FFF2-40B4-BE49-F238E27FC236}">
                <a16:creationId xmlns:a16="http://schemas.microsoft.com/office/drawing/2014/main" id="{03A11067-1831-C369-BB07-21B0C15AFB34}"/>
              </a:ext>
            </a:extLst>
          </p:cNvPr>
          <p:cNvSpPr/>
          <p:nvPr/>
        </p:nvSpPr>
        <p:spPr>
          <a:xfrm>
            <a:off x="1513332" y="1444752"/>
            <a:ext cx="283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RCI</a:t>
            </a:r>
            <a:endParaRPr lang="en-US" sz="1400" dirty="0"/>
          </a:p>
        </p:txBody>
      </p:sp>
      <p:sp>
        <p:nvSpPr>
          <p:cNvPr id="93" name="Text 21">
            <a:extLst>
              <a:ext uri="{FF2B5EF4-FFF2-40B4-BE49-F238E27FC236}">
                <a16:creationId xmlns:a16="http://schemas.microsoft.com/office/drawing/2014/main" id="{55721693-BFD2-264F-73C8-3E649747B753}"/>
              </a:ext>
            </a:extLst>
          </p:cNvPr>
          <p:cNvSpPr/>
          <p:nvPr/>
        </p:nvSpPr>
        <p:spPr>
          <a:xfrm>
            <a:off x="685800" y="1691640"/>
            <a:ext cx="1691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 et al.</a:t>
            </a:r>
            <a:endParaRPr lang="en-US" sz="1100" dirty="0"/>
          </a:p>
        </p:txBody>
      </p:sp>
      <p:sp>
        <p:nvSpPr>
          <p:cNvPr id="94" name="Text 22">
            <a:extLst>
              <a:ext uri="{FF2B5EF4-FFF2-40B4-BE49-F238E27FC236}">
                <a16:creationId xmlns:a16="http://schemas.microsoft.com/office/drawing/2014/main" id="{BB7C0AB4-21F0-A3FD-18D3-C78719D7A5F3}"/>
              </a:ext>
            </a:extLst>
          </p:cNvPr>
          <p:cNvSpPr/>
          <p:nvPr/>
        </p:nvSpPr>
        <p:spPr>
          <a:xfrm>
            <a:off x="685800" y="187452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</a:t>
            </a:r>
            <a:endParaRPr lang="en-US" sz="1200" dirty="0"/>
          </a:p>
        </p:txBody>
      </p:sp>
      <p:sp>
        <p:nvSpPr>
          <p:cNvPr id="95" name="Shape 23">
            <a:extLst>
              <a:ext uri="{FF2B5EF4-FFF2-40B4-BE49-F238E27FC236}">
                <a16:creationId xmlns:a16="http://schemas.microsoft.com/office/drawing/2014/main" id="{7A0C142C-2170-C5B5-94FD-7DFDD13C8BA6}"/>
              </a:ext>
            </a:extLst>
          </p:cNvPr>
          <p:cNvSpPr/>
          <p:nvPr/>
        </p:nvSpPr>
        <p:spPr>
          <a:xfrm>
            <a:off x="960120" y="2386584"/>
            <a:ext cx="114300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7620">
            <a:solidFill>
              <a:srgbClr val="800020"/>
            </a:solidFill>
            <a:prstDash val="solid"/>
          </a:ln>
        </p:spPr>
      </p:sp>
      <p:sp>
        <p:nvSpPr>
          <p:cNvPr id="96" name="Text 24">
            <a:extLst>
              <a:ext uri="{FF2B5EF4-FFF2-40B4-BE49-F238E27FC236}">
                <a16:creationId xmlns:a16="http://schemas.microsoft.com/office/drawing/2014/main" id="{735F78C6-79F6-F578-4DF9-AACD44326649}"/>
              </a:ext>
            </a:extLst>
          </p:cNvPr>
          <p:cNvSpPr/>
          <p:nvPr/>
        </p:nvSpPr>
        <p:spPr>
          <a:xfrm>
            <a:off x="960120" y="238658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+7% claimed</a:t>
            </a:r>
            <a:endParaRPr lang="en-US" sz="900" dirty="0"/>
          </a:p>
        </p:txBody>
      </p:sp>
      <p:sp>
        <p:nvSpPr>
          <p:cNvPr id="97" name="Shape 25">
            <a:extLst>
              <a:ext uri="{FF2B5EF4-FFF2-40B4-BE49-F238E27FC236}">
                <a16:creationId xmlns:a16="http://schemas.microsoft.com/office/drawing/2014/main" id="{622D6AE5-B57A-F992-5E19-3063A59FE5C5}"/>
              </a:ext>
            </a:extLst>
          </p:cNvPr>
          <p:cNvSpPr/>
          <p:nvPr/>
        </p:nvSpPr>
        <p:spPr>
          <a:xfrm>
            <a:off x="1522476" y="2651760"/>
            <a:ext cx="18288" cy="182880"/>
          </a:xfrm>
          <a:prstGeom prst="rect">
            <a:avLst/>
          </a:prstGeom>
          <a:solidFill>
            <a:srgbClr val="800020"/>
          </a:solidFill>
          <a:ln/>
        </p:spPr>
      </p:sp>
      <p:sp>
        <p:nvSpPr>
          <p:cNvPr id="98" name="Shape 26">
            <a:extLst>
              <a:ext uri="{FF2B5EF4-FFF2-40B4-BE49-F238E27FC236}">
                <a16:creationId xmlns:a16="http://schemas.microsoft.com/office/drawing/2014/main" id="{A75FBAAB-548E-988A-6952-6609052F313A}"/>
              </a:ext>
            </a:extLst>
          </p:cNvPr>
          <p:cNvSpPr/>
          <p:nvPr/>
        </p:nvSpPr>
        <p:spPr>
          <a:xfrm>
            <a:off x="2697480" y="1325880"/>
            <a:ext cx="1691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3970">
            <a:solidFill>
              <a:srgbClr val="166534"/>
            </a:solidFill>
            <a:prstDash val="solid"/>
          </a:ln>
        </p:spPr>
      </p:sp>
      <p:sp>
        <p:nvSpPr>
          <p:cNvPr id="99" name="Shape 27">
            <a:extLst>
              <a:ext uri="{FF2B5EF4-FFF2-40B4-BE49-F238E27FC236}">
                <a16:creationId xmlns:a16="http://schemas.microsoft.com/office/drawing/2014/main" id="{71CB4AE2-5A78-D1C6-C12F-2C97FF887DE9}"/>
              </a:ext>
            </a:extLst>
          </p:cNvPr>
          <p:cNvSpPr/>
          <p:nvPr/>
        </p:nvSpPr>
        <p:spPr>
          <a:xfrm>
            <a:off x="2697480" y="1325880"/>
            <a:ext cx="1691640" cy="54864"/>
          </a:xfrm>
          <a:prstGeom prst="roundRect">
            <a:avLst>
              <a:gd name="adj" fmla="val 133333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00" name="Shape 28">
            <a:extLst>
              <a:ext uri="{FF2B5EF4-FFF2-40B4-BE49-F238E27FC236}">
                <a16:creationId xmlns:a16="http://schemas.microsoft.com/office/drawing/2014/main" id="{36EB41FA-4DCB-7CA9-5D69-788EB3C054EA}"/>
              </a:ext>
            </a:extLst>
          </p:cNvPr>
          <p:cNvSpPr/>
          <p:nvPr/>
        </p:nvSpPr>
        <p:spPr>
          <a:xfrm>
            <a:off x="3018828" y="1440180"/>
            <a:ext cx="201168" cy="201168"/>
          </a:xfrm>
          <a:prstGeom prst="ellipse">
            <a:avLst/>
          </a:prstGeom>
          <a:solidFill>
            <a:srgbClr val="F0FDF4"/>
          </a:solidFill>
          <a:ln w="8890">
            <a:solidFill>
              <a:srgbClr val="166534"/>
            </a:solidFill>
            <a:prstDash val="solid"/>
          </a:ln>
        </p:spPr>
      </p:sp>
      <p:sp>
        <p:nvSpPr>
          <p:cNvPr id="101" name="Text 29">
            <a:extLst>
              <a:ext uri="{FF2B5EF4-FFF2-40B4-BE49-F238E27FC236}">
                <a16:creationId xmlns:a16="http://schemas.microsoft.com/office/drawing/2014/main" id="{73B38407-4FF0-5549-88AD-46C88BD79DBF}"/>
              </a:ext>
            </a:extLst>
          </p:cNvPr>
          <p:cNvSpPr/>
          <p:nvPr/>
        </p:nvSpPr>
        <p:spPr>
          <a:xfrm>
            <a:off x="3018828" y="144018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800" dirty="0"/>
          </a:p>
        </p:txBody>
      </p:sp>
      <p:sp>
        <p:nvSpPr>
          <p:cNvPr id="102" name="Text 30">
            <a:extLst>
              <a:ext uri="{FF2B5EF4-FFF2-40B4-BE49-F238E27FC236}">
                <a16:creationId xmlns:a16="http://schemas.microsoft.com/office/drawing/2014/main" id="{A347FBC8-CD8D-FD0D-41FE-4ACF793F5577}"/>
              </a:ext>
            </a:extLst>
          </p:cNvPr>
          <p:cNvSpPr/>
          <p:nvPr/>
        </p:nvSpPr>
        <p:spPr>
          <a:xfrm>
            <a:off x="3256572" y="1440180"/>
            <a:ext cx="7863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endParaRPr lang="en-US" sz="1400" dirty="0"/>
          </a:p>
        </p:txBody>
      </p:sp>
      <p:sp>
        <p:nvSpPr>
          <p:cNvPr id="103" name="Text 31">
            <a:extLst>
              <a:ext uri="{FF2B5EF4-FFF2-40B4-BE49-F238E27FC236}">
                <a16:creationId xmlns:a16="http://schemas.microsoft.com/office/drawing/2014/main" id="{F663B3D7-508A-8047-1353-345E9CF1B108}"/>
              </a:ext>
            </a:extLst>
          </p:cNvPr>
          <p:cNvSpPr/>
          <p:nvPr/>
        </p:nvSpPr>
        <p:spPr>
          <a:xfrm>
            <a:off x="2697480" y="1691640"/>
            <a:ext cx="1691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Shinn et al.</a:t>
            </a:r>
            <a:endParaRPr lang="en-US" sz="1100" dirty="0"/>
          </a:p>
        </p:txBody>
      </p:sp>
      <p:sp>
        <p:nvSpPr>
          <p:cNvPr id="104" name="Text 32">
            <a:extLst>
              <a:ext uri="{FF2B5EF4-FFF2-40B4-BE49-F238E27FC236}">
                <a16:creationId xmlns:a16="http://schemas.microsoft.com/office/drawing/2014/main" id="{074A7DB6-0A22-5E22-523D-91851BCDD5F9}"/>
              </a:ext>
            </a:extLst>
          </p:cNvPr>
          <p:cNvSpPr/>
          <p:nvPr/>
        </p:nvSpPr>
        <p:spPr>
          <a:xfrm>
            <a:off x="2697480" y="187452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Verbal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</a:t>
            </a:r>
            <a:endParaRPr lang="en-US" sz="1200" dirty="0"/>
          </a:p>
        </p:txBody>
      </p:sp>
      <p:sp>
        <p:nvSpPr>
          <p:cNvPr id="105" name="Shape 33">
            <a:extLst>
              <a:ext uri="{FF2B5EF4-FFF2-40B4-BE49-F238E27FC236}">
                <a16:creationId xmlns:a16="http://schemas.microsoft.com/office/drawing/2014/main" id="{2856F431-3D34-5E15-3A99-2919DED85198}"/>
              </a:ext>
            </a:extLst>
          </p:cNvPr>
          <p:cNvSpPr/>
          <p:nvPr/>
        </p:nvSpPr>
        <p:spPr>
          <a:xfrm>
            <a:off x="2971800" y="2386584"/>
            <a:ext cx="114300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7620">
            <a:solidFill>
              <a:srgbClr val="166534"/>
            </a:solidFill>
            <a:prstDash val="solid"/>
          </a:ln>
        </p:spPr>
      </p:sp>
      <p:sp>
        <p:nvSpPr>
          <p:cNvPr id="106" name="Text 34">
            <a:extLst>
              <a:ext uri="{FF2B5EF4-FFF2-40B4-BE49-F238E27FC236}">
                <a16:creationId xmlns:a16="http://schemas.microsoft.com/office/drawing/2014/main" id="{D76409D3-25A8-EA34-09F9-ABD109151DD5}"/>
              </a:ext>
            </a:extLst>
          </p:cNvPr>
          <p:cNvSpPr/>
          <p:nvPr/>
        </p:nvSpPr>
        <p:spPr>
          <a:xfrm>
            <a:off x="2971800" y="238658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+11% claimed</a:t>
            </a:r>
            <a:endParaRPr lang="en-US" sz="900" dirty="0"/>
          </a:p>
        </p:txBody>
      </p:sp>
      <p:sp>
        <p:nvSpPr>
          <p:cNvPr id="107" name="Shape 35">
            <a:extLst>
              <a:ext uri="{FF2B5EF4-FFF2-40B4-BE49-F238E27FC236}">
                <a16:creationId xmlns:a16="http://schemas.microsoft.com/office/drawing/2014/main" id="{6DEBE52E-B86A-587F-3932-34A56D1BA578}"/>
              </a:ext>
            </a:extLst>
          </p:cNvPr>
          <p:cNvSpPr/>
          <p:nvPr/>
        </p:nvSpPr>
        <p:spPr>
          <a:xfrm>
            <a:off x="3534156" y="2651760"/>
            <a:ext cx="18288" cy="182880"/>
          </a:xfrm>
          <a:prstGeom prst="rect">
            <a:avLst/>
          </a:prstGeom>
          <a:solidFill>
            <a:srgbClr val="166534"/>
          </a:solidFill>
          <a:ln/>
        </p:spPr>
      </p:sp>
      <p:sp>
        <p:nvSpPr>
          <p:cNvPr id="108" name="Shape 36">
            <a:extLst>
              <a:ext uri="{FF2B5EF4-FFF2-40B4-BE49-F238E27FC236}">
                <a16:creationId xmlns:a16="http://schemas.microsoft.com/office/drawing/2014/main" id="{CE262DF7-D9CB-1C27-4BF0-808196596654}"/>
              </a:ext>
            </a:extLst>
          </p:cNvPr>
          <p:cNvSpPr/>
          <p:nvPr/>
        </p:nvSpPr>
        <p:spPr>
          <a:xfrm>
            <a:off x="4709160" y="1325880"/>
            <a:ext cx="1691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3970">
            <a:solidFill>
              <a:srgbClr val="B45309"/>
            </a:solidFill>
            <a:prstDash val="solid"/>
          </a:ln>
        </p:spPr>
      </p:sp>
      <p:sp>
        <p:nvSpPr>
          <p:cNvPr id="109" name="Shape 37">
            <a:extLst>
              <a:ext uri="{FF2B5EF4-FFF2-40B4-BE49-F238E27FC236}">
                <a16:creationId xmlns:a16="http://schemas.microsoft.com/office/drawing/2014/main" id="{D40947BB-62B6-797D-5135-AE28297FBC85}"/>
              </a:ext>
            </a:extLst>
          </p:cNvPr>
          <p:cNvSpPr/>
          <p:nvPr/>
        </p:nvSpPr>
        <p:spPr>
          <a:xfrm>
            <a:off x="4709160" y="1325880"/>
            <a:ext cx="1691640" cy="54864"/>
          </a:xfrm>
          <a:prstGeom prst="roundRect">
            <a:avLst>
              <a:gd name="adj" fmla="val 133333"/>
            </a:avLst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10" name="Shape 38">
            <a:extLst>
              <a:ext uri="{FF2B5EF4-FFF2-40B4-BE49-F238E27FC236}">
                <a16:creationId xmlns:a16="http://schemas.microsoft.com/office/drawing/2014/main" id="{FBA5FE99-F21F-2B2E-1F70-4D8D7155E718}"/>
              </a:ext>
            </a:extLst>
          </p:cNvPr>
          <p:cNvSpPr/>
          <p:nvPr/>
        </p:nvSpPr>
        <p:spPr>
          <a:xfrm>
            <a:off x="4975640" y="1453896"/>
            <a:ext cx="201168" cy="201168"/>
          </a:xfrm>
          <a:prstGeom prst="ellipse">
            <a:avLst/>
          </a:prstGeom>
          <a:solidFill>
            <a:srgbClr val="FFFBEB"/>
          </a:solidFill>
          <a:ln w="8890">
            <a:solidFill>
              <a:srgbClr val="B45309"/>
            </a:solidFill>
            <a:prstDash val="solid"/>
          </a:ln>
        </p:spPr>
      </p:sp>
      <p:sp>
        <p:nvSpPr>
          <p:cNvPr id="111" name="Text 39">
            <a:extLst>
              <a:ext uri="{FF2B5EF4-FFF2-40B4-BE49-F238E27FC236}">
                <a16:creationId xmlns:a16="http://schemas.microsoft.com/office/drawing/2014/main" id="{9A673D17-C6CA-2B51-FEFC-4E67B27FAC55}"/>
              </a:ext>
            </a:extLst>
          </p:cNvPr>
          <p:cNvSpPr/>
          <p:nvPr/>
        </p:nvSpPr>
        <p:spPr>
          <a:xfrm>
            <a:off x="4975640" y="145389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⬢</a:t>
            </a:r>
            <a:endParaRPr lang="en-US" sz="800" dirty="0"/>
          </a:p>
        </p:txBody>
      </p:sp>
      <p:sp>
        <p:nvSpPr>
          <p:cNvPr id="112" name="Text 40">
            <a:extLst>
              <a:ext uri="{FF2B5EF4-FFF2-40B4-BE49-F238E27FC236}">
                <a16:creationId xmlns:a16="http://schemas.microsoft.com/office/drawing/2014/main" id="{62F114CB-1A80-C1B7-A422-4E5ACD6E72FB}"/>
              </a:ext>
            </a:extLst>
          </p:cNvPr>
          <p:cNvSpPr/>
          <p:nvPr/>
        </p:nvSpPr>
        <p:spPr>
          <a:xfrm>
            <a:off x="5213384" y="1453896"/>
            <a:ext cx="87390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Self-Refine</a:t>
            </a:r>
            <a:endParaRPr lang="en-US" sz="1400" dirty="0"/>
          </a:p>
        </p:txBody>
      </p:sp>
      <p:sp>
        <p:nvSpPr>
          <p:cNvPr id="113" name="Text 41">
            <a:extLst>
              <a:ext uri="{FF2B5EF4-FFF2-40B4-BE49-F238E27FC236}">
                <a16:creationId xmlns:a16="http://schemas.microsoft.com/office/drawing/2014/main" id="{AD0EB08A-11EC-578D-0BB8-8215804D50C1}"/>
              </a:ext>
            </a:extLst>
          </p:cNvPr>
          <p:cNvSpPr/>
          <p:nvPr/>
        </p:nvSpPr>
        <p:spPr>
          <a:xfrm>
            <a:off x="4709160" y="1691640"/>
            <a:ext cx="1691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Madaan et al.</a:t>
            </a:r>
            <a:endParaRPr lang="en-US" sz="1100" dirty="0"/>
          </a:p>
        </p:txBody>
      </p:sp>
      <p:sp>
        <p:nvSpPr>
          <p:cNvPr id="114" name="Text 42">
            <a:extLst>
              <a:ext uri="{FF2B5EF4-FFF2-40B4-BE49-F238E27FC236}">
                <a16:creationId xmlns:a16="http://schemas.microsoft.com/office/drawing/2014/main" id="{652CC0CA-8136-D5C7-5760-ECDDE980D007}"/>
              </a:ext>
            </a:extLst>
          </p:cNvPr>
          <p:cNvSpPr/>
          <p:nvPr/>
        </p:nvSpPr>
        <p:spPr>
          <a:xfrm>
            <a:off x="4709160" y="187452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</a:t>
            </a:r>
            <a:endParaRPr lang="en-US" sz="1200" dirty="0"/>
          </a:p>
        </p:txBody>
      </p:sp>
      <p:sp>
        <p:nvSpPr>
          <p:cNvPr id="115" name="Shape 43">
            <a:extLst>
              <a:ext uri="{FF2B5EF4-FFF2-40B4-BE49-F238E27FC236}">
                <a16:creationId xmlns:a16="http://schemas.microsoft.com/office/drawing/2014/main" id="{E58DCDFE-81FE-719E-7CFD-BF37BD00C09C}"/>
              </a:ext>
            </a:extLst>
          </p:cNvPr>
          <p:cNvSpPr/>
          <p:nvPr/>
        </p:nvSpPr>
        <p:spPr>
          <a:xfrm>
            <a:off x="4983480" y="2386584"/>
            <a:ext cx="114300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7620">
            <a:solidFill>
              <a:srgbClr val="B45309"/>
            </a:solidFill>
            <a:prstDash val="solid"/>
          </a:ln>
        </p:spPr>
      </p:sp>
      <p:sp>
        <p:nvSpPr>
          <p:cNvPr id="116" name="Text 44">
            <a:extLst>
              <a:ext uri="{FF2B5EF4-FFF2-40B4-BE49-F238E27FC236}">
                <a16:creationId xmlns:a16="http://schemas.microsoft.com/office/drawing/2014/main" id="{0C32A0FB-72ED-76CB-A14A-37C72FAD2479}"/>
              </a:ext>
            </a:extLst>
          </p:cNvPr>
          <p:cNvSpPr/>
          <p:nvPr/>
        </p:nvSpPr>
        <p:spPr>
          <a:xfrm>
            <a:off x="4983480" y="238658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+10% claimed</a:t>
            </a:r>
            <a:endParaRPr lang="en-US" sz="900" dirty="0"/>
          </a:p>
        </p:txBody>
      </p:sp>
      <p:sp>
        <p:nvSpPr>
          <p:cNvPr id="117" name="Shape 45">
            <a:extLst>
              <a:ext uri="{FF2B5EF4-FFF2-40B4-BE49-F238E27FC236}">
                <a16:creationId xmlns:a16="http://schemas.microsoft.com/office/drawing/2014/main" id="{9A63733D-0160-8A2D-F6BF-5ABC249E55A3}"/>
              </a:ext>
            </a:extLst>
          </p:cNvPr>
          <p:cNvSpPr/>
          <p:nvPr/>
        </p:nvSpPr>
        <p:spPr>
          <a:xfrm>
            <a:off x="5545836" y="2651760"/>
            <a:ext cx="18288" cy="18288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18" name="Shape 46">
            <a:extLst>
              <a:ext uri="{FF2B5EF4-FFF2-40B4-BE49-F238E27FC236}">
                <a16:creationId xmlns:a16="http://schemas.microsoft.com/office/drawing/2014/main" id="{2D207038-0F37-3AA1-89B6-B7F5AD55D6E3}"/>
              </a:ext>
            </a:extLst>
          </p:cNvPr>
          <p:cNvSpPr/>
          <p:nvPr/>
        </p:nvSpPr>
        <p:spPr>
          <a:xfrm>
            <a:off x="6720840" y="1325880"/>
            <a:ext cx="1691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3970">
            <a:solidFill>
              <a:srgbClr val="1E293B"/>
            </a:solidFill>
            <a:prstDash val="solid"/>
          </a:ln>
        </p:spPr>
      </p:sp>
      <p:sp>
        <p:nvSpPr>
          <p:cNvPr id="119" name="Shape 47">
            <a:extLst>
              <a:ext uri="{FF2B5EF4-FFF2-40B4-BE49-F238E27FC236}">
                <a16:creationId xmlns:a16="http://schemas.microsoft.com/office/drawing/2014/main" id="{1F6EE08B-3EE7-14D2-B555-AD839020B828}"/>
              </a:ext>
            </a:extLst>
          </p:cNvPr>
          <p:cNvSpPr/>
          <p:nvPr/>
        </p:nvSpPr>
        <p:spPr>
          <a:xfrm>
            <a:off x="6720840" y="1325880"/>
            <a:ext cx="1691640" cy="54864"/>
          </a:xfrm>
          <a:prstGeom prst="roundRect">
            <a:avLst>
              <a:gd name="adj" fmla="val 133333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20" name="Shape 48">
            <a:extLst>
              <a:ext uri="{FF2B5EF4-FFF2-40B4-BE49-F238E27FC236}">
                <a16:creationId xmlns:a16="http://schemas.microsoft.com/office/drawing/2014/main" id="{CC3BAF77-0034-74DD-7FDA-7ABC205F22C5}"/>
              </a:ext>
            </a:extLst>
          </p:cNvPr>
          <p:cNvSpPr/>
          <p:nvPr/>
        </p:nvSpPr>
        <p:spPr>
          <a:xfrm>
            <a:off x="7046101" y="1453896"/>
            <a:ext cx="201168" cy="201168"/>
          </a:xfrm>
          <a:prstGeom prst="ellipse">
            <a:avLst/>
          </a:prstGeom>
          <a:solidFill>
            <a:srgbClr val="F8FAFC"/>
          </a:solidFill>
          <a:ln w="8890">
            <a:solidFill>
              <a:srgbClr val="1E293B"/>
            </a:solidFill>
            <a:prstDash val="solid"/>
          </a:ln>
        </p:spPr>
      </p:sp>
      <p:sp>
        <p:nvSpPr>
          <p:cNvPr id="121" name="Text 49">
            <a:extLst>
              <a:ext uri="{FF2B5EF4-FFF2-40B4-BE49-F238E27FC236}">
                <a16:creationId xmlns:a16="http://schemas.microsoft.com/office/drawing/2014/main" id="{24AB2C9E-4C4E-CA6E-BD7E-C3B07C7C4016}"/>
              </a:ext>
            </a:extLst>
          </p:cNvPr>
          <p:cNvSpPr/>
          <p:nvPr/>
        </p:nvSpPr>
        <p:spPr>
          <a:xfrm>
            <a:off x="7046101" y="145389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⬣</a:t>
            </a:r>
            <a:endParaRPr lang="en-US" sz="800" dirty="0"/>
          </a:p>
        </p:txBody>
      </p:sp>
      <p:sp>
        <p:nvSpPr>
          <p:cNvPr id="122" name="Text 50">
            <a:extLst>
              <a:ext uri="{FF2B5EF4-FFF2-40B4-BE49-F238E27FC236}">
                <a16:creationId xmlns:a16="http://schemas.microsoft.com/office/drawing/2014/main" id="{F08FFE6E-A4BB-BDD2-18DB-DCF7E8A52B09}"/>
              </a:ext>
            </a:extLst>
          </p:cNvPr>
          <p:cNvSpPr/>
          <p:nvPr/>
        </p:nvSpPr>
        <p:spPr>
          <a:xfrm>
            <a:off x="7283845" y="1453896"/>
            <a:ext cx="62571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Debate</a:t>
            </a:r>
            <a:endParaRPr lang="en-US" sz="1400" dirty="0"/>
          </a:p>
        </p:txBody>
      </p:sp>
      <p:sp>
        <p:nvSpPr>
          <p:cNvPr id="123" name="Text 51">
            <a:extLst>
              <a:ext uri="{FF2B5EF4-FFF2-40B4-BE49-F238E27FC236}">
                <a16:creationId xmlns:a16="http://schemas.microsoft.com/office/drawing/2014/main" id="{63A6469F-A443-E0D7-2D49-C8567087E1C1}"/>
              </a:ext>
            </a:extLst>
          </p:cNvPr>
          <p:cNvSpPr/>
          <p:nvPr/>
        </p:nvSpPr>
        <p:spPr>
          <a:xfrm>
            <a:off x="6720840" y="1691640"/>
            <a:ext cx="1691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et al.</a:t>
            </a:r>
            <a:endParaRPr lang="en-US" sz="1100" dirty="0"/>
          </a:p>
        </p:txBody>
      </p:sp>
      <p:sp>
        <p:nvSpPr>
          <p:cNvPr id="124" name="Text 52">
            <a:extLst>
              <a:ext uri="{FF2B5EF4-FFF2-40B4-BE49-F238E27FC236}">
                <a16:creationId xmlns:a16="http://schemas.microsoft.com/office/drawing/2014/main" id="{69280D0F-AF83-8E6F-EB2B-1790DAB31C3C}"/>
              </a:ext>
            </a:extLst>
          </p:cNvPr>
          <p:cNvSpPr/>
          <p:nvPr/>
        </p:nvSpPr>
        <p:spPr>
          <a:xfrm>
            <a:off x="6720840" y="187452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debate</a:t>
            </a:r>
            <a:endParaRPr lang="en-US" sz="1200" dirty="0"/>
          </a:p>
        </p:txBody>
      </p:sp>
      <p:sp>
        <p:nvSpPr>
          <p:cNvPr id="125" name="Shape 53">
            <a:extLst>
              <a:ext uri="{FF2B5EF4-FFF2-40B4-BE49-F238E27FC236}">
                <a16:creationId xmlns:a16="http://schemas.microsoft.com/office/drawing/2014/main" id="{C9E7FB31-CF56-9E5E-23C9-599490BDFF68}"/>
              </a:ext>
            </a:extLst>
          </p:cNvPr>
          <p:cNvSpPr/>
          <p:nvPr/>
        </p:nvSpPr>
        <p:spPr>
          <a:xfrm>
            <a:off x="6995160" y="2386584"/>
            <a:ext cx="114300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7620">
            <a:solidFill>
              <a:srgbClr val="1E293B"/>
            </a:solidFill>
            <a:prstDash val="solid"/>
          </a:ln>
        </p:spPr>
      </p:sp>
      <p:sp>
        <p:nvSpPr>
          <p:cNvPr id="126" name="Text 54">
            <a:extLst>
              <a:ext uri="{FF2B5EF4-FFF2-40B4-BE49-F238E27FC236}">
                <a16:creationId xmlns:a16="http://schemas.microsoft.com/office/drawing/2014/main" id="{8399C86E-EE54-9C58-F07F-9D91E7B0C5F1}"/>
              </a:ext>
            </a:extLst>
          </p:cNvPr>
          <p:cNvSpPr/>
          <p:nvPr/>
        </p:nvSpPr>
        <p:spPr>
          <a:xfrm>
            <a:off x="6995160" y="238658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+4% claimed</a:t>
            </a:r>
            <a:endParaRPr lang="en-US" sz="900" dirty="0"/>
          </a:p>
        </p:txBody>
      </p:sp>
      <p:sp>
        <p:nvSpPr>
          <p:cNvPr id="127" name="Shape 55">
            <a:extLst>
              <a:ext uri="{FF2B5EF4-FFF2-40B4-BE49-F238E27FC236}">
                <a16:creationId xmlns:a16="http://schemas.microsoft.com/office/drawing/2014/main" id="{17E4A98F-F0B9-AAD4-C6F4-43FD258B9F32}"/>
              </a:ext>
            </a:extLst>
          </p:cNvPr>
          <p:cNvSpPr/>
          <p:nvPr/>
        </p:nvSpPr>
        <p:spPr>
          <a:xfrm>
            <a:off x="7557516" y="2651760"/>
            <a:ext cx="18288" cy="1828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28" name="Shape 56">
            <a:extLst>
              <a:ext uri="{FF2B5EF4-FFF2-40B4-BE49-F238E27FC236}">
                <a16:creationId xmlns:a16="http://schemas.microsoft.com/office/drawing/2014/main" id="{5EA9F3EE-E96C-152B-04AA-9EE664CE4058}"/>
              </a:ext>
            </a:extLst>
          </p:cNvPr>
          <p:cNvSpPr/>
          <p:nvPr/>
        </p:nvSpPr>
        <p:spPr>
          <a:xfrm>
            <a:off x="548640" y="3246120"/>
            <a:ext cx="8046720" cy="1234440"/>
          </a:xfrm>
          <a:prstGeom prst="roundRect">
            <a:avLst>
              <a:gd name="adj" fmla="val 592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9" name="Text 57">
            <a:extLst>
              <a:ext uri="{FF2B5EF4-FFF2-40B4-BE49-F238E27FC236}">
                <a16:creationId xmlns:a16="http://schemas.microsoft.com/office/drawing/2014/main" id="{E2CCA4AD-3E47-9BD5-4C28-07828E89FBB3}"/>
              </a:ext>
            </a:extLst>
          </p:cNvPr>
          <p:cNvSpPr/>
          <p:nvPr/>
        </p:nvSpPr>
        <p:spPr>
          <a:xfrm>
            <a:off x="685800" y="3364992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TIMELINE HIDES</a:t>
            </a:r>
            <a:endParaRPr lang="en-US" sz="750" dirty="0"/>
          </a:p>
        </p:txBody>
      </p:sp>
      <p:sp>
        <p:nvSpPr>
          <p:cNvPr id="130" name="Shape 58">
            <a:extLst>
              <a:ext uri="{FF2B5EF4-FFF2-40B4-BE49-F238E27FC236}">
                <a16:creationId xmlns:a16="http://schemas.microsoft.com/office/drawing/2014/main" id="{BE3D2233-43EC-CFC2-522A-E242FF111C43}"/>
              </a:ext>
            </a:extLst>
          </p:cNvPr>
          <p:cNvSpPr/>
          <p:nvPr/>
        </p:nvSpPr>
        <p:spPr>
          <a:xfrm>
            <a:off x="777240" y="3584448"/>
            <a:ext cx="292608" cy="29260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131" name="Text 59">
            <a:extLst>
              <a:ext uri="{FF2B5EF4-FFF2-40B4-BE49-F238E27FC236}">
                <a16:creationId xmlns:a16="http://schemas.microsoft.com/office/drawing/2014/main" id="{EF1D2ECA-F000-6832-764C-D02412A470F8}"/>
              </a:ext>
            </a:extLst>
          </p:cNvPr>
          <p:cNvSpPr/>
          <p:nvPr/>
        </p:nvSpPr>
        <p:spPr>
          <a:xfrm>
            <a:off x="777240" y="3584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900" dirty="0"/>
          </a:p>
        </p:txBody>
      </p:sp>
      <p:sp>
        <p:nvSpPr>
          <p:cNvPr id="132" name="Text 60">
            <a:extLst>
              <a:ext uri="{FF2B5EF4-FFF2-40B4-BE49-F238E27FC236}">
                <a16:creationId xmlns:a16="http://schemas.microsoft.com/office/drawing/2014/main" id="{1457736E-75A5-370D-462D-6C8020963ED8}"/>
              </a:ext>
            </a:extLst>
          </p:cNvPr>
          <p:cNvSpPr/>
          <p:nvPr/>
        </p:nvSpPr>
        <p:spPr>
          <a:xfrm>
            <a:off x="1143000" y="3590280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leakage</a:t>
            </a:r>
            <a:endParaRPr lang="en-US" sz="1400" dirty="0"/>
          </a:p>
        </p:txBody>
      </p:sp>
      <p:sp>
        <p:nvSpPr>
          <p:cNvPr id="133" name="Text 61">
            <a:extLst>
              <a:ext uri="{FF2B5EF4-FFF2-40B4-BE49-F238E27FC236}">
                <a16:creationId xmlns:a16="http://schemas.microsoft.com/office/drawing/2014/main" id="{B4E35221-FDCC-AEFE-9BBA-9F1E9CB7B438}"/>
              </a:ext>
            </a:extLst>
          </p:cNvPr>
          <p:cNvSpPr/>
          <p:nvPr/>
        </p:nvSpPr>
        <p:spPr>
          <a:xfrm>
            <a:off x="1143000" y="387705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wrong answers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critiqued</a:t>
            </a:r>
            <a:endParaRPr lang="en-US" sz="1200" dirty="0"/>
          </a:p>
        </p:txBody>
      </p:sp>
      <p:sp>
        <p:nvSpPr>
          <p:cNvPr id="134" name="Shape 62">
            <a:extLst>
              <a:ext uri="{FF2B5EF4-FFF2-40B4-BE49-F238E27FC236}">
                <a16:creationId xmlns:a16="http://schemas.microsoft.com/office/drawing/2014/main" id="{F384623B-97C4-B3E0-EEB2-99AB1EC26A90}"/>
              </a:ext>
            </a:extLst>
          </p:cNvPr>
          <p:cNvSpPr/>
          <p:nvPr/>
        </p:nvSpPr>
        <p:spPr>
          <a:xfrm>
            <a:off x="3383280" y="3584448"/>
            <a:ext cx="292608" cy="292608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35" name="Text 63">
            <a:extLst>
              <a:ext uri="{FF2B5EF4-FFF2-40B4-BE49-F238E27FC236}">
                <a16:creationId xmlns:a16="http://schemas.microsoft.com/office/drawing/2014/main" id="{BA88AD1D-8B98-7D19-1F3D-1B73DD49ABCF}"/>
              </a:ext>
            </a:extLst>
          </p:cNvPr>
          <p:cNvSpPr/>
          <p:nvPr/>
        </p:nvSpPr>
        <p:spPr>
          <a:xfrm>
            <a:off x="3383280" y="3584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</a:t>
            </a:r>
            <a:endParaRPr lang="en-US" sz="900" dirty="0"/>
          </a:p>
        </p:txBody>
      </p:sp>
      <p:sp>
        <p:nvSpPr>
          <p:cNvPr id="136" name="Text 64">
            <a:extLst>
              <a:ext uri="{FF2B5EF4-FFF2-40B4-BE49-F238E27FC236}">
                <a16:creationId xmlns:a16="http://schemas.microsoft.com/office/drawing/2014/main" id="{8F06C94B-9100-9462-9E31-98BF1742499C}"/>
              </a:ext>
            </a:extLst>
          </p:cNvPr>
          <p:cNvSpPr/>
          <p:nvPr/>
        </p:nvSpPr>
        <p:spPr>
          <a:xfrm>
            <a:off x="3749040" y="3630168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trick</a:t>
            </a:r>
            <a:endParaRPr lang="en-US" sz="1400" dirty="0"/>
          </a:p>
        </p:txBody>
      </p:sp>
      <p:sp>
        <p:nvSpPr>
          <p:cNvPr id="137" name="Text 65">
            <a:extLst>
              <a:ext uri="{FF2B5EF4-FFF2-40B4-BE49-F238E27FC236}">
                <a16:creationId xmlns:a16="http://schemas.microsoft.com/office/drawing/2014/main" id="{59F2CA61-6BA0-180D-1FD1-2E9B7F26E1DA}"/>
              </a:ext>
            </a:extLst>
          </p:cNvPr>
          <p:cNvSpPr/>
          <p:nvPr/>
        </p:nvSpPr>
        <p:spPr>
          <a:xfrm>
            <a:off x="3749040" y="387705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withheld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re-added</a:t>
            </a:r>
            <a:endParaRPr lang="en-US" sz="1200" dirty="0"/>
          </a:p>
        </p:txBody>
      </p:sp>
      <p:sp>
        <p:nvSpPr>
          <p:cNvPr id="138" name="Shape 66">
            <a:extLst>
              <a:ext uri="{FF2B5EF4-FFF2-40B4-BE49-F238E27FC236}">
                <a16:creationId xmlns:a16="http://schemas.microsoft.com/office/drawing/2014/main" id="{AC5901F4-0C78-E459-3DF9-C5260124E77F}"/>
              </a:ext>
            </a:extLst>
          </p:cNvPr>
          <p:cNvSpPr/>
          <p:nvPr/>
        </p:nvSpPr>
        <p:spPr>
          <a:xfrm>
            <a:off x="5989320" y="3584448"/>
            <a:ext cx="292608" cy="292608"/>
          </a:xfrm>
          <a:prstGeom prst="ellipse">
            <a:avLst/>
          </a:prstGeom>
          <a:solidFill>
            <a:srgbClr val="1E293B"/>
          </a:solidFill>
          <a:ln/>
        </p:spPr>
      </p:sp>
      <p:sp>
        <p:nvSpPr>
          <p:cNvPr id="139" name="Text 67">
            <a:extLst>
              <a:ext uri="{FF2B5EF4-FFF2-40B4-BE49-F238E27FC236}">
                <a16:creationId xmlns:a16="http://schemas.microsoft.com/office/drawing/2014/main" id="{405641B7-9616-E888-6819-584EDE7259B4}"/>
              </a:ext>
            </a:extLst>
          </p:cNvPr>
          <p:cNvSpPr/>
          <p:nvPr/>
        </p:nvSpPr>
        <p:spPr>
          <a:xfrm>
            <a:off x="5989320" y="3584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⬢</a:t>
            </a:r>
            <a:endParaRPr lang="en-US" sz="900" dirty="0"/>
          </a:p>
        </p:txBody>
      </p:sp>
      <p:sp>
        <p:nvSpPr>
          <p:cNvPr id="140" name="Text 68">
            <a:extLst>
              <a:ext uri="{FF2B5EF4-FFF2-40B4-BE49-F238E27FC236}">
                <a16:creationId xmlns:a16="http://schemas.microsoft.com/office/drawing/2014/main" id="{56A6EFFB-AAE6-5691-D04E-8938856674DE}"/>
              </a:ext>
            </a:extLst>
          </p:cNvPr>
          <p:cNvSpPr/>
          <p:nvPr/>
        </p:nvSpPr>
        <p:spPr>
          <a:xfrm>
            <a:off x="6355080" y="3621024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gap</a:t>
            </a:r>
            <a:endParaRPr lang="en-US" sz="1400" dirty="0"/>
          </a:p>
        </p:txBody>
      </p:sp>
      <p:sp>
        <p:nvSpPr>
          <p:cNvPr id="141" name="Text 69">
            <a:extLst>
              <a:ext uri="{FF2B5EF4-FFF2-40B4-BE49-F238E27FC236}">
                <a16:creationId xmlns:a16="http://schemas.microsoft.com/office/drawing/2014/main" id="{66D03A5C-20CF-2B73-E0D7-F55E51DCB8FB}"/>
              </a:ext>
            </a:extLst>
          </p:cNvPr>
          <p:cNvSpPr/>
          <p:nvPr/>
        </p:nvSpPr>
        <p:spPr>
          <a:xfrm>
            <a:off x="6355080" y="387705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Debate uses 3 to 6x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vs single shot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ABC0E-23E8-91D9-F5B9-7DBBF113D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7D5AA14-DD7A-4158-18A1-C04A146873B4}"/>
              </a:ext>
            </a:extLst>
          </p:cNvPr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BACKGROUND &amp; RELATED WORK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567AD66-6295-0B23-1A55-8A72B15953F6}"/>
              </a:ext>
            </a:extLst>
          </p:cNvPr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Closed Loop vs Grounded Loop</a:t>
            </a:r>
            <a:endParaRPr lang="en-US" sz="2300" dirty="0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6276B489-5162-302F-E034-42572A5957C4}"/>
              </a:ext>
            </a:extLst>
          </p:cNvPr>
          <p:cNvSpPr/>
          <p:nvPr/>
        </p:nvSpPr>
        <p:spPr>
          <a:xfrm>
            <a:off x="548640" y="4407408"/>
            <a:ext cx="8046720" cy="274320"/>
          </a:xfrm>
          <a:prstGeom prst="roundRect">
            <a:avLst>
              <a:gd name="adj" fmla="val 13333"/>
            </a:avLst>
          </a:prstGeom>
          <a:solidFill>
            <a:srgbClr val="FFF1F2"/>
          </a:solidFill>
          <a:ln w="7620">
            <a:solidFill>
              <a:srgbClr val="800020"/>
            </a:solidFill>
            <a:prstDash val="solid"/>
          </a:ln>
        </p:spPr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9BF49F31-7332-44C8-C2C1-826C67B83ECC}"/>
              </a:ext>
            </a:extLst>
          </p:cNvPr>
          <p:cNvSpPr/>
          <p:nvPr/>
        </p:nvSpPr>
        <p:spPr>
          <a:xfrm>
            <a:off x="640080" y="440740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C0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Principle: A frozen model cannot act as an independent verifier of its own output without external grounding.</a:t>
            </a:r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296C7AE0-30C3-3CF0-0D88-96CE3EE99F69}"/>
              </a:ext>
            </a:extLst>
          </p:cNvPr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263A8919-EA38-5065-BC09-6B4176A4D463}"/>
              </a:ext>
            </a:extLst>
          </p:cNvPr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08/24</a:t>
            </a:r>
            <a:endParaRPr lang="en-US" sz="850" dirty="0"/>
          </a:p>
        </p:txBody>
      </p:sp>
      <p:sp>
        <p:nvSpPr>
          <p:cNvPr id="39" name="Text 2">
            <a:extLst>
              <a:ext uri="{FF2B5EF4-FFF2-40B4-BE49-F238E27FC236}">
                <a16:creationId xmlns:a16="http://schemas.microsoft.com/office/drawing/2014/main" id="{1D6524FD-5CFF-CB4C-3D41-A4382EF7B3B3}"/>
              </a:ext>
            </a:extLst>
          </p:cNvPr>
          <p:cNvSpPr/>
          <p:nvPr/>
        </p:nvSpPr>
        <p:spPr>
          <a:xfrm>
            <a:off x="548640" y="8686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model, different information: why internal reflection fails but external verification works</a:t>
            </a:r>
          </a:p>
        </p:txBody>
      </p:sp>
      <p:sp>
        <p:nvSpPr>
          <p:cNvPr id="41" name="Shape 6">
            <a:extLst>
              <a:ext uri="{FF2B5EF4-FFF2-40B4-BE49-F238E27FC236}">
                <a16:creationId xmlns:a16="http://schemas.microsoft.com/office/drawing/2014/main" id="{1062C0C4-AAB0-AE04-4B33-FF6AAF1A15E9}"/>
              </a:ext>
            </a:extLst>
          </p:cNvPr>
          <p:cNvSpPr/>
          <p:nvPr/>
        </p:nvSpPr>
        <p:spPr>
          <a:xfrm>
            <a:off x="548640" y="1250236"/>
            <a:ext cx="3886200" cy="3024584"/>
          </a:xfrm>
          <a:prstGeom prst="roundRect">
            <a:avLst>
              <a:gd name="adj" fmla="val 2667"/>
            </a:avLst>
          </a:prstGeom>
          <a:solidFill>
            <a:srgbClr val="FFF1F2"/>
          </a:solidFill>
          <a:ln w="15240">
            <a:solidFill>
              <a:srgbClr val="800020"/>
            </a:solidFill>
            <a:prstDash val="solid"/>
          </a:ln>
        </p:spPr>
      </p:sp>
      <p:sp>
        <p:nvSpPr>
          <p:cNvPr id="42" name="Shape 7">
            <a:extLst>
              <a:ext uri="{FF2B5EF4-FFF2-40B4-BE49-F238E27FC236}">
                <a16:creationId xmlns:a16="http://schemas.microsoft.com/office/drawing/2014/main" id="{18903C6F-72BA-340F-0C1B-2554A4209799}"/>
              </a:ext>
            </a:extLst>
          </p:cNvPr>
          <p:cNvSpPr/>
          <p:nvPr/>
        </p:nvSpPr>
        <p:spPr>
          <a:xfrm>
            <a:off x="685800" y="1359964"/>
            <a:ext cx="3611880" cy="274320"/>
          </a:xfrm>
          <a:prstGeom prst="roundRect">
            <a:avLst>
              <a:gd name="adj" fmla="val 13333"/>
            </a:avLst>
          </a:prstGeom>
          <a:solidFill>
            <a:srgbClr val="800020"/>
          </a:solidFill>
          <a:ln w="12700">
            <a:solidFill>
              <a:srgbClr val="800020"/>
            </a:solidFill>
            <a:prstDash val="solid"/>
          </a:ln>
        </p:spPr>
      </p:sp>
      <p:sp>
        <p:nvSpPr>
          <p:cNvPr id="43" name="Text 8">
            <a:extLst>
              <a:ext uri="{FF2B5EF4-FFF2-40B4-BE49-F238E27FC236}">
                <a16:creationId xmlns:a16="http://schemas.microsoft.com/office/drawing/2014/main" id="{91213297-11EF-FFE9-FD5B-D10A77AE7F08}"/>
              </a:ext>
            </a:extLst>
          </p:cNvPr>
          <p:cNvSpPr/>
          <p:nvPr/>
        </p:nvSpPr>
        <p:spPr>
          <a:xfrm>
            <a:off x="685800" y="135996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INTRINSIC : Closed Loop (Paper Focus)</a:t>
            </a:r>
            <a:endParaRPr lang="en-US" sz="900" dirty="0"/>
          </a:p>
        </p:txBody>
      </p:sp>
      <p:sp>
        <p:nvSpPr>
          <p:cNvPr id="44" name="Shape 9">
            <a:extLst>
              <a:ext uri="{FF2B5EF4-FFF2-40B4-BE49-F238E27FC236}">
                <a16:creationId xmlns:a16="http://schemas.microsoft.com/office/drawing/2014/main" id="{A66C8B89-DC05-E5E0-1B48-68964AC717ED}"/>
              </a:ext>
            </a:extLst>
          </p:cNvPr>
          <p:cNvSpPr/>
          <p:nvPr/>
        </p:nvSpPr>
        <p:spPr>
          <a:xfrm>
            <a:off x="2034540" y="1750386"/>
            <a:ext cx="914400" cy="91717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800020"/>
            </a:solidFill>
            <a:prstDash val="solid"/>
          </a:ln>
        </p:spPr>
      </p:sp>
      <p:sp>
        <p:nvSpPr>
          <p:cNvPr id="45" name="Text 10">
            <a:extLst>
              <a:ext uri="{FF2B5EF4-FFF2-40B4-BE49-F238E27FC236}">
                <a16:creationId xmlns:a16="http://schemas.microsoft.com/office/drawing/2014/main" id="{6F24F09C-6110-99D4-2B33-F873371BE030}"/>
              </a:ext>
            </a:extLst>
          </p:cNvPr>
          <p:cNvSpPr/>
          <p:nvPr/>
        </p:nvSpPr>
        <p:spPr>
          <a:xfrm>
            <a:off x="1988820" y="198175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LLM</a:t>
            </a:r>
            <a:endParaRPr lang="en-US" sz="1300" dirty="0"/>
          </a:p>
        </p:txBody>
      </p:sp>
      <p:sp>
        <p:nvSpPr>
          <p:cNvPr id="46" name="Text 11">
            <a:extLst>
              <a:ext uri="{FF2B5EF4-FFF2-40B4-BE49-F238E27FC236}">
                <a16:creationId xmlns:a16="http://schemas.microsoft.com/office/drawing/2014/main" id="{CEB35CD5-0AF9-644E-88D3-C9C9E5A5769A}"/>
              </a:ext>
            </a:extLst>
          </p:cNvPr>
          <p:cNvSpPr/>
          <p:nvPr/>
        </p:nvSpPr>
        <p:spPr>
          <a:xfrm>
            <a:off x="1988820" y="2237788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Weights</a:t>
            </a:r>
            <a:endParaRPr lang="en-US" sz="900" dirty="0"/>
          </a:p>
        </p:txBody>
      </p:sp>
      <p:sp>
        <p:nvSpPr>
          <p:cNvPr id="47" name="Shape 12">
            <a:extLst>
              <a:ext uri="{FF2B5EF4-FFF2-40B4-BE49-F238E27FC236}">
                <a16:creationId xmlns:a16="http://schemas.microsoft.com/office/drawing/2014/main" id="{A5DC74FE-C487-E794-531D-E9AF8AD84D36}"/>
              </a:ext>
            </a:extLst>
          </p:cNvPr>
          <p:cNvSpPr/>
          <p:nvPr/>
        </p:nvSpPr>
        <p:spPr>
          <a:xfrm>
            <a:off x="777240" y="1808020"/>
            <a:ext cx="100584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0160">
            <a:solidFill>
              <a:srgbClr val="800020"/>
            </a:solidFill>
            <a:prstDash val="solid"/>
          </a:ln>
        </p:spPr>
      </p:sp>
      <p:sp>
        <p:nvSpPr>
          <p:cNvPr id="48" name="Text 13">
            <a:extLst>
              <a:ext uri="{FF2B5EF4-FFF2-40B4-BE49-F238E27FC236}">
                <a16:creationId xmlns:a16="http://schemas.microsoft.com/office/drawing/2014/main" id="{B5C24D17-1CF8-19CA-D79A-24FD9B5FEA4B}"/>
              </a:ext>
            </a:extLst>
          </p:cNvPr>
          <p:cNvSpPr/>
          <p:nvPr/>
        </p:nvSpPr>
        <p:spPr>
          <a:xfrm>
            <a:off x="777240" y="18080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Generate</a:t>
            </a:r>
            <a:endParaRPr lang="en-US" sz="1200" dirty="0"/>
          </a:p>
        </p:txBody>
      </p:sp>
      <p:sp>
        <p:nvSpPr>
          <p:cNvPr id="49" name="Shape 14">
            <a:extLst>
              <a:ext uri="{FF2B5EF4-FFF2-40B4-BE49-F238E27FC236}">
                <a16:creationId xmlns:a16="http://schemas.microsoft.com/office/drawing/2014/main" id="{FA61095B-29D9-90E6-B645-AC82DEC88D85}"/>
              </a:ext>
            </a:extLst>
          </p:cNvPr>
          <p:cNvSpPr/>
          <p:nvPr/>
        </p:nvSpPr>
        <p:spPr>
          <a:xfrm>
            <a:off x="3200400" y="1808020"/>
            <a:ext cx="100584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0160">
            <a:solidFill>
              <a:srgbClr val="800020"/>
            </a:solidFill>
            <a:prstDash val="solid"/>
          </a:ln>
        </p:spPr>
      </p:sp>
      <p:sp>
        <p:nvSpPr>
          <p:cNvPr id="50" name="Text 15">
            <a:extLst>
              <a:ext uri="{FF2B5EF4-FFF2-40B4-BE49-F238E27FC236}">
                <a16:creationId xmlns:a16="http://schemas.microsoft.com/office/drawing/2014/main" id="{26C46C3B-D349-73D4-4E26-F67CC00842F6}"/>
              </a:ext>
            </a:extLst>
          </p:cNvPr>
          <p:cNvSpPr/>
          <p:nvPr/>
        </p:nvSpPr>
        <p:spPr>
          <a:xfrm>
            <a:off x="3200400" y="18080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Self-Critique</a:t>
            </a:r>
            <a:endParaRPr lang="en-US" sz="1200" dirty="0"/>
          </a:p>
        </p:txBody>
      </p:sp>
      <p:sp>
        <p:nvSpPr>
          <p:cNvPr id="51" name="Shape 16">
            <a:extLst>
              <a:ext uri="{FF2B5EF4-FFF2-40B4-BE49-F238E27FC236}">
                <a16:creationId xmlns:a16="http://schemas.microsoft.com/office/drawing/2014/main" id="{3D4B4361-C81D-DA26-7C6D-950F0AD6C073}"/>
              </a:ext>
            </a:extLst>
          </p:cNvPr>
          <p:cNvSpPr/>
          <p:nvPr/>
        </p:nvSpPr>
        <p:spPr>
          <a:xfrm>
            <a:off x="1851660" y="2760105"/>
            <a:ext cx="128016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0160">
            <a:solidFill>
              <a:srgbClr val="800020"/>
            </a:solidFill>
            <a:prstDash val="solid"/>
          </a:ln>
        </p:spPr>
      </p:sp>
      <p:sp>
        <p:nvSpPr>
          <p:cNvPr id="52" name="Text 17">
            <a:extLst>
              <a:ext uri="{FF2B5EF4-FFF2-40B4-BE49-F238E27FC236}">
                <a16:creationId xmlns:a16="http://schemas.microsoft.com/office/drawing/2014/main" id="{FE12A0FE-ACF3-80BC-6CEA-072A6165AA03}"/>
              </a:ext>
            </a:extLst>
          </p:cNvPr>
          <p:cNvSpPr/>
          <p:nvPr/>
        </p:nvSpPr>
        <p:spPr>
          <a:xfrm>
            <a:off x="1851660" y="2760105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Revise Blind</a:t>
            </a:r>
            <a:endParaRPr lang="en-US" sz="1200" dirty="0"/>
          </a:p>
        </p:txBody>
      </p:sp>
      <p:sp>
        <p:nvSpPr>
          <p:cNvPr id="53" name="Shape 18">
            <a:extLst>
              <a:ext uri="{FF2B5EF4-FFF2-40B4-BE49-F238E27FC236}">
                <a16:creationId xmlns:a16="http://schemas.microsoft.com/office/drawing/2014/main" id="{97BD0EBF-0DE5-FFB9-27C3-3DDB4895634F}"/>
              </a:ext>
            </a:extLst>
          </p:cNvPr>
          <p:cNvSpPr/>
          <p:nvPr/>
        </p:nvSpPr>
        <p:spPr>
          <a:xfrm>
            <a:off x="685800" y="3203589"/>
            <a:ext cx="3611880" cy="941832"/>
          </a:xfrm>
          <a:prstGeom prst="roundRect">
            <a:avLst>
              <a:gd name="adj" fmla="val 4630"/>
            </a:avLst>
          </a:prstGeom>
          <a:solidFill>
            <a:srgbClr val="FFFFFF"/>
          </a:solidFill>
          <a:ln w="10160">
            <a:solidFill>
              <a:srgbClr val="800020"/>
            </a:solidFill>
            <a:prstDash val="solid"/>
          </a:ln>
        </p:spPr>
      </p:sp>
      <p:sp>
        <p:nvSpPr>
          <p:cNvPr id="54" name="Text 19">
            <a:extLst>
              <a:ext uri="{FF2B5EF4-FFF2-40B4-BE49-F238E27FC236}">
                <a16:creationId xmlns:a16="http://schemas.microsoft.com/office/drawing/2014/main" id="{E5705006-8667-EAC9-544A-C3B9F531B899}"/>
              </a:ext>
            </a:extLst>
          </p:cNvPr>
          <p:cNvSpPr/>
          <p:nvPr/>
        </p:nvSpPr>
        <p:spPr>
          <a:xfrm>
            <a:off x="731520" y="3279093"/>
            <a:ext cx="3520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CHANGE</a:t>
            </a:r>
            <a:endParaRPr lang="en-US" sz="700" dirty="0"/>
          </a:p>
        </p:txBody>
      </p:sp>
      <p:sp>
        <p:nvSpPr>
          <p:cNvPr id="55" name="Text 20">
            <a:extLst>
              <a:ext uri="{FF2B5EF4-FFF2-40B4-BE49-F238E27FC236}">
                <a16:creationId xmlns:a16="http://schemas.microsoft.com/office/drawing/2014/main" id="{9660FBA7-3E34-1E25-873E-0FEB7DACAA84}"/>
              </a:ext>
            </a:extLst>
          </p:cNvPr>
          <p:cNvSpPr/>
          <p:nvPr/>
        </p:nvSpPr>
        <p:spPr>
          <a:xfrm>
            <a:off x="731520" y="3443685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-1.3%  to  -27.5%</a:t>
            </a:r>
            <a:endParaRPr lang="en-US" sz="1400" dirty="0"/>
          </a:p>
        </p:txBody>
      </p:sp>
      <p:sp>
        <p:nvSpPr>
          <p:cNvPr id="56" name="Text 21">
            <a:extLst>
              <a:ext uri="{FF2B5EF4-FFF2-40B4-BE49-F238E27FC236}">
                <a16:creationId xmlns:a16="http://schemas.microsoft.com/office/drawing/2014/main" id="{56218D0B-3833-E94F-F2FD-C826025B618B}"/>
              </a:ext>
            </a:extLst>
          </p:cNvPr>
          <p:cNvSpPr/>
          <p:nvPr/>
        </p:nvSpPr>
        <p:spPr>
          <a:xfrm>
            <a:off x="777240" y="3703599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lang="en-US" sz="1000" b="1" dirty="0"/>
              <a:t>No new facts.</a:t>
            </a:r>
            <a:r>
              <a:rPr lang="en-US" sz="1000" dirty="0"/>
              <a:t> Shared models can hallucinate errors.</a:t>
            </a:r>
          </a:p>
        </p:txBody>
      </p:sp>
      <p:sp>
        <p:nvSpPr>
          <p:cNvPr id="57" name="Shape 22">
            <a:extLst>
              <a:ext uri="{FF2B5EF4-FFF2-40B4-BE49-F238E27FC236}">
                <a16:creationId xmlns:a16="http://schemas.microsoft.com/office/drawing/2014/main" id="{26F627C5-ED29-1179-4B1E-169CE494F3A1}"/>
              </a:ext>
            </a:extLst>
          </p:cNvPr>
          <p:cNvSpPr/>
          <p:nvPr/>
        </p:nvSpPr>
        <p:spPr>
          <a:xfrm>
            <a:off x="4709160" y="1250236"/>
            <a:ext cx="3886200" cy="3024584"/>
          </a:xfrm>
          <a:prstGeom prst="roundRect">
            <a:avLst>
              <a:gd name="adj" fmla="val 2667"/>
            </a:avLst>
          </a:prstGeom>
          <a:solidFill>
            <a:srgbClr val="F0FDF4"/>
          </a:solidFill>
          <a:ln w="15240">
            <a:solidFill>
              <a:srgbClr val="166534"/>
            </a:solidFill>
            <a:prstDash val="solid"/>
          </a:ln>
        </p:spPr>
      </p:sp>
      <p:sp>
        <p:nvSpPr>
          <p:cNvPr id="58" name="Shape 23">
            <a:extLst>
              <a:ext uri="{FF2B5EF4-FFF2-40B4-BE49-F238E27FC236}">
                <a16:creationId xmlns:a16="http://schemas.microsoft.com/office/drawing/2014/main" id="{4EA63DC9-F4AD-2057-2925-9B5BCDE4DF67}"/>
              </a:ext>
            </a:extLst>
          </p:cNvPr>
          <p:cNvSpPr/>
          <p:nvPr/>
        </p:nvSpPr>
        <p:spPr>
          <a:xfrm>
            <a:off x="4846320" y="1359964"/>
            <a:ext cx="3611880" cy="274320"/>
          </a:xfrm>
          <a:prstGeom prst="roundRect">
            <a:avLst>
              <a:gd name="adj" fmla="val 13333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59" name="Text 24">
            <a:extLst>
              <a:ext uri="{FF2B5EF4-FFF2-40B4-BE49-F238E27FC236}">
                <a16:creationId xmlns:a16="http://schemas.microsoft.com/office/drawing/2014/main" id="{2D0986BF-6645-9694-2BCB-350A17803A58}"/>
              </a:ext>
            </a:extLst>
          </p:cNvPr>
          <p:cNvSpPr/>
          <p:nvPr/>
        </p:nvSpPr>
        <p:spPr>
          <a:xfrm>
            <a:off x="4846320" y="135996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: Grounded Loop (Tool-Assisted)</a:t>
            </a:r>
            <a:endParaRPr lang="en-US" sz="900" dirty="0"/>
          </a:p>
        </p:txBody>
      </p:sp>
      <p:sp>
        <p:nvSpPr>
          <p:cNvPr id="60" name="Shape 25">
            <a:extLst>
              <a:ext uri="{FF2B5EF4-FFF2-40B4-BE49-F238E27FC236}">
                <a16:creationId xmlns:a16="http://schemas.microsoft.com/office/drawing/2014/main" id="{8612CF73-86EF-9217-55D5-E3E33C7D687D}"/>
              </a:ext>
            </a:extLst>
          </p:cNvPr>
          <p:cNvSpPr/>
          <p:nvPr/>
        </p:nvSpPr>
        <p:spPr>
          <a:xfrm>
            <a:off x="4983480" y="1880063"/>
            <a:ext cx="1417320" cy="1064027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3970">
            <a:solidFill>
              <a:srgbClr val="16653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1" name="Text 26">
            <a:extLst>
              <a:ext uri="{FF2B5EF4-FFF2-40B4-BE49-F238E27FC236}">
                <a16:creationId xmlns:a16="http://schemas.microsoft.com/office/drawing/2014/main" id="{1E7D96BA-248B-3B64-9895-C3C131BB93FE}"/>
              </a:ext>
            </a:extLst>
          </p:cNvPr>
          <p:cNvSpPr/>
          <p:nvPr/>
        </p:nvSpPr>
        <p:spPr>
          <a:xfrm>
            <a:off x="4983480" y="2218392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LLM</a:t>
            </a:r>
            <a:endParaRPr lang="en-US" sz="1200" dirty="0"/>
          </a:p>
        </p:txBody>
      </p:sp>
      <p:sp>
        <p:nvSpPr>
          <p:cNvPr id="62" name="Text 27">
            <a:extLst>
              <a:ext uri="{FF2B5EF4-FFF2-40B4-BE49-F238E27FC236}">
                <a16:creationId xmlns:a16="http://schemas.microsoft.com/office/drawing/2014/main" id="{42244697-BA86-1802-BC38-7EBDF9CE5088}"/>
              </a:ext>
            </a:extLst>
          </p:cNvPr>
          <p:cNvSpPr/>
          <p:nvPr/>
        </p:nvSpPr>
        <p:spPr>
          <a:xfrm>
            <a:off x="4985697" y="2511000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Code / Solution</a:t>
            </a:r>
            <a:endParaRPr lang="en-US" sz="1000" dirty="0"/>
          </a:p>
        </p:txBody>
      </p:sp>
      <p:sp>
        <p:nvSpPr>
          <p:cNvPr id="63" name="Shape 28">
            <a:extLst>
              <a:ext uri="{FF2B5EF4-FFF2-40B4-BE49-F238E27FC236}">
                <a16:creationId xmlns:a16="http://schemas.microsoft.com/office/drawing/2014/main" id="{996DB68E-6191-3DA3-5A6A-146A4E823930}"/>
              </a:ext>
            </a:extLst>
          </p:cNvPr>
          <p:cNvSpPr/>
          <p:nvPr/>
        </p:nvSpPr>
        <p:spPr>
          <a:xfrm>
            <a:off x="6492240" y="2200104"/>
            <a:ext cx="320040" cy="128016"/>
          </a:xfrm>
          <a:prstGeom prst="rightArrow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64" name="Text 29">
            <a:extLst>
              <a:ext uri="{FF2B5EF4-FFF2-40B4-BE49-F238E27FC236}">
                <a16:creationId xmlns:a16="http://schemas.microsoft.com/office/drawing/2014/main" id="{1864FA23-3497-AD71-E4E1-71FCD351AD75}"/>
              </a:ext>
            </a:extLst>
          </p:cNvPr>
          <p:cNvSpPr/>
          <p:nvPr/>
        </p:nvSpPr>
        <p:spPr>
          <a:xfrm>
            <a:off x="6428232" y="2044656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</a:t>
            </a:r>
            <a:endParaRPr lang="en-US" sz="800" dirty="0"/>
          </a:p>
        </p:txBody>
      </p:sp>
      <p:sp>
        <p:nvSpPr>
          <p:cNvPr id="65" name="Shape 30">
            <a:extLst>
              <a:ext uri="{FF2B5EF4-FFF2-40B4-BE49-F238E27FC236}">
                <a16:creationId xmlns:a16="http://schemas.microsoft.com/office/drawing/2014/main" id="{72A38543-3B9C-13D3-532E-AD58104332E0}"/>
              </a:ext>
            </a:extLst>
          </p:cNvPr>
          <p:cNvSpPr/>
          <p:nvPr/>
        </p:nvSpPr>
        <p:spPr>
          <a:xfrm>
            <a:off x="6492240" y="2501856"/>
            <a:ext cx="320040" cy="91440"/>
          </a:xfrm>
          <a:prstGeom prst="leftArrow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66" name="Text 31">
            <a:extLst>
              <a:ext uri="{FF2B5EF4-FFF2-40B4-BE49-F238E27FC236}">
                <a16:creationId xmlns:a16="http://schemas.microsoft.com/office/drawing/2014/main" id="{7B74E9F3-9B21-10B6-B825-4E0E5E74CD8D}"/>
              </a:ext>
            </a:extLst>
          </p:cNvPr>
          <p:cNvSpPr/>
          <p:nvPr/>
        </p:nvSpPr>
        <p:spPr>
          <a:xfrm>
            <a:off x="6428232" y="2611584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Traceback</a:t>
            </a:r>
            <a:endParaRPr lang="en-US" sz="800" dirty="0"/>
          </a:p>
        </p:txBody>
      </p:sp>
      <p:sp>
        <p:nvSpPr>
          <p:cNvPr id="67" name="Shape 32">
            <a:extLst>
              <a:ext uri="{FF2B5EF4-FFF2-40B4-BE49-F238E27FC236}">
                <a16:creationId xmlns:a16="http://schemas.microsoft.com/office/drawing/2014/main" id="{F088159C-8967-6410-22F2-7ADA63E42A23}"/>
              </a:ext>
            </a:extLst>
          </p:cNvPr>
          <p:cNvSpPr/>
          <p:nvPr/>
        </p:nvSpPr>
        <p:spPr>
          <a:xfrm>
            <a:off x="6903720" y="1880063"/>
            <a:ext cx="1417320" cy="1064027"/>
          </a:xfrm>
          <a:prstGeom prst="roundRect">
            <a:avLst>
              <a:gd name="adj" fmla="val 5714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68" name="Text 33">
            <a:extLst>
              <a:ext uri="{FF2B5EF4-FFF2-40B4-BE49-F238E27FC236}">
                <a16:creationId xmlns:a16="http://schemas.microsoft.com/office/drawing/2014/main" id="{2DCA191A-DADD-FB4B-29A3-D987CC6B05DE}"/>
              </a:ext>
            </a:extLst>
          </p:cNvPr>
          <p:cNvSpPr/>
          <p:nvPr/>
        </p:nvSpPr>
        <p:spPr>
          <a:xfrm>
            <a:off x="6901227" y="2237788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TOOL</a:t>
            </a:r>
            <a:endParaRPr lang="en-US" sz="1200" dirty="0"/>
          </a:p>
        </p:txBody>
      </p:sp>
      <p:sp>
        <p:nvSpPr>
          <p:cNvPr id="69" name="Text 34">
            <a:extLst>
              <a:ext uri="{FF2B5EF4-FFF2-40B4-BE49-F238E27FC236}">
                <a16:creationId xmlns:a16="http://schemas.microsoft.com/office/drawing/2014/main" id="{09A70DED-F4CE-F4A2-EE14-D489CC76E064}"/>
              </a:ext>
            </a:extLst>
          </p:cNvPr>
          <p:cNvSpPr/>
          <p:nvPr/>
        </p:nvSpPr>
        <p:spPr>
          <a:xfrm>
            <a:off x="6903720" y="2514879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/ Oracle</a:t>
            </a:r>
            <a:endParaRPr lang="en-US" sz="1000" dirty="0"/>
          </a:p>
        </p:txBody>
      </p:sp>
      <p:sp>
        <p:nvSpPr>
          <p:cNvPr id="70" name="Shape 35">
            <a:extLst>
              <a:ext uri="{FF2B5EF4-FFF2-40B4-BE49-F238E27FC236}">
                <a16:creationId xmlns:a16="http://schemas.microsoft.com/office/drawing/2014/main" id="{A3CF9285-C419-455E-8D45-55AC5A13A840}"/>
              </a:ext>
            </a:extLst>
          </p:cNvPr>
          <p:cNvSpPr/>
          <p:nvPr/>
        </p:nvSpPr>
        <p:spPr>
          <a:xfrm>
            <a:off x="4846320" y="3203589"/>
            <a:ext cx="3611880" cy="938922"/>
          </a:xfrm>
          <a:prstGeom prst="roundRect">
            <a:avLst>
              <a:gd name="adj" fmla="val 4630"/>
            </a:avLst>
          </a:prstGeom>
          <a:solidFill>
            <a:srgbClr val="FFFFFF"/>
          </a:solidFill>
          <a:ln w="10160">
            <a:solidFill>
              <a:srgbClr val="166534"/>
            </a:solidFill>
            <a:prstDash val="solid"/>
          </a:ln>
        </p:spPr>
      </p:sp>
      <p:sp>
        <p:nvSpPr>
          <p:cNvPr id="71" name="Text 36">
            <a:extLst>
              <a:ext uri="{FF2B5EF4-FFF2-40B4-BE49-F238E27FC236}">
                <a16:creationId xmlns:a16="http://schemas.microsoft.com/office/drawing/2014/main" id="{6E39BBF7-3257-E16E-BFF0-DD03857D7908}"/>
              </a:ext>
            </a:extLst>
          </p:cNvPr>
          <p:cNvSpPr/>
          <p:nvPr/>
        </p:nvSpPr>
        <p:spPr>
          <a:xfrm>
            <a:off x="4892040" y="3279093"/>
            <a:ext cx="3520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CHANGE</a:t>
            </a:r>
            <a:endParaRPr lang="en-US" sz="700" dirty="0"/>
          </a:p>
        </p:txBody>
      </p:sp>
      <p:sp>
        <p:nvSpPr>
          <p:cNvPr id="72" name="Text 37">
            <a:extLst>
              <a:ext uri="{FF2B5EF4-FFF2-40B4-BE49-F238E27FC236}">
                <a16:creationId xmlns:a16="http://schemas.microsoft.com/office/drawing/2014/main" id="{F52E5020-8C7E-2035-CB8E-223C79AC38BD}"/>
              </a:ext>
            </a:extLst>
          </p:cNvPr>
          <p:cNvSpPr/>
          <p:nvPr/>
        </p:nvSpPr>
        <p:spPr>
          <a:xfrm>
            <a:off x="4892040" y="343675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653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+7.0%  to  +15.0%</a:t>
            </a:r>
            <a:endParaRPr lang="en-US" sz="1400" dirty="0"/>
          </a:p>
        </p:txBody>
      </p:sp>
      <p:sp>
        <p:nvSpPr>
          <p:cNvPr id="73" name="Text 38">
            <a:extLst>
              <a:ext uri="{FF2B5EF4-FFF2-40B4-BE49-F238E27FC236}">
                <a16:creationId xmlns:a16="http://schemas.microsoft.com/office/drawing/2014/main" id="{F5EC0375-30EA-7AE9-7015-DDC9AF8A72E8}"/>
              </a:ext>
            </a:extLst>
          </p:cNvPr>
          <p:cNvSpPr/>
          <p:nvPr/>
        </p:nvSpPr>
        <p:spPr>
          <a:xfrm>
            <a:off x="4846320" y="3703599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lang="en-US" sz="1000" b="1" dirty="0"/>
              <a:t>Deterministic truth. </a:t>
            </a:r>
            <a:r>
              <a:rPr lang="en-US" sz="1000" dirty="0"/>
              <a:t>Execution errors give precise correction signals.</a:t>
            </a:r>
          </a:p>
        </p:txBody>
      </p:sp>
    </p:spTree>
    <p:extLst>
      <p:ext uri="{BB962C8B-B14F-4D97-AF65-F5344CB8AC3E}">
        <p14:creationId xmlns:p14="http://schemas.microsoft.com/office/powerpoint/2010/main" val="30484405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F3CAB-DF45-2C33-F783-C2E34E275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12CEB61-05FD-7883-4BEA-FC886A6C9922}"/>
              </a:ext>
            </a:extLst>
          </p:cNvPr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BACKGROUND &amp; RELATED WORK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00C3891-0440-3967-FA1A-9B9286A14AC6}"/>
              </a:ext>
            </a:extLst>
          </p:cNvPr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Forensic: Reported vs Controlled</a:t>
            </a:r>
            <a:endParaRPr lang="en-US" sz="2300" dirty="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5E584A04-C8E9-2063-6FD5-695939D0C885}"/>
              </a:ext>
            </a:extLst>
          </p:cNvPr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0A26F308-8822-CC42-D146-AE3D57910896}"/>
              </a:ext>
            </a:extLst>
          </p:cNvPr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09/24</a:t>
            </a:r>
            <a:endParaRPr lang="en-US" sz="850" dirty="0"/>
          </a:p>
        </p:txBody>
      </p:sp>
      <p:graphicFrame>
        <p:nvGraphicFramePr>
          <p:cNvPr id="4" name="Chart 0">
            <a:extLst>
              <a:ext uri="{FF2B5EF4-FFF2-40B4-BE49-F238E27FC236}">
                <a16:creationId xmlns:a16="http://schemas.microsoft.com/office/drawing/2014/main" id="{17097036-57C4-794E-A5FC-9FE24769850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96251071"/>
              </p:ext>
            </p:extLst>
          </p:nvPr>
        </p:nvGraphicFramePr>
        <p:xfrm>
          <a:off x="548640" y="973837"/>
          <a:ext cx="4434840" cy="289777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6">
            <a:extLst>
              <a:ext uri="{FF2B5EF4-FFF2-40B4-BE49-F238E27FC236}">
                <a16:creationId xmlns:a16="http://schemas.microsoft.com/office/drawing/2014/main" id="{F0310065-1721-F752-A470-5D559C8505CA}"/>
              </a:ext>
            </a:extLst>
          </p:cNvPr>
          <p:cNvSpPr/>
          <p:nvPr/>
        </p:nvSpPr>
        <p:spPr>
          <a:xfrm>
            <a:off x="5212080" y="1101195"/>
            <a:ext cx="338328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1430">
            <a:solidFill>
              <a:srgbClr val="800020"/>
            </a:solidFill>
            <a:prstDash val="solid"/>
          </a:ln>
        </p:spPr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73CA70F1-A7DF-AA98-2646-C145BC3D0188}"/>
              </a:ext>
            </a:extLst>
          </p:cNvPr>
          <p:cNvSpPr/>
          <p:nvPr/>
        </p:nvSpPr>
        <p:spPr>
          <a:xfrm>
            <a:off x="5321808" y="1174347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Oracle Leakage</a:t>
            </a:r>
            <a:endParaRPr lang="en-US" sz="1400" dirty="0"/>
          </a:p>
        </p:txBody>
      </p:sp>
      <p:sp>
        <p:nvSpPr>
          <p:cNvPr id="7" name="Shape 8">
            <a:extLst>
              <a:ext uri="{FF2B5EF4-FFF2-40B4-BE49-F238E27FC236}">
                <a16:creationId xmlns:a16="http://schemas.microsoft.com/office/drawing/2014/main" id="{25F50260-547F-CC44-CF50-565B4CA75416}"/>
              </a:ext>
            </a:extLst>
          </p:cNvPr>
          <p:cNvSpPr/>
          <p:nvPr/>
        </p:nvSpPr>
        <p:spPr>
          <a:xfrm>
            <a:off x="7360920" y="1174347"/>
            <a:ext cx="1143000" cy="201168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 w="7620">
            <a:solidFill>
              <a:srgbClr val="800020"/>
            </a:solidFill>
            <a:prstDash val="solid"/>
          </a:ln>
        </p:spPr>
      </p:sp>
      <p:sp>
        <p:nvSpPr>
          <p:cNvPr id="8" name="Text 9">
            <a:extLst>
              <a:ext uri="{FF2B5EF4-FFF2-40B4-BE49-F238E27FC236}">
                <a16:creationId xmlns:a16="http://schemas.microsoft.com/office/drawing/2014/main" id="{6A0826CF-B261-0A42-7D4D-7DD812357E66}"/>
              </a:ext>
            </a:extLst>
          </p:cNvPr>
          <p:cNvSpPr/>
          <p:nvPr/>
        </p:nvSpPr>
        <p:spPr>
          <a:xfrm>
            <a:off x="7360920" y="1174347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+10.5% → -2.5%</a:t>
            </a:r>
            <a:endParaRPr lang="en-US" sz="1200" dirty="0"/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579FC5A9-5579-4CEC-5AFB-3AF430030B9C}"/>
              </a:ext>
            </a:extLst>
          </p:cNvPr>
          <p:cNvSpPr/>
          <p:nvPr/>
        </p:nvSpPr>
        <p:spPr>
          <a:xfrm>
            <a:off x="5321808" y="1412091"/>
            <a:ext cx="31638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Shield correct answers, only fix wrong ones.</a:t>
            </a:r>
            <a:endParaRPr lang="en-US" sz="1200" dirty="0"/>
          </a:p>
        </p:txBody>
      </p:sp>
      <p:sp>
        <p:nvSpPr>
          <p:cNvPr id="10" name="Shape 11">
            <a:extLst>
              <a:ext uri="{FF2B5EF4-FFF2-40B4-BE49-F238E27FC236}">
                <a16:creationId xmlns:a16="http://schemas.microsoft.com/office/drawing/2014/main" id="{81ECE206-4947-D3FF-F095-18F279CCACB0}"/>
              </a:ext>
            </a:extLst>
          </p:cNvPr>
          <p:cNvSpPr/>
          <p:nvPr/>
        </p:nvSpPr>
        <p:spPr>
          <a:xfrm>
            <a:off x="5212080" y="2125323"/>
            <a:ext cx="338328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1430">
            <a:solidFill>
              <a:srgbClr val="B45309"/>
            </a:solidFill>
            <a:prstDash val="solid"/>
          </a:ln>
        </p:spPr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CF5595B7-6E41-BE7D-39C1-F8E637E9E143}"/>
              </a:ext>
            </a:extLst>
          </p:cNvPr>
          <p:cNvSpPr/>
          <p:nvPr/>
        </p:nvSpPr>
        <p:spPr>
          <a:xfrm>
            <a:off x="5321808" y="2198475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Compute Gap</a:t>
            </a:r>
            <a:endParaRPr lang="en-US" sz="1400" dirty="0"/>
          </a:p>
        </p:txBody>
      </p:sp>
      <p:sp>
        <p:nvSpPr>
          <p:cNvPr id="12" name="Shape 13">
            <a:extLst>
              <a:ext uri="{FF2B5EF4-FFF2-40B4-BE49-F238E27FC236}">
                <a16:creationId xmlns:a16="http://schemas.microsoft.com/office/drawing/2014/main" id="{AEAC9AE9-7851-C211-FE1A-A5B49EADB12C}"/>
              </a:ext>
            </a:extLst>
          </p:cNvPr>
          <p:cNvSpPr/>
          <p:nvPr/>
        </p:nvSpPr>
        <p:spPr>
          <a:xfrm>
            <a:off x="7360920" y="2198475"/>
            <a:ext cx="1143000" cy="201168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 w="7620">
            <a:solidFill>
              <a:srgbClr val="B45309"/>
            </a:solidFill>
            <a:prstDash val="solid"/>
          </a:ln>
        </p:spPr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A1DDFBE6-7FCB-2E51-47CD-38D5F4D55AB3}"/>
              </a:ext>
            </a:extLst>
          </p:cNvPr>
          <p:cNvSpPr/>
          <p:nvPr/>
        </p:nvSpPr>
        <p:spPr>
          <a:xfrm>
            <a:off x="7360920" y="2198475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+4.0% → -1.5%</a:t>
            </a:r>
            <a:endParaRPr lang="en-US" sz="1200" dirty="0"/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924A2BC8-B001-FF4B-A5E6-D104C974908E}"/>
              </a:ext>
            </a:extLst>
          </p:cNvPr>
          <p:cNvSpPr/>
          <p:nvPr/>
        </p:nvSpPr>
        <p:spPr>
          <a:xfrm>
            <a:off x="5321808" y="2436219"/>
            <a:ext cx="31638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Debate loses to Self-Consistency at equal cost.</a:t>
            </a:r>
            <a:endParaRPr lang="en-US" sz="1200" dirty="0"/>
          </a:p>
        </p:txBody>
      </p:sp>
      <p:sp>
        <p:nvSpPr>
          <p:cNvPr id="15" name="Shape 16">
            <a:extLst>
              <a:ext uri="{FF2B5EF4-FFF2-40B4-BE49-F238E27FC236}">
                <a16:creationId xmlns:a16="http://schemas.microsoft.com/office/drawing/2014/main" id="{090B24C7-11E6-1299-4C1C-E5E2DEE77FFF}"/>
              </a:ext>
            </a:extLst>
          </p:cNvPr>
          <p:cNvSpPr/>
          <p:nvPr/>
        </p:nvSpPr>
        <p:spPr>
          <a:xfrm>
            <a:off x="5212080" y="3149451"/>
            <a:ext cx="338328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1430">
            <a:solidFill>
              <a:srgbClr val="0F172A"/>
            </a:solidFill>
            <a:prstDash val="solid"/>
          </a:ln>
        </p:spPr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559A6C50-C79F-FF48-F234-3ED1B83A155C}"/>
              </a:ext>
            </a:extLst>
          </p:cNvPr>
          <p:cNvSpPr/>
          <p:nvPr/>
        </p:nvSpPr>
        <p:spPr>
          <a:xfrm>
            <a:off x="5321808" y="3222603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Prompt Trick</a:t>
            </a:r>
            <a:endParaRPr lang="en-US" sz="1400" dirty="0"/>
          </a:p>
        </p:txBody>
      </p:sp>
      <p:sp>
        <p:nvSpPr>
          <p:cNvPr id="17" name="Shape 18">
            <a:extLst>
              <a:ext uri="{FF2B5EF4-FFF2-40B4-BE49-F238E27FC236}">
                <a16:creationId xmlns:a16="http://schemas.microsoft.com/office/drawing/2014/main" id="{2D0C70B6-AFB5-40FF-6B4D-801BEB2EC899}"/>
              </a:ext>
            </a:extLst>
          </p:cNvPr>
          <p:cNvSpPr/>
          <p:nvPr/>
        </p:nvSpPr>
        <p:spPr>
          <a:xfrm>
            <a:off x="7360920" y="3222603"/>
            <a:ext cx="1143000" cy="201168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 w="7620">
            <a:solidFill>
              <a:srgbClr val="0F172A"/>
            </a:solidFill>
            <a:prstDash val="solid"/>
          </a:ln>
        </p:spPr>
      </p:sp>
      <p:sp>
        <p:nvSpPr>
          <p:cNvPr id="18" name="Text 19">
            <a:extLst>
              <a:ext uri="{FF2B5EF4-FFF2-40B4-BE49-F238E27FC236}">
                <a16:creationId xmlns:a16="http://schemas.microsoft.com/office/drawing/2014/main" id="{3ABA76D4-425F-9324-4D9A-3C8B949535CE}"/>
              </a:ext>
            </a:extLst>
          </p:cNvPr>
          <p:cNvSpPr/>
          <p:nvPr/>
        </p:nvSpPr>
        <p:spPr>
          <a:xfrm>
            <a:off x="7360920" y="3222603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+10.0% → 0.0%</a:t>
            </a:r>
            <a:endParaRPr lang="en-US" sz="1200" dirty="0"/>
          </a:p>
        </p:txBody>
      </p:sp>
      <p:sp>
        <p:nvSpPr>
          <p:cNvPr id="19" name="Text 20">
            <a:extLst>
              <a:ext uri="{FF2B5EF4-FFF2-40B4-BE49-F238E27FC236}">
                <a16:creationId xmlns:a16="http://schemas.microsoft.com/office/drawing/2014/main" id="{16F85C30-A709-C94F-59E9-3405E4C8895F}"/>
              </a:ext>
            </a:extLst>
          </p:cNvPr>
          <p:cNvSpPr/>
          <p:nvPr/>
        </p:nvSpPr>
        <p:spPr>
          <a:xfrm>
            <a:off x="5321808" y="3460347"/>
            <a:ext cx="31638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start vs rule rich feedback.</a:t>
            </a:r>
            <a:endParaRPr lang="en-US" sz="1200" dirty="0"/>
          </a:p>
        </p:txBody>
      </p:sp>
      <p:sp>
        <p:nvSpPr>
          <p:cNvPr id="20" name="Shape 21">
            <a:extLst>
              <a:ext uri="{FF2B5EF4-FFF2-40B4-BE49-F238E27FC236}">
                <a16:creationId xmlns:a16="http://schemas.microsoft.com/office/drawing/2014/main" id="{CC15EF12-F350-F150-1AB8-B3FFDA821CC7}"/>
              </a:ext>
            </a:extLst>
          </p:cNvPr>
          <p:cNvSpPr/>
          <p:nvPr/>
        </p:nvSpPr>
        <p:spPr>
          <a:xfrm>
            <a:off x="548640" y="4300434"/>
            <a:ext cx="8046720" cy="384048"/>
          </a:xfrm>
          <a:prstGeom prst="roundRect">
            <a:avLst>
              <a:gd name="adj" fmla="val 9524"/>
            </a:avLst>
          </a:prstGeom>
          <a:solidFill>
            <a:srgbClr val="FFF1F2"/>
          </a:solidFill>
          <a:ln w="7620">
            <a:solidFill>
              <a:srgbClr val="800020"/>
            </a:solidFill>
            <a:prstDash val="solid"/>
          </a:ln>
        </p:spPr>
      </p:sp>
      <p:sp>
        <p:nvSpPr>
          <p:cNvPr id="21" name="Text 22">
            <a:extLst>
              <a:ext uri="{FF2B5EF4-FFF2-40B4-BE49-F238E27FC236}">
                <a16:creationId xmlns:a16="http://schemas.microsoft.com/office/drawing/2014/main" id="{DE8A2FAD-E676-C93A-5F4F-CBC975965A08}"/>
              </a:ext>
            </a:extLst>
          </p:cNvPr>
          <p:cNvSpPr/>
          <p:nvPr/>
        </p:nvSpPr>
        <p:spPr>
          <a:xfrm>
            <a:off x="640080" y="430043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C0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Insights: Red collapses to green at or below zero. No confounder survives a fair test.</a:t>
            </a:r>
            <a:endParaRPr lang="en-US" sz="1200" dirty="0"/>
          </a:p>
        </p:txBody>
      </p:sp>
      <p:sp>
        <p:nvSpPr>
          <p:cNvPr id="22" name="Text 6">
            <a:extLst>
              <a:ext uri="{FF2B5EF4-FFF2-40B4-BE49-F238E27FC236}">
                <a16:creationId xmlns:a16="http://schemas.microsoft.com/office/drawing/2014/main" id="{05C63EB5-4E42-FDC1-30FC-785A12BB0A39}"/>
              </a:ext>
            </a:extLst>
          </p:cNvPr>
          <p:cNvSpPr/>
          <p:nvPr/>
        </p:nvSpPr>
        <p:spPr>
          <a:xfrm>
            <a:off x="548640" y="4041648"/>
            <a:ext cx="4434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b="1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Figure-3: Accuracy Change (%) by Confounder Type</a:t>
            </a:r>
            <a:endParaRPr lang="en-US" sz="800" dirty="0"/>
          </a:p>
        </p:txBody>
      </p:sp>
      <p:sp>
        <p:nvSpPr>
          <p:cNvPr id="25" name="Text 6">
            <a:extLst>
              <a:ext uri="{FF2B5EF4-FFF2-40B4-BE49-F238E27FC236}">
                <a16:creationId xmlns:a16="http://schemas.microsoft.com/office/drawing/2014/main" id="{A87F8FB9-B19D-1CD4-A454-57098BC9F5DA}"/>
              </a:ext>
            </a:extLst>
          </p:cNvPr>
          <p:cNvSpPr/>
          <p:nvPr/>
        </p:nvSpPr>
        <p:spPr>
          <a:xfrm rot="16200000">
            <a:off x="67056" y="2424027"/>
            <a:ext cx="93268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Change (%)</a:t>
            </a:r>
            <a:endParaRPr lang="en-US" sz="800" dirty="0"/>
          </a:p>
        </p:txBody>
      </p:sp>
      <p:sp>
        <p:nvSpPr>
          <p:cNvPr id="26" name="Text 6">
            <a:extLst>
              <a:ext uri="{FF2B5EF4-FFF2-40B4-BE49-F238E27FC236}">
                <a16:creationId xmlns:a16="http://schemas.microsoft.com/office/drawing/2014/main" id="{86D6BBF9-E491-0FFC-A8A7-344599E07A61}"/>
              </a:ext>
            </a:extLst>
          </p:cNvPr>
          <p:cNvSpPr/>
          <p:nvPr/>
        </p:nvSpPr>
        <p:spPr>
          <a:xfrm>
            <a:off x="2407920" y="3820604"/>
            <a:ext cx="716280" cy="159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Confounder Type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320079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METHODOLOGY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Benchmarks Used to Test Reasoning</a:t>
            </a:r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 model's step-by-step logical and mathematical reasoning ability:</a:t>
            </a:r>
          </a:p>
        </p:txBody>
      </p:sp>
      <p:sp>
        <p:nvSpPr>
          <p:cNvPr id="33" name="Text 30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10/24</a:t>
            </a:r>
            <a:endParaRPr lang="en-US" sz="850" dirty="0"/>
          </a:p>
        </p:txBody>
      </p:sp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05339023-FD06-9A4B-FC89-677380258BBC}"/>
              </a:ext>
            </a:extLst>
          </p:cNvPr>
          <p:cNvGraphicFramePr/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69552415"/>
              </p:ext>
            </p:extLst>
          </p:nvPr>
        </p:nvGraphicFramePr>
        <p:xfrm>
          <a:off x="503555" y="1108075"/>
          <a:ext cx="8208010" cy="2286000"/>
        </p:xfrm>
        <a:graphic>
          <a:graphicData uri="http://schemas.openxmlformats.org/drawingml/2006/table">
            <a:tbl>
              <a:tblPr firstRow="1" bandRow="1"/>
              <a:tblGrid>
                <a:gridCol w="16649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362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40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27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Dataset</a:t>
                      </a:r>
                      <a:endParaRPr lang="en-US" sz="1250" dirty="0"/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Reasoning Task</a:t>
                      </a:r>
                      <a:endParaRPr lang="en-US" sz="1250" dirty="0"/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Test Size</a:t>
                      </a:r>
                      <a:endParaRPr lang="en-US" sz="1300" dirty="0"/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Prior Gain Claimed</a:t>
                      </a:r>
                      <a:endParaRPr lang="en-US" sz="1300" dirty="0"/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b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GSM8K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Grade-school math word problems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1,319 questions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~7% </a:t>
                      </a: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(Kim et al., 2023)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10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b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CommonSenseQA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5-choice commonsense reasoning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1,221 questions (dev set)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~15% </a:t>
                      </a: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(Kim et al., 2023)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b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HotpotQA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Open-domain, multi-hop Q&amp;A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100 questions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Sizeable gain (Shinn et al., 2023)</a:t>
                      </a:r>
                    </a:p>
                  </a:txBody>
                  <a:tcPr marL="127000" marR="127000" marT="76200" marB="762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9" name="Shape 3">
            <a:extLst>
              <a:ext uri="{FF2B5EF4-FFF2-40B4-BE49-F238E27FC236}">
                <a16:creationId xmlns:a16="http://schemas.microsoft.com/office/drawing/2014/main" id="{55DAD6D8-8D74-1A24-69E8-8C058F35576E}"/>
              </a:ext>
            </a:extLst>
          </p:cNvPr>
          <p:cNvSpPr/>
          <p:nvPr/>
        </p:nvSpPr>
        <p:spPr>
          <a:xfrm>
            <a:off x="476885" y="3587750"/>
            <a:ext cx="8234680" cy="969010"/>
          </a:xfrm>
          <a:prstGeom prst="roundRect">
            <a:avLst>
              <a:gd name="adj" fmla="val 5882"/>
            </a:avLst>
          </a:prstGeom>
          <a:solidFill>
            <a:srgbClr val="411401">
              <a:lumMod val="90000"/>
              <a:lumOff val="10000"/>
              <a:alpha val="20000"/>
            </a:srgbClr>
          </a:solidFill>
          <a:ln w="127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Text Box 53">
            <a:extLst>
              <a:ext uri="{FF2B5EF4-FFF2-40B4-BE49-F238E27FC236}">
                <a16:creationId xmlns:a16="http://schemas.microsoft.com/office/drawing/2014/main" id="{D6D40F80-F2D3-0F6B-41D1-797D95CC020D}"/>
              </a:ext>
            </a:extLst>
          </p:cNvPr>
          <p:cNvSpPr txBox="1"/>
          <p:nvPr/>
        </p:nvSpPr>
        <p:spPr>
          <a:xfrm>
            <a:off x="548639" y="3651757"/>
            <a:ext cx="2403475" cy="28772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411401">
                    <a:lumMod val="90000"/>
                    <a:lumOff val="10000"/>
                  </a:srgbClr>
                </a:solidFill>
                <a:effectLst/>
                <a:uLnTx/>
                <a:uFillTx/>
              </a:rPr>
              <a:t>Why these three?</a:t>
            </a:r>
          </a:p>
        </p:txBody>
      </p:sp>
      <p:sp>
        <p:nvSpPr>
          <p:cNvPr id="41" name="Text Box 54">
            <a:extLst>
              <a:ext uri="{FF2B5EF4-FFF2-40B4-BE49-F238E27FC236}">
                <a16:creationId xmlns:a16="http://schemas.microsoft.com/office/drawing/2014/main" id="{353774BD-03B3-25D9-45B0-B3AC651287FF}"/>
              </a:ext>
            </a:extLst>
          </p:cNvPr>
          <p:cNvSpPr txBox="1"/>
          <p:nvPr/>
        </p:nvSpPr>
        <p:spPr>
          <a:xfrm>
            <a:off x="548640" y="3939482"/>
            <a:ext cx="7858760" cy="52710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just" defTabSz="91440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  <a:sym typeface="+mn-ea"/>
              </a:rPr>
              <a:t>Each dataset was chosen because earlier self-correction papers reported their biggest improvements on it, giving this study the fairest and most challenging test of whether those gains hold up without oracle answer labels.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METHODOLOGY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 changes in these settings can shift benchmark scores significantly:</a:t>
            </a:r>
          </a:p>
        </p:txBody>
      </p:sp>
      <p:sp>
        <p:nvSpPr>
          <p:cNvPr id="36" name="Text 33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11/24</a:t>
            </a:r>
            <a:endParaRPr lang="en-US" sz="850" dirty="0"/>
          </a:p>
        </p:txBody>
      </p:sp>
      <p:sp>
        <p:nvSpPr>
          <p:cNvPr id="40" name="Text 10">
            <a:extLst>
              <a:ext uri="{FF2B5EF4-FFF2-40B4-BE49-F238E27FC236}">
                <a16:creationId xmlns:a16="http://schemas.microsoft.com/office/drawing/2014/main" id="{0A028AFE-A372-3808-1C09-4DCE216EEF6D}"/>
              </a:ext>
            </a:extLst>
          </p:cNvPr>
          <p:cNvSpPr/>
          <p:nvPr/>
        </p:nvSpPr>
        <p:spPr>
          <a:xfrm>
            <a:off x="777240" y="2459736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2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98A364CD-37F3-1A4F-1E44-F9E561DFE9E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59041301"/>
              </p:ext>
            </p:extLst>
          </p:nvPr>
        </p:nvGraphicFramePr>
        <p:xfrm>
          <a:off x="534035" y="1280795"/>
          <a:ext cx="8046085" cy="2819400"/>
        </p:xfrm>
        <a:graphic>
          <a:graphicData uri="http://schemas.openxmlformats.org/drawingml/2006/table">
            <a:tbl>
              <a:tblPr firstRow="1" bandRow="1"/>
              <a:tblGrid>
                <a:gridCol w="2022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78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78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078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388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30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Settings Tested</a:t>
                      </a:r>
                      <a:endParaRPr lang="en-US" sz="130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Temperature</a:t>
                      </a:r>
                      <a:endParaRPr lang="en-US" sz="130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Sample Size</a:t>
                      </a:r>
                      <a:endParaRPr lang="en-US" sz="130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388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b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GPT-3.5-Turbo</a:t>
                      </a:r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Oracle + Intrinsic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1.0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Full test set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88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b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GPT-4</a:t>
                      </a:r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Oracle + Intrinsic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1.0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200 / 100 Qs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388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b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GPT-4-Turbo</a:t>
                      </a:r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Intrinsic only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0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200 Qs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388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b="0" dirty="0">
                          <a:solidFill>
                            <a:schemeClr val="accent2">
                              <a:lumMod val="50000"/>
                            </a:schemeClr>
                          </a:solidFill>
                        </a:rPr>
                        <a:t>Llama-2-70B-Chat</a:t>
                      </a:r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Intrinsic only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0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</a:rPr>
                        <a:t>200 Qs</a:t>
                      </a:r>
                      <a:endParaRPr lang="en-US" sz="1250" dirty="0"/>
                    </a:p>
                  </a:txBody>
                  <a:tcPr marL="101600" marR="101600" marT="63500" marB="63500"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4A48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2" name="Text Box 46">
            <a:extLst>
              <a:ext uri="{FF2B5EF4-FFF2-40B4-BE49-F238E27FC236}">
                <a16:creationId xmlns:a16="http://schemas.microsoft.com/office/drawing/2014/main" id="{A7E8481A-3AEB-A219-1767-5F660A9CC8FB}"/>
              </a:ext>
            </a:extLst>
          </p:cNvPr>
          <p:cNvSpPr txBox="1"/>
          <p:nvPr/>
        </p:nvSpPr>
        <p:spPr>
          <a:xfrm>
            <a:off x="462280" y="4100195"/>
            <a:ext cx="8074660" cy="3124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200" b="1" dirty="0">
                <a:solidFill>
                  <a:srgbClr val="411401">
                    <a:lumMod val="90000"/>
                    <a:lumOff val="10000"/>
                  </a:srgbClr>
                </a:solidFill>
                <a:ea typeface="Calibri" pitchFamily="34" charset="-122"/>
                <a:cs typeface="Calibri" pitchFamily="34" charset="-120"/>
                <a:sym typeface="+mn-ea"/>
              </a:rPr>
              <a:t>Max 2 rounds</a:t>
            </a:r>
            <a:r>
              <a:rPr lang="en-US" sz="1200" dirty="0">
                <a:solidFill>
                  <a:srgbClr val="411401">
                    <a:lumMod val="90000"/>
                    <a:lumOff val="10000"/>
                  </a:srgbClr>
                </a:solidFill>
                <a:ea typeface="Calibri" pitchFamily="34" charset="-122"/>
                <a:cs typeface="Calibri" pitchFamily="34" charset="-120"/>
                <a:sym typeface="+mn-ea"/>
              </a:rPr>
              <a:t> </a:t>
            </a:r>
            <a:r>
              <a:rPr lang="en-US" sz="1200" dirty="0">
                <a:solidFill>
                  <a:srgbClr val="1A1A1A"/>
                </a:solidFill>
                <a:ea typeface="Calibri" pitchFamily="34" charset="-122"/>
                <a:cs typeface="Calibri" pitchFamily="34" charset="-120"/>
                <a:sym typeface="+mn-ea"/>
              </a:rPr>
              <a:t>of self-correction were allowed per question, keeping inference cost comparable across models.</a:t>
            </a:r>
          </a:p>
        </p:txBody>
      </p:sp>
      <p:sp>
        <p:nvSpPr>
          <p:cNvPr id="43" name="Text 1">
            <a:extLst>
              <a:ext uri="{FF2B5EF4-FFF2-40B4-BE49-F238E27FC236}">
                <a16:creationId xmlns:a16="http://schemas.microsoft.com/office/drawing/2014/main" id="{04246E28-1A9C-ACFF-A8AA-5F659517C193}"/>
              </a:ext>
            </a:extLst>
          </p:cNvPr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>
              <a:defRPr/>
            </a:pPr>
            <a:r>
              <a:rPr lang="en-US" sz="2300" b="1" dirty="0">
                <a:solidFill>
                  <a:srgbClr val="0F172A"/>
                </a:solidFill>
                <a:latin typeface="Century Schoolbook" panose="02040604050505020304" pitchFamily="18" charset="0"/>
                <a:ea typeface="Calibri" pitchFamily="34" charset="0"/>
                <a:cs typeface="Calibri" pitchFamily="34" charset="0"/>
              </a:rPr>
              <a:t>Models &amp; Test Conditions</a:t>
            </a:r>
            <a:endParaRPr lang="en-US" sz="2300" dirty="0">
              <a:solidFill>
                <a:prstClr val="black"/>
              </a:solidFill>
              <a:latin typeface="Century Schoolbook" panose="02040604050505020304" pitchFamily="18" charset="0"/>
              <a:ea typeface="Calibri" pitchFamily="34" charset="0"/>
              <a:cs typeface="Calibri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METHODOLOGY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Prompting Procedures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Flow: intrinsic vs oracle regimes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12/24</a:t>
            </a:r>
            <a:endParaRPr lang="en-US" sz="850" dirty="0"/>
          </a:p>
        </p:txBody>
      </p:sp>
      <p:sp>
        <p:nvSpPr>
          <p:cNvPr id="77" name="Shape 3">
            <a:extLst>
              <a:ext uri="{FF2B5EF4-FFF2-40B4-BE49-F238E27FC236}">
                <a16:creationId xmlns:a16="http://schemas.microsoft.com/office/drawing/2014/main" id="{9E4264CF-79A4-5132-B4B3-7E6D3ADFF31B}"/>
              </a:ext>
            </a:extLst>
          </p:cNvPr>
          <p:cNvSpPr/>
          <p:nvPr/>
        </p:nvSpPr>
        <p:spPr>
          <a:xfrm>
            <a:off x="548640" y="1207008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FFE6E6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8" name="Shape 4">
            <a:extLst>
              <a:ext uri="{FF2B5EF4-FFF2-40B4-BE49-F238E27FC236}">
                <a16:creationId xmlns:a16="http://schemas.microsoft.com/office/drawing/2014/main" id="{159414AB-11D0-0601-E017-F8D4B270F31E}"/>
              </a:ext>
            </a:extLst>
          </p:cNvPr>
          <p:cNvSpPr/>
          <p:nvPr/>
        </p:nvSpPr>
        <p:spPr>
          <a:xfrm>
            <a:off x="685800" y="1353312"/>
            <a:ext cx="256032" cy="256032"/>
          </a:xfrm>
          <a:prstGeom prst="ellipse">
            <a:avLst/>
          </a:prstGeom>
          <a:solidFill>
            <a:srgbClr val="800020"/>
          </a:solidFill>
        </p:spPr>
      </p:sp>
      <p:sp>
        <p:nvSpPr>
          <p:cNvPr id="79" name="Text 5">
            <a:extLst>
              <a:ext uri="{FF2B5EF4-FFF2-40B4-BE49-F238E27FC236}">
                <a16:creationId xmlns:a16="http://schemas.microsoft.com/office/drawing/2014/main" id="{6D3B3FFA-AD70-6EB3-5932-D646D0B9763D}"/>
              </a:ext>
            </a:extLst>
          </p:cNvPr>
          <p:cNvSpPr/>
          <p:nvPr/>
        </p:nvSpPr>
        <p:spPr>
          <a:xfrm>
            <a:off x="685800" y="1353312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1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80" name="Text 6">
            <a:extLst>
              <a:ext uri="{FF2B5EF4-FFF2-40B4-BE49-F238E27FC236}">
                <a16:creationId xmlns:a16="http://schemas.microsoft.com/office/drawing/2014/main" id="{D110AC43-3830-F298-86A6-C0E3FD4746C3}"/>
              </a:ext>
            </a:extLst>
          </p:cNvPr>
          <p:cNvSpPr/>
          <p:nvPr/>
        </p:nvSpPr>
        <p:spPr>
          <a:xfrm>
            <a:off x="1005840" y="1353312"/>
            <a:ext cx="13258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lang="en-US" altLang="zh-CN" sz="1700" b="1" dirty="0">
                <a:solidFill>
                  <a:srgbClr val="0F172A"/>
                </a:solidFill>
                <a:ea typeface="Calibri" pitchFamily="34" charset="0"/>
                <a:cs typeface="Calibri" pitchFamily="34" charset="0"/>
              </a:rPr>
              <a:t>Ini</a:t>
            </a:r>
            <a:r>
              <a:rPr lang="en-US" sz="1700" b="1" dirty="0">
                <a:solidFill>
                  <a:srgbClr val="0F172A"/>
                </a:solidFill>
                <a:ea typeface="Calibri" pitchFamily="34" charset="0"/>
                <a:cs typeface="Calibri" pitchFamily="34" charset="0"/>
              </a:rPr>
              <a:t>itial</a:t>
            </a:r>
            <a:endParaRPr lang="en-US" sz="1700" dirty="0">
              <a:solidFill>
                <a:prstClr val="black"/>
              </a:solidFill>
              <a:ea typeface="Calibri" pitchFamily="34" charset="0"/>
              <a:cs typeface="Calibri" pitchFamily="34" charset="0"/>
            </a:endParaRPr>
          </a:p>
        </p:txBody>
      </p:sp>
      <p:sp>
        <p:nvSpPr>
          <p:cNvPr id="81" name="Text 7">
            <a:extLst>
              <a:ext uri="{FF2B5EF4-FFF2-40B4-BE49-F238E27FC236}">
                <a16:creationId xmlns:a16="http://schemas.microsoft.com/office/drawing/2014/main" id="{AF7D1C68-EE66-E62A-A12A-62AA7E0B48C5}"/>
              </a:ext>
            </a:extLst>
          </p:cNvPr>
          <p:cNvSpPr/>
          <p:nvPr/>
        </p:nvSpPr>
        <p:spPr>
          <a:xfrm>
            <a:off x="685800" y="1664208"/>
            <a:ext cx="160020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Generate draft</a:t>
            </a:r>
            <a:endParaRPr kumimoji="0" lang="en-US" sz="9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82" name="Shape 8">
            <a:extLst>
              <a:ext uri="{FF2B5EF4-FFF2-40B4-BE49-F238E27FC236}">
                <a16:creationId xmlns:a16="http://schemas.microsoft.com/office/drawing/2014/main" id="{D0A6E98D-B9FD-1A6E-2F87-C130237EE805}"/>
              </a:ext>
            </a:extLst>
          </p:cNvPr>
          <p:cNvSpPr/>
          <p:nvPr/>
        </p:nvSpPr>
        <p:spPr>
          <a:xfrm>
            <a:off x="2441448" y="1664208"/>
            <a:ext cx="146304" cy="12801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3" name="Shape 9">
            <a:extLst>
              <a:ext uri="{FF2B5EF4-FFF2-40B4-BE49-F238E27FC236}">
                <a16:creationId xmlns:a16="http://schemas.microsoft.com/office/drawing/2014/main" id="{319BE3D8-4EF1-FC8A-1D60-1A425F89B851}"/>
              </a:ext>
            </a:extLst>
          </p:cNvPr>
          <p:cNvSpPr/>
          <p:nvPr/>
        </p:nvSpPr>
        <p:spPr>
          <a:xfrm>
            <a:off x="2606040" y="1207008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FFE6E6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4" name="Shape 10">
            <a:extLst>
              <a:ext uri="{FF2B5EF4-FFF2-40B4-BE49-F238E27FC236}">
                <a16:creationId xmlns:a16="http://schemas.microsoft.com/office/drawing/2014/main" id="{6ADFD640-95AC-EE88-0364-F422698A0380}"/>
              </a:ext>
            </a:extLst>
          </p:cNvPr>
          <p:cNvSpPr/>
          <p:nvPr/>
        </p:nvSpPr>
        <p:spPr>
          <a:xfrm>
            <a:off x="2743200" y="1353312"/>
            <a:ext cx="256032" cy="256032"/>
          </a:xfrm>
          <a:prstGeom prst="ellipse">
            <a:avLst/>
          </a:prstGeom>
          <a:solidFill>
            <a:srgbClr val="800020"/>
          </a:solidFill>
        </p:spPr>
      </p:sp>
      <p:sp>
        <p:nvSpPr>
          <p:cNvPr id="85" name="Text 11">
            <a:extLst>
              <a:ext uri="{FF2B5EF4-FFF2-40B4-BE49-F238E27FC236}">
                <a16:creationId xmlns:a16="http://schemas.microsoft.com/office/drawing/2014/main" id="{7CE2BBE7-5CEC-6684-E486-416EBB7F95F6}"/>
              </a:ext>
            </a:extLst>
          </p:cNvPr>
          <p:cNvSpPr/>
          <p:nvPr/>
        </p:nvSpPr>
        <p:spPr>
          <a:xfrm>
            <a:off x="2743200" y="1353312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2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86" name="Text 12">
            <a:extLst>
              <a:ext uri="{FF2B5EF4-FFF2-40B4-BE49-F238E27FC236}">
                <a16:creationId xmlns:a16="http://schemas.microsoft.com/office/drawing/2014/main" id="{4A5031F6-B239-7015-31FC-8510832CAFCB}"/>
              </a:ext>
            </a:extLst>
          </p:cNvPr>
          <p:cNvSpPr/>
          <p:nvPr/>
        </p:nvSpPr>
        <p:spPr>
          <a:xfrm>
            <a:off x="3063240" y="1353312"/>
            <a:ext cx="13258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lang="en-US" altLang="zh-CN" sz="1700" b="1" dirty="0">
                <a:solidFill>
                  <a:srgbClr val="0F172A"/>
                </a:solidFill>
                <a:ea typeface="Calibri" pitchFamily="34" charset="0"/>
                <a:cs typeface="Calibri" pitchFamily="34" charset="0"/>
              </a:rPr>
              <a:t>Cr</a:t>
            </a:r>
            <a:r>
              <a:rPr lang="en-US" sz="1700" b="1" dirty="0">
                <a:solidFill>
                  <a:srgbClr val="0F172A"/>
                </a:solidFill>
                <a:ea typeface="Calibri" pitchFamily="34" charset="0"/>
                <a:cs typeface="Calibri" pitchFamily="34" charset="0"/>
              </a:rPr>
              <a:t>itique</a:t>
            </a:r>
            <a:endParaRPr lang="en-US" sz="1700" dirty="0">
              <a:solidFill>
                <a:prstClr val="black"/>
              </a:solidFill>
              <a:ea typeface="Calibri" pitchFamily="34" charset="0"/>
              <a:cs typeface="Calibri" pitchFamily="34" charset="0"/>
            </a:endParaRPr>
          </a:p>
        </p:txBody>
      </p:sp>
      <p:sp>
        <p:nvSpPr>
          <p:cNvPr id="87" name="Text 13">
            <a:extLst>
              <a:ext uri="{FF2B5EF4-FFF2-40B4-BE49-F238E27FC236}">
                <a16:creationId xmlns:a16="http://schemas.microsoft.com/office/drawing/2014/main" id="{F9241421-CD57-5BF9-2890-47224D789CBA}"/>
              </a:ext>
            </a:extLst>
          </p:cNvPr>
          <p:cNvSpPr/>
          <p:nvPr/>
        </p:nvSpPr>
        <p:spPr>
          <a:xfrm>
            <a:off x="2743200" y="1664208"/>
            <a:ext cx="160020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Review logic</a:t>
            </a:r>
            <a:endParaRPr kumimoji="0" lang="en-US" sz="9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88" name="Shape 14">
            <a:extLst>
              <a:ext uri="{FF2B5EF4-FFF2-40B4-BE49-F238E27FC236}">
                <a16:creationId xmlns:a16="http://schemas.microsoft.com/office/drawing/2014/main" id="{3B009D99-35BA-CBC0-6AC4-04CDC6CF829E}"/>
              </a:ext>
            </a:extLst>
          </p:cNvPr>
          <p:cNvSpPr/>
          <p:nvPr/>
        </p:nvSpPr>
        <p:spPr>
          <a:xfrm>
            <a:off x="4498848" y="1664208"/>
            <a:ext cx="146304" cy="12801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9" name="Shape 15">
            <a:extLst>
              <a:ext uri="{FF2B5EF4-FFF2-40B4-BE49-F238E27FC236}">
                <a16:creationId xmlns:a16="http://schemas.microsoft.com/office/drawing/2014/main" id="{E5A88A57-58AE-7CE6-26C5-3AC8BBDD9FAA}"/>
              </a:ext>
            </a:extLst>
          </p:cNvPr>
          <p:cNvSpPr/>
          <p:nvPr/>
        </p:nvSpPr>
        <p:spPr>
          <a:xfrm>
            <a:off x="4663440" y="1207008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FFE6E6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0" name="Shape 16">
            <a:extLst>
              <a:ext uri="{FF2B5EF4-FFF2-40B4-BE49-F238E27FC236}">
                <a16:creationId xmlns:a16="http://schemas.microsoft.com/office/drawing/2014/main" id="{0DE4F36C-662F-94D3-5DF5-F90CDF0F48B8}"/>
              </a:ext>
            </a:extLst>
          </p:cNvPr>
          <p:cNvSpPr/>
          <p:nvPr/>
        </p:nvSpPr>
        <p:spPr>
          <a:xfrm>
            <a:off x="4800600" y="1353312"/>
            <a:ext cx="256032" cy="256032"/>
          </a:xfrm>
          <a:prstGeom prst="ellipse">
            <a:avLst/>
          </a:prstGeom>
          <a:solidFill>
            <a:srgbClr val="800020"/>
          </a:solidFill>
        </p:spPr>
      </p:sp>
      <p:sp>
        <p:nvSpPr>
          <p:cNvPr id="91" name="Text 17">
            <a:extLst>
              <a:ext uri="{FF2B5EF4-FFF2-40B4-BE49-F238E27FC236}">
                <a16:creationId xmlns:a16="http://schemas.microsoft.com/office/drawing/2014/main" id="{762CE6AA-38B9-CD44-FD2B-EA8244BD0B96}"/>
              </a:ext>
            </a:extLst>
          </p:cNvPr>
          <p:cNvSpPr/>
          <p:nvPr/>
        </p:nvSpPr>
        <p:spPr>
          <a:xfrm>
            <a:off x="4800600" y="1353312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3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92" name="Text 18">
            <a:extLst>
              <a:ext uri="{FF2B5EF4-FFF2-40B4-BE49-F238E27FC236}">
                <a16:creationId xmlns:a16="http://schemas.microsoft.com/office/drawing/2014/main" id="{D26CF056-938A-2BF3-B32B-21FC189C736E}"/>
              </a:ext>
            </a:extLst>
          </p:cNvPr>
          <p:cNvSpPr/>
          <p:nvPr/>
        </p:nvSpPr>
        <p:spPr>
          <a:xfrm>
            <a:off x="5120640" y="1353312"/>
            <a:ext cx="13258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lang="en-US" altLang="zh-CN" sz="1700" b="1" dirty="0">
                <a:solidFill>
                  <a:srgbClr val="0F172A"/>
                </a:solidFill>
                <a:ea typeface="Calibri" pitchFamily="34" charset="0"/>
                <a:cs typeface="Calibri" pitchFamily="34" charset="0"/>
              </a:rPr>
              <a:t>Re</a:t>
            </a:r>
            <a:r>
              <a:rPr lang="en-US" sz="1700" b="1" dirty="0">
                <a:solidFill>
                  <a:srgbClr val="0F172A"/>
                </a:solidFill>
                <a:ea typeface="Calibri" pitchFamily="34" charset="0"/>
                <a:cs typeface="Calibri" pitchFamily="34" charset="0"/>
              </a:rPr>
              <a:t>vise</a:t>
            </a:r>
            <a:endParaRPr lang="en-US" sz="1700" dirty="0">
              <a:solidFill>
                <a:prstClr val="black"/>
              </a:solidFill>
              <a:ea typeface="Calibri" pitchFamily="34" charset="0"/>
              <a:cs typeface="Calibri" pitchFamily="34" charset="0"/>
            </a:endParaRPr>
          </a:p>
        </p:txBody>
      </p:sp>
      <p:sp>
        <p:nvSpPr>
          <p:cNvPr id="93" name="Text 19">
            <a:extLst>
              <a:ext uri="{FF2B5EF4-FFF2-40B4-BE49-F238E27FC236}">
                <a16:creationId xmlns:a16="http://schemas.microsoft.com/office/drawing/2014/main" id="{29FB5257-34DA-9A06-8592-CB71E919010F}"/>
              </a:ext>
            </a:extLst>
          </p:cNvPr>
          <p:cNvSpPr/>
          <p:nvPr/>
        </p:nvSpPr>
        <p:spPr>
          <a:xfrm>
            <a:off x="4800600" y="1664208"/>
            <a:ext cx="160020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New reasoning</a:t>
            </a:r>
            <a:endParaRPr kumimoji="0" lang="en-US" sz="9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94" name="Shape 20">
            <a:extLst>
              <a:ext uri="{FF2B5EF4-FFF2-40B4-BE49-F238E27FC236}">
                <a16:creationId xmlns:a16="http://schemas.microsoft.com/office/drawing/2014/main" id="{8546BE52-52E9-CC2A-6D77-8E42F0964E66}"/>
              </a:ext>
            </a:extLst>
          </p:cNvPr>
          <p:cNvSpPr/>
          <p:nvPr/>
        </p:nvSpPr>
        <p:spPr>
          <a:xfrm>
            <a:off x="6556248" y="1664208"/>
            <a:ext cx="146304" cy="12801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95" name="Shape 21">
            <a:extLst>
              <a:ext uri="{FF2B5EF4-FFF2-40B4-BE49-F238E27FC236}">
                <a16:creationId xmlns:a16="http://schemas.microsoft.com/office/drawing/2014/main" id="{1DA3BCD5-EBE0-9BC2-C166-D500A743BF52}"/>
              </a:ext>
            </a:extLst>
          </p:cNvPr>
          <p:cNvSpPr/>
          <p:nvPr/>
        </p:nvSpPr>
        <p:spPr>
          <a:xfrm>
            <a:off x="6720849" y="1207041"/>
            <a:ext cx="1874520" cy="1051560"/>
          </a:xfrm>
          <a:prstGeom prst="roundRect">
            <a:avLst>
              <a:gd name="adj" fmla="val 6957"/>
            </a:avLst>
          </a:prstGeom>
          <a:solidFill>
            <a:srgbClr val="FFE6E6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6" name="Shape 22">
            <a:extLst>
              <a:ext uri="{FF2B5EF4-FFF2-40B4-BE49-F238E27FC236}">
                <a16:creationId xmlns:a16="http://schemas.microsoft.com/office/drawing/2014/main" id="{BB8C3339-8265-4903-73CF-2F31875ACC65}"/>
              </a:ext>
            </a:extLst>
          </p:cNvPr>
          <p:cNvSpPr/>
          <p:nvPr/>
        </p:nvSpPr>
        <p:spPr>
          <a:xfrm>
            <a:off x="6858000" y="1353312"/>
            <a:ext cx="256032" cy="256032"/>
          </a:xfrm>
          <a:prstGeom prst="ellipse">
            <a:avLst/>
          </a:prstGeom>
          <a:solidFill>
            <a:srgbClr val="800020"/>
          </a:solidFill>
        </p:spPr>
      </p:sp>
      <p:sp>
        <p:nvSpPr>
          <p:cNvPr id="97" name="Text 23">
            <a:extLst>
              <a:ext uri="{FF2B5EF4-FFF2-40B4-BE49-F238E27FC236}">
                <a16:creationId xmlns:a16="http://schemas.microsoft.com/office/drawing/2014/main" id="{EB6BA682-5535-5089-9A38-321A1497C461}"/>
              </a:ext>
            </a:extLst>
          </p:cNvPr>
          <p:cNvSpPr/>
          <p:nvPr/>
        </p:nvSpPr>
        <p:spPr>
          <a:xfrm>
            <a:off x="6858000" y="1353312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4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98" name="Text 24">
            <a:extLst>
              <a:ext uri="{FF2B5EF4-FFF2-40B4-BE49-F238E27FC236}">
                <a16:creationId xmlns:a16="http://schemas.microsoft.com/office/drawing/2014/main" id="{ACC33ABE-2079-3941-ABD8-877FA26E916A}"/>
              </a:ext>
            </a:extLst>
          </p:cNvPr>
          <p:cNvSpPr/>
          <p:nvPr/>
        </p:nvSpPr>
        <p:spPr>
          <a:xfrm>
            <a:off x="6720830" y="1375563"/>
            <a:ext cx="1324109" cy="2115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marR="0" lvl="0" indent="45720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Iterate</a:t>
            </a:r>
            <a:endParaRPr kumimoji="0" lang="en-US" sz="17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99" name="Text 25">
            <a:extLst>
              <a:ext uri="{FF2B5EF4-FFF2-40B4-BE49-F238E27FC236}">
                <a16:creationId xmlns:a16="http://schemas.microsoft.com/office/drawing/2014/main" id="{98A9350D-CFED-794B-4D30-0F4D4F5108E7}"/>
              </a:ext>
            </a:extLst>
          </p:cNvPr>
          <p:cNvSpPr/>
          <p:nvPr/>
        </p:nvSpPr>
        <p:spPr>
          <a:xfrm>
            <a:off x="6858000" y="1664208"/>
            <a:ext cx="160020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Round 2 repeat</a:t>
            </a:r>
            <a:endParaRPr kumimoji="0" lang="en-US" sz="95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00" name="Shape 26">
            <a:extLst>
              <a:ext uri="{FF2B5EF4-FFF2-40B4-BE49-F238E27FC236}">
                <a16:creationId xmlns:a16="http://schemas.microsoft.com/office/drawing/2014/main" id="{940F9579-72F5-31E8-130B-3CDA0826A755}"/>
              </a:ext>
            </a:extLst>
          </p:cNvPr>
          <p:cNvSpPr/>
          <p:nvPr/>
        </p:nvSpPr>
        <p:spPr>
          <a:xfrm>
            <a:off x="548640" y="2468880"/>
            <a:ext cx="3886200" cy="1965960"/>
          </a:xfrm>
          <a:prstGeom prst="roundRect">
            <a:avLst>
              <a:gd name="adj" fmla="val 3721"/>
            </a:avLst>
          </a:prstGeom>
          <a:solidFill>
            <a:srgbClr val="F0FDF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01" name="Shape 27">
            <a:extLst>
              <a:ext uri="{FF2B5EF4-FFF2-40B4-BE49-F238E27FC236}">
                <a16:creationId xmlns:a16="http://schemas.microsoft.com/office/drawing/2014/main" id="{CCB91234-EAB4-6F92-0302-E642E479C689}"/>
              </a:ext>
            </a:extLst>
          </p:cNvPr>
          <p:cNvSpPr/>
          <p:nvPr/>
        </p:nvSpPr>
        <p:spPr>
          <a:xfrm>
            <a:off x="731520" y="2633472"/>
            <a:ext cx="256032" cy="256032"/>
          </a:xfrm>
          <a:prstGeom prst="ellipse">
            <a:avLst/>
          </a:prstGeom>
          <a:solidFill>
            <a:srgbClr val="166534"/>
          </a:solidFill>
        </p:spPr>
      </p:sp>
      <p:sp>
        <p:nvSpPr>
          <p:cNvPr id="102" name="Text 28">
            <a:extLst>
              <a:ext uri="{FF2B5EF4-FFF2-40B4-BE49-F238E27FC236}">
                <a16:creationId xmlns:a16="http://schemas.microsoft.com/office/drawing/2014/main" id="{3AC473CB-AF45-2222-E635-95B9BEA97F09}"/>
              </a:ext>
            </a:extLst>
          </p:cNvPr>
          <p:cNvSpPr/>
          <p:nvPr/>
        </p:nvSpPr>
        <p:spPr>
          <a:xfrm>
            <a:off x="731520" y="2633472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✓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03" name="Text 29">
            <a:extLst>
              <a:ext uri="{FF2B5EF4-FFF2-40B4-BE49-F238E27FC236}">
                <a16:creationId xmlns:a16="http://schemas.microsoft.com/office/drawing/2014/main" id="{3275ED65-97A5-A1C1-581C-40C6A101A33E}"/>
              </a:ext>
            </a:extLst>
          </p:cNvPr>
          <p:cNvSpPr/>
          <p:nvPr/>
        </p:nvSpPr>
        <p:spPr>
          <a:xfrm>
            <a:off x="1051560" y="2633472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66534"/>
                </a:solidFill>
                <a:ea typeface="Calibri" pitchFamily="34" charset="0"/>
                <a:cs typeface="Calibri" pitchFamily="34" charset="0"/>
              </a:rPr>
              <a:t>With Oracle (Flawed)</a:t>
            </a:r>
            <a:endParaRPr lang="en-US" dirty="0">
              <a:solidFill>
                <a:prstClr val="black"/>
              </a:solidFill>
              <a:ea typeface="Calibri" pitchFamily="34" charset="0"/>
              <a:cs typeface="Calibri" pitchFamily="34" charset="0"/>
            </a:endParaRPr>
          </a:p>
        </p:txBody>
      </p:sp>
      <p:sp>
        <p:nvSpPr>
          <p:cNvPr id="104" name="Text 30">
            <a:extLst>
              <a:ext uri="{FF2B5EF4-FFF2-40B4-BE49-F238E27FC236}">
                <a16:creationId xmlns:a16="http://schemas.microsoft.com/office/drawing/2014/main" id="{2AAACCCD-307A-B1E2-BF51-4E2F1139C2D7}"/>
              </a:ext>
            </a:extLst>
          </p:cNvPr>
          <p:cNvSpPr/>
          <p:nvPr/>
        </p:nvSpPr>
        <p:spPr>
          <a:xfrm>
            <a:off x="777240" y="2971800"/>
            <a:ext cx="3429000" cy="1280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• Verifier checks answer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• Tells model </a:t>
            </a:r>
            <a:r>
              <a:rPr kumimoji="0" lang="en-US" altLang="zh-CN" sz="100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when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 wrong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• Correct answers untouched -&gt; inflated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05" name="Shape 31">
            <a:extLst>
              <a:ext uri="{FF2B5EF4-FFF2-40B4-BE49-F238E27FC236}">
                <a16:creationId xmlns:a16="http://schemas.microsoft.com/office/drawing/2014/main" id="{CACA7A73-E555-0F69-C69E-C568249932EB}"/>
              </a:ext>
            </a:extLst>
          </p:cNvPr>
          <p:cNvSpPr/>
          <p:nvPr/>
        </p:nvSpPr>
        <p:spPr>
          <a:xfrm>
            <a:off x="4709160" y="2468880"/>
            <a:ext cx="3886200" cy="1965960"/>
          </a:xfrm>
          <a:prstGeom prst="roundRect">
            <a:avLst>
              <a:gd name="adj" fmla="val 3721"/>
            </a:avLst>
          </a:prstGeom>
          <a:solidFill>
            <a:sysClr val="windowText" lastClr="000000">
              <a:lumMod val="50000"/>
              <a:lumOff val="50000"/>
              <a:alpha val="52000"/>
            </a:sysClr>
          </a:solidFill>
          <a:ln w="12700" cap="flat" cmpd="sng">
            <a:solidFill>
              <a:srgbClr val="A24A48"/>
            </a:solidFill>
            <a:prstDash val="solid"/>
          </a:ln>
        </p:spPr>
      </p:sp>
      <p:sp>
        <p:nvSpPr>
          <p:cNvPr id="106" name="Shape 32">
            <a:extLst>
              <a:ext uri="{FF2B5EF4-FFF2-40B4-BE49-F238E27FC236}">
                <a16:creationId xmlns:a16="http://schemas.microsoft.com/office/drawing/2014/main" id="{AD7F98E4-AB92-2FCE-06CF-1DC86DF81D94}"/>
              </a:ext>
            </a:extLst>
          </p:cNvPr>
          <p:cNvSpPr/>
          <p:nvPr/>
        </p:nvSpPr>
        <p:spPr>
          <a:xfrm>
            <a:off x="4892040" y="2633472"/>
            <a:ext cx="256032" cy="256032"/>
          </a:xfrm>
          <a:prstGeom prst="ellipse">
            <a:avLst/>
          </a:prstGeom>
          <a:solidFill>
            <a:srgbClr val="800020"/>
          </a:solidFill>
        </p:spPr>
      </p:sp>
      <p:sp>
        <p:nvSpPr>
          <p:cNvPr id="107" name="Text 33">
            <a:extLst>
              <a:ext uri="{FF2B5EF4-FFF2-40B4-BE49-F238E27FC236}">
                <a16:creationId xmlns:a16="http://schemas.microsoft.com/office/drawing/2014/main" id="{AA50728F-48B6-B4F9-7660-E8A9CF29D62C}"/>
              </a:ext>
            </a:extLst>
          </p:cNvPr>
          <p:cNvSpPr/>
          <p:nvPr/>
        </p:nvSpPr>
        <p:spPr>
          <a:xfrm>
            <a:off x="4892040" y="2633472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✗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08" name="Text 34">
            <a:extLst>
              <a:ext uri="{FF2B5EF4-FFF2-40B4-BE49-F238E27FC236}">
                <a16:creationId xmlns:a16="http://schemas.microsoft.com/office/drawing/2014/main" id="{4C1C8C27-AA5A-03D1-E409-7720796E2062}"/>
              </a:ext>
            </a:extLst>
          </p:cNvPr>
          <p:cNvSpPr/>
          <p:nvPr/>
        </p:nvSpPr>
        <p:spPr>
          <a:xfrm>
            <a:off x="5212080" y="2633472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lang="en-US" altLang="zh-CN" b="1" dirty="0">
                <a:solidFill>
                  <a:srgbClr val="800020"/>
                </a:solidFill>
                <a:ea typeface="Calibri" pitchFamily="34" charset="0"/>
                <a:cs typeface="Calibri" pitchFamily="34" charset="0"/>
              </a:rPr>
              <a:t>I</a:t>
            </a:r>
            <a:r>
              <a:rPr lang="en-US" b="1" dirty="0">
                <a:solidFill>
                  <a:srgbClr val="800020"/>
                </a:solidFill>
                <a:ea typeface="Calibri" pitchFamily="34" charset="0"/>
                <a:cs typeface="Calibri" pitchFamily="34" charset="0"/>
              </a:rPr>
              <a:t>ntrinsic (Realistic)</a:t>
            </a:r>
            <a:endParaRPr lang="en-US" dirty="0">
              <a:solidFill>
                <a:prstClr val="black"/>
              </a:solidFill>
              <a:ea typeface="Calibri" pitchFamily="34" charset="0"/>
              <a:cs typeface="Calibri" pitchFamily="34" charset="0"/>
            </a:endParaRPr>
          </a:p>
        </p:txBody>
      </p:sp>
      <p:sp>
        <p:nvSpPr>
          <p:cNvPr id="109" name="Text 35">
            <a:extLst>
              <a:ext uri="{FF2B5EF4-FFF2-40B4-BE49-F238E27FC236}">
                <a16:creationId xmlns:a16="http://schemas.microsoft.com/office/drawing/2014/main" id="{09495B98-D398-DD24-FC26-28C3238B1656}"/>
              </a:ext>
            </a:extLst>
          </p:cNvPr>
          <p:cNvSpPr/>
          <p:nvPr/>
        </p:nvSpPr>
        <p:spPr>
          <a:xfrm>
            <a:off x="4937760" y="2971800"/>
            <a:ext cx="3429000" cy="1280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• No external signal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• Model judges itself blindly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</a:rPr>
              <a:t>• Flips correct -&gt; wrong -&gt; drops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10" name="Shape 36">
            <a:extLst>
              <a:ext uri="{FF2B5EF4-FFF2-40B4-BE49-F238E27FC236}">
                <a16:creationId xmlns:a16="http://schemas.microsoft.com/office/drawing/2014/main" id="{E8B0AB26-3E06-8CA1-ECE8-AD7223F11A24}"/>
              </a:ext>
            </a:extLst>
          </p:cNvPr>
          <p:cNvSpPr/>
          <p:nvPr/>
        </p:nvSpPr>
        <p:spPr>
          <a:xfrm>
            <a:off x="1417320" y="2286000"/>
            <a:ext cx="164592" cy="109728"/>
          </a:xfrm>
          <a:prstGeom prst="downArrow">
            <a:avLst/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11" name="Shape 37">
            <a:extLst>
              <a:ext uri="{FF2B5EF4-FFF2-40B4-BE49-F238E27FC236}">
                <a16:creationId xmlns:a16="http://schemas.microsoft.com/office/drawing/2014/main" id="{4DD43763-5287-EA70-3DBA-1BCE8D0BE5BD}"/>
              </a:ext>
            </a:extLst>
          </p:cNvPr>
          <p:cNvSpPr/>
          <p:nvPr/>
        </p:nvSpPr>
        <p:spPr>
          <a:xfrm>
            <a:off x="6400800" y="2286000"/>
            <a:ext cx="164592" cy="109728"/>
          </a:xfrm>
          <a:prstGeom prst="downArrow">
            <a:avLst/>
          </a:prstGeom>
          <a:solidFill>
            <a:srgbClr val="800020"/>
          </a:solidFill>
          <a:ln w="12700">
            <a:solidFill>
              <a:srgbClr val="800020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C3094-42F9-20DB-9C76-ACC0C1E0C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02C5338-FE17-1172-FCE0-0B23B43AB372}"/>
              </a:ext>
            </a:extLst>
          </p:cNvPr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METHODOLOGY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8F18F84-3F80-BC4F-E836-C099A4586B51}"/>
              </a:ext>
            </a:extLst>
          </p:cNvPr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Keeping the Evaluation Fair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86AE33B-C9FB-C8D1-F4EF-3B1775E617B5}"/>
              </a:ext>
            </a:extLst>
          </p:cNvPr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accuracy numbers, the authors built two extra checks into their methodology:</a:t>
            </a:r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1B69A130-FF4B-8F64-603A-D3032FEDE77A}"/>
              </a:ext>
            </a:extLst>
          </p:cNvPr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932AFC4A-8B52-4754-25ED-84DAC2605DF4}"/>
              </a:ext>
            </a:extLst>
          </p:cNvPr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13/24</a:t>
            </a:r>
            <a:endParaRPr lang="en-US" sz="850" dirty="0"/>
          </a:p>
        </p:txBody>
      </p:sp>
      <p:sp>
        <p:nvSpPr>
          <p:cNvPr id="49" name="Shape 4">
            <a:extLst>
              <a:ext uri="{FF2B5EF4-FFF2-40B4-BE49-F238E27FC236}">
                <a16:creationId xmlns:a16="http://schemas.microsoft.com/office/drawing/2014/main" id="{3F88B7BF-2FD9-8844-222C-289F7050BEFE}"/>
              </a:ext>
            </a:extLst>
          </p:cNvPr>
          <p:cNvSpPr/>
          <p:nvPr/>
        </p:nvSpPr>
        <p:spPr>
          <a:xfrm>
            <a:off x="517071" y="1193800"/>
            <a:ext cx="4023360" cy="1677670"/>
          </a:xfrm>
          <a:prstGeom prst="roundRect">
            <a:avLst>
              <a:gd name="adj" fmla="val 4444"/>
            </a:avLst>
          </a:prstGeom>
          <a:solidFill>
            <a:srgbClr val="FFE6E6">
              <a:alpha val="64000"/>
            </a:srgbClr>
          </a:solidFill>
          <a:ln w="12700" cap="flat" cmpd="sng" algn="ctr">
            <a:solidFill>
              <a:srgbClr val="A24A48"/>
            </a:solidFill>
            <a:prstDash val="solid"/>
            <a:miter lim="800000"/>
          </a:ln>
          <a:effectLst/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0" normalizeH="0" baseline="0" noProof="0" dirty="0">
                <a:ln>
                  <a:noFill/>
                </a:ln>
                <a:solidFill>
                  <a:srgbClr val="411401">
                    <a:lumMod val="90000"/>
                    <a:lumOff val="10000"/>
                  </a:srgbClr>
                </a:solidFill>
                <a:effectLst/>
                <a:uLnTx/>
                <a:uFillTx/>
                <a:latin typeface="Calibri"/>
                <a:ea typeface="Calibri" pitchFamily="34" charset="-122"/>
                <a:cs typeface="Calibri" pitchFamily="34" charset="-120"/>
                <a:sym typeface="+mn-ea"/>
              </a:rPr>
              <a:t>        Equal Inference Cost</a:t>
            </a:r>
          </a:p>
        </p:txBody>
      </p:sp>
      <p:sp>
        <p:nvSpPr>
          <p:cNvPr id="50" name="Text Box 41">
            <a:extLst>
              <a:ext uri="{FF2B5EF4-FFF2-40B4-BE49-F238E27FC236}">
                <a16:creationId xmlns:a16="http://schemas.microsoft.com/office/drawing/2014/main" id="{A6A03A85-9B32-31A0-F498-089FED761AB0}"/>
              </a:ext>
            </a:extLst>
          </p:cNvPr>
          <p:cNvSpPr txBox="1"/>
          <p:nvPr/>
        </p:nvSpPr>
        <p:spPr>
          <a:xfrm>
            <a:off x="630736" y="1614424"/>
            <a:ext cx="3796030" cy="10902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">
              <a:lnSpc>
                <a:spcPct val="125000"/>
              </a:lnSpc>
            </a:pPr>
            <a:r>
              <a:rPr lang="en-US" sz="1200" dirty="0">
                <a:solidFill>
                  <a:prstClr val="black">
                    <a:lumMod val="95000"/>
                    <a:lumOff val="5000"/>
                  </a:prstClr>
                </a:solidFill>
                <a:ea typeface="Calibri" pitchFamily="34" charset="-122"/>
                <a:cs typeface="Calibri" pitchFamily="34" charset="-120"/>
                <a:sym typeface="+mn-ea"/>
              </a:rPr>
              <a:t>Self-correction uses multiple model calls, so it is compared against self-consistency and multi-agent debate using the same number of responses, rather than against a single-call baseline.</a:t>
            </a:r>
          </a:p>
        </p:txBody>
      </p:sp>
      <p:sp>
        <p:nvSpPr>
          <p:cNvPr id="51" name="Right Arrow 50">
            <a:extLst>
              <a:ext uri="{FF2B5EF4-FFF2-40B4-BE49-F238E27FC236}">
                <a16:creationId xmlns:a16="http://schemas.microsoft.com/office/drawing/2014/main" id="{FC93F69C-3CF1-6BDC-7D45-7B862D7D80B9}"/>
              </a:ext>
            </a:extLst>
          </p:cNvPr>
          <p:cNvSpPr/>
          <p:nvPr/>
        </p:nvSpPr>
        <p:spPr>
          <a:xfrm>
            <a:off x="614637" y="1231937"/>
            <a:ext cx="261459" cy="279377"/>
          </a:xfrm>
          <a:prstGeom prst="rightArrow">
            <a:avLst/>
          </a:prstGeom>
          <a:solidFill>
            <a:srgbClr val="A24A48"/>
          </a:solidFill>
          <a:ln w="12700" cap="flat" cmpd="sng" algn="ctr">
            <a:solidFill>
              <a:srgbClr val="A24A48">
                <a:lumMod val="7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2" name="Shape 4">
            <a:extLst>
              <a:ext uri="{FF2B5EF4-FFF2-40B4-BE49-F238E27FC236}">
                <a16:creationId xmlns:a16="http://schemas.microsoft.com/office/drawing/2014/main" id="{28E675F0-C2FC-1E30-EC46-616EC4839EC5}"/>
              </a:ext>
            </a:extLst>
          </p:cNvPr>
          <p:cNvSpPr/>
          <p:nvPr/>
        </p:nvSpPr>
        <p:spPr>
          <a:xfrm>
            <a:off x="4715485" y="1193800"/>
            <a:ext cx="4023360" cy="1677670"/>
          </a:xfrm>
          <a:prstGeom prst="roundRect">
            <a:avLst>
              <a:gd name="adj" fmla="val 4444"/>
            </a:avLst>
          </a:prstGeom>
          <a:solidFill>
            <a:srgbClr val="FFE6E6">
              <a:alpha val="64000"/>
            </a:srgbClr>
          </a:solidFill>
          <a:ln w="12700" cap="flat" cmpd="sng" algn="ctr">
            <a:solidFill>
              <a:srgbClr val="A24A48"/>
            </a:solidFill>
            <a:prstDash val="solid"/>
            <a:miter lim="800000"/>
          </a:ln>
          <a:effectLst/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0" cap="none" spc="0" normalizeH="0" baseline="0" noProof="0" dirty="0">
                <a:ln>
                  <a:noFill/>
                </a:ln>
                <a:solidFill>
                  <a:srgbClr val="411401">
                    <a:lumMod val="90000"/>
                    <a:lumOff val="10000"/>
                  </a:srgbClr>
                </a:solidFill>
                <a:effectLst/>
                <a:uLnTx/>
                <a:uFillTx/>
                <a:latin typeface="Calibri"/>
                <a:ea typeface="Calibri" pitchFamily="34" charset="-122"/>
                <a:cs typeface="Calibri" pitchFamily="34" charset="-120"/>
                <a:sym typeface="+mn-ea"/>
              </a:rPr>
              <a:t>         Equal Prompt Effort</a:t>
            </a:r>
          </a:p>
        </p:txBody>
      </p:sp>
      <p:sp>
        <p:nvSpPr>
          <p:cNvPr id="53" name="Right Arrow 52">
            <a:extLst>
              <a:ext uri="{FF2B5EF4-FFF2-40B4-BE49-F238E27FC236}">
                <a16:creationId xmlns:a16="http://schemas.microsoft.com/office/drawing/2014/main" id="{647D0349-B4AC-1A27-9832-CB9461B8D561}"/>
              </a:ext>
            </a:extLst>
          </p:cNvPr>
          <p:cNvSpPr/>
          <p:nvPr/>
        </p:nvSpPr>
        <p:spPr>
          <a:xfrm>
            <a:off x="4815815" y="1224763"/>
            <a:ext cx="241321" cy="279377"/>
          </a:xfrm>
          <a:prstGeom prst="rightArrow">
            <a:avLst/>
          </a:prstGeom>
          <a:solidFill>
            <a:srgbClr val="A24A48"/>
          </a:solidFill>
          <a:ln w="12700" cap="flat" cmpd="sng" algn="ctr">
            <a:solidFill>
              <a:srgbClr val="A24A48">
                <a:lumMod val="7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4" name="Text Box 50">
            <a:extLst>
              <a:ext uri="{FF2B5EF4-FFF2-40B4-BE49-F238E27FC236}">
                <a16:creationId xmlns:a16="http://schemas.microsoft.com/office/drawing/2014/main" id="{E7DBDEE5-318C-8A0C-5813-F6FE4B4D19AA}"/>
              </a:ext>
            </a:extLst>
          </p:cNvPr>
          <p:cNvSpPr txBox="1"/>
          <p:nvPr/>
        </p:nvSpPr>
        <p:spPr>
          <a:xfrm>
            <a:off x="4829150" y="1622293"/>
            <a:ext cx="3796030" cy="13766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just" defTabSz="91440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1A1A1A"/>
                </a:solidFill>
                <a:effectLst/>
                <a:uLnTx/>
                <a:uFillTx/>
                <a:ea typeface="Calibri" pitchFamily="34" charset="-122"/>
                <a:cs typeface="Calibri" pitchFamily="34" charset="-120"/>
                <a:sym typeface="+mn-ea"/>
              </a:rPr>
              <a:t>The initial-answer prompt and the feedback prompt are given the same level of detail, so gains can't come from simply hiding instructions in the correction step.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55" name="Text Box 51">
            <a:extLst>
              <a:ext uri="{FF2B5EF4-FFF2-40B4-BE49-F238E27FC236}">
                <a16:creationId xmlns:a16="http://schemas.microsoft.com/office/drawing/2014/main" id="{59D5CE49-3EAA-5F6F-7B60-23A82F8749AE}"/>
              </a:ext>
            </a:extLst>
          </p:cNvPr>
          <p:cNvSpPr txBox="1"/>
          <p:nvPr/>
        </p:nvSpPr>
        <p:spPr>
          <a:xfrm>
            <a:off x="445770" y="2990850"/>
            <a:ext cx="8251825" cy="28193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100" b="1" dirty="0">
                <a:solidFill>
                  <a:srgbClr val="411401">
                    <a:lumMod val="90000"/>
                    <a:lumOff val="10000"/>
                  </a:srgbClr>
                </a:solidFill>
                <a:ea typeface="Calibri" pitchFamily="34" charset="-122"/>
                <a:cs typeface="Calibri" pitchFamily="34" charset="-120"/>
                <a:sym typeface="+mn-ea"/>
              </a:rPr>
              <a:t>Multi-agent debate</a:t>
            </a:r>
            <a:r>
              <a:rPr lang="en-US" sz="1100" dirty="0">
                <a:solidFill>
                  <a:srgbClr val="411401">
                    <a:lumMod val="90000"/>
                    <a:lumOff val="10000"/>
                  </a:srgbClr>
                </a:solidFill>
                <a:ea typeface="Calibri" pitchFamily="34" charset="-122"/>
                <a:cs typeface="Calibri" pitchFamily="34" charset="-120"/>
                <a:sym typeface="+mn-ea"/>
              </a:rPr>
              <a:t>  </a:t>
            </a:r>
            <a:r>
              <a:rPr lang="en-US" sz="1100" dirty="0">
                <a:solidFill>
                  <a:srgbClr val="1A1A1A"/>
                </a:solidFill>
                <a:ea typeface="Calibri" pitchFamily="34" charset="-122"/>
                <a:cs typeface="Calibri" pitchFamily="34" charset="-120"/>
                <a:sym typeface="+mn-ea"/>
              </a:rPr>
              <a:t>vs. self-consistency, and </a:t>
            </a:r>
            <a:r>
              <a:rPr lang="en-US" sz="1100" b="1" dirty="0">
                <a:solidFill>
                  <a:srgbClr val="411401">
                    <a:lumMod val="90000"/>
                    <a:lumOff val="10000"/>
                  </a:srgbClr>
                </a:solidFill>
                <a:ea typeface="Calibri" pitchFamily="34" charset="-122"/>
                <a:cs typeface="Calibri" pitchFamily="34" charset="-120"/>
                <a:sym typeface="+mn-ea"/>
              </a:rPr>
              <a:t>prompt-design comparisons</a:t>
            </a:r>
            <a:r>
              <a:rPr lang="en-US" sz="1100" dirty="0">
                <a:solidFill>
                  <a:srgbClr val="411401">
                    <a:lumMod val="90000"/>
                    <a:lumOff val="10000"/>
                  </a:srgbClr>
                </a:solidFill>
                <a:ea typeface="Calibri" pitchFamily="34" charset="-122"/>
                <a:cs typeface="Calibri" pitchFamily="34" charset="-120"/>
                <a:sym typeface="+mn-ea"/>
              </a:rPr>
              <a:t> </a:t>
            </a:r>
            <a:r>
              <a:rPr lang="en-US" sz="1100" dirty="0">
                <a:solidFill>
                  <a:srgbClr val="1A1A1A"/>
                </a:solidFill>
                <a:ea typeface="Calibri" pitchFamily="34" charset="-122"/>
                <a:cs typeface="Calibri" pitchFamily="34" charset="-120"/>
                <a:sym typeface="+mn-ea"/>
              </a:rPr>
              <a:t>both use this same fairness lens.</a:t>
            </a:r>
          </a:p>
        </p:txBody>
      </p:sp>
    </p:spTree>
    <p:extLst>
      <p:ext uri="{BB962C8B-B14F-4D97-AF65-F5344CB8AC3E}">
        <p14:creationId xmlns:p14="http://schemas.microsoft.com/office/powerpoint/2010/main" val="24182300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RESULTS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Intrinsic Self-Correction Fails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Finding: Performance declines after self-correction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07008"/>
            <a:ext cx="8046720" cy="914400"/>
          </a:xfrm>
          <a:prstGeom prst="roundRect">
            <a:avLst>
              <a:gd name="adj" fmla="val 8000"/>
            </a:avLst>
          </a:prstGeom>
          <a:solidFill>
            <a:srgbClr val="FFF1F2"/>
          </a:solidFill>
          <a:ln w="19050">
            <a:solidFill>
              <a:srgbClr val="8000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325880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EMPIRICAL FINDING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77240" y="15544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Intrinsic self-correction does NOT improve accuracy. Scores drop across all models and tasks.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2560320" cy="2148840"/>
          </a:xfrm>
          <a:prstGeom prst="roundRect">
            <a:avLst>
              <a:gd name="adj" fmla="val 340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468880"/>
            <a:ext cx="292608" cy="29260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468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97280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Universal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31520" y="2834640"/>
            <a:ext cx="21945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83464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models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31520" y="31546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GPT-3.5, GPT-4, Turbo, Llama-2 all decline after R1 and R2.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600200" y="3703320"/>
            <a:ext cx="457200" cy="4572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0020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337560" y="2286000"/>
            <a:ext cx="2560320" cy="2148840"/>
          </a:xfrm>
          <a:prstGeom prst="roundRect">
            <a:avLst>
              <a:gd name="adj" fmla="val 340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0440" y="2468880"/>
            <a:ext cx="292608" cy="29260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19" name="Text 17"/>
          <p:cNvSpPr/>
          <p:nvPr/>
        </p:nvSpPr>
        <p:spPr>
          <a:xfrm>
            <a:off x="3520440" y="2468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886200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Task-Agnostic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520440" y="2834640"/>
            <a:ext cx="21945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20440" y="283464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tasks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520440" y="31546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(GSM8K), logic (CSQA), QA (HotpotQA) all fail.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89120" y="3703320"/>
            <a:ext cx="457200" cy="4572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8912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126480" y="2286000"/>
            <a:ext cx="2560320" cy="2148840"/>
          </a:xfrm>
          <a:prstGeom prst="roundRect">
            <a:avLst>
              <a:gd name="adj" fmla="val 3404"/>
            </a:avLst>
          </a:prstGeom>
          <a:solidFill>
            <a:srgbClr val="FFFBE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09360" y="2468880"/>
            <a:ext cx="292608" cy="29260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2468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675120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Oracle Illusion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309360" y="2834640"/>
            <a:ext cx="21945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09360" y="283464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artifact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309360" y="31546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Gains only with external labels guiding when to fix.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178040" y="3703320"/>
            <a:ext cx="457200" cy="4572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17804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14/24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RESULTS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GPT-3.5 &amp; GPT-4 Benchmark Results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drops across rounds (Table 2)</a:t>
            </a:r>
            <a:endParaRPr lang="en-US" sz="11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207008"/>
          <a:ext cx="47548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577840" y="1207008"/>
            <a:ext cx="3017520" cy="3246120"/>
          </a:xfrm>
          <a:prstGeom prst="roundRect">
            <a:avLst>
              <a:gd name="adj" fmla="val 303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760720" y="13716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Key Drops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760720" y="1755648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897880" y="182880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GPT-3.5 on CSQA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897880" y="182880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-17.2%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897880" y="204825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72.5% -&gt; 55.3% (R2)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760720" y="2596896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897880" y="26700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 on HotpotQA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897880" y="26700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-11.0%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897880" y="288950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53.0% -&gt; 42.0%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760720" y="3438144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897880" y="351129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 on GSM8K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897880" y="351129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-4.0%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5897880" y="373075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92.0% -&gt; 88.0%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48640" y="4526280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Table-1: GPT-3.5 and GPT-4 accuracy across two self-correction rounds</a:t>
            </a:r>
            <a:endParaRPr lang="en-US" sz="750" dirty="0"/>
          </a:p>
        </p:txBody>
      </p:sp>
      <p:sp>
        <p:nvSpPr>
          <p:cNvPr id="22" name="Text 18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23" name="Text 19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15/24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RESULTS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GPT-4-Turbo &amp; Llama-2 Results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generalizes across open and proprietary models</a:t>
            </a:r>
            <a:endParaRPr lang="en-US" sz="11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207008"/>
          <a:ext cx="47548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577840" y="1207008"/>
            <a:ext cx="3017520" cy="3246120"/>
          </a:xfrm>
          <a:prstGeom prst="roundRect">
            <a:avLst>
              <a:gd name="adj" fmla="val 3030"/>
            </a:avLst>
          </a:prstGeom>
          <a:solidFill>
            <a:srgbClr val="FFF1F2"/>
          </a:solidFill>
          <a:ln w="15240">
            <a:solidFill>
              <a:srgbClr val="80002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760720" y="13716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Llama-2 Collapse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760720" y="175564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GSM8K: 62.0% -&gt; 36.5% (-25.5%)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CSQA: 64.0% -&gt; 36.5% (-27.5%)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760720" y="2331720"/>
            <a:ext cx="2651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Open-weight models are highly prompt-compliant: they abandon correct answers when asked to "find flaws".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896845" y="3264408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0002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96845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5760720" y="3840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 compliance vulnerability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4526280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Table-2: GPT-4-Turbo and Llama-2 results across self-correction rounds</a:t>
            </a:r>
            <a:endParaRPr lang="en-US" sz="750" dirty="0"/>
          </a:p>
        </p:txBody>
      </p:sp>
      <p:sp>
        <p:nvSpPr>
          <p:cNvPr id="15" name="Text 11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16/24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RESULTS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Answer Transition Dynamics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accuracy drops: net-negative flips (Figure 1)</a:t>
            </a:r>
            <a:endParaRPr lang="en-US" sz="11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207008"/>
          <a:ext cx="438912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212080" y="1207008"/>
            <a:ext cx="338328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349240" y="129844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74.7%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309360" y="131673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Unchanged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309360" y="15544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initial answer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212080" y="2029968"/>
            <a:ext cx="3383280" cy="731520"/>
          </a:xfrm>
          <a:prstGeom prst="roundRect">
            <a:avLst>
              <a:gd name="adj" fmla="val 10000"/>
            </a:avLst>
          </a:prstGeom>
          <a:solidFill>
            <a:srgbClr val="FFF1F2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349240" y="212140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8.9%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309360" y="213969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-&gt; Wrong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309360" y="23774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Harmful flip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212080" y="2852928"/>
            <a:ext cx="3383280" cy="731520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349240" y="294436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653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7.6%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309360" y="29626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-&gt; Correct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309360" y="32004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Beneficial fix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212080" y="3675888"/>
            <a:ext cx="3383280" cy="731520"/>
          </a:xfrm>
          <a:prstGeom prst="roundRect">
            <a:avLst>
              <a:gd name="adj" fmla="val 10000"/>
            </a:avLst>
          </a:prstGeom>
          <a:solidFill>
            <a:srgbClr val="FFF1F2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349240" y="37673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-1.3%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309360" y="378561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Loss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309360" y="40233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 &gt; help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48640" y="4526280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Figure-4: Answer transition dynamics after two self-correction rounds on GSM8K (GPT-3.5)</a:t>
            </a:r>
            <a:endParaRPr lang="en-US" sz="750" dirty="0"/>
          </a:p>
        </p:txBody>
      </p:sp>
      <p:sp>
        <p:nvSpPr>
          <p:cNvPr id="24" name="Text 20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25" name="Text 21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17/24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ANALYSIS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self-correction means, and the question this paper puts to the test.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4572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Self-correction: an LLM revises its own answer using feedback on a prior output.</a:t>
            </a:r>
            <a:endParaRPr lang="en-US" sz="1300" dirty="0"/>
          </a:p>
          <a:p>
            <a:pPr marL="177800" indent="-177800" algn="l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paper studies intrinsic self-correction, where the model corrects itself using only its own knowledge, with no external feedback or oracle labels.</a:t>
            </a:r>
            <a:endParaRPr lang="en-US" sz="1300" dirty="0"/>
          </a:p>
          <a:p>
            <a:pPr marL="177800" indent="-177800" algn="l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question: if a model can self-correct, why not answer correctly the first time?</a:t>
            </a:r>
            <a:endParaRPr lang="en-US" sz="1300" dirty="0"/>
          </a:p>
          <a:p>
            <a:pPr marL="177800" indent="-177800" algn="l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3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Finding: without external feedback, LLMs largely fail to self-correct reasoning and often get worse.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989320" y="1851660"/>
            <a:ext cx="0" cy="2011680"/>
          </a:xfrm>
          <a:prstGeom prst="line">
            <a:avLst/>
          </a:prstGeom>
          <a:noFill/>
          <a:ln w="28575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737860" y="1600200"/>
            <a:ext cx="502920" cy="502920"/>
          </a:xfrm>
          <a:prstGeom prst="ellipse">
            <a:avLst/>
          </a:prstGeom>
          <a:solidFill>
            <a:srgbClr val="C00000">
              <a:shade val="30000"/>
              <a:satMod val="115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7378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23660" y="1600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answer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737860" y="2606040"/>
            <a:ext cx="502920" cy="502920"/>
          </a:xfrm>
          <a:prstGeom prst="ellipse">
            <a:avLst/>
          </a:prstGeom>
          <a:solidFill>
            <a:srgbClr val="C00000">
              <a:shade val="30000"/>
              <a:satMod val="11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573786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23660" y="26060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Self-review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oracle)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737860" y="3611880"/>
            <a:ext cx="502920" cy="502920"/>
          </a:xfrm>
          <a:prstGeom prst="ellipse">
            <a:avLst/>
          </a:prstGeom>
          <a:solidFill>
            <a:srgbClr val="C00000">
              <a:shade val="30000"/>
              <a:satMod val="115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5737860" y="3611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23660" y="36118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Revised answer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473659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18/24</a:t>
            </a:r>
            <a:endParaRPr lang="en-US" sz="850" dirty="0"/>
          </a:p>
        </p:txBody>
      </p:sp>
      <p:sp>
        <p:nvSpPr>
          <p:cNvPr id="16" name="Text 1">
            <a:extLst>
              <a:ext uri="{FF2B5EF4-FFF2-40B4-BE49-F238E27FC236}">
                <a16:creationId xmlns:a16="http://schemas.microsoft.com/office/drawing/2014/main" id="{60C3FAC6-4FF2-2AC4-4741-39585FEABD2C}"/>
              </a:ext>
            </a:extLst>
          </p:cNvPr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Why Does Self-Correction Fail?</a:t>
            </a:r>
            <a:endParaRPr lang="en-US" sz="2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ANALYSIS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an equal number of model responses, debate offers no real advantage over simple majority voting (GSM8K).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/>
        </p:nvGraphicFramePr>
        <p:xfrm>
          <a:off x="548640" y="1417320"/>
          <a:ext cx="3703320" cy="2112264"/>
        </p:xfrm>
        <a:graphic>
          <a:graphicData uri="http://schemas.openxmlformats.org/drawingml/2006/table">
            <a:tbl>
              <a:tblPr/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 Resp.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GSM8K Acc.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Prompting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Self-Consistency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Debate (r1)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Self-Consistency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Debate (r2)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Self-Consistency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Chart 0"/>
          <p:cNvGraphicFramePr/>
          <p:nvPr/>
        </p:nvGraphicFramePr>
        <p:xfrm>
          <a:off x="4526280" y="1280160"/>
          <a:ext cx="370332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3703320"/>
            <a:ext cx="8046720" cy="457200"/>
          </a:xfrm>
          <a:prstGeom prst="roundRect">
            <a:avLst>
              <a:gd name="adj" fmla="val 10000"/>
            </a:avLst>
          </a:prstGeom>
          <a:solidFill>
            <a:srgbClr val="FFF2F2"/>
          </a:solidFill>
          <a:ln w="12700">
            <a:solidFill>
              <a:srgbClr val="80002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85800" y="37033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 </a:t>
            </a: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Debate is really "self-consistency with model-driven voting”. With the same number of responses, plain majority-vote self-consistency matches or beats it.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548640" y="473659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11" name="Text 7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19/24</a:t>
            </a:r>
            <a:endParaRPr lang="en-US" sz="850" dirty="0"/>
          </a:p>
        </p:txBody>
      </p:sp>
      <p:sp>
        <p:nvSpPr>
          <p:cNvPr id="12" name="Text 1">
            <a:extLst>
              <a:ext uri="{FF2B5EF4-FFF2-40B4-BE49-F238E27FC236}">
                <a16:creationId xmlns:a16="http://schemas.microsoft.com/office/drawing/2014/main" id="{768A70BA-305D-5D27-82E5-9C3FA2C154E0}"/>
              </a:ext>
            </a:extLst>
          </p:cNvPr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Multi-Agent Debate ≈ Self-Consistency</a:t>
            </a:r>
            <a:endParaRPr lang="en-US" sz="2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ANALYSIS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Case Study: The Gaslighting Effect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critique prompts force correct reasoning into hallucination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70432"/>
            <a:ext cx="8046720" cy="539496"/>
          </a:xfrm>
          <a:prstGeom prst="roundRect">
            <a:avLst>
              <a:gd name="adj" fmla="val 882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339692"/>
            <a:ext cx="960120" cy="219456"/>
          </a:xfrm>
          <a:prstGeom prst="roundRect">
            <a:avLst>
              <a:gd name="adj" fmla="val 16667"/>
            </a:avLst>
          </a:prstGeom>
          <a:solidFill>
            <a:srgbClr val="FFF1F2"/>
          </a:solidFill>
          <a:ln w="7620">
            <a:solidFill>
              <a:srgbClr val="80002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46177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GSM8K TASK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737360" y="1234440"/>
            <a:ext cx="6720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Terry eats 2 yogurts a day. They are sold in 4-packs at $5.00 per pack. How much does he spend on yogurts in 30 days?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1883664"/>
            <a:ext cx="2514600" cy="2240280"/>
          </a:xfrm>
          <a:prstGeom prst="roundRect">
            <a:avLst>
              <a:gd name="adj" fmla="val 3265"/>
            </a:avLst>
          </a:prstGeom>
          <a:solidFill>
            <a:srgbClr val="F0FDF4"/>
          </a:solidFill>
          <a:ln w="15240">
            <a:solidFill>
              <a:srgbClr val="16653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1993392"/>
            <a:ext cx="2240280" cy="256032"/>
          </a:xfrm>
          <a:prstGeom prst="roundRect">
            <a:avLst>
              <a:gd name="adj" fmla="val 14286"/>
            </a:avLst>
          </a:prstGeom>
          <a:solidFill>
            <a:srgbClr val="166534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19933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1: CORRECT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85800" y="2286000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6653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$75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685800" y="2761488"/>
            <a:ext cx="224028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2852928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Total yogurts needed:</a:t>
            </a: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30 days x 2 = 60 yogurts</a:t>
            </a: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4-packs required:</a:t>
            </a: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60 / 4 = 15 packs</a:t>
            </a: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Total expenditure:</a:t>
            </a: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15 packs x $5 = $75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127248" y="2935224"/>
            <a:ext cx="201168" cy="164592"/>
          </a:xfrm>
          <a:prstGeom prst="rightArrow">
            <a:avLst/>
          </a:prstGeom>
          <a:solidFill>
            <a:srgbClr val="800020"/>
          </a:solidFill>
          <a:ln w="12700">
            <a:solidFill>
              <a:srgbClr val="80002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64992" y="1883664"/>
            <a:ext cx="2414016" cy="2240280"/>
          </a:xfrm>
          <a:prstGeom prst="roundRect">
            <a:avLst>
              <a:gd name="adj" fmla="val 3265"/>
            </a:avLst>
          </a:prstGeom>
          <a:solidFill>
            <a:srgbClr val="FFFBEB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02152" y="1993392"/>
            <a:ext cx="2139696" cy="256032"/>
          </a:xfrm>
          <a:prstGeom prst="roundRect">
            <a:avLst>
              <a:gd name="adj" fmla="val 14286"/>
            </a:avLst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02152" y="1993392"/>
            <a:ext cx="2139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SELF-CRITIQUE PROMPT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502152" y="2322576"/>
            <a:ext cx="2139696" cy="475488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0160">
            <a:solidFill>
              <a:srgbClr val="B4530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47872" y="2322576"/>
            <a:ext cx="20482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"Review your answer and find flaws."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502152" y="2871216"/>
            <a:ext cx="2139696" cy="1124712"/>
          </a:xfrm>
          <a:prstGeom prst="roundRect">
            <a:avLst>
              <a:gd name="adj" fmla="val 4065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66160" y="29260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Compliance Trap: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3566160" y="3108960"/>
            <a:ext cx="20299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Instruction-following bias</a:t>
            </a: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Model assumes prompt implies an error occurred</a:t>
            </a:r>
            <a:endParaRPr lang="en-US" sz="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Model invents non-existent flaws to comply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833872" y="2935224"/>
            <a:ext cx="201168" cy="164592"/>
          </a:xfrm>
          <a:prstGeom prst="rightArrow">
            <a:avLst/>
          </a:prstGeom>
          <a:solidFill>
            <a:srgbClr val="800020"/>
          </a:solidFill>
          <a:ln w="12700">
            <a:solidFill>
              <a:srgbClr val="80002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80760" y="1883664"/>
            <a:ext cx="2514600" cy="2240280"/>
          </a:xfrm>
          <a:prstGeom prst="roundRect">
            <a:avLst>
              <a:gd name="adj" fmla="val 3265"/>
            </a:avLst>
          </a:prstGeom>
          <a:solidFill>
            <a:srgbClr val="FFF1F2"/>
          </a:solidFill>
          <a:ln w="15240">
            <a:solidFill>
              <a:srgbClr val="80002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0" y="1993392"/>
            <a:ext cx="2240280" cy="256032"/>
          </a:xfrm>
          <a:prstGeom prst="roundRect">
            <a:avLst>
              <a:gd name="adj" fmla="val 14286"/>
            </a:avLst>
          </a:prstGeom>
          <a:solidFill>
            <a:srgbClr val="800020"/>
          </a:solidFill>
          <a:ln w="12700">
            <a:solidFill>
              <a:srgbClr val="80002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7920" y="19933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2: WRONG FLIP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17920" y="2286000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$150</a:t>
            </a:r>
            <a:endParaRPr lang="en-US" sz="2600" dirty="0"/>
          </a:p>
        </p:txBody>
      </p:sp>
      <p:sp>
        <p:nvSpPr>
          <p:cNvPr id="29" name="Shape 27"/>
          <p:cNvSpPr/>
          <p:nvPr/>
        </p:nvSpPr>
        <p:spPr>
          <a:xfrm>
            <a:off x="6217920" y="2761488"/>
            <a:ext cx="224028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852928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Model doubts previous logic</a:t>
            </a: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Hallucinates new rule:</a:t>
            </a: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"Terry buys 1 pack daily"</a:t>
            </a: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Calculates 30 x $5 = $150</a:t>
            </a:r>
            <a:endParaRPr lang="en-US" sz="8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(Flipped from 100% correct to 0%)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48640" y="4206240"/>
            <a:ext cx="8046720" cy="411480"/>
          </a:xfrm>
          <a:prstGeom prst="roundRect">
            <a:avLst>
              <a:gd name="adj" fmla="val 11111"/>
            </a:avLst>
          </a:prstGeom>
          <a:solidFill>
            <a:srgbClr val="FFF1F2"/>
          </a:solidFill>
          <a:ln w="12700">
            <a:solidFill>
              <a:srgbClr val="80002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4206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C0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Asking an LLM to 'find flaws' acts as destructive noise because the model lacks an internal truth verifier.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20/24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CONCLUSION &amp; FUTURE WORK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Key Takeaways</a:t>
            </a:r>
            <a:endParaRPr lang="en-US" sz="2300" dirty="0"/>
          </a:p>
        </p:txBody>
      </p:sp>
      <p:sp>
        <p:nvSpPr>
          <p:cNvPr id="21" name="Text 18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21/24</a:t>
            </a:r>
          </a:p>
        </p:txBody>
      </p:sp>
      <p:sp>
        <p:nvSpPr>
          <p:cNvPr id="39" name="Shape 2">
            <a:extLst>
              <a:ext uri="{FF2B5EF4-FFF2-40B4-BE49-F238E27FC236}">
                <a16:creationId xmlns:a16="http://schemas.microsoft.com/office/drawing/2014/main" id="{05C7CF24-D89A-56F8-1154-187D845FC095}"/>
              </a:ext>
            </a:extLst>
          </p:cNvPr>
          <p:cNvSpPr/>
          <p:nvPr/>
        </p:nvSpPr>
        <p:spPr>
          <a:xfrm>
            <a:off x="493980" y="1117820"/>
            <a:ext cx="2592324" cy="2434590"/>
          </a:xfrm>
          <a:prstGeom prst="roundRect">
            <a:avLst>
              <a:gd name="adj" fmla="val 2254"/>
            </a:avLst>
          </a:prstGeom>
          <a:solidFill>
            <a:srgbClr val="FBFBFD"/>
          </a:solidFill>
          <a:ln w="12700">
            <a:solidFill>
              <a:srgbClr val="D9DEEA"/>
            </a:solidFill>
            <a:prstDash val="solid"/>
          </a:ln>
          <a:effectLst>
            <a:outerShdw blurRad="76200" dist="25400" dir="5400000" algn="bl" rotWithShape="0">
              <a:srgbClr val="9AA5C4">
                <a:alpha val="25000"/>
              </a:srgbClr>
            </a:outerShdw>
          </a:effectLst>
        </p:spPr>
      </p:sp>
      <p:sp>
        <p:nvSpPr>
          <p:cNvPr id="40" name="Shape 3">
            <a:extLst>
              <a:ext uri="{FF2B5EF4-FFF2-40B4-BE49-F238E27FC236}">
                <a16:creationId xmlns:a16="http://schemas.microsoft.com/office/drawing/2014/main" id="{F317846E-7D52-C181-665F-3C339743D6FB}"/>
              </a:ext>
            </a:extLst>
          </p:cNvPr>
          <p:cNvSpPr/>
          <p:nvPr/>
        </p:nvSpPr>
        <p:spPr>
          <a:xfrm>
            <a:off x="686004" y="1323560"/>
            <a:ext cx="342900" cy="342900"/>
          </a:xfrm>
          <a:prstGeom prst="ellipse">
            <a:avLst/>
          </a:prstGeom>
          <a:solidFill>
            <a:srgbClr val="B23A2E"/>
          </a:solidFill>
          <a:ln/>
        </p:spPr>
      </p:sp>
      <p:sp>
        <p:nvSpPr>
          <p:cNvPr id="41" name="Text 4">
            <a:extLst>
              <a:ext uri="{FF2B5EF4-FFF2-40B4-BE49-F238E27FC236}">
                <a16:creationId xmlns:a16="http://schemas.microsoft.com/office/drawing/2014/main" id="{23DA04E4-761C-FAB6-3BC6-3D18DAD11B02}"/>
              </a:ext>
            </a:extLst>
          </p:cNvPr>
          <p:cNvSpPr/>
          <p:nvPr/>
        </p:nvSpPr>
        <p:spPr>
          <a:xfrm>
            <a:off x="686004" y="1323560"/>
            <a:ext cx="342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50" dirty="0"/>
          </a:p>
        </p:txBody>
      </p:sp>
      <p:sp>
        <p:nvSpPr>
          <p:cNvPr id="42" name="Text 5">
            <a:extLst>
              <a:ext uri="{FF2B5EF4-FFF2-40B4-BE49-F238E27FC236}">
                <a16:creationId xmlns:a16="http://schemas.microsoft.com/office/drawing/2014/main" id="{128E39DB-4071-E1B1-BE53-886BB3FE3FC9}"/>
              </a:ext>
            </a:extLst>
          </p:cNvPr>
          <p:cNvSpPr/>
          <p:nvPr/>
        </p:nvSpPr>
        <p:spPr>
          <a:xfrm>
            <a:off x="699720" y="1789904"/>
            <a:ext cx="2180844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38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Intrinsic Self-Correction Fails</a:t>
            </a:r>
            <a:endParaRPr lang="en-US" sz="1238" dirty="0"/>
          </a:p>
        </p:txBody>
      </p:sp>
      <p:sp>
        <p:nvSpPr>
          <p:cNvPr id="43" name="Text 6">
            <a:extLst>
              <a:ext uri="{FF2B5EF4-FFF2-40B4-BE49-F238E27FC236}">
                <a16:creationId xmlns:a16="http://schemas.microsoft.com/office/drawing/2014/main" id="{52A5073E-E310-1A70-A4DB-1C1986C98A1C}"/>
              </a:ext>
            </a:extLst>
          </p:cNvPr>
          <p:cNvSpPr/>
          <p:nvPr/>
        </p:nvSpPr>
        <p:spPr>
          <a:xfrm>
            <a:off x="699720" y="2297396"/>
            <a:ext cx="21808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sz="1000" dirty="0"/>
              <a:t>Without external feedback or grounding, accuracy consistently drops after self-correction across GPT-3.5, GPT-4, GPT-4-Turbo, and Llama-2, on every reasoning benchmark tested.</a:t>
            </a:r>
            <a:endParaRPr lang="en-US" sz="938" dirty="0"/>
          </a:p>
        </p:txBody>
      </p:sp>
      <p:sp>
        <p:nvSpPr>
          <p:cNvPr id="44" name="Shape 7">
            <a:extLst>
              <a:ext uri="{FF2B5EF4-FFF2-40B4-BE49-F238E27FC236}">
                <a16:creationId xmlns:a16="http://schemas.microsoft.com/office/drawing/2014/main" id="{388C347E-40E9-D9BA-ED58-AB000B0ADFEC}"/>
              </a:ext>
            </a:extLst>
          </p:cNvPr>
          <p:cNvSpPr/>
          <p:nvPr/>
        </p:nvSpPr>
        <p:spPr>
          <a:xfrm>
            <a:off x="3278328" y="1117820"/>
            <a:ext cx="2592324" cy="2434590"/>
          </a:xfrm>
          <a:prstGeom prst="roundRect">
            <a:avLst>
              <a:gd name="adj" fmla="val 2254"/>
            </a:avLst>
          </a:prstGeom>
          <a:solidFill>
            <a:srgbClr val="FBFBFD"/>
          </a:solidFill>
          <a:ln w="12700">
            <a:solidFill>
              <a:srgbClr val="D9DEEA"/>
            </a:solidFill>
            <a:prstDash val="solid"/>
          </a:ln>
          <a:effectLst>
            <a:outerShdw blurRad="76200" dist="25400" dir="5400000" algn="bl" rotWithShape="0">
              <a:srgbClr val="9AA5C4">
                <a:alpha val="25000"/>
              </a:srgbClr>
            </a:outerShdw>
          </a:effectLst>
        </p:spPr>
      </p:sp>
      <p:sp>
        <p:nvSpPr>
          <p:cNvPr id="45" name="Shape 8">
            <a:extLst>
              <a:ext uri="{FF2B5EF4-FFF2-40B4-BE49-F238E27FC236}">
                <a16:creationId xmlns:a16="http://schemas.microsoft.com/office/drawing/2014/main" id="{04093E31-3C21-7091-9182-1A2E1AF78E9F}"/>
              </a:ext>
            </a:extLst>
          </p:cNvPr>
          <p:cNvSpPr/>
          <p:nvPr/>
        </p:nvSpPr>
        <p:spPr>
          <a:xfrm>
            <a:off x="3470352" y="1323560"/>
            <a:ext cx="342900" cy="342900"/>
          </a:xfrm>
          <a:prstGeom prst="ellipse">
            <a:avLst/>
          </a:prstGeom>
          <a:solidFill>
            <a:srgbClr val="C97A1E"/>
          </a:solidFill>
          <a:ln/>
        </p:spPr>
      </p:sp>
      <p:sp>
        <p:nvSpPr>
          <p:cNvPr id="46" name="Text 9">
            <a:extLst>
              <a:ext uri="{FF2B5EF4-FFF2-40B4-BE49-F238E27FC236}">
                <a16:creationId xmlns:a16="http://schemas.microsoft.com/office/drawing/2014/main" id="{DCA6E182-36B3-35AA-EA53-3961C67EED38}"/>
              </a:ext>
            </a:extLst>
          </p:cNvPr>
          <p:cNvSpPr/>
          <p:nvPr/>
        </p:nvSpPr>
        <p:spPr>
          <a:xfrm>
            <a:off x="3470352" y="1323560"/>
            <a:ext cx="342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47" name="Text 10">
            <a:extLst>
              <a:ext uri="{FF2B5EF4-FFF2-40B4-BE49-F238E27FC236}">
                <a16:creationId xmlns:a16="http://schemas.microsoft.com/office/drawing/2014/main" id="{6DEB31C5-C5BA-7C07-C6EB-9B575A25C728}"/>
              </a:ext>
            </a:extLst>
          </p:cNvPr>
          <p:cNvSpPr/>
          <p:nvPr/>
        </p:nvSpPr>
        <p:spPr>
          <a:xfrm>
            <a:off x="3484068" y="1789904"/>
            <a:ext cx="2180844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38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 Gains Were Evaluation Artifacts</a:t>
            </a:r>
            <a:endParaRPr lang="en-US" sz="1238" dirty="0"/>
          </a:p>
        </p:txBody>
      </p:sp>
      <p:sp>
        <p:nvSpPr>
          <p:cNvPr id="48" name="Text 11">
            <a:extLst>
              <a:ext uri="{FF2B5EF4-FFF2-40B4-BE49-F238E27FC236}">
                <a16:creationId xmlns:a16="http://schemas.microsoft.com/office/drawing/2014/main" id="{77C7A780-B5B4-B903-FB30-3F162BCF45D7}"/>
              </a:ext>
            </a:extLst>
          </p:cNvPr>
          <p:cNvSpPr/>
          <p:nvPr/>
        </p:nvSpPr>
        <p:spPr>
          <a:xfrm>
            <a:off x="3484068" y="2297396"/>
            <a:ext cx="21808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sz="1000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improvements traced back to three confounders: oracle-label leakage (RCI, </a:t>
            </a:r>
            <a:r>
              <a:rPr lang="en-US" sz="1000" dirty="0" err="1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r>
              <a:rPr lang="en-US" sz="1000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), unfair compute parity (Debate vs. Self-Consistency), and sub-optimal initial prompts (Self-Refine).</a:t>
            </a:r>
            <a:endParaRPr lang="en-US" sz="1000" dirty="0"/>
          </a:p>
        </p:txBody>
      </p:sp>
      <p:sp>
        <p:nvSpPr>
          <p:cNvPr id="49" name="Shape 12">
            <a:extLst>
              <a:ext uri="{FF2B5EF4-FFF2-40B4-BE49-F238E27FC236}">
                <a16:creationId xmlns:a16="http://schemas.microsoft.com/office/drawing/2014/main" id="{44336D15-E8AF-0CF3-FE24-59D4DCD3DE24}"/>
              </a:ext>
            </a:extLst>
          </p:cNvPr>
          <p:cNvSpPr/>
          <p:nvPr/>
        </p:nvSpPr>
        <p:spPr>
          <a:xfrm>
            <a:off x="6062676" y="1117820"/>
            <a:ext cx="2592324" cy="2434590"/>
          </a:xfrm>
          <a:prstGeom prst="roundRect">
            <a:avLst>
              <a:gd name="adj" fmla="val 2254"/>
            </a:avLst>
          </a:prstGeom>
          <a:solidFill>
            <a:srgbClr val="FBFBFD"/>
          </a:solidFill>
          <a:ln w="12700">
            <a:solidFill>
              <a:srgbClr val="D9DEEA"/>
            </a:solidFill>
            <a:prstDash val="solid"/>
          </a:ln>
          <a:effectLst>
            <a:outerShdw blurRad="76200" dist="25400" dir="5400000" algn="bl" rotWithShape="0">
              <a:srgbClr val="9AA5C4">
                <a:alpha val="25000"/>
              </a:srgbClr>
            </a:outerShdw>
          </a:effectLst>
        </p:spPr>
      </p:sp>
      <p:sp>
        <p:nvSpPr>
          <p:cNvPr id="50" name="Shape 13">
            <a:extLst>
              <a:ext uri="{FF2B5EF4-FFF2-40B4-BE49-F238E27FC236}">
                <a16:creationId xmlns:a16="http://schemas.microsoft.com/office/drawing/2014/main" id="{07F84097-D92E-1236-62F9-280E9DA602AD}"/>
              </a:ext>
            </a:extLst>
          </p:cNvPr>
          <p:cNvSpPr/>
          <p:nvPr/>
        </p:nvSpPr>
        <p:spPr>
          <a:xfrm>
            <a:off x="6254700" y="1323560"/>
            <a:ext cx="342900" cy="342900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51" name="Text 14">
            <a:extLst>
              <a:ext uri="{FF2B5EF4-FFF2-40B4-BE49-F238E27FC236}">
                <a16:creationId xmlns:a16="http://schemas.microsoft.com/office/drawing/2014/main" id="{94CDBB07-00E1-6A2B-B001-E34DE781A678}"/>
              </a:ext>
            </a:extLst>
          </p:cNvPr>
          <p:cNvSpPr/>
          <p:nvPr/>
        </p:nvSpPr>
        <p:spPr>
          <a:xfrm>
            <a:off x="6254700" y="1323560"/>
            <a:ext cx="342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50" dirty="0"/>
          </a:p>
        </p:txBody>
      </p:sp>
      <p:sp>
        <p:nvSpPr>
          <p:cNvPr id="52" name="Text 15">
            <a:extLst>
              <a:ext uri="{FF2B5EF4-FFF2-40B4-BE49-F238E27FC236}">
                <a16:creationId xmlns:a16="http://schemas.microsoft.com/office/drawing/2014/main" id="{4E85690F-2434-A8AC-71BC-BD316D552D09}"/>
              </a:ext>
            </a:extLst>
          </p:cNvPr>
          <p:cNvSpPr/>
          <p:nvPr/>
        </p:nvSpPr>
        <p:spPr>
          <a:xfrm>
            <a:off x="6268416" y="1789904"/>
            <a:ext cx="2180844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38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Grounded Feedback Is Essential</a:t>
            </a:r>
            <a:endParaRPr lang="en-US" sz="1238" dirty="0"/>
          </a:p>
        </p:txBody>
      </p:sp>
      <p:sp>
        <p:nvSpPr>
          <p:cNvPr id="53" name="Text 16">
            <a:extLst>
              <a:ext uri="{FF2B5EF4-FFF2-40B4-BE49-F238E27FC236}">
                <a16:creationId xmlns:a16="http://schemas.microsoft.com/office/drawing/2014/main" id="{42CFEF9F-A4EA-AF72-C459-75ADF2586265}"/>
              </a:ext>
            </a:extLst>
          </p:cNvPr>
          <p:cNvSpPr/>
          <p:nvPr/>
        </p:nvSpPr>
        <p:spPr>
          <a:xfrm>
            <a:off x="6268416" y="2297396"/>
            <a:ext cx="21808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sz="1000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frozen model cannot reliably verify its own reasoning. Genuine gains require external signals, such as code execution, tool use, or trained verifiers, not more self-reflection.</a:t>
            </a:r>
            <a:endParaRPr lang="en-US" sz="1000" dirty="0"/>
          </a:p>
        </p:txBody>
      </p:sp>
      <p:sp>
        <p:nvSpPr>
          <p:cNvPr id="54" name="Shape 17">
            <a:extLst>
              <a:ext uri="{FF2B5EF4-FFF2-40B4-BE49-F238E27FC236}">
                <a16:creationId xmlns:a16="http://schemas.microsoft.com/office/drawing/2014/main" id="{6E4D21BC-27B5-3FD4-7D12-F55E5C4AD74C}"/>
              </a:ext>
            </a:extLst>
          </p:cNvPr>
          <p:cNvSpPr/>
          <p:nvPr/>
        </p:nvSpPr>
        <p:spPr>
          <a:xfrm>
            <a:off x="493980" y="3792440"/>
            <a:ext cx="8161020" cy="685800"/>
          </a:xfrm>
          <a:prstGeom prst="roundRect">
            <a:avLst>
              <a:gd name="adj" fmla="val 8000"/>
            </a:avLst>
          </a:prstGeom>
          <a:solidFill>
            <a:srgbClr val="FFF2F2"/>
          </a:solidFill>
          <a:ln>
            <a:solidFill>
              <a:srgbClr val="800020"/>
            </a:solidFill>
          </a:ln>
        </p:spPr>
        <p:txBody>
          <a:bodyPr/>
          <a:lstStyle/>
          <a:p>
            <a:endParaRPr lang="en-US" dirty="0"/>
          </a:p>
        </p:txBody>
      </p:sp>
      <p:sp>
        <p:nvSpPr>
          <p:cNvPr id="55" name="Text 18">
            <a:extLst>
              <a:ext uri="{FF2B5EF4-FFF2-40B4-BE49-F238E27FC236}">
                <a16:creationId xmlns:a16="http://schemas.microsoft.com/office/drawing/2014/main" id="{8005F778-1643-611E-2486-089EC90AA632}"/>
              </a:ext>
            </a:extLst>
          </p:cNvPr>
          <p:cNvSpPr/>
          <p:nvPr/>
        </p:nvSpPr>
        <p:spPr>
          <a:xfrm>
            <a:off x="699720" y="3792440"/>
            <a:ext cx="77495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b="1" kern="0" spc="75" dirty="0">
                <a:solidFill>
                  <a:srgbClr val="C9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PRINCIPLE:  </a:t>
            </a:r>
            <a:r>
              <a:rPr lang="en-US" sz="975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cannot generate the correct answer cannot reliably judge its own answer. Self-correction needs a verifier outside the generator.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CONCLUSION &amp; FUTURE WORK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Study Limitations &amp; Methodological Boundaries</a:t>
            </a:r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and boundaries of this research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22/24</a:t>
            </a:r>
            <a:endParaRPr lang="en-US" sz="850" dirty="0"/>
          </a:p>
        </p:txBody>
      </p:sp>
      <p:sp>
        <p:nvSpPr>
          <p:cNvPr id="27" name="Shape 2">
            <a:extLst>
              <a:ext uri="{FF2B5EF4-FFF2-40B4-BE49-F238E27FC236}">
                <a16:creationId xmlns:a16="http://schemas.microsoft.com/office/drawing/2014/main" id="{6C811FC1-4A66-8804-5EF2-82AE7D31E76E}"/>
              </a:ext>
            </a:extLst>
          </p:cNvPr>
          <p:cNvSpPr/>
          <p:nvPr/>
        </p:nvSpPr>
        <p:spPr>
          <a:xfrm>
            <a:off x="542108" y="1165860"/>
            <a:ext cx="3943350" cy="2434590"/>
          </a:xfrm>
          <a:prstGeom prst="roundRect">
            <a:avLst>
              <a:gd name="adj" fmla="val 2254"/>
            </a:avLst>
          </a:prstGeom>
          <a:solidFill>
            <a:srgbClr val="EEF3FC"/>
          </a:solidFill>
          <a:ln w="12700">
            <a:solidFill>
              <a:srgbClr val="D9DEEA"/>
            </a:solidFill>
            <a:prstDash val="solid"/>
          </a:ln>
        </p:spPr>
      </p:sp>
      <p:sp>
        <p:nvSpPr>
          <p:cNvPr id="30" name="Text 3">
            <a:extLst>
              <a:ext uri="{FF2B5EF4-FFF2-40B4-BE49-F238E27FC236}">
                <a16:creationId xmlns:a16="http://schemas.microsoft.com/office/drawing/2014/main" id="{9EC59056-C9E2-B401-EDC7-27D2CB305637}"/>
              </a:ext>
            </a:extLst>
          </p:cNvPr>
          <p:cNvSpPr/>
          <p:nvPr/>
        </p:nvSpPr>
        <p:spPr>
          <a:xfrm>
            <a:off x="747848" y="1337310"/>
            <a:ext cx="3531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75" b="1" kern="0" spc="75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LIMITATIONS</a:t>
            </a:r>
            <a:endParaRPr lang="en-US" sz="975" dirty="0"/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98896130-00E2-44BF-031F-572CE22CE91C}"/>
              </a:ext>
            </a:extLst>
          </p:cNvPr>
          <p:cNvSpPr/>
          <p:nvPr/>
        </p:nvSpPr>
        <p:spPr>
          <a:xfrm>
            <a:off x="761564" y="1741932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5">
            <a:extLst>
              <a:ext uri="{FF2B5EF4-FFF2-40B4-BE49-F238E27FC236}">
                <a16:creationId xmlns:a16="http://schemas.microsoft.com/office/drawing/2014/main" id="{6D2CE6E1-CDAD-70E2-E88F-6E897326AC47}"/>
              </a:ext>
            </a:extLst>
          </p:cNvPr>
          <p:cNvSpPr/>
          <p:nvPr/>
        </p:nvSpPr>
        <p:spPr>
          <a:xfrm>
            <a:off x="939872" y="1645920"/>
            <a:ext cx="332613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en-US" sz="9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Reasoning-Specific : </a:t>
            </a:r>
            <a:r>
              <a:rPr lang="en-US" sz="900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cover math, commonsense, and multi-hop QA, not style, tone, or safety self-correction.</a:t>
            </a:r>
            <a:endParaRPr lang="en-US" sz="900" dirty="0"/>
          </a:p>
        </p:txBody>
      </p:sp>
      <p:sp>
        <p:nvSpPr>
          <p:cNvPr id="33" name="Shape 6">
            <a:extLst>
              <a:ext uri="{FF2B5EF4-FFF2-40B4-BE49-F238E27FC236}">
                <a16:creationId xmlns:a16="http://schemas.microsoft.com/office/drawing/2014/main" id="{E9E91BAB-188F-9630-3022-D81CBE7E06D8}"/>
              </a:ext>
            </a:extLst>
          </p:cNvPr>
          <p:cNvSpPr/>
          <p:nvPr/>
        </p:nvSpPr>
        <p:spPr>
          <a:xfrm>
            <a:off x="761564" y="2372868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4" name="Text 7">
            <a:extLst>
              <a:ext uri="{FF2B5EF4-FFF2-40B4-BE49-F238E27FC236}">
                <a16:creationId xmlns:a16="http://schemas.microsoft.com/office/drawing/2014/main" id="{8A3B0795-21F5-4169-27FA-55402AC15FC8}"/>
              </a:ext>
            </a:extLst>
          </p:cNvPr>
          <p:cNvSpPr/>
          <p:nvPr/>
        </p:nvSpPr>
        <p:spPr>
          <a:xfrm>
            <a:off x="939872" y="2276856"/>
            <a:ext cx="332613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en-US" sz="9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Models Only : </a:t>
            </a:r>
            <a:r>
              <a:rPr lang="en-US" sz="900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were prompted, not fine-tuned, for self-correction; training-time approaches are untested.</a:t>
            </a:r>
            <a:endParaRPr lang="en-US" sz="900" dirty="0"/>
          </a:p>
        </p:txBody>
      </p:sp>
      <p:sp>
        <p:nvSpPr>
          <p:cNvPr id="35" name="Shape 8">
            <a:extLst>
              <a:ext uri="{FF2B5EF4-FFF2-40B4-BE49-F238E27FC236}">
                <a16:creationId xmlns:a16="http://schemas.microsoft.com/office/drawing/2014/main" id="{8D7BAB47-3564-08B1-A1DE-1FDB24ACFEC9}"/>
              </a:ext>
            </a:extLst>
          </p:cNvPr>
          <p:cNvSpPr/>
          <p:nvPr/>
        </p:nvSpPr>
        <p:spPr>
          <a:xfrm>
            <a:off x="761564" y="3003804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6" name="Text 9">
            <a:extLst>
              <a:ext uri="{FF2B5EF4-FFF2-40B4-BE49-F238E27FC236}">
                <a16:creationId xmlns:a16="http://schemas.microsoft.com/office/drawing/2014/main" id="{5DDF170A-C4FA-799E-F36D-BBB366DF2EB6}"/>
              </a:ext>
            </a:extLst>
          </p:cNvPr>
          <p:cNvSpPr/>
          <p:nvPr/>
        </p:nvSpPr>
        <p:spPr>
          <a:xfrm>
            <a:off x="939872" y="2907792"/>
            <a:ext cx="332613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en-US" sz="9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 Model Snapshots : </a:t>
            </a:r>
            <a:r>
              <a:rPr lang="en-US" sz="900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GPT-3.5, GPT-4, GPT-4-Turbo, Llama-2-70B. Newer reasoning-focused models were not evaluated.</a:t>
            </a:r>
            <a:endParaRPr lang="en-US" sz="900" dirty="0"/>
          </a:p>
        </p:txBody>
      </p:sp>
      <p:sp>
        <p:nvSpPr>
          <p:cNvPr id="37" name="Shape 10">
            <a:extLst>
              <a:ext uri="{FF2B5EF4-FFF2-40B4-BE49-F238E27FC236}">
                <a16:creationId xmlns:a16="http://schemas.microsoft.com/office/drawing/2014/main" id="{5EC9F5CE-DD8A-5BF8-6A92-30CA9CF29503}"/>
              </a:ext>
            </a:extLst>
          </p:cNvPr>
          <p:cNvSpPr/>
          <p:nvPr/>
        </p:nvSpPr>
        <p:spPr>
          <a:xfrm>
            <a:off x="4691198" y="1165860"/>
            <a:ext cx="3943350" cy="2434590"/>
          </a:xfrm>
          <a:prstGeom prst="roundRect">
            <a:avLst>
              <a:gd name="adj" fmla="val 2254"/>
            </a:avLst>
          </a:prstGeom>
          <a:solidFill>
            <a:srgbClr val="FBEBD8"/>
          </a:solidFill>
          <a:ln w="12700">
            <a:solidFill>
              <a:srgbClr val="D9DEEA"/>
            </a:solidFill>
            <a:prstDash val="solid"/>
          </a:ln>
        </p:spPr>
      </p:sp>
      <p:sp>
        <p:nvSpPr>
          <p:cNvPr id="38" name="Text 11">
            <a:extLst>
              <a:ext uri="{FF2B5EF4-FFF2-40B4-BE49-F238E27FC236}">
                <a16:creationId xmlns:a16="http://schemas.microsoft.com/office/drawing/2014/main" id="{3D620234-3F37-F22C-8346-885EA79D1081}"/>
              </a:ext>
            </a:extLst>
          </p:cNvPr>
          <p:cNvSpPr/>
          <p:nvPr/>
        </p:nvSpPr>
        <p:spPr>
          <a:xfrm>
            <a:off x="4896938" y="1337310"/>
            <a:ext cx="3531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75" b="1" kern="0" spc="75" dirty="0">
                <a:solidFill>
                  <a:srgbClr val="C9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METHODOLOGICAL BOUNDARIES</a:t>
            </a:r>
            <a:endParaRPr lang="en-US" sz="975" dirty="0"/>
          </a:p>
        </p:txBody>
      </p:sp>
      <p:sp>
        <p:nvSpPr>
          <p:cNvPr id="39" name="Shape 12">
            <a:extLst>
              <a:ext uri="{FF2B5EF4-FFF2-40B4-BE49-F238E27FC236}">
                <a16:creationId xmlns:a16="http://schemas.microsoft.com/office/drawing/2014/main" id="{8076A020-4625-812C-0DE6-45F2E5BEA460}"/>
              </a:ext>
            </a:extLst>
          </p:cNvPr>
          <p:cNvSpPr/>
          <p:nvPr/>
        </p:nvSpPr>
        <p:spPr>
          <a:xfrm>
            <a:off x="4910654" y="1741932"/>
            <a:ext cx="82296" cy="82296"/>
          </a:xfrm>
          <a:prstGeom prst="ellipse">
            <a:avLst/>
          </a:prstGeom>
          <a:solidFill>
            <a:srgbClr val="C97A1E"/>
          </a:solidFill>
          <a:ln/>
        </p:spPr>
      </p:sp>
      <p:sp>
        <p:nvSpPr>
          <p:cNvPr id="40" name="Text 13">
            <a:extLst>
              <a:ext uri="{FF2B5EF4-FFF2-40B4-BE49-F238E27FC236}">
                <a16:creationId xmlns:a16="http://schemas.microsoft.com/office/drawing/2014/main" id="{8CD154EB-8390-607A-8ABB-D993FE675BA3}"/>
              </a:ext>
            </a:extLst>
          </p:cNvPr>
          <p:cNvSpPr/>
          <p:nvPr/>
        </p:nvSpPr>
        <p:spPr>
          <a:xfrm>
            <a:off x="5088962" y="1645920"/>
            <a:ext cx="332613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en-US" sz="9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Sample-Size Constraints : </a:t>
            </a:r>
            <a:r>
              <a:rPr lang="en-US" sz="900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HotpotQA evaluated on 100 questions to control API cost, limiting statistical resolution.</a:t>
            </a:r>
            <a:endParaRPr lang="en-US" sz="900" dirty="0"/>
          </a:p>
        </p:txBody>
      </p:sp>
      <p:sp>
        <p:nvSpPr>
          <p:cNvPr id="41" name="Shape 14">
            <a:extLst>
              <a:ext uri="{FF2B5EF4-FFF2-40B4-BE49-F238E27FC236}">
                <a16:creationId xmlns:a16="http://schemas.microsoft.com/office/drawing/2014/main" id="{E1A3A03A-ACFF-D946-24F1-2A97924BB3A0}"/>
              </a:ext>
            </a:extLst>
          </p:cNvPr>
          <p:cNvSpPr/>
          <p:nvPr/>
        </p:nvSpPr>
        <p:spPr>
          <a:xfrm>
            <a:off x="4910654" y="2372868"/>
            <a:ext cx="82296" cy="82296"/>
          </a:xfrm>
          <a:prstGeom prst="ellipse">
            <a:avLst/>
          </a:prstGeom>
          <a:solidFill>
            <a:srgbClr val="C97A1E"/>
          </a:solidFill>
          <a:ln/>
        </p:spPr>
      </p:sp>
      <p:sp>
        <p:nvSpPr>
          <p:cNvPr id="42" name="Text 15">
            <a:extLst>
              <a:ext uri="{FF2B5EF4-FFF2-40B4-BE49-F238E27FC236}">
                <a16:creationId xmlns:a16="http://schemas.microsoft.com/office/drawing/2014/main" id="{48CCA33C-3402-692C-F5CA-8728444CEAEA}"/>
              </a:ext>
            </a:extLst>
          </p:cNvPr>
          <p:cNvSpPr/>
          <p:nvPr/>
        </p:nvSpPr>
        <p:spPr>
          <a:xfrm>
            <a:off x="5088962" y="2276856"/>
            <a:ext cx="332613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en-US" sz="9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Non-Exhaustive Prompts : </a:t>
            </a:r>
            <a:r>
              <a:rPr lang="en-US" sz="900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feedback prompts were tested per model, but the space of possible phrasings is unbounded.</a:t>
            </a:r>
            <a:endParaRPr lang="en-US" sz="900" dirty="0"/>
          </a:p>
        </p:txBody>
      </p:sp>
      <p:sp>
        <p:nvSpPr>
          <p:cNvPr id="43" name="Shape 16">
            <a:extLst>
              <a:ext uri="{FF2B5EF4-FFF2-40B4-BE49-F238E27FC236}">
                <a16:creationId xmlns:a16="http://schemas.microsoft.com/office/drawing/2014/main" id="{033D18E0-7442-29CB-CA7B-C538DE5EE19A}"/>
              </a:ext>
            </a:extLst>
          </p:cNvPr>
          <p:cNvSpPr/>
          <p:nvPr/>
        </p:nvSpPr>
        <p:spPr>
          <a:xfrm>
            <a:off x="4910654" y="3003804"/>
            <a:ext cx="82296" cy="82296"/>
          </a:xfrm>
          <a:prstGeom prst="ellipse">
            <a:avLst/>
          </a:prstGeom>
          <a:solidFill>
            <a:srgbClr val="C97A1E"/>
          </a:solidFill>
          <a:ln/>
        </p:spPr>
      </p:sp>
      <p:sp>
        <p:nvSpPr>
          <p:cNvPr id="44" name="Text 17">
            <a:extLst>
              <a:ext uri="{FF2B5EF4-FFF2-40B4-BE49-F238E27FC236}">
                <a16:creationId xmlns:a16="http://schemas.microsoft.com/office/drawing/2014/main" id="{36E8CFB1-0C84-C196-21E6-C62FD376B0C7}"/>
              </a:ext>
            </a:extLst>
          </p:cNvPr>
          <p:cNvSpPr/>
          <p:nvPr/>
        </p:nvSpPr>
        <p:spPr>
          <a:xfrm>
            <a:off x="5088962" y="2907792"/>
            <a:ext cx="332613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en-US" sz="9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Closed-Book Setting : </a:t>
            </a:r>
            <a:r>
              <a:rPr lang="en-US" sz="900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retrieval (RAG) or external documents were permitted during self-correction.</a:t>
            </a:r>
            <a:endParaRPr lang="en-US" sz="900" dirty="0"/>
          </a:p>
        </p:txBody>
      </p:sp>
      <p:sp>
        <p:nvSpPr>
          <p:cNvPr id="45" name="Shape 18">
            <a:extLst>
              <a:ext uri="{FF2B5EF4-FFF2-40B4-BE49-F238E27FC236}">
                <a16:creationId xmlns:a16="http://schemas.microsoft.com/office/drawing/2014/main" id="{9433067A-30F5-3041-2994-2B5BE3FE2ACD}"/>
              </a:ext>
            </a:extLst>
          </p:cNvPr>
          <p:cNvSpPr/>
          <p:nvPr/>
        </p:nvSpPr>
        <p:spPr>
          <a:xfrm>
            <a:off x="542108" y="3751326"/>
            <a:ext cx="8092440" cy="466344"/>
          </a:xfrm>
          <a:prstGeom prst="roundRect">
            <a:avLst>
              <a:gd name="adj" fmla="val 11765"/>
            </a:avLst>
          </a:prstGeom>
          <a:solidFill>
            <a:srgbClr val="FFF2F2"/>
          </a:solidFill>
          <a:ln>
            <a:solidFill>
              <a:srgbClr val="800020"/>
            </a:solidFill>
          </a:ln>
        </p:spPr>
      </p:sp>
      <p:sp>
        <p:nvSpPr>
          <p:cNvPr id="46" name="Text 19">
            <a:extLst>
              <a:ext uri="{FF2B5EF4-FFF2-40B4-BE49-F238E27FC236}">
                <a16:creationId xmlns:a16="http://schemas.microsoft.com/office/drawing/2014/main" id="{5C5D648C-F13A-2E11-68E8-ABE51369D537}"/>
              </a:ext>
            </a:extLst>
          </p:cNvPr>
          <p:cNvSpPr/>
          <p:nvPr/>
        </p:nvSpPr>
        <p:spPr>
          <a:xfrm>
            <a:off x="713558" y="3751326"/>
            <a:ext cx="77495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863" b="1" kern="0" spc="75" dirty="0">
                <a:solidFill>
                  <a:srgbClr val="C9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 </a:t>
            </a:r>
            <a:r>
              <a:rPr lang="en-US" sz="938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These findings apply to intrinsic reasoning repair — not to style, safety, or preference alignment, where models may self-judge more reliably.</a:t>
            </a:r>
            <a:endParaRPr lang="en-US" sz="863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CONCLUSION &amp; FUTURE WORK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3891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Future Directions &amp; Fair Evaluation Standards</a:t>
            </a:r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Constructive paths forward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23/24</a:t>
            </a:r>
            <a:endParaRPr lang="en-US" sz="850" dirty="0"/>
          </a:p>
        </p:txBody>
      </p:sp>
      <p:sp>
        <p:nvSpPr>
          <p:cNvPr id="25" name="Shape 2">
            <a:extLst>
              <a:ext uri="{FF2B5EF4-FFF2-40B4-BE49-F238E27FC236}">
                <a16:creationId xmlns:a16="http://schemas.microsoft.com/office/drawing/2014/main" id="{E61B68EE-C745-8D24-1E25-B3228DC9B139}"/>
              </a:ext>
            </a:extLst>
          </p:cNvPr>
          <p:cNvSpPr/>
          <p:nvPr/>
        </p:nvSpPr>
        <p:spPr>
          <a:xfrm>
            <a:off x="534695" y="1200150"/>
            <a:ext cx="3943350" cy="1440180"/>
          </a:xfrm>
          <a:prstGeom prst="roundRect">
            <a:avLst>
              <a:gd name="adj" fmla="val 3810"/>
            </a:avLst>
          </a:prstGeom>
          <a:solidFill>
            <a:srgbClr val="EEF3FC"/>
          </a:solidFill>
          <a:ln w="12700">
            <a:solidFill>
              <a:srgbClr val="D9DEEA"/>
            </a:solidFill>
            <a:prstDash val="solid"/>
          </a:ln>
        </p:spPr>
      </p:sp>
      <p:sp>
        <p:nvSpPr>
          <p:cNvPr id="28" name="Shape 3">
            <a:extLst>
              <a:ext uri="{FF2B5EF4-FFF2-40B4-BE49-F238E27FC236}">
                <a16:creationId xmlns:a16="http://schemas.microsoft.com/office/drawing/2014/main" id="{6F8DA2EF-038D-2D1A-4F45-762F446044FD}"/>
              </a:ext>
            </a:extLst>
          </p:cNvPr>
          <p:cNvSpPr/>
          <p:nvPr/>
        </p:nvSpPr>
        <p:spPr>
          <a:xfrm>
            <a:off x="706145" y="1371600"/>
            <a:ext cx="342900" cy="3429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9" name="Text 4">
            <a:extLst>
              <a:ext uri="{FF2B5EF4-FFF2-40B4-BE49-F238E27FC236}">
                <a16:creationId xmlns:a16="http://schemas.microsoft.com/office/drawing/2014/main" id="{07F77413-CAA3-0E0A-32ED-9D8FF110158C}"/>
              </a:ext>
            </a:extLst>
          </p:cNvPr>
          <p:cNvSpPr/>
          <p:nvPr/>
        </p:nvSpPr>
        <p:spPr>
          <a:xfrm>
            <a:off x="706145" y="1371600"/>
            <a:ext cx="342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50" dirty="0"/>
          </a:p>
        </p:txBody>
      </p:sp>
      <p:sp>
        <p:nvSpPr>
          <p:cNvPr id="30" name="Text 5">
            <a:extLst>
              <a:ext uri="{FF2B5EF4-FFF2-40B4-BE49-F238E27FC236}">
                <a16:creationId xmlns:a16="http://schemas.microsoft.com/office/drawing/2014/main" id="{7BA1A25F-D5AA-8D29-081C-09767C7B631E}"/>
              </a:ext>
            </a:extLst>
          </p:cNvPr>
          <p:cNvSpPr/>
          <p:nvPr/>
        </p:nvSpPr>
        <p:spPr>
          <a:xfrm>
            <a:off x="1186205" y="1351026"/>
            <a:ext cx="312039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63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Tool-Augmented Execution</a:t>
            </a:r>
            <a:endParaRPr lang="en-US" sz="1163" dirty="0"/>
          </a:p>
        </p:txBody>
      </p:sp>
      <p:sp>
        <p:nvSpPr>
          <p:cNvPr id="31" name="Text 6">
            <a:extLst>
              <a:ext uri="{FF2B5EF4-FFF2-40B4-BE49-F238E27FC236}">
                <a16:creationId xmlns:a16="http://schemas.microsoft.com/office/drawing/2014/main" id="{FEA6C957-E448-F27F-BE18-ADA3CF4848B9}"/>
              </a:ext>
            </a:extLst>
          </p:cNvPr>
          <p:cNvSpPr/>
          <p:nvPr/>
        </p:nvSpPr>
        <p:spPr>
          <a:xfrm>
            <a:off x="740435" y="1783080"/>
            <a:ext cx="353187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en-US" sz="900" dirty="0"/>
              <a:t>Route reasoning through Python REPLs, SQL engines, or solvers so an external, deterministic system, not the model itself, verifies correctness.</a:t>
            </a:r>
            <a:endParaRPr lang="en-US" sz="885" dirty="0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3E2589BC-6B0F-BE1A-F7FD-7DEE39600750}"/>
              </a:ext>
            </a:extLst>
          </p:cNvPr>
          <p:cNvSpPr/>
          <p:nvPr/>
        </p:nvSpPr>
        <p:spPr>
          <a:xfrm>
            <a:off x="4683785" y="1200150"/>
            <a:ext cx="3943350" cy="1440180"/>
          </a:xfrm>
          <a:prstGeom prst="roundRect">
            <a:avLst>
              <a:gd name="adj" fmla="val 3810"/>
            </a:avLst>
          </a:prstGeom>
          <a:solidFill>
            <a:srgbClr val="E1F0E8"/>
          </a:solidFill>
          <a:ln w="12700">
            <a:solidFill>
              <a:srgbClr val="D9DEEA"/>
            </a:solidFill>
            <a:prstDash val="solid"/>
          </a:ln>
        </p:spPr>
      </p:sp>
      <p:sp>
        <p:nvSpPr>
          <p:cNvPr id="33" name="Shape 8">
            <a:extLst>
              <a:ext uri="{FF2B5EF4-FFF2-40B4-BE49-F238E27FC236}">
                <a16:creationId xmlns:a16="http://schemas.microsoft.com/office/drawing/2014/main" id="{3F861A21-6886-9EEE-FC5C-DCB8BBA48D81}"/>
              </a:ext>
            </a:extLst>
          </p:cNvPr>
          <p:cNvSpPr/>
          <p:nvPr/>
        </p:nvSpPr>
        <p:spPr>
          <a:xfrm>
            <a:off x="4855235" y="1371600"/>
            <a:ext cx="342900" cy="342900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34" name="Text 9">
            <a:extLst>
              <a:ext uri="{FF2B5EF4-FFF2-40B4-BE49-F238E27FC236}">
                <a16:creationId xmlns:a16="http://schemas.microsoft.com/office/drawing/2014/main" id="{7BFF8499-44D4-BBBE-23A1-825CAE97DB62}"/>
              </a:ext>
            </a:extLst>
          </p:cNvPr>
          <p:cNvSpPr/>
          <p:nvPr/>
        </p:nvSpPr>
        <p:spPr>
          <a:xfrm>
            <a:off x="4855235" y="1371600"/>
            <a:ext cx="342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35" name="Text 10">
            <a:extLst>
              <a:ext uri="{FF2B5EF4-FFF2-40B4-BE49-F238E27FC236}">
                <a16:creationId xmlns:a16="http://schemas.microsoft.com/office/drawing/2014/main" id="{9EEE5C03-0913-BA6B-24C4-E62D6C0DA183}"/>
              </a:ext>
            </a:extLst>
          </p:cNvPr>
          <p:cNvSpPr/>
          <p:nvPr/>
        </p:nvSpPr>
        <p:spPr>
          <a:xfrm>
            <a:off x="5335295" y="1351026"/>
            <a:ext cx="312039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63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Learned Verifiers &amp; PRMs</a:t>
            </a:r>
            <a:endParaRPr lang="en-US" sz="1163" dirty="0"/>
          </a:p>
        </p:txBody>
      </p:sp>
      <p:sp>
        <p:nvSpPr>
          <p:cNvPr id="36" name="Text 11">
            <a:extLst>
              <a:ext uri="{FF2B5EF4-FFF2-40B4-BE49-F238E27FC236}">
                <a16:creationId xmlns:a16="http://schemas.microsoft.com/office/drawing/2014/main" id="{956F0A2C-EA2A-5DCD-AF40-7B76A4D3E40C}"/>
              </a:ext>
            </a:extLst>
          </p:cNvPr>
          <p:cNvSpPr/>
          <p:nvPr/>
        </p:nvSpPr>
        <p:spPr>
          <a:xfrm>
            <a:off x="4889525" y="1783080"/>
            <a:ext cx="353187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en-US" sz="885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process-supervised reward models to judge intermediate reasoning steps, giving the corrector a grounded signal for where an error actually occurred.</a:t>
            </a:r>
            <a:endParaRPr lang="en-US" sz="885" dirty="0"/>
          </a:p>
        </p:txBody>
      </p:sp>
      <p:sp>
        <p:nvSpPr>
          <p:cNvPr id="37" name="Shape 12">
            <a:extLst>
              <a:ext uri="{FF2B5EF4-FFF2-40B4-BE49-F238E27FC236}">
                <a16:creationId xmlns:a16="http://schemas.microsoft.com/office/drawing/2014/main" id="{703339F4-AD8E-B04A-9D18-3B31297EB734}"/>
              </a:ext>
            </a:extLst>
          </p:cNvPr>
          <p:cNvSpPr/>
          <p:nvPr/>
        </p:nvSpPr>
        <p:spPr>
          <a:xfrm>
            <a:off x="534695" y="2811780"/>
            <a:ext cx="3943350" cy="1440180"/>
          </a:xfrm>
          <a:prstGeom prst="roundRect">
            <a:avLst>
              <a:gd name="adj" fmla="val 3810"/>
            </a:avLst>
          </a:prstGeom>
          <a:solidFill>
            <a:srgbClr val="FBEBD8"/>
          </a:solidFill>
          <a:ln w="12700">
            <a:solidFill>
              <a:srgbClr val="D9DEEA"/>
            </a:solidFill>
            <a:prstDash val="solid"/>
          </a:ln>
        </p:spPr>
      </p:sp>
      <p:sp>
        <p:nvSpPr>
          <p:cNvPr id="38" name="Shape 13">
            <a:extLst>
              <a:ext uri="{FF2B5EF4-FFF2-40B4-BE49-F238E27FC236}">
                <a16:creationId xmlns:a16="http://schemas.microsoft.com/office/drawing/2014/main" id="{236DDC2A-543F-8313-2726-F79AFDC5AA98}"/>
              </a:ext>
            </a:extLst>
          </p:cNvPr>
          <p:cNvSpPr/>
          <p:nvPr/>
        </p:nvSpPr>
        <p:spPr>
          <a:xfrm>
            <a:off x="706145" y="2983230"/>
            <a:ext cx="342900" cy="342900"/>
          </a:xfrm>
          <a:prstGeom prst="ellipse">
            <a:avLst/>
          </a:prstGeom>
          <a:solidFill>
            <a:srgbClr val="C97A1E"/>
          </a:solidFill>
          <a:ln/>
        </p:spPr>
      </p:sp>
      <p:sp>
        <p:nvSpPr>
          <p:cNvPr id="39" name="Text 14">
            <a:extLst>
              <a:ext uri="{FF2B5EF4-FFF2-40B4-BE49-F238E27FC236}">
                <a16:creationId xmlns:a16="http://schemas.microsoft.com/office/drawing/2014/main" id="{CDF1089F-286C-DC4E-6B48-9FD3ABADAF91}"/>
              </a:ext>
            </a:extLst>
          </p:cNvPr>
          <p:cNvSpPr/>
          <p:nvPr/>
        </p:nvSpPr>
        <p:spPr>
          <a:xfrm>
            <a:off x="706145" y="2983230"/>
            <a:ext cx="342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50" dirty="0"/>
          </a:p>
        </p:txBody>
      </p:sp>
      <p:sp>
        <p:nvSpPr>
          <p:cNvPr id="40" name="Text 15">
            <a:extLst>
              <a:ext uri="{FF2B5EF4-FFF2-40B4-BE49-F238E27FC236}">
                <a16:creationId xmlns:a16="http://schemas.microsoft.com/office/drawing/2014/main" id="{A3F6C692-28B8-C034-D54C-03FE9A1F6BCF}"/>
              </a:ext>
            </a:extLst>
          </p:cNvPr>
          <p:cNvSpPr/>
          <p:nvPr/>
        </p:nvSpPr>
        <p:spPr>
          <a:xfrm>
            <a:off x="1186205" y="2962656"/>
            <a:ext cx="312039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63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Training-Time RL &amp; Search</a:t>
            </a:r>
            <a:endParaRPr lang="en-US" sz="1163" dirty="0"/>
          </a:p>
        </p:txBody>
      </p:sp>
      <p:sp>
        <p:nvSpPr>
          <p:cNvPr id="41" name="Text 16">
            <a:extLst>
              <a:ext uri="{FF2B5EF4-FFF2-40B4-BE49-F238E27FC236}">
                <a16:creationId xmlns:a16="http://schemas.microsoft.com/office/drawing/2014/main" id="{EADF0F5D-7312-E26E-313E-751797A8559E}"/>
              </a:ext>
            </a:extLst>
          </p:cNvPr>
          <p:cNvSpPr/>
          <p:nvPr/>
        </p:nvSpPr>
        <p:spPr>
          <a:xfrm>
            <a:off x="740435" y="3394710"/>
            <a:ext cx="353187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en-US" sz="885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 in reinforcement learning and search (e.g., MCTS, test-time compute) so correction is learned during training, not bolted on as a prompting loop.</a:t>
            </a:r>
            <a:endParaRPr lang="en-US" sz="885" dirty="0"/>
          </a:p>
        </p:txBody>
      </p:sp>
      <p:sp>
        <p:nvSpPr>
          <p:cNvPr id="42" name="Shape 17">
            <a:extLst>
              <a:ext uri="{FF2B5EF4-FFF2-40B4-BE49-F238E27FC236}">
                <a16:creationId xmlns:a16="http://schemas.microsoft.com/office/drawing/2014/main" id="{1C9C984B-EEB3-2269-A7D8-1BE3393879BB}"/>
              </a:ext>
            </a:extLst>
          </p:cNvPr>
          <p:cNvSpPr/>
          <p:nvPr/>
        </p:nvSpPr>
        <p:spPr>
          <a:xfrm>
            <a:off x="4683785" y="2811780"/>
            <a:ext cx="3943350" cy="1440180"/>
          </a:xfrm>
          <a:prstGeom prst="roundRect">
            <a:avLst>
              <a:gd name="adj" fmla="val 3810"/>
            </a:avLst>
          </a:prstGeom>
          <a:solidFill>
            <a:srgbClr val="F7E3E0"/>
          </a:solidFill>
          <a:ln w="12700">
            <a:solidFill>
              <a:srgbClr val="D9DEEA"/>
            </a:solidFill>
            <a:prstDash val="solid"/>
          </a:ln>
        </p:spPr>
      </p:sp>
      <p:sp>
        <p:nvSpPr>
          <p:cNvPr id="43" name="Shape 18">
            <a:extLst>
              <a:ext uri="{FF2B5EF4-FFF2-40B4-BE49-F238E27FC236}">
                <a16:creationId xmlns:a16="http://schemas.microsoft.com/office/drawing/2014/main" id="{5B78E3B3-A811-1B91-B791-56D80D278636}"/>
              </a:ext>
            </a:extLst>
          </p:cNvPr>
          <p:cNvSpPr/>
          <p:nvPr/>
        </p:nvSpPr>
        <p:spPr>
          <a:xfrm>
            <a:off x="4855235" y="2983230"/>
            <a:ext cx="342900" cy="342900"/>
          </a:xfrm>
          <a:prstGeom prst="ellipse">
            <a:avLst/>
          </a:prstGeom>
          <a:solidFill>
            <a:srgbClr val="B23A2E"/>
          </a:solidFill>
          <a:ln/>
        </p:spPr>
      </p:sp>
      <p:sp>
        <p:nvSpPr>
          <p:cNvPr id="44" name="Text 19">
            <a:extLst>
              <a:ext uri="{FF2B5EF4-FFF2-40B4-BE49-F238E27FC236}">
                <a16:creationId xmlns:a16="http://schemas.microsoft.com/office/drawing/2014/main" id="{EC9634F1-1B6C-510E-C05A-E5DF02BF5024}"/>
              </a:ext>
            </a:extLst>
          </p:cNvPr>
          <p:cNvSpPr/>
          <p:nvPr/>
        </p:nvSpPr>
        <p:spPr>
          <a:xfrm>
            <a:off x="4855235" y="2983230"/>
            <a:ext cx="342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45" name="Text 20">
            <a:extLst>
              <a:ext uri="{FF2B5EF4-FFF2-40B4-BE49-F238E27FC236}">
                <a16:creationId xmlns:a16="http://schemas.microsoft.com/office/drawing/2014/main" id="{B13AEACD-1152-2FB2-DE7C-CAEF5C7A7EAA}"/>
              </a:ext>
            </a:extLst>
          </p:cNvPr>
          <p:cNvSpPr/>
          <p:nvPr/>
        </p:nvSpPr>
        <p:spPr>
          <a:xfrm>
            <a:off x="5335295" y="2962656"/>
            <a:ext cx="312039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63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Fair Evaluation Standards</a:t>
            </a:r>
            <a:endParaRPr lang="en-US" sz="1163" dirty="0"/>
          </a:p>
        </p:txBody>
      </p:sp>
      <p:sp>
        <p:nvSpPr>
          <p:cNvPr id="46" name="Text 21">
            <a:extLst>
              <a:ext uri="{FF2B5EF4-FFF2-40B4-BE49-F238E27FC236}">
                <a16:creationId xmlns:a16="http://schemas.microsoft.com/office/drawing/2014/main" id="{7FEC85CD-0722-461F-4746-0B732984F426}"/>
              </a:ext>
            </a:extLst>
          </p:cNvPr>
          <p:cNvSpPr/>
          <p:nvPr/>
        </p:nvSpPr>
        <p:spPr>
          <a:xfrm>
            <a:off x="4889525" y="3394710"/>
            <a:ext cx="353187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2000"/>
              </a:lnSpc>
            </a:pPr>
            <a:r>
              <a:rPr lang="en-US" sz="885" dirty="0">
                <a:solidFill>
                  <a:srgbClr val="444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inference-cost-matched baselines against self-consistency, and disclose any oracle or ground-truth signal used to gate the correction loop.</a:t>
            </a:r>
            <a:endParaRPr lang="en-US" sz="885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8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CONCLUSION &amp; FUTURE WORK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F172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4023360" y="1920240"/>
            <a:ext cx="109728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148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0002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Open Discussions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48716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welcome questions from the professor and audience.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097280" y="2944368"/>
            <a:ext cx="292608" cy="29260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9443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481328" y="2907792"/>
            <a:ext cx="6400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asking a model to find flaws often make it hallucinate errors where none exist?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097280" y="3566160"/>
            <a:ext cx="292608" cy="29260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3566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81328" y="3529584"/>
            <a:ext cx="6400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should we rely on external tools like Python or verifiers instead of prompting alone?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097280" y="4187952"/>
            <a:ext cx="292608" cy="292608"/>
          </a:xfrm>
          <a:prstGeom prst="ellipse">
            <a:avLst/>
          </a:prstGeom>
          <a:solidFill>
            <a:srgbClr val="800020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41879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481328" y="4151376"/>
            <a:ext cx="6400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can we design a fair self-correction benchmark that avoids oracle leakage?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48640" y="47365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| ICLR 2024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7315200" y="47365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24/24</a:t>
            </a:r>
            <a:endParaRPr lang="en-US" sz="850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646*180"/>
  <p:tag name="TABLE_ENDDRAG_RECT" val="39*67*646*180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199</TotalTime>
  <Words>3017</Words>
  <Application>Microsoft Macintosh PowerPoint</Application>
  <PresentationFormat>On-screen Show (16:9)</PresentationFormat>
  <Paragraphs>517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Arial</vt:lpstr>
      <vt:lpstr>Calibri</vt:lpstr>
      <vt:lpstr>Cambria</vt:lpstr>
      <vt:lpstr>Century Schoolbook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Large Language Models Cannot Self-Correct Reasoning Yet</dc:title>
  <dc:subject>PptxGenJS Presentation</dc:subject>
  <dc:creator>Group Presentation</dc:creator>
  <cp:lastModifiedBy>Ash Dip</cp:lastModifiedBy>
  <cp:revision>102</cp:revision>
  <dcterms:created xsi:type="dcterms:W3CDTF">2026-08-28T05:14:16Z</dcterms:created>
  <dcterms:modified xsi:type="dcterms:W3CDTF">2026-08-30T06:59:20Z</dcterms:modified>
</cp:coreProperties>
</file>