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72.5</c:v>
                </c:pt>
                <c:pt idx="2">
                  <c:v>29</c:v>
                </c:pt>
                <c:pt idx="3">
                  <c:v>92</c:v>
                </c:pt>
                <c:pt idx="4">
                  <c:v>78.5</c:v>
                </c:pt>
                <c:pt idx="5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75.2</c:v>
                </c:pt>
                <c:pt idx="1">
                  <c:v>63.5</c:v>
                </c:pt>
                <c:pt idx="2">
                  <c:v>26</c:v>
                </c:pt>
                <c:pt idx="3">
                  <c:v>88.5</c:v>
                </c:pt>
                <c:pt idx="4">
                  <c:v>72.5</c:v>
                </c:pt>
                <c:pt idx="5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72.6</c:v>
                </c:pt>
                <c:pt idx="1">
                  <c:v>55.3</c:v>
                </c:pt>
                <c:pt idx="2">
                  <c:v>25</c:v>
                </c:pt>
                <c:pt idx="3">
                  <c:v>88</c:v>
                </c:pt>
                <c:pt idx="4">
                  <c:v>72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Answer Transitions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bubble3D val="0"/>
            <c:spPr>
              <a:solidFill>
                <a:srgbClr val="166534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Unchanged (74.7%)</c:v>
                </c:pt>
                <c:pt idx="1">
                  <c:v>Flipped to Wrong (8.9%)</c:v>
                </c:pt>
                <c:pt idx="2">
                  <c:v>Fixed Error (7.6%)</c:v>
                </c:pt>
                <c:pt idx="3">
                  <c:v>Remained Wrong (8.8%)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74.7</c:v>
                </c:pt>
                <c:pt idx="1">
                  <c:v>8.9</c:v>
                </c:pt>
                <c:pt idx="2">
                  <c:v>7.6</c:v>
                </c:pt>
                <c:pt idx="3">
                  <c:v>8.8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(Nafis Islam Kabbo): Welcome the professor and audience. Introduce the paper Large Language Models Cannot Self-Correct Reasoning Yet from ICLR 2024 by Google DeepMind and UIUC researchers, and introduce the six group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(Nafis Islam Kabbo): Walk the audience through the six presentation sections and introduce each presenters topic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(Nafis Islam Kabbo): Explain how autoregressive generation creates a domino effect. When an LLM solves a multi-step math problem, an error in step two inevitably poisons steps three, four, and the final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(Nafis Islam Kabbo): Walk through the 3-step self-correction process. Contrast the theoretical promise of autonomous refinement with the practical reality that models must judge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(Nafis Islam Kabbo): Introduce the central paradox. Pose the rhetorical question to the audience: If the model knew enough to fix its error, why did it fail in the first place? Hand over to Srijon.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(Srijon): Review the four major self-correction frameworks from 2023 literature. Point out how each paper seemed to demonstrate that models could improve their own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(Srijon): Contrast intrinsic self-correction against external tool feedback using the taxonomy diagram. Explain that tools provide genuine ground truth signals, whereas closed-loop reflection cannot escape the models knowledge bounds.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(Srijon): Walk through Table 1 from the paper. Detail the four evaluation confounders that created the illusion of progress. Hand over to Anindo.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(Anindo): Introduce the three benchmark datasets. Explain why testing math, commonsense logic, and multi-hop QA ensures broad coverage of reasoning domains.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(Anindo): Present the models and experimental setup concisely. Highlight the use of four distinct LLMs and rigorous temperature and prompt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(Anindo): Walk through the two execution regimes. Explain that oracle labels act as an external cheat code, whereas intrinsic correction forces blind self-judgment. Hand over to Mahid.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(Mahid): Present the papers core empirical finding. Emphasize that unguided self-correction degrades accuracy across all tasks and architectures.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(Mahid): Walk through the bar chart. Point out how accuracy monotonically drops across all three benchmarks for both GPT-3.5 and GPT-4.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(Mahid): Highlight the column chart. Show that while GPT-4-Turbo experiences modest drops, Llama-2-70B suffers a catastrophic collapse, losing nearly half its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(Mahid): Explain Figure 1 from the paper. Point out the doughnut chart: 8.9% of answers flip from correct to incorrect, while only 7.6% flip from incorrect to correct, creating a net negative drift. Hand over to Jebon.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5 (Jebon): Analyze Table 7. Explain that Multi-Agent Debate introduces heavy token overhead and sequential delay, but achieves no advantage over simple majority voting at matched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5 (Jebon): Explain the prompt design trap. Show how weak initial prompts artificially deflated baseline scores, making subsequent prompt additions look like self-correction.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5 (Jebon): Walk through this real GSM8K math example. Point out how the model solved it correctly in Round 1 ($75), but gaslit itself into giving an erroneous answer ($150) in Round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5 (Jebon): Synthesize the theoretical barriers: shared weights, prompt compliance bias, and lack of external grounding. Hand over to Refayet.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Summarize the papers three main takeaways clearly and decisively.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Detail the studys boundaries and limitations transparently.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Present constructive future directions: tool augmentation, trained verifiers, RL test-time search, and rigorous evaluation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Point the audience to the primary references cited in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Conclude the presentation warmly. Thank the professor and audience for their attention, and open the floor for questions and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 CONFERENCE PAPER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</a:t>
            </a:r>
            <a:endParaRPr lang="en-US" sz="3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Cannot Self-Correct Reasoning Yet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Huang (UIUC), Xinyun Chen, Swaroop Mishra, Huaixiu Steven Zheng, Adams Wei Yu, Xinying Song, Denny Zhou (Google DeepMind)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| Student Presenters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Nafis Islam Kabbo (2303180)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Srijon (2303179)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Anindo (2303181)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Mahid (2303127)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Jebon (2303160)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Refayet (2303148)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Outline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narrative structure and argument flow across six sections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298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71800" y="12984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 Islam Kabbo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152704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-&gt; Research Problem -&gt; Paradox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173736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generation, multi-step reasoning vulnerability, and the central self-correction question.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9512" y="1298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Background &amp; Literature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0" y="12984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39512" y="152704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Frameworks -&gt; Intrinsic vs External -&gt; Confounders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39512" y="173736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RCI, Reflexion, Self-Refine, and Multi-Agent Debate while isolating external supervision.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2450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971800" y="24505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26791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-&gt; Evaluated Models -&gt; Experimental Controls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GSM8K, CSQA, and HotpotQA tasks across GPT-3.5, GPT-4, GPT-4-Turbo, and Llama-2-70B.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9512" y="2450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32320" y="24505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9512" y="26791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Finding -&gt; Benchmark Drops -&gt; Transition Dynamics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39512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proof of accuracy degradation and net-negative answer flipping without external feedback.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78992" y="36027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Analysis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971800" y="36027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" y="38313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Cost Parity -&gt; Prompt Trap -&gt; Verification Barrier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" y="404164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Self-Consistency matches Multi-Agent Debate, prompt artifacts, and shared model parameter limits.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9512" y="36027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132320" y="36027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Refayet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39512" y="38313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-&gt; Study Scope -&gt; Fair Standards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39512" y="404164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claims, external tool integration, process verifiers, and guidelines for fair evaluation.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 &amp; Reasoning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Sequential derivation in multi-step reasoning problems</a:t>
            </a:r>
            <a:endParaRPr lang="en-US" sz="1100" dirty="0"/>
          </a:p>
        </p:txBody>
      </p:sp>
      <p:pic>
        <p:nvPicPr>
          <p:cNvPr id="5" name="Image 0" descr="/Users/nafiskabbo/development/presentation/output/assets/fig_autoregressive_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04672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70332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7947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VULNERABILITY: COMPOUNDING REASONING ERRORS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autoregressive generation is strictly sequential, an early arithmetic or logical slip corrupts every following derivation step. Without external verification, the model cannot detect when its chain has broken.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Concept of Self-Correction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Problem: Can models autonomously detect and repair reasoning flaws in post-processing?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 Generation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691640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91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Answer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the prompt and generates an initial reasoning chain and solution.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20700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353312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 Prompt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1691640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691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Step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the model to review its reasoning and locate potential errors.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20700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353312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Refined Revision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1691640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691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Answer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6364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modifies its reasoning path to output an updated final response.</a:t>
            </a:r>
            <a:endParaRPr lang="en-US" sz="1000" dirty="0"/>
          </a:p>
        </p:txBody>
      </p:sp>
      <p:pic>
        <p:nvPicPr>
          <p:cNvPr id="26" name="Image 0" descr="/Users/nafiskabbo/development/presentation/output/assets/loop_anima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35808"/>
            <a:ext cx="1371600" cy="13716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2103120" y="3035808"/>
            <a:ext cx="6492240" cy="13716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31720" y="315468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High Promise vs. Practical Reality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331720" y="3429000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Theoretical Promise: If models can self-correct, autonomous systems can fix errors without human supervision.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Practical Reality: Does an LLM have the intrinsic ability to recognize its own errors without an external verifier?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Central Research Question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Self-Correction Paradox: Can an LLM fix its reasoning without external signals?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RESEARCH PARADOX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57276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"If an LLM has the intrinsic knowledge and reasoning capability to correct a mistake, why did it not produce the correct answer on its first attempt?"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(Paper Focus)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relies strictly on its internal frozen parameters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external feedback: No oracle labels, humans, or tool outputs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Investigation: Can a frozen model reliably improve its reasoning?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56032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Feedback (Tool / Oracle Assisted)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01752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receives outside verification, such as Python REPL execution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 truth labels or unit tests guide the correction attempt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effective in practice, but NOT intrinsic self-correction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Self-Correction Frameworks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Findings: Key paradigms in literature claiming self-correction success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RCI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Critique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276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(NeurIPS 2023)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86537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Criticism and Improvement. The model critiques its output, then revises based on its own critique.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Reflexion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Memory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6276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(NeurIPS 2023)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86537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verbal reflections in memory across attempts to guide subsequent trial iterations.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Self-Refine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8892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3300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 (NeurIPS 2023)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53872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framework where an LLM generates structured feedback on its output and refines iteratively.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4944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Consensus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300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(2023)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353872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instances propose solutions, critique peers, and debate across rounds to reach consensus.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vs. External Feedback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Isolating internal model capabilities from external supervision</a:t>
            </a:r>
            <a:endParaRPr lang="en-US" sz="1100" dirty="0"/>
          </a:p>
        </p:txBody>
      </p:sp>
      <p:pic>
        <p:nvPicPr>
          <p:cNvPr id="5" name="Image 0" descr="/Users/nafiskabbo/development/presentation/output/assets/fig_intrinsic_vs_exter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04672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Flaws in Prior Evaluations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Analysis: Summary of evaluation confounders identified by Huang et al. (Table 1)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365760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Method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Identified Flaw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Mechanism of Distortion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Paper Ref.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(Kim et al.,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Label Leakage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only corrects when told its answer is wrong, acting as an oracle filter.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(Shinn et al.,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Label Leakage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Reflections trigger exclusively upon receiving environment failure signals.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Debate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(Du et al.,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Unfair Inference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multi-agent debate against single-shot baselines rather than equal compute sampling.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(Madaan et al.,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Initial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prompt omitted task constraints that were only added in the feedback prompt.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6908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06908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When these methodological confounders are eliminated, reported reasoning gains disappear.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Reasoning Benchmarks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Standard reasoning datasets spanning mathematics, commonsense logic, and multi-hop QA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1,319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Problems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GSM8K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School Math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2 to 8 steps of arithmetic reasoning. Tests tracking numerical state and logical constraints.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reported +7% with oracle labels.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1,221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CommonSenseQA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1188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Commonsense Logic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5-choice questions requiring real-world knowledge with subtle semantic distractors.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reported +15% with oracle guidance.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Samples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HotpotQA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Synthesis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multi-hop questions requiring combining facts across Wikipedia sources (Exact Match).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reported gains via reflection.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&amp; Experimental Controls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Evaluation parameters across leading proprietary and open-weight LLMs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Evaluated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801368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GPT-3.5-Turbo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gpt-3.5-turbo-0613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459736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14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2023/08/29 production build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118104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0723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gpt-4-1106-preview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776472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Llama-2-70B-Chat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9684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70B parameter baseline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Experimental Controls &amp; Rigor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18288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1783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and few-shot Chain-of-Thought (CoT) prompting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340864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22951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1.0 (GPT models), 0.7 (Llama-2-70B)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852928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280720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2-round correction limit per problem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364992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33192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feedback prompts without hint leakage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3877056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383133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comparison: Intrinsic vs Oracle-guided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Prompting Procedures &amp; Protocols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Contrasting the step-by-step workflow of oracle vs intrinsic correction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 Generation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draft reasoning chain and answer.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207008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16642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prompt asks model to critique its logic.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207008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Revised Output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a revised reasoning path.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20840" y="1207008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Iteration Round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16642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repeats for a second round.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578608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2697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Oracle Feedback (Prior Flawed Setup)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2971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verifier checks answer correctness after Step 1.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is told WHEN its answer is wrong to trigger Step 2.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answers are never touched, artificially inflating scores.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578608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697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(Realistic Setup)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37760" y="2971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external signals provided. Model must judge its own answer.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blindly critiques itself across all problems.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changes correct answers into errors, dropping performance.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Finding: Empirical proof that intrinsic self-correction degrades reasoning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DF2F4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EMPIRICAL FINDING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Across all tested benchmarks and models, intrinsic self-correction does NOT improve reasoning accuracy. Performance consistently declines after self-correction.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60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Universal Degradation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077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Affected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18211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testing GPT-3.5, GPT-4, GPT-4-Turbo, or Llama-2-70B, accuracy drops after Round 1 and drops further after Round 2.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2423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560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Task-Agnostic Failure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20440" y="2907792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9077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 &amp; QA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20440" y="318211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occur across math word problems (GSM8K), commonsense multiple-choice (CSQA), and open-domain QA (HotpotQA).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2423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560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Oracle Illusion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2907792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077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Artifacts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318211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only improves when external oracle labels guide when to correct, proving prior gains were evaluation artifacts.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 &amp; GPT-4 Benchmark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Results: Accuracy across rounds of intrinsic self-correction (Table 3)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Benchmark Drops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755648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on CSQA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-17.2% Drop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2048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Plummets from 72.5% to 55.3% by Round 2.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596896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HotpotQA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-11.0% Drop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889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from 53.0% to 42.0% after correction.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438144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GSM8K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-4.0% Drop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730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from 92.0% to 88.0% after two rounds.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 &amp; Llama-2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Generalizability: Extending evaluation confirms failure across open and proprietary LLMs (Table 4)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 Severe Degradation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3736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 Accuracy Collapses: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GSM8K: 62.0% -&gt; 36.5% (-25.5%)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CSQA: 64.0% -&gt; 36.5% (-27.5%)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exhibit extreme prompt compliance vulnerability, readily abandoning correct solutions when challenged.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Transition Dynamics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Persistence: Why accuracy drops through net negative answer flipping (Figure 1)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389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0700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9240" y="1298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74.7%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3167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maintained initial output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2080" y="202996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8.9%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-&gt; Incorrect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to wrong answer (Harmful)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285292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29443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7.6%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9626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-&gt; Correct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repaired (Beneficial)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2080" y="367588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DF2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flips exceed beneficial fixes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 vs. Self-Consistency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Self-Correction Fail?: Equal compute comparison with simple majority voting (Table 7)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 Parity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3736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Flawed Debate Claim: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claimed Multi-Agent Debate improved reasoning by comparing it to single-shot baselines.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Equal-Cost Reality: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allocating the same sampled responses to Self-Consistency (majority voting), simple sampling matches or beats multi-agent debate with zero communication latency.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Prompt Design Trap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Causes: Misleading evaluation gains from asymmetric prompt information (Table 8)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Flawed Evaluation (Self-Refine Setup)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Weak Initial Prompt: Omits required constraints, such as 'Use all target concept words in sentence.'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Feedback Prompt: Re-injects missing rule ('You forgot word X. Add it now.').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 Improves -&gt; Authors claimed 'Self-Correction works.'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53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Evaluation (Complete Initial Prompt)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37760" y="1664208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Complete Initial Prompt: Includes all target word rules up-front in the initial prompt.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generates strong initial output immediately.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Intrinsic Self-Correction applied -&gt; Performance DROPS.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404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CONSTRAINED GENERATION (TABLE 8)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0416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initial prompt is well-specified, standard single-shot prompting outperforms iterative self-refinement loops. Reported gains were prompt artifacts rather than genuine reflection.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Study: The Gaslighting Effect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Persistence: Concrete breakdown of how self-critique corrupts sound reasoning (Figure 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9844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Math Problem: Terry eats 2 yogurts a day. A pack of 4 yogurts costs $5. How much does Terry spend on yogurt in 30 days?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 1: Initial Output (CORRECT)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days × 2 yogurts/day = 60 yogurts needed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 / 4 yogurts per pack = 15 packs of yogurt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 packs × $5 = $75 total cost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Final Answer: $75 (CORRECT)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2029968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488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 2: After Self-Correction (INCORRECT)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423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receives: 'Review your answer and find flaws'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doubts valid logic and hallucinates: '4 yogurts last 2 days...'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Overcomplicates and calculates: $150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Final Answer: $150 (INCORRECT)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8046720" cy="530352"/>
          </a:xfrm>
          <a:prstGeom prst="roundRect">
            <a:avLst>
              <a:gd name="adj" fmla="val 8621"/>
            </a:avLst>
          </a:prstGeom>
          <a:solidFill>
            <a:srgbClr val="FDF2F4"/>
          </a:solidFill>
          <a:ln w="9525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Critique prompts induce unwarranted self-doubt, gaslighting correct answers into errors.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Verification Barrier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Mechanism: Why intrinsic verification is as hard as initial 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Parameter Bounds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and generator share the exact same weights. If a model cannot generate the correct step initially, it lacks the internal knowledge to verify that step.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Compliance Prompt Bias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2044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 models aim to obey the user prompt. Asking the model to 'find flaws' strongly biases it to invent errors even when reasoning is sound.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Lack of Grounding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0936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external execution (such as Python) or oracle signals, the model cannot distinguish between valid corrections and hallucinations.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Core conclusions established by Huang et al. (ICLR 2024)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35608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44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 for Reasoning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161848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external feedback, LLMs cannot reliably correct their reasoning mistakes. Performance consistently declines across models and benchmarks.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96312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4048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Reported Gains Were Evaluation Artifacts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25880" y="26791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claims relied on oracle label leakage (knowing when to stop), unfair compute baselines, or incomplete initial prompt templates.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57016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6557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Feedback is Required for Reliable Refinement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739896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succeeds when paired with external grounding signals, including code execution environments, calculators, unit tests, and human review.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 Limitations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Boundaries: Contextualizing the empirical boundaries of this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Reasoning-Specific Focus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math and logic benchmarks. Does not evaluate creative writing, translation, or style editing.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Prompting-Only Paradigm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frozen, off-the-shelf models. Does not evaluate models specifically fine-tuned for self-correction.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Snapshot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GPT-3.5, GPT-4, and Llama-2. Newer reasoning models (such as OpenAI o1 and o3) warrant further study.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Methodological Boundaries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 Sample Size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 evaluation used 100 samples due to API cost constraints, limiting statistical resolution on multi-hop QA.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multiple feedback prompt templates were tested, prompt variations cannot be completely exhausted.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Constraints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in closed-book mode without retrieval-augmented generation (RAG) knowledge lookups.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Directions &amp; Fair Standards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Constructive pathways forward and recommendations for fair evaluation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Tool-Augmented Verification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Execution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Python interpreters, symbolic solvers, and SQL execution engines to verify calculations externally.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Learned Verifiers &amp; PRMs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Discriminators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discriminator models (Process Reward Models) to verify step-by-step reasoning quality.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Training-Time Self-Correction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&amp; Search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with Reinforcement Learning and search (such as MCTS and test-time compute) rather than prompt loops.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Evaluation Standards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Best Practices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equal inference-cost baselines (Self-Consistency) and eliminate oracle label leakage in benchmarks.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literature and baseline studies cited in this presentation (IEEE Format)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228600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#</a:t>
                      </a:r>
                      <a:endParaRPr lang="en-US" sz="10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Paper Title</a:t>
                      </a:r>
                      <a:endParaRPr lang="en-US" sz="10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Authors &amp; Venue</a:t>
                      </a:r>
                      <a:endParaRPr lang="en-US" sz="10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Relevance to this Study</a:t>
                      </a:r>
                      <a:endParaRPr lang="en-US" sz="10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Language Models Cannot Self-Correct Reasoning Yet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Huang, X. Chen, S. Mishra, et al. (ICLR 2024)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source paper investigated in this presentation.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Models Can Solve Computer Tasks (RCI)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Kim, P. Baldi, S. McAleer (NeurIPS 2023)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RCI self-correction framework baseline with oracle labels.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Reflexion: Language Agents with Verbal Reinforcement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Shinn, F. Cassano, A. Gopinath, et al. (NeurIPS 2023)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 memory baseline relying on environment signals.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Self-Refine: Iterative Refinement with Self-Feedback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Madaan, N. Tandon, P. Gupta, et al. (NeurIPS 2023)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feedback loop investigated for prompt artifacts.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 Factuality &amp; Reasoning via Multiagent Debate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 Du, S. Li, A. Torralba, et al. (arXiv 2023)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debate baseline evaluated at equal compute.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Self-Consistency Improves Chain of Thought Reasoning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 Wang, J. Wei, D. Schuurmans, et al. (ICLR 2023)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voting baseline used for equal compute parity.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Verifiers to Solve Math Word Problems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Cobbe, V. Kosaraju, M. Bavarian, et al. (arXiv 2021)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 dataset creation and learned verifier foundation.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3108960"/>
          </a:xfrm>
          <a:prstGeom prst="roundRect">
            <a:avLst>
              <a:gd name="adj" fmla="val 3529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32588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FDF2F4"/>
          </a:solidFill>
          <a:ln w="9525">
            <a:solidFill>
              <a:srgbClr val="800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0" y="1325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SESSION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45920" y="2514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Questions &amp; Open Discussion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questions, feedback, and discussion from the professor and audience.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Cannot Self-Correct Reasoning Yet</dc:title>
  <dc:subject>PptxGenJS Presentation</dc:subject>
  <dc:creator>Group Presentation</dc:creator>
  <cp:lastModifiedBy>Group Presentation</cp:lastModifiedBy>
  <cp:revision>1</cp:revision>
  <dcterms:created xsi:type="dcterms:W3CDTF">2026-08-27T20:26:47Z</dcterms:created>
  <dcterms:modified xsi:type="dcterms:W3CDTF">2026-08-27T20:26:47Z</dcterms:modified>
</cp:coreProperties>
</file>