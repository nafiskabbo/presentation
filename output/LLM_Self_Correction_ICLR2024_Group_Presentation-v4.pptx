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paper 'Large Language Models Cannot Self-Correct Reasoning Yet' (ICLR 2024) by Google DeepMind and UIUC researchers, and introduce the six group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overview: Walk the audience through the 6 core sections. Note how the presentation moves logically from foundational concepts to empirical results, deep-dive analysis, and constructive future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Nafis Islam Kabbo. Explain what LLMs are, how Chain-of-Thought reasoning works, and why reasoning error propagation is a critical bottleneck for reliable AI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Nafis Islam Kabbo. Detail the theoretical appeal of self-correction. Explain why the AI community was enthusiastic about self-correction loops and the potential benefits if models could self-refine.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Nafis Islam Kabbo. Articulate the central research paradox. Distinguish intrinsic self-correction (the core focus of this study) from systems relying on external oracles and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Srijon. Cover the major self-correction papers in literature (RCI, Reflexion, Self-Refine, Multi-Agent Debate). Note how each proposed an architectural loop claiming performance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Srijon. Emphasize the crucial taxonomy distinction. Explain that external feedback (like code execution or ground truth) introduces genuine new information, whereas intrinsic self-correction relies solely on the model's existing internal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Srijon. Review Table 1 from the paper. Explain how prior literature gave the false impression that self-correction worked because of oracle leakage, unequal compute comparison, or incomplete initial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Anindo. Detail the three reasoning benchmarks (GSM8K, CSQA, HotpotQA). Explain why these datasets are standard for evaluating multi-step reasoning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Anindo. Explain the models tested and the experimental setup. Highlight that this study evaluated both proprietary frontier models (GPT-4) and open models (Llama-2) under strict controlled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Anindo. Explain the prompting workflow. Clarify how oracle feedback acts as a cheat sheet telling the model when to stop, whereas intrinsic correction forces the model to evaluate itself without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Mahid. Present the core empirical takeaway. Emphasize that this failure is universal across both proprietary and open-weight models and across all three reasoning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Mahid. Walk through Table 3. Point out that even GPT-4 (the strongest model available at publication) loses 3.5–11% accuracy when prompted to self-correct intrinsically.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Mahid. Emphasize the dramatic degradation in Llama-2-70B. Explain that open-weight models suffer even more severe instability when subjected to intrinsic self-correction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Mahid. Analyze Figure 1 from the paper. Explain that 74.7% of answers stay unchanged, but among the answers that do change, more correct answers get corrupted (8.9%) than wrong answers get fixed (7.6%), resulting in a net negative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Jebon. Compare Multi-Agent Debate against Self-Consistency. Explain that prior claims of debate superiority were flawed because they compared multi-agent debate against single-shot baselines rather than compute-equivalent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Jebon. Explain the prompt engineering confounder in Self-Refine. Show how weak initial prompts artificially create headroom that gets credited to 'self-correction' when it was simply better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Jebon. Walk the audience through the real example from GSM8K. Explain step-by-step how the model solved the problem perfectly in Round 1, but overcomplicated and hallucinated a wrong answer in Round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Jebon. Synthesize the theoretical barriers. Explain that generation and verification are fundamentally bounded by the same model capacity, making unguided self-verification inherently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6: Refayet. Summarize the paper's three main conclusions. Emphasize that while unguided intrinsic correction fails, external-feedback correction remains a vital tool for AI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6: Refayet. Review study limitations. Discuss reasoning domain scope, prompt-only constraints, and the distinction between frozen LLM prompting and newer RL-based test-time compute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6: Refayet. Present constructive future directions. Emphasize tool augmentation (code sandboxes), trained PRM verifiers, and the authors' proposed standards for evaluating future self-correction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Complete IEEE numbered bibliography of all cited foundational and comparative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the presentation. Thank the professor and audience, invite questions, and initiate discussion on the open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2377440" cy="320040"/>
          </a:xfrm>
          <a:prstGeom prst="roundRect">
            <a:avLst>
              <a:gd name="adj" fmla="val 22857"/>
            </a:avLst>
          </a:prstGeom>
          <a:solidFill>
            <a:srgbClr val="FDF2F4"/>
          </a:solidFill>
          <a:ln w="12700">
            <a:solidFill>
              <a:srgbClr val="800020"/>
            </a:solidFill>
            <a:prstDash val="solid"/>
          </a:ln>
        </p:spPr>
      </p:sp>
      <p:sp>
        <p:nvSpPr>
          <p:cNvPr id="3" name="Text 1"/>
          <p:cNvSpPr/>
          <p:nvPr/>
        </p:nvSpPr>
        <p:spPr>
          <a:xfrm>
            <a:off x="548640" y="457200"/>
            <a:ext cx="2377440" cy="320040"/>
          </a:xfrm>
          <a:prstGeom prst="rect">
            <a:avLst/>
          </a:prstGeom>
          <a:noFill/>
          <a:ln/>
        </p:spPr>
        <p:txBody>
          <a:bodyPr wrap="square" lIns="0" tIns="0" rIns="0" bIns="0" rtlCol="0" anchor="ctr"/>
          <a:lstStyle/>
          <a:p>
            <a:pPr algn="ctr" indent="0" marL="0">
              <a:buNone/>
            </a:pPr>
            <a:r>
              <a:rPr lang="en-US" sz="900" b="1" spc="100" kern="0" dirty="0">
                <a:solidFill>
                  <a:srgbClr val="800020"/>
                </a:solidFill>
                <a:latin typeface="Calibri" pitchFamily="34" charset="0"/>
                <a:ea typeface="Calibri" pitchFamily="34" charset="-122"/>
                <a:cs typeface="Calibri" pitchFamily="34" charset="-120"/>
              </a:rPr>
              <a:t>ICLR 2024 CONFERENCE PAPER</a:t>
            </a:r>
            <a:endParaRPr lang="en-US" sz="900" dirty="0"/>
          </a:p>
        </p:txBody>
      </p:sp>
      <p:sp>
        <p:nvSpPr>
          <p:cNvPr id="4" name="Text 2"/>
          <p:cNvSpPr/>
          <p:nvPr/>
        </p:nvSpPr>
        <p:spPr>
          <a:xfrm>
            <a:off x="548640" y="914400"/>
            <a:ext cx="8046720" cy="1371600"/>
          </a:xfrm>
          <a:prstGeom prst="rect">
            <a:avLst/>
          </a:prstGeom>
          <a:noFill/>
          <a:ln/>
        </p:spPr>
        <p:txBody>
          <a:bodyPr wrap="square" lIns="0" tIns="0" rIns="0" bIns="0" rtlCol="0" anchor="ctr"/>
          <a:lstStyle/>
          <a:p>
            <a:pPr algn="l" indent="0" marL="0">
              <a:lnSpc>
                <a:spcPct val="108000"/>
              </a:lnSpc>
              <a:buNone/>
            </a:pPr>
            <a:r>
              <a:rPr lang="en-US" sz="3400" b="1" dirty="0">
                <a:solidFill>
                  <a:srgbClr val="0F172A"/>
                </a:solidFill>
                <a:latin typeface="Century Schoolbook" pitchFamily="34" charset="0"/>
                <a:ea typeface="Century Schoolbook" pitchFamily="34" charset="-122"/>
                <a:cs typeface="Century Schoolbook" pitchFamily="34" charset="-120"/>
              </a:rPr>
              <a:t>Large Language Models</a:t>
            </a:r>
            <a:endParaRPr lang="en-US" sz="3400" dirty="0"/>
          </a:p>
          <a:p>
            <a:pPr algn="l" indent="0" marL="0">
              <a:lnSpc>
                <a:spcPct val="108000"/>
              </a:lnSpc>
              <a:buNone/>
            </a:pPr>
            <a:r>
              <a:rPr lang="en-US" sz="3400" b="1" dirty="0">
                <a:solidFill>
                  <a:srgbClr val="0F172A"/>
                </a:solidFill>
                <a:latin typeface="Century Schoolbook" pitchFamily="34" charset="0"/>
                <a:ea typeface="Century Schoolbook" pitchFamily="34" charset="-122"/>
                <a:cs typeface="Century Schoolbook" pitchFamily="34" charset="-120"/>
              </a:rPr>
              <a:t>Cannot Self-Correct Reasoning Yet</a:t>
            </a:r>
            <a:endParaRPr lang="en-US" sz="3400" dirty="0"/>
          </a:p>
        </p:txBody>
      </p:sp>
      <p:sp>
        <p:nvSpPr>
          <p:cNvPr id="5" name="Text 3"/>
          <p:cNvSpPr/>
          <p:nvPr/>
        </p:nvSpPr>
        <p:spPr>
          <a:xfrm>
            <a:off x="548640" y="2377440"/>
            <a:ext cx="8046720" cy="457200"/>
          </a:xfrm>
          <a:prstGeom prst="rect">
            <a:avLst/>
          </a:prstGeom>
          <a:noFill/>
          <a:ln/>
        </p:spPr>
        <p:txBody>
          <a:bodyPr wrap="square" lIns="0" tIns="0" rIns="0" bIns="0" rtlCol="0" anchor="ctr"/>
          <a:lstStyle/>
          <a:p>
            <a:pPr indent="0" marL="0">
              <a:lnSpc>
                <a:spcPct val="115000"/>
              </a:lnSpc>
              <a:buNone/>
            </a:pPr>
            <a:r>
              <a:rPr lang="en-US" sz="1100" dirty="0">
                <a:solidFill>
                  <a:srgbClr val="64748B"/>
                </a:solidFill>
                <a:latin typeface="Calibri" pitchFamily="34" charset="0"/>
                <a:ea typeface="Calibri" pitchFamily="34" charset="-122"/>
                <a:cs typeface="Calibri" pitchFamily="34" charset="-120"/>
              </a:rPr>
              <a:t>Jie Huang (UIUC)  ·  Xinyun Chen  ·  Swaroop Mishra  ·  Huaixiu Steven Zheng</a:t>
            </a:r>
            <a:endParaRPr lang="en-US" sz="1100" dirty="0"/>
          </a:p>
          <a:p>
            <a:pPr indent="0" marL="0">
              <a:lnSpc>
                <a:spcPct val="115000"/>
              </a:lnSpc>
              <a:buNone/>
            </a:pPr>
            <a:r>
              <a:rPr lang="en-US" sz="1100" dirty="0">
                <a:solidFill>
                  <a:srgbClr val="64748B"/>
                </a:solidFill>
                <a:latin typeface="Calibri" pitchFamily="34" charset="0"/>
                <a:ea typeface="Calibri" pitchFamily="34" charset="-122"/>
                <a:cs typeface="Calibri" pitchFamily="34" charset="-120"/>
              </a:rPr>
              <a:t>Adams Wei Yu  ·  Xinying Song  ·  Denny Zhou  (Google DeepMind)</a:t>
            </a:r>
            <a:endParaRPr lang="en-US" sz="1100" dirty="0"/>
          </a:p>
        </p:txBody>
      </p:sp>
      <p:sp>
        <p:nvSpPr>
          <p:cNvPr id="6" name="Shape 4"/>
          <p:cNvSpPr/>
          <p:nvPr/>
        </p:nvSpPr>
        <p:spPr>
          <a:xfrm>
            <a:off x="548640" y="2971800"/>
            <a:ext cx="8046720" cy="1554480"/>
          </a:xfrm>
          <a:prstGeom prst="roundRect">
            <a:avLst>
              <a:gd name="adj" fmla="val 5882"/>
            </a:avLst>
          </a:prstGeom>
          <a:solidFill>
            <a:srgbClr val="F8F9FA"/>
          </a:solidFill>
          <a:ln w="12700">
            <a:solidFill>
              <a:srgbClr val="E2E8F0"/>
            </a:solidFill>
            <a:prstDash val="solid"/>
          </a:ln>
        </p:spPr>
      </p:sp>
      <p:sp>
        <p:nvSpPr>
          <p:cNvPr id="7" name="Text 5"/>
          <p:cNvSpPr/>
          <p:nvPr/>
        </p:nvSpPr>
        <p:spPr>
          <a:xfrm>
            <a:off x="777240" y="3108960"/>
            <a:ext cx="7589520" cy="228600"/>
          </a:xfrm>
          <a:prstGeom prst="rect">
            <a:avLst/>
          </a:prstGeom>
          <a:noFill/>
          <a:ln/>
        </p:spPr>
        <p:txBody>
          <a:bodyPr wrap="square" lIns="0" tIns="0" rIns="0" bIns="0" rtlCol="0" anchor="ctr"/>
          <a:lstStyle/>
          <a:p>
            <a:pPr indent="0" marL="0">
              <a:buNone/>
            </a:pPr>
            <a:r>
              <a:rPr lang="en-US" sz="1100" b="1" dirty="0">
                <a:solidFill>
                  <a:srgbClr val="800020"/>
                </a:solidFill>
                <a:latin typeface="Calibri" pitchFamily="34" charset="0"/>
                <a:ea typeface="Calibri" pitchFamily="34" charset="-122"/>
                <a:cs typeface="Calibri" pitchFamily="34" charset="-120"/>
              </a:rPr>
              <a:t>Group Presentation  ·  Student Presenters</a:t>
            </a:r>
            <a:endParaRPr lang="en-US" sz="1100" dirty="0"/>
          </a:p>
        </p:txBody>
      </p:sp>
      <p:sp>
        <p:nvSpPr>
          <p:cNvPr id="8" name="Shape 6"/>
          <p:cNvSpPr/>
          <p:nvPr/>
        </p:nvSpPr>
        <p:spPr>
          <a:xfrm>
            <a:off x="777240" y="3474720"/>
            <a:ext cx="2377440" cy="347472"/>
          </a:xfrm>
          <a:prstGeom prst="roundRect">
            <a:avLst>
              <a:gd name="adj" fmla="val 15789"/>
            </a:avLst>
          </a:prstGeom>
          <a:solidFill>
            <a:srgbClr val="FFFFFF"/>
          </a:solidFill>
          <a:ln w="9525">
            <a:solidFill>
              <a:srgbClr val="E2E8F0"/>
            </a:solidFill>
            <a:prstDash val="solid"/>
          </a:ln>
        </p:spPr>
      </p:sp>
      <p:sp>
        <p:nvSpPr>
          <p:cNvPr id="9" name="Text 7"/>
          <p:cNvSpPr/>
          <p:nvPr/>
        </p:nvSpPr>
        <p:spPr>
          <a:xfrm>
            <a:off x="886968" y="3474720"/>
            <a:ext cx="2194560" cy="34747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1. Nafis Islam Kabbo — 2303180</a:t>
            </a:r>
            <a:endParaRPr lang="en-US" sz="1050" dirty="0"/>
          </a:p>
        </p:txBody>
      </p:sp>
      <p:sp>
        <p:nvSpPr>
          <p:cNvPr id="10" name="Shape 8"/>
          <p:cNvSpPr/>
          <p:nvPr/>
        </p:nvSpPr>
        <p:spPr>
          <a:xfrm>
            <a:off x="3337560" y="3474720"/>
            <a:ext cx="2377440" cy="347472"/>
          </a:xfrm>
          <a:prstGeom prst="roundRect">
            <a:avLst>
              <a:gd name="adj" fmla="val 15789"/>
            </a:avLst>
          </a:prstGeom>
          <a:solidFill>
            <a:srgbClr val="FFFFFF"/>
          </a:solidFill>
          <a:ln w="9525">
            <a:solidFill>
              <a:srgbClr val="E2E8F0"/>
            </a:solidFill>
            <a:prstDash val="solid"/>
          </a:ln>
        </p:spPr>
      </p:sp>
      <p:sp>
        <p:nvSpPr>
          <p:cNvPr id="11" name="Text 9"/>
          <p:cNvSpPr/>
          <p:nvPr/>
        </p:nvSpPr>
        <p:spPr>
          <a:xfrm>
            <a:off x="3447288" y="3474720"/>
            <a:ext cx="2194560" cy="34747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2. Srijon — 2303179</a:t>
            </a:r>
            <a:endParaRPr lang="en-US" sz="1050" dirty="0"/>
          </a:p>
        </p:txBody>
      </p:sp>
      <p:sp>
        <p:nvSpPr>
          <p:cNvPr id="12" name="Shape 10"/>
          <p:cNvSpPr/>
          <p:nvPr/>
        </p:nvSpPr>
        <p:spPr>
          <a:xfrm>
            <a:off x="5897880" y="3474720"/>
            <a:ext cx="2377440" cy="347472"/>
          </a:xfrm>
          <a:prstGeom prst="roundRect">
            <a:avLst>
              <a:gd name="adj" fmla="val 15789"/>
            </a:avLst>
          </a:prstGeom>
          <a:solidFill>
            <a:srgbClr val="FFFFFF"/>
          </a:solidFill>
          <a:ln w="9525">
            <a:solidFill>
              <a:srgbClr val="E2E8F0"/>
            </a:solidFill>
            <a:prstDash val="solid"/>
          </a:ln>
        </p:spPr>
      </p:sp>
      <p:sp>
        <p:nvSpPr>
          <p:cNvPr id="13" name="Text 11"/>
          <p:cNvSpPr/>
          <p:nvPr/>
        </p:nvSpPr>
        <p:spPr>
          <a:xfrm>
            <a:off x="6007608" y="3474720"/>
            <a:ext cx="2194560" cy="34747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3. Anindo — 2303181</a:t>
            </a:r>
            <a:endParaRPr lang="en-US" sz="1050" dirty="0"/>
          </a:p>
        </p:txBody>
      </p:sp>
      <p:sp>
        <p:nvSpPr>
          <p:cNvPr id="14" name="Shape 12"/>
          <p:cNvSpPr/>
          <p:nvPr/>
        </p:nvSpPr>
        <p:spPr>
          <a:xfrm>
            <a:off x="777240" y="3913632"/>
            <a:ext cx="2377440" cy="347472"/>
          </a:xfrm>
          <a:prstGeom prst="roundRect">
            <a:avLst>
              <a:gd name="adj" fmla="val 15789"/>
            </a:avLst>
          </a:prstGeom>
          <a:solidFill>
            <a:srgbClr val="FFFFFF"/>
          </a:solidFill>
          <a:ln w="9525">
            <a:solidFill>
              <a:srgbClr val="E2E8F0"/>
            </a:solidFill>
            <a:prstDash val="solid"/>
          </a:ln>
        </p:spPr>
      </p:sp>
      <p:sp>
        <p:nvSpPr>
          <p:cNvPr id="15" name="Text 13"/>
          <p:cNvSpPr/>
          <p:nvPr/>
        </p:nvSpPr>
        <p:spPr>
          <a:xfrm>
            <a:off x="886968" y="3913632"/>
            <a:ext cx="2194560" cy="34747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4. Mahid — 2303127</a:t>
            </a:r>
            <a:endParaRPr lang="en-US" sz="1050" dirty="0"/>
          </a:p>
        </p:txBody>
      </p:sp>
      <p:sp>
        <p:nvSpPr>
          <p:cNvPr id="16" name="Shape 14"/>
          <p:cNvSpPr/>
          <p:nvPr/>
        </p:nvSpPr>
        <p:spPr>
          <a:xfrm>
            <a:off x="3337560" y="3913632"/>
            <a:ext cx="2377440" cy="347472"/>
          </a:xfrm>
          <a:prstGeom prst="roundRect">
            <a:avLst>
              <a:gd name="adj" fmla="val 15789"/>
            </a:avLst>
          </a:prstGeom>
          <a:solidFill>
            <a:srgbClr val="FFFFFF"/>
          </a:solidFill>
          <a:ln w="9525">
            <a:solidFill>
              <a:srgbClr val="E2E8F0"/>
            </a:solidFill>
            <a:prstDash val="solid"/>
          </a:ln>
        </p:spPr>
      </p:sp>
      <p:sp>
        <p:nvSpPr>
          <p:cNvPr id="17" name="Text 15"/>
          <p:cNvSpPr/>
          <p:nvPr/>
        </p:nvSpPr>
        <p:spPr>
          <a:xfrm>
            <a:off x="3447288" y="3913632"/>
            <a:ext cx="2194560" cy="34747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5. Jebon — 2303160</a:t>
            </a:r>
            <a:endParaRPr lang="en-US" sz="1050" dirty="0"/>
          </a:p>
        </p:txBody>
      </p:sp>
      <p:sp>
        <p:nvSpPr>
          <p:cNvPr id="18" name="Shape 16"/>
          <p:cNvSpPr/>
          <p:nvPr/>
        </p:nvSpPr>
        <p:spPr>
          <a:xfrm>
            <a:off x="5897880" y="3913632"/>
            <a:ext cx="2377440" cy="347472"/>
          </a:xfrm>
          <a:prstGeom prst="roundRect">
            <a:avLst>
              <a:gd name="adj" fmla="val 15789"/>
            </a:avLst>
          </a:prstGeom>
          <a:solidFill>
            <a:srgbClr val="FFFFFF"/>
          </a:solidFill>
          <a:ln w="9525">
            <a:solidFill>
              <a:srgbClr val="E2E8F0"/>
            </a:solidFill>
            <a:prstDash val="solid"/>
          </a:ln>
        </p:spPr>
      </p:sp>
      <p:sp>
        <p:nvSpPr>
          <p:cNvPr id="19" name="Text 17"/>
          <p:cNvSpPr/>
          <p:nvPr/>
        </p:nvSpPr>
        <p:spPr>
          <a:xfrm>
            <a:off x="6007608" y="3913632"/>
            <a:ext cx="2194560" cy="347472"/>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6. Refayet — 2303148</a:t>
            </a:r>
            <a:endParaRPr lang="en-US" sz="1050" dirty="0"/>
          </a:p>
        </p:txBody>
      </p:sp>
      <p:sp>
        <p:nvSpPr>
          <p:cNvPr id="21" name="Text 18"/>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2" name="Text 19"/>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01/24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OVERVIEW</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Presentation Outline</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Core narrative structure and argument flow across six sections</a:t>
            </a:r>
            <a:endParaRPr lang="en-US" sz="1100" dirty="0"/>
          </a:p>
        </p:txBody>
      </p:sp>
      <p:sp>
        <p:nvSpPr>
          <p:cNvPr id="5" name="Shape 3"/>
          <p:cNvSpPr/>
          <p:nvPr/>
        </p:nvSpPr>
        <p:spPr>
          <a:xfrm>
            <a:off x="548640" y="1234440"/>
            <a:ext cx="3886200" cy="960120"/>
          </a:xfrm>
          <a:prstGeom prst="roundRect">
            <a:avLst>
              <a:gd name="adj" fmla="val 7619"/>
            </a:avLst>
          </a:prstGeom>
          <a:solidFill>
            <a:srgbClr val="F8F9FA"/>
          </a:solidFill>
          <a:ln w="12700">
            <a:solidFill>
              <a:srgbClr val="E2E8F0"/>
            </a:solidFill>
            <a:prstDash val="solid"/>
          </a:ln>
        </p:spPr>
      </p:sp>
      <p:sp>
        <p:nvSpPr>
          <p:cNvPr id="6" name="Shape 4"/>
          <p:cNvSpPr/>
          <p:nvPr/>
        </p:nvSpPr>
        <p:spPr>
          <a:xfrm>
            <a:off x="685800" y="1371600"/>
            <a:ext cx="329184" cy="329184"/>
          </a:xfrm>
          <a:prstGeom prst="ellipse">
            <a:avLst/>
          </a:prstGeom>
          <a:solidFill>
            <a:srgbClr val="800020"/>
          </a:solidFill>
          <a:ln/>
        </p:spPr>
      </p:sp>
      <p:sp>
        <p:nvSpPr>
          <p:cNvPr id="7" name="Text 5"/>
          <p:cNvSpPr/>
          <p:nvPr/>
        </p:nvSpPr>
        <p:spPr>
          <a:xfrm>
            <a:off x="685800" y="13716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097280" y="1344168"/>
            <a:ext cx="3200400" cy="228600"/>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Introduction</a:t>
            </a:r>
            <a:endParaRPr lang="en-US" sz="1300" dirty="0"/>
          </a:p>
        </p:txBody>
      </p:sp>
      <p:sp>
        <p:nvSpPr>
          <p:cNvPr id="9" name="Text 7"/>
          <p:cNvSpPr/>
          <p:nvPr/>
        </p:nvSpPr>
        <p:spPr>
          <a:xfrm>
            <a:off x="1097280" y="1581912"/>
            <a:ext cx="3200400" cy="201168"/>
          </a:xfrm>
          <a:prstGeom prst="rect">
            <a:avLst/>
          </a:prstGeom>
          <a:noFill/>
          <a:ln/>
        </p:spPr>
        <p:txBody>
          <a:bodyPr wrap="square" lIns="0" tIns="0" rIns="0" bIns="0" rtlCol="0" anchor="ctr"/>
          <a:lstStyle/>
          <a:p>
            <a:pPr indent="0" marL="0">
              <a:buNone/>
            </a:pPr>
            <a:r>
              <a:rPr lang="en-US" sz="950" b="1" dirty="0">
                <a:solidFill>
                  <a:srgbClr val="800020"/>
                </a:solidFill>
                <a:latin typeface="Calibri" pitchFamily="34" charset="0"/>
                <a:ea typeface="Calibri" pitchFamily="34" charset="-122"/>
                <a:cs typeface="Calibri" pitchFamily="34" charset="-120"/>
              </a:rPr>
              <a:t>Motivation  →  Research Problem  →  Research Question</a:t>
            </a:r>
            <a:endParaRPr lang="en-US" sz="950" dirty="0"/>
          </a:p>
        </p:txBody>
      </p:sp>
      <p:sp>
        <p:nvSpPr>
          <p:cNvPr id="10" name="Text 8"/>
          <p:cNvSpPr/>
          <p:nvPr/>
        </p:nvSpPr>
        <p:spPr>
          <a:xfrm>
            <a:off x="1097280" y="1783080"/>
            <a:ext cx="3200400" cy="347472"/>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LLM reasoning foundations, autonomous refinement premise, and the central self-correction paradox.</a:t>
            </a:r>
            <a:endParaRPr lang="en-US" sz="950" dirty="0"/>
          </a:p>
        </p:txBody>
      </p:sp>
      <p:sp>
        <p:nvSpPr>
          <p:cNvPr id="11" name="Shape 9"/>
          <p:cNvSpPr/>
          <p:nvPr/>
        </p:nvSpPr>
        <p:spPr>
          <a:xfrm>
            <a:off x="4709160" y="1234440"/>
            <a:ext cx="3886200" cy="960120"/>
          </a:xfrm>
          <a:prstGeom prst="roundRect">
            <a:avLst>
              <a:gd name="adj" fmla="val 7619"/>
            </a:avLst>
          </a:prstGeom>
          <a:solidFill>
            <a:srgbClr val="F8F9FA"/>
          </a:solidFill>
          <a:ln w="12700">
            <a:solidFill>
              <a:srgbClr val="E2E8F0"/>
            </a:solidFill>
            <a:prstDash val="solid"/>
          </a:ln>
        </p:spPr>
      </p:sp>
      <p:sp>
        <p:nvSpPr>
          <p:cNvPr id="12" name="Shape 10"/>
          <p:cNvSpPr/>
          <p:nvPr/>
        </p:nvSpPr>
        <p:spPr>
          <a:xfrm>
            <a:off x="4846320" y="1371600"/>
            <a:ext cx="329184" cy="329184"/>
          </a:xfrm>
          <a:prstGeom prst="ellipse">
            <a:avLst/>
          </a:prstGeom>
          <a:solidFill>
            <a:srgbClr val="800020"/>
          </a:solidFill>
          <a:ln/>
        </p:spPr>
      </p:sp>
      <p:sp>
        <p:nvSpPr>
          <p:cNvPr id="13" name="Text 11"/>
          <p:cNvSpPr/>
          <p:nvPr/>
        </p:nvSpPr>
        <p:spPr>
          <a:xfrm>
            <a:off x="4846320" y="13716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5257800" y="1344168"/>
            <a:ext cx="3200400" cy="228600"/>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Background &amp; Related Work</a:t>
            </a:r>
            <a:endParaRPr lang="en-US" sz="1300" dirty="0"/>
          </a:p>
        </p:txBody>
      </p:sp>
      <p:sp>
        <p:nvSpPr>
          <p:cNvPr id="15" name="Text 13"/>
          <p:cNvSpPr/>
          <p:nvPr/>
        </p:nvSpPr>
        <p:spPr>
          <a:xfrm>
            <a:off x="5257800" y="1581912"/>
            <a:ext cx="3200400" cy="201168"/>
          </a:xfrm>
          <a:prstGeom prst="rect">
            <a:avLst/>
          </a:prstGeom>
          <a:noFill/>
          <a:ln/>
        </p:spPr>
        <p:txBody>
          <a:bodyPr wrap="square" lIns="0" tIns="0" rIns="0" bIns="0" rtlCol="0" anchor="ctr"/>
          <a:lstStyle/>
          <a:p>
            <a:pPr indent="0" marL="0">
              <a:buNone/>
            </a:pPr>
            <a:r>
              <a:rPr lang="en-US" sz="950" b="1" dirty="0">
                <a:solidFill>
                  <a:srgbClr val="800020"/>
                </a:solidFill>
                <a:latin typeface="Calibri" pitchFamily="34" charset="0"/>
                <a:ea typeface="Calibri" pitchFamily="34" charset="-122"/>
                <a:cs typeface="Calibri" pitchFamily="34" charset="-120"/>
              </a:rPr>
              <a:t>LLM Reasoning  →  Self-Correction  →  Previous Findings  →  Research Gap</a:t>
            </a:r>
            <a:endParaRPr lang="en-US" sz="950" dirty="0"/>
          </a:p>
        </p:txBody>
      </p:sp>
      <p:sp>
        <p:nvSpPr>
          <p:cNvPr id="16" name="Text 14"/>
          <p:cNvSpPr/>
          <p:nvPr/>
        </p:nvSpPr>
        <p:spPr>
          <a:xfrm>
            <a:off x="5257800" y="1783080"/>
            <a:ext cx="3200400" cy="347472"/>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Taxonomy of RCI, Reflexion, Self-Refine, and isolating intrinsic vs oracle-guided feedback.</a:t>
            </a:r>
            <a:endParaRPr lang="en-US" sz="950" dirty="0"/>
          </a:p>
        </p:txBody>
      </p:sp>
      <p:sp>
        <p:nvSpPr>
          <p:cNvPr id="17" name="Shape 15"/>
          <p:cNvSpPr/>
          <p:nvPr/>
        </p:nvSpPr>
        <p:spPr>
          <a:xfrm>
            <a:off x="548640" y="2395728"/>
            <a:ext cx="3886200" cy="960120"/>
          </a:xfrm>
          <a:prstGeom prst="roundRect">
            <a:avLst>
              <a:gd name="adj" fmla="val 7619"/>
            </a:avLst>
          </a:prstGeom>
          <a:solidFill>
            <a:srgbClr val="F8F9FA"/>
          </a:solidFill>
          <a:ln w="12700">
            <a:solidFill>
              <a:srgbClr val="E2E8F0"/>
            </a:solidFill>
            <a:prstDash val="solid"/>
          </a:ln>
        </p:spPr>
      </p:sp>
      <p:sp>
        <p:nvSpPr>
          <p:cNvPr id="18" name="Shape 16"/>
          <p:cNvSpPr/>
          <p:nvPr/>
        </p:nvSpPr>
        <p:spPr>
          <a:xfrm>
            <a:off x="685800" y="2532888"/>
            <a:ext cx="329184" cy="329184"/>
          </a:xfrm>
          <a:prstGeom prst="ellipse">
            <a:avLst/>
          </a:prstGeom>
          <a:solidFill>
            <a:srgbClr val="800020"/>
          </a:solidFill>
          <a:ln/>
        </p:spPr>
      </p:sp>
      <p:sp>
        <p:nvSpPr>
          <p:cNvPr id="19" name="Text 17"/>
          <p:cNvSpPr/>
          <p:nvPr/>
        </p:nvSpPr>
        <p:spPr>
          <a:xfrm>
            <a:off x="685800" y="25328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1097280" y="2505456"/>
            <a:ext cx="3200400" cy="228600"/>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Methodology</a:t>
            </a:r>
            <a:endParaRPr lang="en-US" sz="1300" dirty="0"/>
          </a:p>
        </p:txBody>
      </p:sp>
      <p:sp>
        <p:nvSpPr>
          <p:cNvPr id="21" name="Text 19"/>
          <p:cNvSpPr/>
          <p:nvPr/>
        </p:nvSpPr>
        <p:spPr>
          <a:xfrm>
            <a:off x="1097280" y="2743200"/>
            <a:ext cx="3200400" cy="201168"/>
          </a:xfrm>
          <a:prstGeom prst="rect">
            <a:avLst/>
          </a:prstGeom>
          <a:noFill/>
          <a:ln/>
        </p:spPr>
        <p:txBody>
          <a:bodyPr wrap="square" lIns="0" tIns="0" rIns="0" bIns="0" rtlCol="0" anchor="ctr"/>
          <a:lstStyle/>
          <a:p>
            <a:pPr indent="0" marL="0">
              <a:buNone/>
            </a:pPr>
            <a:r>
              <a:rPr lang="en-US" sz="950" b="1" dirty="0">
                <a:solidFill>
                  <a:srgbClr val="800020"/>
                </a:solidFill>
                <a:latin typeface="Calibri" pitchFamily="34" charset="0"/>
                <a:ea typeface="Calibri" pitchFamily="34" charset="-122"/>
                <a:cs typeface="Calibri" pitchFamily="34" charset="-120"/>
              </a:rPr>
              <a:t>Models  →  Tasks  →  Experimental Setup  →  Evaluation</a:t>
            </a:r>
            <a:endParaRPr lang="en-US" sz="950" dirty="0"/>
          </a:p>
        </p:txBody>
      </p:sp>
      <p:sp>
        <p:nvSpPr>
          <p:cNvPr id="22" name="Text 20"/>
          <p:cNvSpPr/>
          <p:nvPr/>
        </p:nvSpPr>
        <p:spPr>
          <a:xfrm>
            <a:off x="1097280" y="2944368"/>
            <a:ext cx="3200400" cy="347472"/>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GSM8K, CSQA, and HotpotQA benchmarks across GPT-3.5, GPT-4, GPT-4-Turbo, and Llama-2-70B.</a:t>
            </a:r>
            <a:endParaRPr lang="en-US" sz="950" dirty="0"/>
          </a:p>
        </p:txBody>
      </p:sp>
      <p:sp>
        <p:nvSpPr>
          <p:cNvPr id="23" name="Shape 21"/>
          <p:cNvSpPr/>
          <p:nvPr/>
        </p:nvSpPr>
        <p:spPr>
          <a:xfrm>
            <a:off x="4709160" y="2395728"/>
            <a:ext cx="3886200" cy="960120"/>
          </a:xfrm>
          <a:prstGeom prst="roundRect">
            <a:avLst>
              <a:gd name="adj" fmla="val 7619"/>
            </a:avLst>
          </a:prstGeom>
          <a:solidFill>
            <a:srgbClr val="F8F9FA"/>
          </a:solidFill>
          <a:ln w="12700">
            <a:solidFill>
              <a:srgbClr val="E2E8F0"/>
            </a:solidFill>
            <a:prstDash val="solid"/>
          </a:ln>
        </p:spPr>
      </p:sp>
      <p:sp>
        <p:nvSpPr>
          <p:cNvPr id="24" name="Shape 22"/>
          <p:cNvSpPr/>
          <p:nvPr/>
        </p:nvSpPr>
        <p:spPr>
          <a:xfrm>
            <a:off x="4846320" y="2532888"/>
            <a:ext cx="329184" cy="329184"/>
          </a:xfrm>
          <a:prstGeom prst="ellipse">
            <a:avLst/>
          </a:prstGeom>
          <a:solidFill>
            <a:srgbClr val="800020"/>
          </a:solidFill>
          <a:ln/>
        </p:spPr>
      </p:sp>
      <p:sp>
        <p:nvSpPr>
          <p:cNvPr id="25" name="Text 23"/>
          <p:cNvSpPr/>
          <p:nvPr/>
        </p:nvSpPr>
        <p:spPr>
          <a:xfrm>
            <a:off x="4846320" y="25328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5257800" y="2505456"/>
            <a:ext cx="3200400" cy="228600"/>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Results</a:t>
            </a:r>
            <a:endParaRPr lang="en-US" sz="1300" dirty="0"/>
          </a:p>
        </p:txBody>
      </p:sp>
      <p:sp>
        <p:nvSpPr>
          <p:cNvPr id="27" name="Text 25"/>
          <p:cNvSpPr/>
          <p:nvPr/>
        </p:nvSpPr>
        <p:spPr>
          <a:xfrm>
            <a:off x="5257800" y="2743200"/>
            <a:ext cx="3200400" cy="201168"/>
          </a:xfrm>
          <a:prstGeom prst="rect">
            <a:avLst/>
          </a:prstGeom>
          <a:noFill/>
          <a:ln/>
        </p:spPr>
        <p:txBody>
          <a:bodyPr wrap="square" lIns="0" tIns="0" rIns="0" bIns="0" rtlCol="0" anchor="ctr"/>
          <a:lstStyle/>
          <a:p>
            <a:pPr indent="0" marL="0">
              <a:buNone/>
            </a:pPr>
            <a:r>
              <a:rPr lang="en-US" sz="950" b="1" dirty="0">
                <a:solidFill>
                  <a:srgbClr val="800020"/>
                </a:solidFill>
                <a:latin typeface="Calibri" pitchFamily="34" charset="0"/>
                <a:ea typeface="Calibri" pitchFamily="34" charset="-122"/>
                <a:cs typeface="Calibri" pitchFamily="34" charset="-120"/>
              </a:rPr>
              <a:t>Main Finding: Intrinsic Self-Correction Fails</a:t>
            </a:r>
            <a:endParaRPr lang="en-US" sz="950" dirty="0"/>
          </a:p>
        </p:txBody>
      </p:sp>
      <p:sp>
        <p:nvSpPr>
          <p:cNvPr id="28" name="Text 26"/>
          <p:cNvSpPr/>
          <p:nvPr/>
        </p:nvSpPr>
        <p:spPr>
          <a:xfrm>
            <a:off x="5257800" y="2944368"/>
            <a:ext cx="3200400" cy="347472"/>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Empirical proof: Accuracy consistently declines across all reasoning tasks without oracle feedback.</a:t>
            </a:r>
            <a:endParaRPr lang="en-US" sz="950" dirty="0"/>
          </a:p>
        </p:txBody>
      </p:sp>
      <p:sp>
        <p:nvSpPr>
          <p:cNvPr id="29" name="Shape 27"/>
          <p:cNvSpPr/>
          <p:nvPr/>
        </p:nvSpPr>
        <p:spPr>
          <a:xfrm>
            <a:off x="548640" y="3557016"/>
            <a:ext cx="3886200" cy="960120"/>
          </a:xfrm>
          <a:prstGeom prst="roundRect">
            <a:avLst>
              <a:gd name="adj" fmla="val 7619"/>
            </a:avLst>
          </a:prstGeom>
          <a:solidFill>
            <a:srgbClr val="F8F9FA"/>
          </a:solidFill>
          <a:ln w="12700">
            <a:solidFill>
              <a:srgbClr val="E2E8F0"/>
            </a:solidFill>
            <a:prstDash val="solid"/>
          </a:ln>
        </p:spPr>
      </p:sp>
      <p:sp>
        <p:nvSpPr>
          <p:cNvPr id="30" name="Shape 28"/>
          <p:cNvSpPr/>
          <p:nvPr/>
        </p:nvSpPr>
        <p:spPr>
          <a:xfrm>
            <a:off x="685800" y="3694176"/>
            <a:ext cx="329184" cy="329184"/>
          </a:xfrm>
          <a:prstGeom prst="ellipse">
            <a:avLst/>
          </a:prstGeom>
          <a:solidFill>
            <a:srgbClr val="800020"/>
          </a:solidFill>
          <a:ln/>
        </p:spPr>
      </p:sp>
      <p:sp>
        <p:nvSpPr>
          <p:cNvPr id="31" name="Text 29"/>
          <p:cNvSpPr/>
          <p:nvPr/>
        </p:nvSpPr>
        <p:spPr>
          <a:xfrm>
            <a:off x="685800" y="369417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2" name="Text 30"/>
          <p:cNvSpPr/>
          <p:nvPr/>
        </p:nvSpPr>
        <p:spPr>
          <a:xfrm>
            <a:off x="1097280" y="3666744"/>
            <a:ext cx="3200400" cy="228600"/>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Analysis</a:t>
            </a:r>
            <a:endParaRPr lang="en-US" sz="1300" dirty="0"/>
          </a:p>
        </p:txBody>
      </p:sp>
      <p:sp>
        <p:nvSpPr>
          <p:cNvPr id="33" name="Text 31"/>
          <p:cNvSpPr/>
          <p:nvPr/>
        </p:nvSpPr>
        <p:spPr>
          <a:xfrm>
            <a:off x="1097280" y="3904488"/>
            <a:ext cx="3200400" cy="201168"/>
          </a:xfrm>
          <a:prstGeom prst="rect">
            <a:avLst/>
          </a:prstGeom>
          <a:noFill/>
          <a:ln/>
        </p:spPr>
        <p:txBody>
          <a:bodyPr wrap="square" lIns="0" tIns="0" rIns="0" bIns="0" rtlCol="0" anchor="ctr"/>
          <a:lstStyle/>
          <a:p>
            <a:pPr indent="0" marL="0">
              <a:buNone/>
            </a:pPr>
            <a:r>
              <a:rPr lang="en-US" sz="950" b="1" dirty="0">
                <a:solidFill>
                  <a:srgbClr val="800020"/>
                </a:solidFill>
                <a:latin typeface="Calibri" pitchFamily="34" charset="0"/>
                <a:ea typeface="Calibri" pitchFamily="34" charset="-122"/>
                <a:cs typeface="Calibri" pitchFamily="34" charset="-120"/>
              </a:rPr>
              <a:t>Why Does Self-Correction Fail?  →  Error Persistence  →  Possible Causes</a:t>
            </a:r>
            <a:endParaRPr lang="en-US" sz="950" dirty="0"/>
          </a:p>
        </p:txBody>
      </p:sp>
      <p:sp>
        <p:nvSpPr>
          <p:cNvPr id="34" name="Text 32"/>
          <p:cNvSpPr/>
          <p:nvPr/>
        </p:nvSpPr>
        <p:spPr>
          <a:xfrm>
            <a:off x="1097280" y="4105656"/>
            <a:ext cx="3200400" cy="347472"/>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Multi-Agent Debate compute parity, the prompt design trap, and why verification limits generation.</a:t>
            </a:r>
            <a:endParaRPr lang="en-US" sz="950" dirty="0"/>
          </a:p>
        </p:txBody>
      </p:sp>
      <p:sp>
        <p:nvSpPr>
          <p:cNvPr id="35" name="Shape 33"/>
          <p:cNvSpPr/>
          <p:nvPr/>
        </p:nvSpPr>
        <p:spPr>
          <a:xfrm>
            <a:off x="4709160" y="3557016"/>
            <a:ext cx="3886200" cy="960120"/>
          </a:xfrm>
          <a:prstGeom prst="roundRect">
            <a:avLst>
              <a:gd name="adj" fmla="val 7619"/>
            </a:avLst>
          </a:prstGeom>
          <a:solidFill>
            <a:srgbClr val="F8F9FA"/>
          </a:solidFill>
          <a:ln w="12700">
            <a:solidFill>
              <a:srgbClr val="E2E8F0"/>
            </a:solidFill>
            <a:prstDash val="solid"/>
          </a:ln>
        </p:spPr>
      </p:sp>
      <p:sp>
        <p:nvSpPr>
          <p:cNvPr id="36" name="Shape 34"/>
          <p:cNvSpPr/>
          <p:nvPr/>
        </p:nvSpPr>
        <p:spPr>
          <a:xfrm>
            <a:off x="4846320" y="3694176"/>
            <a:ext cx="329184" cy="329184"/>
          </a:xfrm>
          <a:prstGeom prst="ellipse">
            <a:avLst/>
          </a:prstGeom>
          <a:solidFill>
            <a:srgbClr val="800020"/>
          </a:solidFill>
          <a:ln/>
        </p:spPr>
      </p:sp>
      <p:sp>
        <p:nvSpPr>
          <p:cNvPr id="37" name="Text 35"/>
          <p:cNvSpPr/>
          <p:nvPr/>
        </p:nvSpPr>
        <p:spPr>
          <a:xfrm>
            <a:off x="4846320" y="369417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8" name="Text 36"/>
          <p:cNvSpPr/>
          <p:nvPr/>
        </p:nvSpPr>
        <p:spPr>
          <a:xfrm>
            <a:off x="5257800" y="3666744"/>
            <a:ext cx="3200400" cy="228600"/>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Conclusion &amp; Future Work</a:t>
            </a:r>
            <a:endParaRPr lang="en-US" sz="1300" dirty="0"/>
          </a:p>
        </p:txBody>
      </p:sp>
      <p:sp>
        <p:nvSpPr>
          <p:cNvPr id="39" name="Text 37"/>
          <p:cNvSpPr/>
          <p:nvPr/>
        </p:nvSpPr>
        <p:spPr>
          <a:xfrm>
            <a:off x="5257800" y="3904488"/>
            <a:ext cx="3200400" cy="201168"/>
          </a:xfrm>
          <a:prstGeom prst="rect">
            <a:avLst/>
          </a:prstGeom>
          <a:noFill/>
          <a:ln/>
        </p:spPr>
        <p:txBody>
          <a:bodyPr wrap="square" lIns="0" tIns="0" rIns="0" bIns="0" rtlCol="0" anchor="ctr"/>
          <a:lstStyle/>
          <a:p>
            <a:pPr indent="0" marL="0">
              <a:buNone/>
            </a:pPr>
            <a:r>
              <a:rPr lang="en-US" sz="950" b="1" dirty="0">
                <a:solidFill>
                  <a:srgbClr val="800020"/>
                </a:solidFill>
                <a:latin typeface="Calibri" pitchFamily="34" charset="0"/>
                <a:ea typeface="Calibri" pitchFamily="34" charset="-122"/>
                <a:cs typeface="Calibri" pitchFamily="34" charset="-120"/>
              </a:rPr>
              <a:t>Key Takeaways  →  Limitations  →  Future Directions</a:t>
            </a:r>
            <a:endParaRPr lang="en-US" sz="950" dirty="0"/>
          </a:p>
        </p:txBody>
      </p:sp>
      <p:sp>
        <p:nvSpPr>
          <p:cNvPr id="40" name="Text 38"/>
          <p:cNvSpPr/>
          <p:nvPr/>
        </p:nvSpPr>
        <p:spPr>
          <a:xfrm>
            <a:off x="5257800" y="4105656"/>
            <a:ext cx="3200400" cy="347472"/>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Summary of claims, boundaries of study, external tool integration, and fair benchmarking standards.</a:t>
            </a:r>
            <a:endParaRPr lang="en-US" sz="950" dirty="0"/>
          </a:p>
        </p:txBody>
      </p:sp>
      <p:sp>
        <p:nvSpPr>
          <p:cNvPr id="42" name="Text 39"/>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43" name="Text 40"/>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02/24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1. INTRODUCTION</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Large Language Models &amp; Reasoning</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Motivation: High utility of autoregressive LLMs paired with multi-step reasoning vulnerabilities</a:t>
            </a:r>
            <a:endParaRPr lang="en-US" sz="1100" dirty="0"/>
          </a:p>
        </p:txBody>
      </p:sp>
      <p:sp>
        <p:nvSpPr>
          <p:cNvPr id="5" name="Shape 3"/>
          <p:cNvSpPr/>
          <p:nvPr/>
        </p:nvSpPr>
        <p:spPr>
          <a:xfrm>
            <a:off x="548640" y="1234440"/>
            <a:ext cx="3566160" cy="3200400"/>
          </a:xfrm>
          <a:prstGeom prst="roundRect">
            <a:avLst>
              <a:gd name="adj" fmla="val 2857"/>
            </a:avLst>
          </a:prstGeom>
          <a:solidFill>
            <a:srgbClr val="F8F9FA"/>
          </a:solidFill>
          <a:ln w="12700">
            <a:solidFill>
              <a:srgbClr val="E2E8F0"/>
            </a:solidFill>
            <a:prstDash val="solid"/>
          </a:ln>
        </p:spPr>
      </p:sp>
      <p:sp>
        <p:nvSpPr>
          <p:cNvPr id="6" name="Text 4"/>
          <p:cNvSpPr/>
          <p:nvPr/>
        </p:nvSpPr>
        <p:spPr>
          <a:xfrm>
            <a:off x="731520" y="1371600"/>
            <a:ext cx="3200400" cy="2926080"/>
          </a:xfrm>
          <a:prstGeom prst="rect">
            <a:avLst/>
          </a:prstGeom>
          <a:noFill/>
          <a:ln/>
        </p:spPr>
        <p:txBody>
          <a:bodyPr wrap="square" lIns="0" tIns="0" rIns="0" bIns="0" rtlCol="0" anchor="t"/>
          <a:lstStyle/>
          <a:p>
            <a:pPr indent="0" marL="0">
              <a:spcAft>
                <a:spcPts val="600"/>
              </a:spcAft>
              <a:buNone/>
            </a:pPr>
            <a:r>
              <a:rPr lang="en-US" sz="1300" b="1" dirty="0">
                <a:solidFill>
                  <a:srgbClr val="800020"/>
                </a:solidFill>
                <a:latin typeface="Century Schoolbook" pitchFamily="34" charset="0"/>
                <a:ea typeface="Century Schoolbook" pitchFamily="34" charset="-122"/>
                <a:cs typeface="Century Schoolbook" pitchFamily="34" charset="-120"/>
              </a:rPr>
              <a:t>What are Large Language Models?</a:t>
            </a:r>
            <a:endParaRPr lang="en-US" sz="1300" dirty="0"/>
          </a:p>
          <a:p>
            <a:pPr indent="0" marL="0">
              <a:spcAft>
                <a:spcPts val="1000"/>
              </a:spcAft>
              <a:buNone/>
            </a:pPr>
            <a:r>
              <a:rPr lang="en-US" sz="1100" dirty="0">
                <a:solidFill>
                  <a:srgbClr val="1E293B"/>
                </a:solidFill>
                <a:latin typeface="Calibri" pitchFamily="34" charset="0"/>
                <a:ea typeface="Calibri" pitchFamily="34" charset="-122"/>
                <a:cs typeface="Calibri" pitchFamily="34" charset="-120"/>
              </a:rPr>
              <a:t>Neural networks trained on massive internet corpora using autoregressive next-token prediction.</a:t>
            </a:r>
            <a:endParaRPr lang="en-US" sz="1300" dirty="0"/>
          </a:p>
          <a:p>
            <a:pPr indent="0" marL="0">
              <a:spcAft>
                <a:spcPts val="600"/>
              </a:spcAft>
              <a:buNone/>
            </a:pPr>
            <a:r>
              <a:rPr lang="en-US" sz="1300" b="1" dirty="0">
                <a:solidFill>
                  <a:srgbClr val="800020"/>
                </a:solidFill>
                <a:latin typeface="Century Schoolbook" pitchFamily="34" charset="0"/>
                <a:ea typeface="Century Schoolbook" pitchFamily="34" charset="-122"/>
                <a:cs typeface="Century Schoolbook" pitchFamily="34" charset="-120"/>
              </a:rPr>
              <a:t>Chain-of-Thought (CoT) Prompting</a:t>
            </a:r>
            <a:endParaRPr lang="en-US" sz="1300" dirty="0"/>
          </a:p>
          <a:p>
            <a:pPr indent="0" marL="0">
              <a:spcAft>
                <a:spcPts val="1000"/>
              </a:spcAft>
              <a:buNone/>
            </a:pPr>
            <a:r>
              <a:rPr lang="en-US" sz="1100" dirty="0">
                <a:solidFill>
                  <a:srgbClr val="1E293B"/>
                </a:solidFill>
                <a:latin typeface="Calibri" pitchFamily="34" charset="0"/>
                <a:ea typeface="Calibri" pitchFamily="34" charset="-122"/>
                <a:cs typeface="Calibri" pitchFamily="34" charset="-120"/>
              </a:rPr>
              <a:t>Prompting LLMs to output intermediate reasoning steps enables them to solve complex math and logic benchmarks (e.g. GSM8K, CSQA).</a:t>
            </a:r>
            <a:endParaRPr lang="en-US" sz="1300" dirty="0"/>
          </a:p>
          <a:p>
            <a:pPr indent="0" marL="0">
              <a:spcAft>
                <a:spcPts val="600"/>
              </a:spcAft>
              <a:buNone/>
            </a:pPr>
            <a:r>
              <a:rPr lang="en-US" sz="1300" b="1" dirty="0">
                <a:solidFill>
                  <a:srgbClr val="800020"/>
                </a:solidFill>
                <a:latin typeface="Century Schoolbook" pitchFamily="34" charset="0"/>
                <a:ea typeface="Century Schoolbook" pitchFamily="34" charset="-122"/>
                <a:cs typeface="Century Schoolbook" pitchFamily="34" charset="-120"/>
              </a:rPr>
              <a:t>The Compounding Error Vulnerability</a:t>
            </a:r>
            <a:endParaRPr lang="en-US" sz="1300" dirty="0"/>
          </a:p>
          <a:p>
            <a:pPr indent="0" marL="0">
              <a:buNone/>
            </a:pPr>
            <a:r>
              <a:rPr lang="en-US" sz="1100" dirty="0">
                <a:solidFill>
                  <a:srgbClr val="1E293B"/>
                </a:solidFill>
                <a:latin typeface="Calibri" pitchFamily="34" charset="0"/>
                <a:ea typeface="Calibri" pitchFamily="34" charset="-122"/>
                <a:cs typeface="Calibri" pitchFamily="34" charset="-120"/>
              </a:rPr>
              <a:t>Because tokens are generated sequentially, a single erroneous step in the reasoning chain irreversibly corrupts the final answer.</a:t>
            </a:r>
            <a:endParaRPr lang="en-US" sz="1300" dirty="0"/>
          </a:p>
        </p:txBody>
      </p:sp>
      <p:pic>
        <p:nvPicPr>
          <p:cNvPr id="7" name="Image 0" descr="/Users/nafiskabbo/development/presentation/output/assets/fig_autoregressive_cot.png">    </p:cNvPr>
          <p:cNvPicPr>
            <a:picLocks noChangeAspect="1"/>
          </p:cNvPicPr>
          <p:nvPr/>
        </p:nvPicPr>
        <p:blipFill>
          <a:blip r:embed="rId1"/>
          <a:stretch>
            <a:fillRect/>
          </a:stretch>
        </p:blipFill>
        <p:spPr>
          <a:xfrm>
            <a:off x="4297680" y="1234440"/>
            <a:ext cx="4297680" cy="3200400"/>
          </a:xfrm>
          <a:prstGeom prst="rect">
            <a:avLst/>
          </a:prstGeom>
        </p:spPr>
      </p:pic>
      <p:sp>
        <p:nvSpPr>
          <p:cNvPr id="9" name="Text 5"/>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0" name="Text 6"/>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03/24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1. INTRODUCTION</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The Concept of Self-Correction</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Research Problem: Can LLMs autonomously detect and repair reasoning flaws in post-processing?</a:t>
            </a:r>
            <a:endParaRPr lang="en-US" sz="1100" dirty="0"/>
          </a:p>
        </p:txBody>
      </p:sp>
      <p:sp>
        <p:nvSpPr>
          <p:cNvPr id="5" name="Shape 3"/>
          <p:cNvSpPr/>
          <p:nvPr/>
        </p:nvSpPr>
        <p:spPr>
          <a:xfrm>
            <a:off x="548640" y="1234440"/>
            <a:ext cx="2560320" cy="3200400"/>
          </a:xfrm>
          <a:prstGeom prst="roundRect">
            <a:avLst>
              <a:gd name="adj" fmla="val 3571"/>
            </a:avLst>
          </a:prstGeom>
          <a:solidFill>
            <a:srgbClr val="F8F9FA"/>
          </a:solidFill>
          <a:ln w="12700">
            <a:solidFill>
              <a:srgbClr val="E2E8F0"/>
            </a:solidFill>
            <a:prstDash val="solid"/>
          </a:ln>
        </p:spPr>
      </p:sp>
      <p:sp>
        <p:nvSpPr>
          <p:cNvPr id="6" name="Shape 4"/>
          <p:cNvSpPr/>
          <p:nvPr/>
        </p:nvSpPr>
        <p:spPr>
          <a:xfrm>
            <a:off x="731520" y="1417320"/>
            <a:ext cx="320040" cy="320040"/>
          </a:xfrm>
          <a:prstGeom prst="ellipse">
            <a:avLst/>
          </a:prstGeom>
          <a:solidFill>
            <a:srgbClr val="800020"/>
          </a:solidFill>
          <a:ln/>
        </p:spPr>
      </p:sp>
      <p:sp>
        <p:nvSpPr>
          <p:cNvPr id="7" name="Text 5"/>
          <p:cNvSpPr/>
          <p:nvPr/>
        </p:nvSpPr>
        <p:spPr>
          <a:xfrm>
            <a:off x="731520" y="14173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8" name="Text 6"/>
          <p:cNvSpPr/>
          <p:nvPr/>
        </p:nvSpPr>
        <p:spPr>
          <a:xfrm>
            <a:off x="731520" y="1874520"/>
            <a:ext cx="2194560" cy="457200"/>
          </a:xfrm>
          <a:prstGeom prst="rect">
            <a:avLst/>
          </a:prstGeom>
          <a:noFill/>
          <a:ln/>
        </p:spPr>
        <p:txBody>
          <a:bodyPr wrap="square" lIns="0" tIns="0" rIns="0" bIns="0" rtlCol="0" anchor="ctr"/>
          <a:lstStyle/>
          <a:p>
            <a:pPr indent="0" marL="0">
              <a:buNone/>
            </a:pPr>
            <a:r>
              <a:rPr lang="en-US" sz="1400" b="1" dirty="0">
                <a:solidFill>
                  <a:srgbClr val="0F172A"/>
                </a:solidFill>
                <a:latin typeface="Century Schoolbook" pitchFamily="34" charset="0"/>
                <a:ea typeface="Century Schoolbook" pitchFamily="34" charset="-122"/>
                <a:cs typeface="Century Schoolbook" pitchFamily="34" charset="-120"/>
              </a:rPr>
              <a:t>The Self-Correction Hypothesis</a:t>
            </a:r>
            <a:endParaRPr lang="en-US" sz="1400" dirty="0"/>
          </a:p>
        </p:txBody>
      </p:sp>
      <p:sp>
        <p:nvSpPr>
          <p:cNvPr id="9" name="Shape 7"/>
          <p:cNvSpPr/>
          <p:nvPr/>
        </p:nvSpPr>
        <p:spPr>
          <a:xfrm>
            <a:off x="731520" y="2377440"/>
            <a:ext cx="2194560" cy="228600"/>
          </a:xfrm>
          <a:prstGeom prst="roundRect">
            <a:avLst>
              <a:gd name="adj" fmla="val 20000"/>
            </a:avLst>
          </a:prstGeom>
          <a:solidFill>
            <a:srgbClr val="FFFFFF"/>
          </a:solidFill>
          <a:ln w="6350">
            <a:solidFill>
              <a:srgbClr val="E2E8F0"/>
            </a:solidFill>
            <a:prstDash val="solid"/>
          </a:ln>
        </p:spPr>
      </p:sp>
      <p:sp>
        <p:nvSpPr>
          <p:cNvPr id="10" name="Text 8"/>
          <p:cNvSpPr/>
          <p:nvPr/>
        </p:nvSpPr>
        <p:spPr>
          <a:xfrm>
            <a:off x="731520" y="2377440"/>
            <a:ext cx="2194560" cy="228600"/>
          </a:xfrm>
          <a:prstGeom prst="rect">
            <a:avLst/>
          </a:prstGeom>
          <a:noFill/>
          <a:ln/>
        </p:spPr>
        <p:txBody>
          <a:bodyPr wrap="square" lIns="0" tIns="0" rIns="0" bIns="0" rtlCol="0" anchor="ctr"/>
          <a:lstStyle/>
          <a:p>
            <a:pPr algn="ctr" indent="0" marL="0">
              <a:buNone/>
            </a:pPr>
            <a:r>
              <a:rPr lang="en-US" sz="900" b="1" dirty="0">
                <a:solidFill>
                  <a:srgbClr val="800020"/>
                </a:solidFill>
                <a:latin typeface="Calibri" pitchFamily="34" charset="0"/>
                <a:ea typeface="Calibri" pitchFamily="34" charset="-122"/>
                <a:cs typeface="Calibri" pitchFamily="34" charset="-120"/>
              </a:rPr>
              <a:t>Theoretical Promise</a:t>
            </a:r>
            <a:endParaRPr lang="en-US" sz="900" dirty="0"/>
          </a:p>
        </p:txBody>
      </p:sp>
      <p:sp>
        <p:nvSpPr>
          <p:cNvPr id="11" name="Text 9"/>
          <p:cNvSpPr/>
          <p:nvPr/>
        </p:nvSpPr>
        <p:spPr>
          <a:xfrm>
            <a:off x="731520" y="2743200"/>
            <a:ext cx="2194560" cy="150876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The expectation that an LLM, given its initial draft, can adopt a 'critic' mindset, identify errors in its own logic chain, and iteratively revise its output toward ground truth.</a:t>
            </a:r>
            <a:endParaRPr lang="en-US" sz="1050" dirty="0"/>
          </a:p>
        </p:txBody>
      </p:sp>
      <p:sp>
        <p:nvSpPr>
          <p:cNvPr id="12" name="Shape 10"/>
          <p:cNvSpPr/>
          <p:nvPr/>
        </p:nvSpPr>
        <p:spPr>
          <a:xfrm>
            <a:off x="3337560" y="1234440"/>
            <a:ext cx="2560320" cy="3200400"/>
          </a:xfrm>
          <a:prstGeom prst="roundRect">
            <a:avLst>
              <a:gd name="adj" fmla="val 3571"/>
            </a:avLst>
          </a:prstGeom>
          <a:solidFill>
            <a:srgbClr val="FFFBEB"/>
          </a:solidFill>
          <a:ln w="12700">
            <a:solidFill>
              <a:srgbClr val="D97706"/>
            </a:solidFill>
            <a:prstDash val="solid"/>
          </a:ln>
        </p:spPr>
      </p:sp>
      <p:sp>
        <p:nvSpPr>
          <p:cNvPr id="13" name="Shape 11"/>
          <p:cNvSpPr/>
          <p:nvPr/>
        </p:nvSpPr>
        <p:spPr>
          <a:xfrm>
            <a:off x="3520440" y="1417320"/>
            <a:ext cx="320040" cy="320040"/>
          </a:xfrm>
          <a:prstGeom prst="ellipse">
            <a:avLst/>
          </a:prstGeom>
          <a:solidFill>
            <a:srgbClr val="800020"/>
          </a:solidFill>
          <a:ln/>
        </p:spPr>
      </p:sp>
      <p:sp>
        <p:nvSpPr>
          <p:cNvPr id="14" name="Text 12"/>
          <p:cNvSpPr/>
          <p:nvPr/>
        </p:nvSpPr>
        <p:spPr>
          <a:xfrm>
            <a:off x="3520440" y="14173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5" name="Text 13"/>
          <p:cNvSpPr/>
          <p:nvPr/>
        </p:nvSpPr>
        <p:spPr>
          <a:xfrm>
            <a:off x="3520440" y="1874520"/>
            <a:ext cx="2194560" cy="457200"/>
          </a:xfrm>
          <a:prstGeom prst="rect">
            <a:avLst/>
          </a:prstGeom>
          <a:noFill/>
          <a:ln/>
        </p:spPr>
        <p:txBody>
          <a:bodyPr wrap="square" lIns="0" tIns="0" rIns="0" bIns="0" rtlCol="0" anchor="ctr"/>
          <a:lstStyle/>
          <a:p>
            <a:pPr indent="0" marL="0">
              <a:buNone/>
            </a:pPr>
            <a:r>
              <a:rPr lang="en-US" sz="1400" b="1" dirty="0">
                <a:solidFill>
                  <a:srgbClr val="0F172A"/>
                </a:solidFill>
                <a:latin typeface="Century Schoolbook" pitchFamily="34" charset="0"/>
                <a:ea typeface="Century Schoolbook" pitchFamily="34" charset="-122"/>
                <a:cs typeface="Century Schoolbook" pitchFamily="34" charset="-120"/>
              </a:rPr>
              <a:t>Post-Processing Refinement Loop</a:t>
            </a:r>
            <a:endParaRPr lang="en-US" sz="1400" dirty="0"/>
          </a:p>
        </p:txBody>
      </p:sp>
      <p:sp>
        <p:nvSpPr>
          <p:cNvPr id="16" name="Shape 14"/>
          <p:cNvSpPr/>
          <p:nvPr/>
        </p:nvSpPr>
        <p:spPr>
          <a:xfrm>
            <a:off x="3520440" y="2377440"/>
            <a:ext cx="2194560" cy="228600"/>
          </a:xfrm>
          <a:prstGeom prst="roundRect">
            <a:avLst>
              <a:gd name="adj" fmla="val 20000"/>
            </a:avLst>
          </a:prstGeom>
          <a:solidFill>
            <a:srgbClr val="FFFFFF"/>
          </a:solidFill>
          <a:ln w="6350">
            <a:solidFill>
              <a:srgbClr val="E2E8F0"/>
            </a:solidFill>
            <a:prstDash val="solid"/>
          </a:ln>
        </p:spPr>
      </p:sp>
      <p:sp>
        <p:nvSpPr>
          <p:cNvPr id="17" name="Text 15"/>
          <p:cNvSpPr/>
          <p:nvPr/>
        </p:nvSpPr>
        <p:spPr>
          <a:xfrm>
            <a:off x="3520440" y="2377440"/>
            <a:ext cx="2194560" cy="228600"/>
          </a:xfrm>
          <a:prstGeom prst="rect">
            <a:avLst/>
          </a:prstGeom>
          <a:noFill/>
          <a:ln/>
        </p:spPr>
        <p:txBody>
          <a:bodyPr wrap="square" lIns="0" tIns="0" rIns="0" bIns="0" rtlCol="0" anchor="ctr"/>
          <a:lstStyle/>
          <a:p>
            <a:pPr algn="ctr" indent="0" marL="0">
              <a:buNone/>
            </a:pPr>
            <a:r>
              <a:rPr lang="en-US" sz="900" b="1" dirty="0">
                <a:solidFill>
                  <a:srgbClr val="800020"/>
                </a:solidFill>
                <a:latin typeface="Calibri" pitchFamily="34" charset="0"/>
                <a:ea typeface="Calibri" pitchFamily="34" charset="-122"/>
                <a:cs typeface="Calibri" pitchFamily="34" charset="-120"/>
              </a:rPr>
              <a:t>Standard Workflow</a:t>
            </a:r>
            <a:endParaRPr lang="en-US" sz="900" dirty="0"/>
          </a:p>
        </p:txBody>
      </p:sp>
      <p:sp>
        <p:nvSpPr>
          <p:cNvPr id="18" name="Text 16"/>
          <p:cNvSpPr/>
          <p:nvPr/>
        </p:nvSpPr>
        <p:spPr>
          <a:xfrm>
            <a:off x="3520440" y="2743200"/>
            <a:ext cx="2194560" cy="150876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1. Prompt → Initial Answer</a:t>
            </a: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2. Feedback Prompt: 'Review your answer, find mistakes, and rewrite'</a:t>
            </a: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3. Revised Answer → Final Output</a:t>
            </a:r>
            <a:endParaRPr lang="en-US" sz="1050" dirty="0"/>
          </a:p>
        </p:txBody>
      </p:sp>
      <p:sp>
        <p:nvSpPr>
          <p:cNvPr id="19" name="Shape 17"/>
          <p:cNvSpPr/>
          <p:nvPr/>
        </p:nvSpPr>
        <p:spPr>
          <a:xfrm>
            <a:off x="6126480" y="1234440"/>
            <a:ext cx="2560320" cy="3200400"/>
          </a:xfrm>
          <a:prstGeom prst="roundRect">
            <a:avLst>
              <a:gd name="adj" fmla="val 3571"/>
            </a:avLst>
          </a:prstGeom>
          <a:solidFill>
            <a:srgbClr val="F8F9FA"/>
          </a:solidFill>
          <a:ln w="12700">
            <a:solidFill>
              <a:srgbClr val="E2E8F0"/>
            </a:solidFill>
            <a:prstDash val="solid"/>
          </a:ln>
        </p:spPr>
      </p:sp>
      <p:sp>
        <p:nvSpPr>
          <p:cNvPr id="20" name="Shape 18"/>
          <p:cNvSpPr/>
          <p:nvPr/>
        </p:nvSpPr>
        <p:spPr>
          <a:xfrm>
            <a:off x="6309360" y="1417320"/>
            <a:ext cx="320040" cy="320040"/>
          </a:xfrm>
          <a:prstGeom prst="ellipse">
            <a:avLst/>
          </a:prstGeom>
          <a:solidFill>
            <a:srgbClr val="800020"/>
          </a:solidFill>
          <a:ln/>
        </p:spPr>
      </p:sp>
      <p:sp>
        <p:nvSpPr>
          <p:cNvPr id="21" name="Text 19"/>
          <p:cNvSpPr/>
          <p:nvPr/>
        </p:nvSpPr>
        <p:spPr>
          <a:xfrm>
            <a:off x="6309360" y="14173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2" name="Text 20"/>
          <p:cNvSpPr/>
          <p:nvPr/>
        </p:nvSpPr>
        <p:spPr>
          <a:xfrm>
            <a:off x="6309360" y="1874520"/>
            <a:ext cx="2194560" cy="457200"/>
          </a:xfrm>
          <a:prstGeom prst="rect">
            <a:avLst/>
          </a:prstGeom>
          <a:noFill/>
          <a:ln/>
        </p:spPr>
        <p:txBody>
          <a:bodyPr wrap="square" lIns="0" tIns="0" rIns="0" bIns="0" rtlCol="0" anchor="ctr"/>
          <a:lstStyle/>
          <a:p>
            <a:pPr indent="0" marL="0">
              <a:buNone/>
            </a:pPr>
            <a:r>
              <a:rPr lang="en-US" sz="1400" b="1" dirty="0">
                <a:solidFill>
                  <a:srgbClr val="0F172A"/>
                </a:solidFill>
                <a:latin typeface="Century Schoolbook" pitchFamily="34" charset="0"/>
                <a:ea typeface="Century Schoolbook" pitchFamily="34" charset="-122"/>
                <a:cs typeface="Century Schoolbook" pitchFamily="34" charset="-120"/>
              </a:rPr>
              <a:t>The High Stakes of Autonomous Correction</a:t>
            </a:r>
            <a:endParaRPr lang="en-US" sz="1400" dirty="0"/>
          </a:p>
        </p:txBody>
      </p:sp>
      <p:sp>
        <p:nvSpPr>
          <p:cNvPr id="23" name="Shape 21"/>
          <p:cNvSpPr/>
          <p:nvPr/>
        </p:nvSpPr>
        <p:spPr>
          <a:xfrm>
            <a:off x="6309360" y="2377440"/>
            <a:ext cx="2194560" cy="228600"/>
          </a:xfrm>
          <a:prstGeom prst="roundRect">
            <a:avLst>
              <a:gd name="adj" fmla="val 20000"/>
            </a:avLst>
          </a:prstGeom>
          <a:solidFill>
            <a:srgbClr val="FFFFFF"/>
          </a:solidFill>
          <a:ln w="6350">
            <a:solidFill>
              <a:srgbClr val="E2E8F0"/>
            </a:solidFill>
            <a:prstDash val="solid"/>
          </a:ln>
        </p:spPr>
      </p:sp>
      <p:sp>
        <p:nvSpPr>
          <p:cNvPr id="24" name="Text 22"/>
          <p:cNvSpPr/>
          <p:nvPr/>
        </p:nvSpPr>
        <p:spPr>
          <a:xfrm>
            <a:off x="6309360" y="2377440"/>
            <a:ext cx="2194560" cy="228600"/>
          </a:xfrm>
          <a:prstGeom prst="rect">
            <a:avLst/>
          </a:prstGeom>
          <a:noFill/>
          <a:ln/>
        </p:spPr>
        <p:txBody>
          <a:bodyPr wrap="square" lIns="0" tIns="0" rIns="0" bIns="0" rtlCol="0" anchor="ctr"/>
          <a:lstStyle/>
          <a:p>
            <a:pPr algn="ctr" indent="0" marL="0">
              <a:buNone/>
            </a:pPr>
            <a:r>
              <a:rPr lang="en-US" sz="900" b="1" dirty="0">
                <a:solidFill>
                  <a:srgbClr val="800020"/>
                </a:solidFill>
                <a:latin typeface="Calibri" pitchFamily="34" charset="0"/>
                <a:ea typeface="Calibri" pitchFamily="34" charset="-122"/>
                <a:cs typeface="Calibri" pitchFamily="34" charset="-120"/>
              </a:rPr>
              <a:t>Industry Impact</a:t>
            </a:r>
            <a:endParaRPr lang="en-US" sz="900" dirty="0"/>
          </a:p>
        </p:txBody>
      </p:sp>
      <p:sp>
        <p:nvSpPr>
          <p:cNvPr id="25" name="Text 23"/>
          <p:cNvSpPr/>
          <p:nvPr/>
        </p:nvSpPr>
        <p:spPr>
          <a:xfrm>
            <a:off x="6309360" y="2743200"/>
            <a:ext cx="2194560" cy="150876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If true intrinsic self-correction works, autonomous AI agents could solve complex tasks without costly human supervision, external verifiers, or specialized domain tools.</a:t>
            </a:r>
            <a:endParaRPr lang="en-US" sz="1050" dirty="0"/>
          </a:p>
        </p:txBody>
      </p:sp>
      <p:sp>
        <p:nvSpPr>
          <p:cNvPr id="27" name="Text 24"/>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8" name="Text 25"/>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04/24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1. INTRODUCTION</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The Central Research Question</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The Self-Correction Paradox: Can an LLM fix its reasoning without external signals?</a:t>
            </a:r>
            <a:endParaRPr lang="en-US" sz="1100" dirty="0"/>
          </a:p>
        </p:txBody>
      </p:sp>
      <p:sp>
        <p:nvSpPr>
          <p:cNvPr id="5" name="Shape 3"/>
          <p:cNvSpPr/>
          <p:nvPr/>
        </p:nvSpPr>
        <p:spPr>
          <a:xfrm>
            <a:off x="548640" y="1234440"/>
            <a:ext cx="8046720" cy="1188720"/>
          </a:xfrm>
          <a:prstGeom prst="roundRect">
            <a:avLst>
              <a:gd name="adj" fmla="val 7692"/>
            </a:avLst>
          </a:prstGeom>
          <a:solidFill>
            <a:srgbClr val="FDF2F4"/>
          </a:solidFill>
          <a:ln w="19050">
            <a:solidFill>
              <a:srgbClr val="800020"/>
            </a:solidFill>
            <a:prstDash val="solid"/>
          </a:ln>
        </p:spPr>
      </p:sp>
      <p:sp>
        <p:nvSpPr>
          <p:cNvPr id="6" name="Text 4"/>
          <p:cNvSpPr/>
          <p:nvPr/>
        </p:nvSpPr>
        <p:spPr>
          <a:xfrm>
            <a:off x="777240" y="1325880"/>
            <a:ext cx="7589520" cy="228600"/>
          </a:xfrm>
          <a:prstGeom prst="rect">
            <a:avLst/>
          </a:prstGeom>
          <a:noFill/>
          <a:ln/>
        </p:spPr>
        <p:txBody>
          <a:bodyPr wrap="square" lIns="0" tIns="0" rIns="0" bIns="0" rtlCol="0" anchor="ctr"/>
          <a:lstStyle/>
          <a:p>
            <a:pPr indent="0" marL="0">
              <a:buNone/>
            </a:pPr>
            <a:r>
              <a:rPr lang="en-US" sz="1000" b="1" spc="150" kern="0" dirty="0">
                <a:solidFill>
                  <a:srgbClr val="800020"/>
                </a:solidFill>
                <a:latin typeface="Calibri" pitchFamily="34" charset="0"/>
                <a:ea typeface="Calibri" pitchFamily="34" charset="-122"/>
                <a:cs typeface="Calibri" pitchFamily="34" charset="-120"/>
              </a:rPr>
              <a:t>THE CORE PARADOX</a:t>
            </a:r>
            <a:endParaRPr lang="en-US" sz="1000" dirty="0"/>
          </a:p>
        </p:txBody>
      </p:sp>
      <p:sp>
        <p:nvSpPr>
          <p:cNvPr id="7" name="Text 5"/>
          <p:cNvSpPr/>
          <p:nvPr/>
        </p:nvSpPr>
        <p:spPr>
          <a:xfrm>
            <a:off x="777240" y="1600200"/>
            <a:ext cx="7589520" cy="685800"/>
          </a:xfrm>
          <a:prstGeom prst="rect">
            <a:avLst/>
          </a:prstGeom>
          <a:noFill/>
          <a:ln/>
        </p:spPr>
        <p:txBody>
          <a:bodyPr wrap="square" lIns="0" tIns="0" rIns="0" bIns="0" rtlCol="0" anchor="ctr"/>
          <a:lstStyle/>
          <a:p>
            <a:pPr indent="0" marL="0">
              <a:buNone/>
            </a:pPr>
            <a:r>
              <a:rPr lang="en-US" sz="1500" b="1" i="1" dirty="0">
                <a:solidFill>
                  <a:srgbClr val="0F172A"/>
                </a:solidFill>
                <a:latin typeface="Century Schoolbook" pitchFamily="34" charset="0"/>
                <a:ea typeface="Century Schoolbook" pitchFamily="34" charset="-122"/>
                <a:cs typeface="Century Schoolbook" pitchFamily="34" charset="-120"/>
              </a:rPr>
              <a:t>"If an LLM has the intrinsic knowledge and reasoning capability to correct a mistake, why didn't it produce the correct answer in the first attempt?"</a:t>
            </a:r>
            <a:endParaRPr lang="en-US" sz="1500" dirty="0"/>
          </a:p>
        </p:txBody>
      </p:sp>
      <p:sp>
        <p:nvSpPr>
          <p:cNvPr id="8" name="Shape 6"/>
          <p:cNvSpPr/>
          <p:nvPr/>
        </p:nvSpPr>
        <p:spPr>
          <a:xfrm>
            <a:off x="548640" y="2606040"/>
            <a:ext cx="3886200" cy="1828800"/>
          </a:xfrm>
          <a:prstGeom prst="roundRect">
            <a:avLst>
              <a:gd name="adj" fmla="val 4000"/>
            </a:avLst>
          </a:prstGeom>
          <a:solidFill>
            <a:srgbClr val="F8F9FA"/>
          </a:solidFill>
          <a:ln w="12700">
            <a:solidFill>
              <a:srgbClr val="E2E8F0"/>
            </a:solidFill>
            <a:prstDash val="solid"/>
          </a:ln>
        </p:spPr>
      </p:sp>
      <p:sp>
        <p:nvSpPr>
          <p:cNvPr id="9" name="Text 7"/>
          <p:cNvSpPr/>
          <p:nvPr/>
        </p:nvSpPr>
        <p:spPr>
          <a:xfrm>
            <a:off x="731520" y="2743200"/>
            <a:ext cx="3520440" cy="274320"/>
          </a:xfrm>
          <a:prstGeom prst="rect">
            <a:avLst/>
          </a:prstGeom>
          <a:noFill/>
          <a:ln/>
        </p:spPr>
        <p:txBody>
          <a:bodyPr wrap="square" lIns="0" tIns="0" rIns="0" bIns="0" rtlCol="0" anchor="ctr"/>
          <a:lstStyle/>
          <a:p>
            <a:pPr indent="0" marL="0">
              <a:buNone/>
            </a:pPr>
            <a:r>
              <a:rPr lang="en-US" sz="1300" b="1" dirty="0">
                <a:solidFill>
                  <a:srgbClr val="800020"/>
                </a:solidFill>
                <a:latin typeface="Century Schoolbook" pitchFamily="34" charset="0"/>
                <a:ea typeface="Century Schoolbook" pitchFamily="34" charset="-122"/>
                <a:cs typeface="Century Schoolbook" pitchFamily="34" charset="-120"/>
              </a:rPr>
              <a:t>Intrinsic Self-Correction (Paper Focus)</a:t>
            </a:r>
            <a:endParaRPr lang="en-US" sz="1300" dirty="0"/>
          </a:p>
        </p:txBody>
      </p:sp>
      <p:sp>
        <p:nvSpPr>
          <p:cNvPr id="10" name="Text 8"/>
          <p:cNvSpPr/>
          <p:nvPr/>
        </p:nvSpPr>
        <p:spPr>
          <a:xfrm>
            <a:off x="731520" y="3063240"/>
            <a:ext cx="3520440" cy="1234440"/>
          </a:xfrm>
          <a:prstGeom prst="rect">
            <a:avLst/>
          </a:prstGeom>
          <a:noFill/>
          <a:ln/>
        </p:spPr>
        <p:txBody>
          <a:bodyPr wrap="square" lIns="0" tIns="0" rIns="0" bIns="0" rtlCol="0" anchor="t"/>
          <a:lstStyle/>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 Model relies strictly on its internal frozen weights</a:t>
            </a:r>
            <a:endParaRPr lang="en-US" sz="1100" dirty="0"/>
          </a:p>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 Zero external feedback: No oracle labels, humans, or tool outputs</a:t>
            </a:r>
            <a:endParaRPr lang="en-US" sz="1100" dirty="0"/>
          </a:p>
          <a:p>
            <a:pPr indent="0" marL="0">
              <a:buNone/>
            </a:pPr>
            <a:r>
              <a:rPr lang="en-US" sz="1100" b="1" dirty="0">
                <a:solidFill>
                  <a:srgbClr val="800020"/>
                </a:solidFill>
                <a:latin typeface="Calibri" pitchFamily="34" charset="0"/>
                <a:ea typeface="Calibri" pitchFamily="34" charset="-122"/>
                <a:cs typeface="Calibri" pitchFamily="34" charset="-120"/>
              </a:rPr>
              <a:t>• Central Question: Does intrinsic self-correction improve reasoning accuracy?</a:t>
            </a:r>
            <a:endParaRPr lang="en-US" sz="1100" dirty="0"/>
          </a:p>
        </p:txBody>
      </p:sp>
      <p:sp>
        <p:nvSpPr>
          <p:cNvPr id="11" name="Shape 9"/>
          <p:cNvSpPr/>
          <p:nvPr/>
        </p:nvSpPr>
        <p:spPr>
          <a:xfrm>
            <a:off x="4709160" y="2606040"/>
            <a:ext cx="3886200" cy="1828800"/>
          </a:xfrm>
          <a:prstGeom prst="roundRect">
            <a:avLst>
              <a:gd name="adj" fmla="val 4000"/>
            </a:avLst>
          </a:prstGeom>
          <a:solidFill>
            <a:srgbClr val="F8F9FA"/>
          </a:solidFill>
          <a:ln w="12700">
            <a:solidFill>
              <a:srgbClr val="E2E8F0"/>
            </a:solidFill>
            <a:prstDash val="solid"/>
          </a:ln>
        </p:spPr>
      </p:sp>
      <p:sp>
        <p:nvSpPr>
          <p:cNvPr id="12" name="Text 10"/>
          <p:cNvSpPr/>
          <p:nvPr/>
        </p:nvSpPr>
        <p:spPr>
          <a:xfrm>
            <a:off x="4892040" y="2743200"/>
            <a:ext cx="3520440" cy="274320"/>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External-Feedback Self-Correction</a:t>
            </a:r>
            <a:endParaRPr lang="en-US" sz="1300" dirty="0"/>
          </a:p>
        </p:txBody>
      </p:sp>
      <p:sp>
        <p:nvSpPr>
          <p:cNvPr id="13" name="Text 11"/>
          <p:cNvSpPr/>
          <p:nvPr/>
        </p:nvSpPr>
        <p:spPr>
          <a:xfrm>
            <a:off x="4892040" y="3063240"/>
            <a:ext cx="3520440" cy="1234440"/>
          </a:xfrm>
          <a:prstGeom prst="rect">
            <a:avLst/>
          </a:prstGeom>
          <a:noFill/>
          <a:ln/>
        </p:spPr>
        <p:txBody>
          <a:bodyPr wrap="square" lIns="0" tIns="0" rIns="0" bIns="0" rtlCol="0" anchor="t"/>
          <a:lstStyle/>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 Model receives outside verification signals (e.g. unit test failure)</a:t>
            </a:r>
            <a:endParaRPr lang="en-US" sz="1100" dirty="0"/>
          </a:p>
          <a:p>
            <a:pPr indent="0" marL="0">
              <a:spcAft>
                <a:spcPts val="400"/>
              </a:spcAft>
              <a:buNone/>
            </a:pPr>
            <a:r>
              <a:rPr lang="en-US" sz="1100" dirty="0">
                <a:solidFill>
                  <a:srgbClr val="1E293B"/>
                </a:solidFill>
                <a:latin typeface="Calibri" pitchFamily="34" charset="0"/>
                <a:ea typeface="Calibri" pitchFamily="34" charset="-122"/>
                <a:cs typeface="Calibri" pitchFamily="34" charset="-120"/>
              </a:rPr>
              <a:t>• Ground-truth labels or code execution results guide revision</a:t>
            </a:r>
            <a:endParaRPr lang="en-US" sz="1100" dirty="0"/>
          </a:p>
          <a:p>
            <a:pPr indent="0" marL="0">
              <a:buNone/>
            </a:pPr>
            <a:r>
              <a:rPr lang="en-US" sz="1100" b="1" dirty="0">
                <a:solidFill>
                  <a:srgbClr val="166534"/>
                </a:solidFill>
                <a:latin typeface="Calibri" pitchFamily="34" charset="0"/>
                <a:ea typeface="Calibri" pitchFamily="34" charset="-122"/>
                <a:cs typeface="Calibri" pitchFamily="34" charset="-120"/>
              </a:rPr>
              <a:t>• Effective in practice, but NOT true intrinsic self-correction</a:t>
            </a:r>
            <a:endParaRPr lang="en-US" sz="1100" dirty="0"/>
          </a:p>
        </p:txBody>
      </p:sp>
      <p:sp>
        <p:nvSpPr>
          <p:cNvPr id="15" name="Text 12"/>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6" name="Text 13"/>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05/24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2. BACKGROUND &amp; RELATED WORK</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Prior Self-Correction Frameworks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Previous Findings: Leading paradigms in recent literature proposing self-correction methods</a:t>
            </a:r>
            <a:endParaRPr lang="en-US" sz="1100" dirty="0"/>
          </a:p>
        </p:txBody>
      </p:sp>
      <p:sp>
        <p:nvSpPr>
          <p:cNvPr id="5" name="Shape 3"/>
          <p:cNvSpPr/>
          <p:nvPr/>
        </p:nvSpPr>
        <p:spPr>
          <a:xfrm>
            <a:off x="548640" y="1234440"/>
            <a:ext cx="3886200" cy="1463040"/>
          </a:xfrm>
          <a:prstGeom prst="roundRect">
            <a:avLst>
              <a:gd name="adj" fmla="val 5000"/>
            </a:avLst>
          </a:prstGeom>
          <a:solidFill>
            <a:srgbClr val="F8F9FA"/>
          </a:solidFill>
          <a:ln w="12700">
            <a:solidFill>
              <a:srgbClr val="E2E8F0"/>
            </a:solidFill>
            <a:prstDash val="solid"/>
          </a:ln>
        </p:spPr>
      </p:sp>
      <p:sp>
        <p:nvSpPr>
          <p:cNvPr id="6" name="Text 4"/>
          <p:cNvSpPr/>
          <p:nvPr/>
        </p:nvSpPr>
        <p:spPr>
          <a:xfrm>
            <a:off x="731520" y="1371600"/>
            <a:ext cx="2011680" cy="274320"/>
          </a:xfrm>
          <a:prstGeom prst="rect">
            <a:avLst/>
          </a:prstGeom>
          <a:noFill/>
          <a:ln/>
        </p:spPr>
        <p:txBody>
          <a:bodyPr wrap="square" lIns="0" tIns="0" rIns="0" bIns="0" rtlCol="0" anchor="ctr"/>
          <a:lstStyle/>
          <a:p>
            <a:pPr indent="0" marL="0">
              <a:buNone/>
            </a:pPr>
            <a:r>
              <a:rPr lang="en-US" sz="1600" b="1" dirty="0">
                <a:solidFill>
                  <a:srgbClr val="800020"/>
                </a:solidFill>
                <a:latin typeface="Century Schoolbook" pitchFamily="34" charset="0"/>
                <a:ea typeface="Century Schoolbook" pitchFamily="34" charset="-122"/>
                <a:cs typeface="Century Schoolbook" pitchFamily="34" charset="-120"/>
              </a:rPr>
              <a:t>RCI</a:t>
            </a:r>
            <a:endParaRPr lang="en-US" sz="1600" dirty="0"/>
          </a:p>
        </p:txBody>
      </p:sp>
      <p:sp>
        <p:nvSpPr>
          <p:cNvPr id="7" name="Shape 5"/>
          <p:cNvSpPr/>
          <p:nvPr/>
        </p:nvSpPr>
        <p:spPr>
          <a:xfrm>
            <a:off x="2788920" y="1371600"/>
            <a:ext cx="1463040" cy="219456"/>
          </a:xfrm>
          <a:prstGeom prst="roundRect">
            <a:avLst>
              <a:gd name="adj" fmla="val 16667"/>
            </a:avLst>
          </a:prstGeom>
          <a:solidFill>
            <a:srgbClr val="FDF2F4"/>
          </a:solidFill>
          <a:ln w="6350">
            <a:solidFill>
              <a:srgbClr val="800020"/>
            </a:solidFill>
            <a:prstDash val="solid"/>
          </a:ln>
        </p:spPr>
      </p:sp>
      <p:sp>
        <p:nvSpPr>
          <p:cNvPr id="8" name="Text 6"/>
          <p:cNvSpPr/>
          <p:nvPr/>
        </p:nvSpPr>
        <p:spPr>
          <a:xfrm>
            <a:off x="2788920" y="1371600"/>
            <a:ext cx="1463040" cy="219456"/>
          </a:xfrm>
          <a:prstGeom prst="rect">
            <a:avLst/>
          </a:prstGeom>
          <a:noFill/>
          <a:ln/>
        </p:spPr>
        <p:txBody>
          <a:bodyPr wrap="square" lIns="0" tIns="0" rIns="0" bIns="0" rtlCol="0" anchor="ctr"/>
          <a:lstStyle/>
          <a:p>
            <a:pPr algn="ctr" indent="0" marL="0">
              <a:buNone/>
            </a:pPr>
            <a:r>
              <a:rPr lang="en-US" sz="850" b="1" dirty="0">
                <a:solidFill>
                  <a:srgbClr val="800020"/>
                </a:solidFill>
                <a:latin typeface="Calibri" pitchFamily="34" charset="0"/>
                <a:ea typeface="Calibri" pitchFamily="34" charset="-122"/>
                <a:cs typeface="Calibri" pitchFamily="34" charset="-120"/>
              </a:rPr>
              <a:t>Recursive Critique</a:t>
            </a:r>
            <a:endParaRPr lang="en-US" sz="850" dirty="0"/>
          </a:p>
        </p:txBody>
      </p:sp>
      <p:sp>
        <p:nvSpPr>
          <p:cNvPr id="9" name="Text 7"/>
          <p:cNvSpPr/>
          <p:nvPr/>
        </p:nvSpPr>
        <p:spPr>
          <a:xfrm>
            <a:off x="731520" y="1673352"/>
            <a:ext cx="352044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Kim et al. (NeurIPS 2023)</a:t>
            </a:r>
            <a:endParaRPr lang="en-US" sz="1000" dirty="0"/>
          </a:p>
        </p:txBody>
      </p:sp>
      <p:sp>
        <p:nvSpPr>
          <p:cNvPr id="10" name="Text 8"/>
          <p:cNvSpPr/>
          <p:nvPr/>
        </p:nvSpPr>
        <p:spPr>
          <a:xfrm>
            <a:off x="731520" y="1920240"/>
            <a:ext cx="3520440" cy="68580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Recursive Criticism and Improvement. The model sequentially critiques its reasoning and modifies responses based on its own critique.</a:t>
            </a:r>
            <a:endParaRPr lang="en-US" sz="1050" dirty="0"/>
          </a:p>
        </p:txBody>
      </p:sp>
      <p:sp>
        <p:nvSpPr>
          <p:cNvPr id="11" name="Shape 9"/>
          <p:cNvSpPr/>
          <p:nvPr/>
        </p:nvSpPr>
        <p:spPr>
          <a:xfrm>
            <a:off x="4709160" y="1234440"/>
            <a:ext cx="3886200" cy="1463040"/>
          </a:xfrm>
          <a:prstGeom prst="roundRect">
            <a:avLst>
              <a:gd name="adj" fmla="val 5000"/>
            </a:avLst>
          </a:prstGeom>
          <a:solidFill>
            <a:srgbClr val="F8F9FA"/>
          </a:solidFill>
          <a:ln w="12700">
            <a:solidFill>
              <a:srgbClr val="E2E8F0"/>
            </a:solidFill>
            <a:prstDash val="solid"/>
          </a:ln>
        </p:spPr>
      </p:sp>
      <p:sp>
        <p:nvSpPr>
          <p:cNvPr id="12" name="Text 10"/>
          <p:cNvSpPr/>
          <p:nvPr/>
        </p:nvSpPr>
        <p:spPr>
          <a:xfrm>
            <a:off x="4892040" y="1371600"/>
            <a:ext cx="2011680" cy="274320"/>
          </a:xfrm>
          <a:prstGeom prst="rect">
            <a:avLst/>
          </a:prstGeom>
          <a:noFill/>
          <a:ln/>
        </p:spPr>
        <p:txBody>
          <a:bodyPr wrap="square" lIns="0" tIns="0" rIns="0" bIns="0" rtlCol="0" anchor="ctr"/>
          <a:lstStyle/>
          <a:p>
            <a:pPr indent="0" marL="0">
              <a:buNone/>
            </a:pPr>
            <a:r>
              <a:rPr lang="en-US" sz="1600" b="1" dirty="0">
                <a:solidFill>
                  <a:srgbClr val="800020"/>
                </a:solidFill>
                <a:latin typeface="Century Schoolbook" pitchFamily="34" charset="0"/>
                <a:ea typeface="Century Schoolbook" pitchFamily="34" charset="-122"/>
                <a:cs typeface="Century Schoolbook" pitchFamily="34" charset="-120"/>
              </a:rPr>
              <a:t>Reflexion</a:t>
            </a:r>
            <a:endParaRPr lang="en-US" sz="1600" dirty="0"/>
          </a:p>
        </p:txBody>
      </p:sp>
      <p:sp>
        <p:nvSpPr>
          <p:cNvPr id="13" name="Shape 11"/>
          <p:cNvSpPr/>
          <p:nvPr/>
        </p:nvSpPr>
        <p:spPr>
          <a:xfrm>
            <a:off x="6949440" y="1371600"/>
            <a:ext cx="1463040" cy="219456"/>
          </a:xfrm>
          <a:prstGeom prst="roundRect">
            <a:avLst>
              <a:gd name="adj" fmla="val 16667"/>
            </a:avLst>
          </a:prstGeom>
          <a:solidFill>
            <a:srgbClr val="FDF2F4"/>
          </a:solidFill>
          <a:ln w="6350">
            <a:solidFill>
              <a:srgbClr val="800020"/>
            </a:solidFill>
            <a:prstDash val="solid"/>
          </a:ln>
        </p:spPr>
      </p:sp>
      <p:sp>
        <p:nvSpPr>
          <p:cNvPr id="14" name="Text 12"/>
          <p:cNvSpPr/>
          <p:nvPr/>
        </p:nvSpPr>
        <p:spPr>
          <a:xfrm>
            <a:off x="6949440" y="1371600"/>
            <a:ext cx="1463040" cy="219456"/>
          </a:xfrm>
          <a:prstGeom prst="rect">
            <a:avLst/>
          </a:prstGeom>
          <a:noFill/>
          <a:ln/>
        </p:spPr>
        <p:txBody>
          <a:bodyPr wrap="square" lIns="0" tIns="0" rIns="0" bIns="0" rtlCol="0" anchor="ctr"/>
          <a:lstStyle/>
          <a:p>
            <a:pPr algn="ctr" indent="0" marL="0">
              <a:buNone/>
            </a:pPr>
            <a:r>
              <a:rPr lang="en-US" sz="850" b="1" dirty="0">
                <a:solidFill>
                  <a:srgbClr val="800020"/>
                </a:solidFill>
                <a:latin typeface="Calibri" pitchFamily="34" charset="0"/>
                <a:ea typeface="Calibri" pitchFamily="34" charset="-122"/>
                <a:cs typeface="Calibri" pitchFamily="34" charset="-120"/>
              </a:rPr>
              <a:t>Verbal Reinforcement</a:t>
            </a:r>
            <a:endParaRPr lang="en-US" sz="850" dirty="0"/>
          </a:p>
        </p:txBody>
      </p:sp>
      <p:sp>
        <p:nvSpPr>
          <p:cNvPr id="15" name="Text 13"/>
          <p:cNvSpPr/>
          <p:nvPr/>
        </p:nvSpPr>
        <p:spPr>
          <a:xfrm>
            <a:off x="4892040" y="1673352"/>
            <a:ext cx="352044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Shinn et al. (NeurIPS 2023)</a:t>
            </a:r>
            <a:endParaRPr lang="en-US" sz="1000" dirty="0"/>
          </a:p>
        </p:txBody>
      </p:sp>
      <p:sp>
        <p:nvSpPr>
          <p:cNvPr id="16" name="Text 14"/>
          <p:cNvSpPr/>
          <p:nvPr/>
        </p:nvSpPr>
        <p:spPr>
          <a:xfrm>
            <a:off x="4892040" y="1920240"/>
            <a:ext cx="3520440" cy="68580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Maintains an episodic memory buffer of past failures and generates verbal self-reflections to guide subsequent trial iterations.</a:t>
            </a:r>
            <a:endParaRPr lang="en-US" sz="1050" dirty="0"/>
          </a:p>
        </p:txBody>
      </p:sp>
      <p:sp>
        <p:nvSpPr>
          <p:cNvPr id="17" name="Shape 15"/>
          <p:cNvSpPr/>
          <p:nvPr/>
        </p:nvSpPr>
        <p:spPr>
          <a:xfrm>
            <a:off x="548640" y="2926080"/>
            <a:ext cx="3886200" cy="1463040"/>
          </a:xfrm>
          <a:prstGeom prst="roundRect">
            <a:avLst>
              <a:gd name="adj" fmla="val 5000"/>
            </a:avLst>
          </a:prstGeom>
          <a:solidFill>
            <a:srgbClr val="F8F9FA"/>
          </a:solidFill>
          <a:ln w="12700">
            <a:solidFill>
              <a:srgbClr val="E2E8F0"/>
            </a:solidFill>
            <a:prstDash val="solid"/>
          </a:ln>
        </p:spPr>
      </p:sp>
      <p:sp>
        <p:nvSpPr>
          <p:cNvPr id="18" name="Text 16"/>
          <p:cNvSpPr/>
          <p:nvPr/>
        </p:nvSpPr>
        <p:spPr>
          <a:xfrm>
            <a:off x="731520" y="3063240"/>
            <a:ext cx="2011680" cy="274320"/>
          </a:xfrm>
          <a:prstGeom prst="rect">
            <a:avLst/>
          </a:prstGeom>
          <a:noFill/>
          <a:ln/>
        </p:spPr>
        <p:txBody>
          <a:bodyPr wrap="square" lIns="0" tIns="0" rIns="0" bIns="0" rtlCol="0" anchor="ctr"/>
          <a:lstStyle/>
          <a:p>
            <a:pPr indent="0" marL="0">
              <a:buNone/>
            </a:pPr>
            <a:r>
              <a:rPr lang="en-US" sz="1600" b="1" dirty="0">
                <a:solidFill>
                  <a:srgbClr val="800020"/>
                </a:solidFill>
                <a:latin typeface="Century Schoolbook" pitchFamily="34" charset="0"/>
                <a:ea typeface="Century Schoolbook" pitchFamily="34" charset="-122"/>
                <a:cs typeface="Century Schoolbook" pitchFamily="34" charset="-120"/>
              </a:rPr>
              <a:t>Self-Refine</a:t>
            </a:r>
            <a:endParaRPr lang="en-US" sz="1600" dirty="0"/>
          </a:p>
        </p:txBody>
      </p:sp>
      <p:sp>
        <p:nvSpPr>
          <p:cNvPr id="19" name="Shape 17"/>
          <p:cNvSpPr/>
          <p:nvPr/>
        </p:nvSpPr>
        <p:spPr>
          <a:xfrm>
            <a:off x="2788920" y="3063240"/>
            <a:ext cx="1463040" cy="219456"/>
          </a:xfrm>
          <a:prstGeom prst="roundRect">
            <a:avLst>
              <a:gd name="adj" fmla="val 16667"/>
            </a:avLst>
          </a:prstGeom>
          <a:solidFill>
            <a:srgbClr val="FDF2F4"/>
          </a:solidFill>
          <a:ln w="6350">
            <a:solidFill>
              <a:srgbClr val="800020"/>
            </a:solidFill>
            <a:prstDash val="solid"/>
          </a:ln>
        </p:spPr>
      </p:sp>
      <p:sp>
        <p:nvSpPr>
          <p:cNvPr id="20" name="Text 18"/>
          <p:cNvSpPr/>
          <p:nvPr/>
        </p:nvSpPr>
        <p:spPr>
          <a:xfrm>
            <a:off x="2788920" y="3063240"/>
            <a:ext cx="1463040" cy="219456"/>
          </a:xfrm>
          <a:prstGeom prst="rect">
            <a:avLst/>
          </a:prstGeom>
          <a:noFill/>
          <a:ln/>
        </p:spPr>
        <p:txBody>
          <a:bodyPr wrap="square" lIns="0" tIns="0" rIns="0" bIns="0" rtlCol="0" anchor="ctr"/>
          <a:lstStyle/>
          <a:p>
            <a:pPr algn="ctr" indent="0" marL="0">
              <a:buNone/>
            </a:pPr>
            <a:r>
              <a:rPr lang="en-US" sz="850" b="1" dirty="0">
                <a:solidFill>
                  <a:srgbClr val="800020"/>
                </a:solidFill>
                <a:latin typeface="Calibri" pitchFamily="34" charset="0"/>
                <a:ea typeface="Calibri" pitchFamily="34" charset="-122"/>
                <a:cs typeface="Calibri" pitchFamily="34" charset="-120"/>
              </a:rPr>
              <a:t>Iterative Refinement</a:t>
            </a:r>
            <a:endParaRPr lang="en-US" sz="850" dirty="0"/>
          </a:p>
        </p:txBody>
      </p:sp>
      <p:sp>
        <p:nvSpPr>
          <p:cNvPr id="21" name="Text 19"/>
          <p:cNvSpPr/>
          <p:nvPr/>
        </p:nvSpPr>
        <p:spPr>
          <a:xfrm>
            <a:off x="731520" y="3364992"/>
            <a:ext cx="352044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Madaan et al. (NeurIPS 2023)</a:t>
            </a:r>
            <a:endParaRPr lang="en-US" sz="1000" dirty="0"/>
          </a:p>
        </p:txBody>
      </p:sp>
      <p:sp>
        <p:nvSpPr>
          <p:cNvPr id="22" name="Text 20"/>
          <p:cNvSpPr/>
          <p:nvPr/>
        </p:nvSpPr>
        <p:spPr>
          <a:xfrm>
            <a:off x="731520" y="3611880"/>
            <a:ext cx="3520440" cy="68580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Multi-turn framework where an LLM generates structured feedback on its output and refines its response over successive turns.</a:t>
            </a:r>
            <a:endParaRPr lang="en-US" sz="1050" dirty="0"/>
          </a:p>
        </p:txBody>
      </p:sp>
      <p:sp>
        <p:nvSpPr>
          <p:cNvPr id="23" name="Shape 21"/>
          <p:cNvSpPr/>
          <p:nvPr/>
        </p:nvSpPr>
        <p:spPr>
          <a:xfrm>
            <a:off x="4709160" y="2926080"/>
            <a:ext cx="3886200" cy="1463040"/>
          </a:xfrm>
          <a:prstGeom prst="roundRect">
            <a:avLst>
              <a:gd name="adj" fmla="val 5000"/>
            </a:avLst>
          </a:prstGeom>
          <a:solidFill>
            <a:srgbClr val="F8F9FA"/>
          </a:solidFill>
          <a:ln w="12700">
            <a:solidFill>
              <a:srgbClr val="E2E8F0"/>
            </a:solidFill>
            <a:prstDash val="solid"/>
          </a:ln>
        </p:spPr>
      </p:sp>
      <p:sp>
        <p:nvSpPr>
          <p:cNvPr id="24" name="Text 22"/>
          <p:cNvSpPr/>
          <p:nvPr/>
        </p:nvSpPr>
        <p:spPr>
          <a:xfrm>
            <a:off x="4892040" y="3063240"/>
            <a:ext cx="2011680" cy="274320"/>
          </a:xfrm>
          <a:prstGeom prst="rect">
            <a:avLst/>
          </a:prstGeom>
          <a:noFill/>
          <a:ln/>
        </p:spPr>
        <p:txBody>
          <a:bodyPr wrap="square" lIns="0" tIns="0" rIns="0" bIns="0" rtlCol="0" anchor="ctr"/>
          <a:lstStyle/>
          <a:p>
            <a:pPr indent="0" marL="0">
              <a:buNone/>
            </a:pPr>
            <a:r>
              <a:rPr lang="en-US" sz="1600" b="1" dirty="0">
                <a:solidFill>
                  <a:srgbClr val="800020"/>
                </a:solidFill>
                <a:latin typeface="Century Schoolbook" pitchFamily="34" charset="0"/>
                <a:ea typeface="Century Schoolbook" pitchFamily="34" charset="-122"/>
                <a:cs typeface="Century Schoolbook" pitchFamily="34" charset="-120"/>
              </a:rPr>
              <a:t>Multi-Agent Debate</a:t>
            </a:r>
            <a:endParaRPr lang="en-US" sz="1600" dirty="0"/>
          </a:p>
        </p:txBody>
      </p:sp>
      <p:sp>
        <p:nvSpPr>
          <p:cNvPr id="25" name="Shape 23"/>
          <p:cNvSpPr/>
          <p:nvPr/>
        </p:nvSpPr>
        <p:spPr>
          <a:xfrm>
            <a:off x="6949440" y="3063240"/>
            <a:ext cx="1463040" cy="219456"/>
          </a:xfrm>
          <a:prstGeom prst="roundRect">
            <a:avLst>
              <a:gd name="adj" fmla="val 16667"/>
            </a:avLst>
          </a:prstGeom>
          <a:solidFill>
            <a:srgbClr val="FDF2F4"/>
          </a:solidFill>
          <a:ln w="6350">
            <a:solidFill>
              <a:srgbClr val="800020"/>
            </a:solidFill>
            <a:prstDash val="solid"/>
          </a:ln>
        </p:spPr>
      </p:sp>
      <p:sp>
        <p:nvSpPr>
          <p:cNvPr id="26" name="Text 24"/>
          <p:cNvSpPr/>
          <p:nvPr/>
        </p:nvSpPr>
        <p:spPr>
          <a:xfrm>
            <a:off x="6949440" y="3063240"/>
            <a:ext cx="1463040" cy="219456"/>
          </a:xfrm>
          <a:prstGeom prst="rect">
            <a:avLst/>
          </a:prstGeom>
          <a:noFill/>
          <a:ln/>
        </p:spPr>
        <p:txBody>
          <a:bodyPr wrap="square" lIns="0" tIns="0" rIns="0" bIns="0" rtlCol="0" anchor="ctr"/>
          <a:lstStyle/>
          <a:p>
            <a:pPr algn="ctr" indent="0" marL="0">
              <a:buNone/>
            </a:pPr>
            <a:r>
              <a:rPr lang="en-US" sz="850" b="1" dirty="0">
                <a:solidFill>
                  <a:srgbClr val="800020"/>
                </a:solidFill>
                <a:latin typeface="Calibri" pitchFamily="34" charset="0"/>
                <a:ea typeface="Calibri" pitchFamily="34" charset="-122"/>
                <a:cs typeface="Calibri" pitchFamily="34" charset="-120"/>
              </a:rPr>
              <a:t>Multi-Agent Consensus</a:t>
            </a:r>
            <a:endParaRPr lang="en-US" sz="850" dirty="0"/>
          </a:p>
        </p:txBody>
      </p:sp>
      <p:sp>
        <p:nvSpPr>
          <p:cNvPr id="27" name="Text 25"/>
          <p:cNvSpPr/>
          <p:nvPr/>
        </p:nvSpPr>
        <p:spPr>
          <a:xfrm>
            <a:off x="4892040" y="3364992"/>
            <a:ext cx="3520440" cy="201168"/>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Du et al. (2023)</a:t>
            </a:r>
            <a:endParaRPr lang="en-US" sz="1000" dirty="0"/>
          </a:p>
        </p:txBody>
      </p:sp>
      <p:sp>
        <p:nvSpPr>
          <p:cNvPr id="28" name="Text 26"/>
          <p:cNvSpPr/>
          <p:nvPr/>
        </p:nvSpPr>
        <p:spPr>
          <a:xfrm>
            <a:off x="4892040" y="3611880"/>
            <a:ext cx="3520440" cy="68580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Multiple LLM instances propose candidate solutions, read peer critiques, and debate over multiple rounds to converge on an answer.</a:t>
            </a:r>
            <a:endParaRPr lang="en-US" sz="1050" dirty="0"/>
          </a:p>
        </p:txBody>
      </p:sp>
      <p:sp>
        <p:nvSpPr>
          <p:cNvPr id="30" name="Text 27"/>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1" name="Text 28"/>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06/24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2. BACKGROUND &amp; RELATED WORK</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Intrinsic vs. External Feedback</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Research Gap: Deconstructing the boundary between pure model reasoning and external guidance</a:t>
            </a:r>
            <a:endParaRPr lang="en-US" sz="1100" dirty="0"/>
          </a:p>
        </p:txBody>
      </p:sp>
      <p:pic>
        <p:nvPicPr>
          <p:cNvPr id="5" name="Image 0" descr="/Users/nafiskabbo/development/presentation/output/assets/fig_intrinsic_vs_external.png">    </p:cNvPr>
          <p:cNvPicPr>
            <a:picLocks noChangeAspect="1"/>
          </p:cNvPicPr>
          <p:nvPr/>
        </p:nvPicPr>
        <p:blipFill>
          <a:blip r:embed="rId1"/>
          <a:stretch>
            <a:fillRect/>
          </a:stretch>
        </p:blipFill>
        <p:spPr>
          <a:xfrm>
            <a:off x="548640" y="1234440"/>
            <a:ext cx="8046720" cy="3200400"/>
          </a:xfrm>
          <a:prstGeom prst="rect">
            <a:avLst/>
          </a:prstGeom>
        </p:spPr>
      </p:pic>
      <p:sp>
        <p:nvSpPr>
          <p:cNvPr id="7" name="Text 3"/>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8" name="Text 4"/>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07/24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2. BACKGROUND &amp; RELATED WORK</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Flaws in Prior Evaluations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Critical Analysis: Summary of evaluation confounders identified by Huang et al. (Table 1)</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914400"/>
        </p:xfrm>
        <a:graphic>
          <a:graphicData uri="http://schemas.openxmlformats.org/drawingml/2006/table">
            <a:tbl>
              <a:tblPr/>
              <a:tblGrid>
                <a:gridCol w="1645920"/>
                <a:gridCol w="1828800"/>
                <a:gridCol w="3657600"/>
                <a:gridCol w="914400"/>
              </a:tblGrid>
              <a:tr h="347472">
                <a:tc>
                  <a:txBody>
                    <a:bodyPr/>
                    <a:lstStyle/>
                    <a:p>
                      <a:pP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Method</a:t>
                      </a:r>
                      <a:endParaRPr lang="en-US" sz="1100" dirty="0">
                        <a:latin typeface="Century Schoolbook" charset="0"/>
                        <a:ea typeface="Century Schoolbook" charset="0"/>
                        <a:cs typeface="Century Schoolbook"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c>
                  <a:txBody>
                    <a:bodyPr/>
                    <a:lstStyle/>
                    <a:p>
                      <a:pP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Identified Evaluation Flaw</a:t>
                      </a:r>
                      <a:endParaRPr lang="en-US" sz="1100" dirty="0">
                        <a:latin typeface="Century Schoolbook" charset="0"/>
                        <a:ea typeface="Century Schoolbook" charset="0"/>
                        <a:cs typeface="Century Schoolbook"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c>
                  <a:txBody>
                    <a:bodyPr/>
                    <a:lstStyle/>
                    <a:p>
                      <a:pP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Mechanism of Distortion</a:t>
                      </a:r>
                      <a:endParaRPr lang="en-US" sz="1100" dirty="0">
                        <a:latin typeface="Century Schoolbook" charset="0"/>
                        <a:ea typeface="Century Schoolbook" charset="0"/>
                        <a:cs typeface="Century Schoolbook"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c>
                  <a:txBody>
                    <a:bodyPr/>
                    <a:lstStyle/>
                    <a:p>
                      <a:pP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Paper Ref.</a:t>
                      </a:r>
                      <a:endParaRPr lang="en-US" sz="1100" dirty="0">
                        <a:latin typeface="Century Schoolbook" charset="0"/>
                        <a:ea typeface="Century Schoolbook" charset="0"/>
                        <a:cs typeface="Century Schoolbook"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r>
              <a:tr h="56692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RCI</a:t>
                      </a:r>
                      <a:endParaRPr lang="en-US" sz="1050" dirty="0">
                        <a:latin typeface="Calibri" charset="0"/>
                        <a:ea typeface="Calibri" charset="0"/>
                        <a:cs typeface="Calibri" charset="0"/>
                      </a:endParaRPr>
                    </a:p>
                    <a:p>
                      <a:pPr indent="0" marL="0">
                        <a:buNone/>
                      </a:pPr>
                      <a:r>
                        <a:rPr lang="en-US" sz="1050" b="1" dirty="0">
                          <a:solidFill>
                            <a:srgbClr val="000000"/>
                          </a:solidFill>
                          <a:latin typeface="Calibri" pitchFamily="34" charset="0"/>
                          <a:ea typeface="Calibri" pitchFamily="34" charset="-122"/>
                          <a:cs typeface="Calibri" pitchFamily="34" charset="-120"/>
                        </a:rPr>
                        <a:t>(Kim et al., 2023)</a:t>
                      </a:r>
                      <a:endParaRPr lang="en-US" sz="10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indent="0" marL="0">
                        <a:buNone/>
                      </a:pPr>
                      <a:r>
                        <a:rPr lang="en-US" sz="1050" b="1" dirty="0">
                          <a:solidFill>
                            <a:srgbClr val="DC2626"/>
                          </a:solidFill>
                          <a:latin typeface="Calibri" pitchFamily="34" charset="0"/>
                          <a:ea typeface="Calibri" pitchFamily="34" charset="-122"/>
                          <a:cs typeface="Calibri" pitchFamily="34" charset="-120"/>
                        </a:rPr>
                        <a:t>Oracle Label Leakage</a:t>
                      </a:r>
                      <a:endParaRPr lang="en-US" sz="10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Model is only prompted to correct when ground truth indicates the answer is wrong, acting as an external filter.</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Section 3</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r>
              <a:tr h="56692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Reflexion</a:t>
                      </a:r>
                      <a:endParaRPr lang="en-US" sz="1050" dirty="0">
                        <a:latin typeface="Calibri" charset="0"/>
                        <a:ea typeface="Calibri" charset="0"/>
                        <a:cs typeface="Calibri" charset="0"/>
                      </a:endParaRPr>
                    </a:p>
                    <a:p>
                      <a:pPr indent="0" marL="0">
                        <a:buNone/>
                      </a:pPr>
                      <a:r>
                        <a:rPr lang="en-US" sz="1050" b="1" dirty="0">
                          <a:solidFill>
                            <a:srgbClr val="000000"/>
                          </a:solidFill>
                          <a:latin typeface="Calibri" pitchFamily="34" charset="0"/>
                          <a:ea typeface="Calibri" pitchFamily="34" charset="-122"/>
                          <a:cs typeface="Calibri" pitchFamily="34" charset="-120"/>
                        </a:rPr>
                        <a:t>(Shinn et al., 2023)</a:t>
                      </a:r>
                      <a:endParaRPr lang="en-US" sz="10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b="1" dirty="0">
                          <a:solidFill>
                            <a:srgbClr val="DC2626"/>
                          </a:solidFill>
                          <a:latin typeface="Calibri" pitchFamily="34" charset="0"/>
                          <a:ea typeface="Calibri" pitchFamily="34" charset="-122"/>
                          <a:cs typeface="Calibri" pitchFamily="34" charset="-120"/>
                        </a:rPr>
                        <a:t>Oracle Label Leakage</a:t>
                      </a:r>
                      <a:endParaRPr lang="en-US" sz="10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Reflections are triggered exclusively upon receiving environment failure signals (binary ground-truth labels).</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Section 3</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Multi-Agent Debate</a:t>
                      </a:r>
                      <a:endParaRPr lang="en-US" sz="1050" dirty="0">
                        <a:latin typeface="Calibri" charset="0"/>
                        <a:ea typeface="Calibri" charset="0"/>
                        <a:cs typeface="Calibri" charset="0"/>
                      </a:endParaRPr>
                    </a:p>
                    <a:p>
                      <a:pPr indent="0" marL="0">
                        <a:buNone/>
                      </a:pPr>
                      <a:r>
                        <a:rPr lang="en-US" sz="1050" b="1" dirty="0">
                          <a:solidFill>
                            <a:srgbClr val="000000"/>
                          </a:solidFill>
                          <a:latin typeface="Calibri" pitchFamily="34" charset="0"/>
                          <a:ea typeface="Calibri" pitchFamily="34" charset="-122"/>
                          <a:cs typeface="Calibri" pitchFamily="34" charset="-120"/>
                        </a:rPr>
                        <a:t>(Du et al., 2023)</a:t>
                      </a:r>
                      <a:endParaRPr lang="en-US" sz="10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indent="0" marL="0">
                        <a:buNone/>
                      </a:pPr>
                      <a:r>
                        <a:rPr lang="en-US" sz="1050" b="1" dirty="0">
                          <a:solidFill>
                            <a:srgbClr val="D97706"/>
                          </a:solidFill>
                          <a:latin typeface="Calibri" pitchFamily="34" charset="0"/>
                          <a:ea typeface="Calibri" pitchFamily="34" charset="-122"/>
                          <a:cs typeface="Calibri" pitchFamily="34" charset="-120"/>
                        </a:rPr>
                        <a:t>Unfair Inference Cost</a:t>
                      </a:r>
                      <a:endParaRPr lang="en-US" sz="10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Compared multi-agent debate (N agents × M rounds) against single-attempt baseline rather than equal-compute sampling.</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Section 4</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r>
              <a:tr h="56692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Self-Refine</a:t>
                      </a:r>
                      <a:endParaRPr lang="en-US" sz="1050" dirty="0">
                        <a:latin typeface="Calibri" charset="0"/>
                        <a:ea typeface="Calibri" charset="0"/>
                        <a:cs typeface="Calibri" charset="0"/>
                      </a:endParaRPr>
                    </a:p>
                    <a:p>
                      <a:pPr indent="0" marL="0">
                        <a:buNone/>
                      </a:pPr>
                      <a:r>
                        <a:rPr lang="en-US" sz="1050" b="1" dirty="0">
                          <a:solidFill>
                            <a:srgbClr val="000000"/>
                          </a:solidFill>
                          <a:latin typeface="Calibri" pitchFamily="34" charset="0"/>
                          <a:ea typeface="Calibri" pitchFamily="34" charset="-122"/>
                          <a:cs typeface="Calibri" pitchFamily="34" charset="-120"/>
                        </a:rPr>
                        <a:t>(Madaan et al., 2023)</a:t>
                      </a:r>
                      <a:endParaRPr lang="en-US" sz="10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b="1" dirty="0">
                          <a:solidFill>
                            <a:srgbClr val="D97706"/>
                          </a:solidFill>
                          <a:latin typeface="Calibri" pitchFamily="34" charset="0"/>
                          <a:ea typeface="Calibri" pitchFamily="34" charset="-122"/>
                          <a:cs typeface="Calibri" pitchFamily="34" charset="-120"/>
                        </a:rPr>
                        <a:t>Sub-Optimal Initial Prompt</a:t>
                      </a:r>
                      <a:endParaRPr lang="en-US" sz="105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Initial prompt omitted task constraints that were only added in the feedback prompt, creating an illusion of improvement.</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Section 5</a:t>
                      </a:r>
                      <a:endParaRPr lang="en-US" sz="1000" dirty="0">
                        <a:latin typeface="Calibri" charset="0"/>
                        <a:ea typeface="Calibri" charset="0"/>
                        <a:cs typeface="Calibri" charset="0"/>
                      </a:endParaRPr>
                    </a:p>
                  </a:txBody>
                  <a:tcPr marL="76200" marR="76200" marT="50800" marB="508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069080"/>
            <a:ext cx="8046720" cy="411480"/>
          </a:xfrm>
          <a:prstGeom prst="roundRect">
            <a:avLst>
              <a:gd name="adj" fmla="val 11111"/>
            </a:avLst>
          </a:prstGeom>
          <a:solidFill>
            <a:srgbClr val="FDF2F4"/>
          </a:solidFill>
          <a:ln w="6350">
            <a:solidFill>
              <a:srgbClr val="800020"/>
            </a:solidFill>
            <a:prstDash val="solid"/>
          </a:ln>
        </p:spPr>
      </p:sp>
      <p:sp>
        <p:nvSpPr>
          <p:cNvPr id="7" name="Text 4"/>
          <p:cNvSpPr/>
          <p:nvPr/>
        </p:nvSpPr>
        <p:spPr>
          <a:xfrm>
            <a:off x="731520" y="4069080"/>
            <a:ext cx="7680960" cy="411480"/>
          </a:xfrm>
          <a:prstGeom prst="rect">
            <a:avLst/>
          </a:prstGeom>
          <a:noFill/>
          <a:ln/>
        </p:spPr>
        <p:txBody>
          <a:bodyPr wrap="square" lIns="0" tIns="0" rIns="0" bIns="0" rtlCol="0" anchor="ctr"/>
          <a:lstStyle/>
          <a:p>
            <a:pPr indent="0" marL="0">
              <a:buNone/>
            </a:pPr>
            <a:r>
              <a:rPr lang="en-US" sz="1050" b="1" dirty="0">
                <a:solidFill>
                  <a:srgbClr val="800020"/>
                </a:solidFill>
                <a:latin typeface="Calibri" pitchFamily="34" charset="0"/>
                <a:ea typeface="Calibri" pitchFamily="34" charset="-122"/>
                <a:cs typeface="Calibri" pitchFamily="34" charset="-120"/>
              </a:rPr>
              <a:t>Takeaway: When these methodological confounders are eliminated, reported gains disappear.</a:t>
            </a:r>
            <a:endParaRPr lang="en-US" sz="1050" dirty="0"/>
          </a:p>
        </p:txBody>
      </p:sp>
      <p:sp>
        <p:nvSpPr>
          <p:cNvPr id="9" name="Text 5"/>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0" name="Text 6"/>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08/24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3. METHODOLOGY</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Evaluation Reasoning Benchmarks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Tasks: Standard reasoning datasets spanning mathematics, commonsense logic, and multi-hop QA</a:t>
            </a:r>
            <a:endParaRPr lang="en-US" sz="1100" dirty="0"/>
          </a:p>
        </p:txBody>
      </p:sp>
      <p:sp>
        <p:nvSpPr>
          <p:cNvPr id="5" name="Shape 3"/>
          <p:cNvSpPr/>
          <p:nvPr/>
        </p:nvSpPr>
        <p:spPr>
          <a:xfrm>
            <a:off x="548640" y="1234440"/>
            <a:ext cx="2560320" cy="3200400"/>
          </a:xfrm>
          <a:prstGeom prst="roundRect">
            <a:avLst>
              <a:gd name="adj" fmla="val 3571"/>
            </a:avLst>
          </a:prstGeom>
          <a:solidFill>
            <a:srgbClr val="F8F9FA"/>
          </a:solidFill>
          <a:ln w="12700">
            <a:solidFill>
              <a:srgbClr val="E2E8F0"/>
            </a:solidFill>
            <a:prstDash val="solid"/>
          </a:ln>
        </p:spPr>
      </p:sp>
      <p:sp>
        <p:nvSpPr>
          <p:cNvPr id="6" name="Text 4"/>
          <p:cNvSpPr/>
          <p:nvPr/>
        </p:nvSpPr>
        <p:spPr>
          <a:xfrm>
            <a:off x="548640" y="1371600"/>
            <a:ext cx="2560320" cy="411480"/>
          </a:xfrm>
          <a:prstGeom prst="rect">
            <a:avLst/>
          </a:prstGeom>
          <a:noFill/>
          <a:ln/>
        </p:spPr>
        <p:txBody>
          <a:bodyPr wrap="square" lIns="0" tIns="0" rIns="0" bIns="0" rtlCol="0" anchor="ctr"/>
          <a:lstStyle/>
          <a:p>
            <a:pPr algn="ctr" indent="0" marL="0">
              <a:buNone/>
            </a:pPr>
            <a:r>
              <a:rPr lang="en-US" sz="2200" b="1" dirty="0">
                <a:solidFill>
                  <a:srgbClr val="800020"/>
                </a:solidFill>
                <a:latin typeface="Century Schoolbook" pitchFamily="34" charset="0"/>
                <a:ea typeface="Century Schoolbook" pitchFamily="34" charset="-122"/>
                <a:cs typeface="Century Schoolbook" pitchFamily="34" charset="-120"/>
              </a:rPr>
              <a:t>1,319 Problems</a:t>
            </a:r>
            <a:endParaRPr lang="en-US" sz="2200" dirty="0"/>
          </a:p>
        </p:txBody>
      </p:sp>
      <p:sp>
        <p:nvSpPr>
          <p:cNvPr id="7" name="Text 5"/>
          <p:cNvSpPr/>
          <p:nvPr/>
        </p:nvSpPr>
        <p:spPr>
          <a:xfrm>
            <a:off x="548640" y="1783080"/>
            <a:ext cx="2560320" cy="274320"/>
          </a:xfrm>
          <a:prstGeom prst="rect">
            <a:avLst/>
          </a:prstGeom>
          <a:noFill/>
          <a:ln/>
        </p:spPr>
        <p:txBody>
          <a:bodyPr wrap="square" lIns="0" tIns="0" rIns="0" bIns="0" rtlCol="0" anchor="ctr"/>
          <a:lstStyle/>
          <a:p>
            <a:pPr algn="ctr" indent="0" marL="0">
              <a:buNone/>
            </a:pPr>
            <a:r>
              <a:rPr lang="en-US" sz="1400" b="1" dirty="0">
                <a:solidFill>
                  <a:srgbClr val="0F172A"/>
                </a:solidFill>
                <a:latin typeface="Century Schoolbook" pitchFamily="34" charset="0"/>
                <a:ea typeface="Century Schoolbook" pitchFamily="34" charset="-122"/>
                <a:cs typeface="Century Schoolbook" pitchFamily="34" charset="-120"/>
              </a:rPr>
              <a:t>GSM8K</a:t>
            </a:r>
            <a:endParaRPr lang="en-US" sz="1400" dirty="0"/>
          </a:p>
        </p:txBody>
      </p:sp>
      <p:sp>
        <p:nvSpPr>
          <p:cNvPr id="8" name="Shape 6"/>
          <p:cNvSpPr/>
          <p:nvPr/>
        </p:nvSpPr>
        <p:spPr>
          <a:xfrm>
            <a:off x="822960" y="2103120"/>
            <a:ext cx="2011680" cy="219456"/>
          </a:xfrm>
          <a:prstGeom prst="roundRect">
            <a:avLst>
              <a:gd name="adj" fmla="val 16667"/>
            </a:avLst>
          </a:prstGeom>
          <a:solidFill>
            <a:srgbClr val="FFFFFF"/>
          </a:solidFill>
          <a:ln w="6350">
            <a:solidFill>
              <a:srgbClr val="E2E8F0"/>
            </a:solidFill>
            <a:prstDash val="solid"/>
          </a:ln>
        </p:spPr>
      </p:sp>
      <p:sp>
        <p:nvSpPr>
          <p:cNvPr id="9" name="Text 7"/>
          <p:cNvSpPr/>
          <p:nvPr/>
        </p:nvSpPr>
        <p:spPr>
          <a:xfrm>
            <a:off x="822960" y="2103120"/>
            <a:ext cx="2011680" cy="219456"/>
          </a:xfrm>
          <a:prstGeom prst="rect">
            <a:avLst/>
          </a:prstGeom>
          <a:noFill/>
          <a:ln/>
        </p:spPr>
        <p:txBody>
          <a:bodyPr wrap="square" lIns="0" tIns="0" rIns="0" bIns="0" rtlCol="0" anchor="ctr"/>
          <a:lstStyle/>
          <a:p>
            <a:pPr algn="ctr" indent="0" marL="0">
              <a:buNone/>
            </a:pPr>
            <a:r>
              <a:rPr lang="en-US" sz="900" b="1" dirty="0">
                <a:solidFill>
                  <a:srgbClr val="64748B"/>
                </a:solidFill>
                <a:latin typeface="Calibri" pitchFamily="34" charset="0"/>
                <a:ea typeface="Calibri" pitchFamily="34" charset="-122"/>
                <a:cs typeface="Calibri" pitchFamily="34" charset="-120"/>
              </a:rPr>
              <a:t>Grade School Math</a:t>
            </a:r>
            <a:endParaRPr lang="en-US" sz="900" dirty="0"/>
          </a:p>
        </p:txBody>
      </p:sp>
      <p:sp>
        <p:nvSpPr>
          <p:cNvPr id="10" name="Text 8"/>
          <p:cNvSpPr/>
          <p:nvPr/>
        </p:nvSpPr>
        <p:spPr>
          <a:xfrm>
            <a:off x="731520" y="2423160"/>
            <a:ext cx="2194560" cy="118872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Requires 2–8 steps of arithmetic reasoning. Evaluates whether LLMs can track arithmetic state and logical constraints over sequential derivations.</a:t>
            </a:r>
            <a:endParaRPr lang="en-US" sz="1050" dirty="0"/>
          </a:p>
        </p:txBody>
      </p:sp>
      <p:sp>
        <p:nvSpPr>
          <p:cNvPr id="11" name="Shape 9"/>
          <p:cNvSpPr/>
          <p:nvPr/>
        </p:nvSpPr>
        <p:spPr>
          <a:xfrm>
            <a:off x="685800" y="3749040"/>
            <a:ext cx="2286000" cy="548640"/>
          </a:xfrm>
          <a:prstGeom prst="roundRect">
            <a:avLst>
              <a:gd name="adj" fmla="val 8333"/>
            </a:avLst>
          </a:prstGeom>
          <a:solidFill>
            <a:srgbClr val="FDF2F4"/>
          </a:solidFill>
          <a:ln w="6350">
            <a:solidFill>
              <a:srgbClr val="800020"/>
            </a:solidFill>
            <a:prstDash val="solid"/>
          </a:ln>
        </p:spPr>
      </p:sp>
      <p:sp>
        <p:nvSpPr>
          <p:cNvPr id="12" name="Text 10"/>
          <p:cNvSpPr/>
          <p:nvPr/>
        </p:nvSpPr>
        <p:spPr>
          <a:xfrm>
            <a:off x="731520" y="3767328"/>
            <a:ext cx="2194560" cy="502920"/>
          </a:xfrm>
          <a:prstGeom prst="rect">
            <a:avLst/>
          </a:prstGeom>
          <a:noFill/>
          <a:ln/>
        </p:spPr>
        <p:txBody>
          <a:bodyPr wrap="square" lIns="0" tIns="0" rIns="0" bIns="0" rtlCol="0" anchor="ctr"/>
          <a:lstStyle/>
          <a:p>
            <a:pPr indent="0" marL="0">
              <a:buNone/>
            </a:pPr>
            <a:r>
              <a:rPr lang="en-US" sz="900" i="1" dirty="0">
                <a:solidFill>
                  <a:srgbClr val="5C0017"/>
                </a:solidFill>
                <a:latin typeface="Calibri" pitchFamily="34" charset="0"/>
                <a:ea typeface="Calibri" pitchFamily="34" charset="-122"/>
                <a:cs typeface="Calibri" pitchFamily="34" charset="-120"/>
              </a:rPr>
              <a:t>Kim et al. claimed +7% gain using oracle labels.</a:t>
            </a:r>
            <a:endParaRPr lang="en-US" sz="900" dirty="0"/>
          </a:p>
        </p:txBody>
      </p:sp>
      <p:sp>
        <p:nvSpPr>
          <p:cNvPr id="13" name="Shape 11"/>
          <p:cNvSpPr/>
          <p:nvPr/>
        </p:nvSpPr>
        <p:spPr>
          <a:xfrm>
            <a:off x="3337560" y="1234440"/>
            <a:ext cx="2560320" cy="3200400"/>
          </a:xfrm>
          <a:prstGeom prst="roundRect">
            <a:avLst>
              <a:gd name="adj" fmla="val 3571"/>
            </a:avLst>
          </a:prstGeom>
          <a:solidFill>
            <a:srgbClr val="F8F9FA"/>
          </a:solidFill>
          <a:ln w="12700">
            <a:solidFill>
              <a:srgbClr val="E2E8F0"/>
            </a:solidFill>
            <a:prstDash val="solid"/>
          </a:ln>
        </p:spPr>
      </p:sp>
      <p:sp>
        <p:nvSpPr>
          <p:cNvPr id="14" name="Text 12"/>
          <p:cNvSpPr/>
          <p:nvPr/>
        </p:nvSpPr>
        <p:spPr>
          <a:xfrm>
            <a:off x="3337560" y="1371600"/>
            <a:ext cx="2560320" cy="411480"/>
          </a:xfrm>
          <a:prstGeom prst="rect">
            <a:avLst/>
          </a:prstGeom>
          <a:noFill/>
          <a:ln/>
        </p:spPr>
        <p:txBody>
          <a:bodyPr wrap="square" lIns="0" tIns="0" rIns="0" bIns="0" rtlCol="0" anchor="ctr"/>
          <a:lstStyle/>
          <a:p>
            <a:pPr algn="ctr" indent="0" marL="0">
              <a:buNone/>
            </a:pPr>
            <a:r>
              <a:rPr lang="en-US" sz="2200" b="1" dirty="0">
                <a:solidFill>
                  <a:srgbClr val="800020"/>
                </a:solidFill>
                <a:latin typeface="Century Schoolbook" pitchFamily="34" charset="0"/>
                <a:ea typeface="Century Schoolbook" pitchFamily="34" charset="-122"/>
                <a:cs typeface="Century Schoolbook" pitchFamily="34" charset="-120"/>
              </a:rPr>
              <a:t>1,221 Problems</a:t>
            </a:r>
            <a:endParaRPr lang="en-US" sz="2200" dirty="0"/>
          </a:p>
        </p:txBody>
      </p:sp>
      <p:sp>
        <p:nvSpPr>
          <p:cNvPr id="15" name="Text 13"/>
          <p:cNvSpPr/>
          <p:nvPr/>
        </p:nvSpPr>
        <p:spPr>
          <a:xfrm>
            <a:off x="3337560" y="1783080"/>
            <a:ext cx="2560320" cy="274320"/>
          </a:xfrm>
          <a:prstGeom prst="rect">
            <a:avLst/>
          </a:prstGeom>
          <a:noFill/>
          <a:ln/>
        </p:spPr>
        <p:txBody>
          <a:bodyPr wrap="square" lIns="0" tIns="0" rIns="0" bIns="0" rtlCol="0" anchor="ctr"/>
          <a:lstStyle/>
          <a:p>
            <a:pPr algn="ctr" indent="0" marL="0">
              <a:buNone/>
            </a:pPr>
            <a:r>
              <a:rPr lang="en-US" sz="1400" b="1" dirty="0">
                <a:solidFill>
                  <a:srgbClr val="0F172A"/>
                </a:solidFill>
                <a:latin typeface="Century Schoolbook" pitchFamily="34" charset="0"/>
                <a:ea typeface="Century Schoolbook" pitchFamily="34" charset="-122"/>
                <a:cs typeface="Century Schoolbook" pitchFamily="34" charset="-120"/>
              </a:rPr>
              <a:t>CommonSenseQA</a:t>
            </a:r>
            <a:endParaRPr lang="en-US" sz="1400" dirty="0"/>
          </a:p>
        </p:txBody>
      </p:sp>
      <p:sp>
        <p:nvSpPr>
          <p:cNvPr id="16" name="Shape 14"/>
          <p:cNvSpPr/>
          <p:nvPr/>
        </p:nvSpPr>
        <p:spPr>
          <a:xfrm>
            <a:off x="3611880" y="2103120"/>
            <a:ext cx="2011680" cy="219456"/>
          </a:xfrm>
          <a:prstGeom prst="roundRect">
            <a:avLst>
              <a:gd name="adj" fmla="val 16667"/>
            </a:avLst>
          </a:prstGeom>
          <a:solidFill>
            <a:srgbClr val="FFFFFF"/>
          </a:solidFill>
          <a:ln w="6350">
            <a:solidFill>
              <a:srgbClr val="E2E8F0"/>
            </a:solidFill>
            <a:prstDash val="solid"/>
          </a:ln>
        </p:spPr>
      </p:sp>
      <p:sp>
        <p:nvSpPr>
          <p:cNvPr id="17" name="Text 15"/>
          <p:cNvSpPr/>
          <p:nvPr/>
        </p:nvSpPr>
        <p:spPr>
          <a:xfrm>
            <a:off x="3611880" y="2103120"/>
            <a:ext cx="2011680" cy="219456"/>
          </a:xfrm>
          <a:prstGeom prst="rect">
            <a:avLst/>
          </a:prstGeom>
          <a:noFill/>
          <a:ln/>
        </p:spPr>
        <p:txBody>
          <a:bodyPr wrap="square" lIns="0" tIns="0" rIns="0" bIns="0" rtlCol="0" anchor="ctr"/>
          <a:lstStyle/>
          <a:p>
            <a:pPr algn="ctr" indent="0" marL="0">
              <a:buNone/>
            </a:pPr>
            <a:r>
              <a:rPr lang="en-US" sz="900" b="1" dirty="0">
                <a:solidFill>
                  <a:srgbClr val="64748B"/>
                </a:solidFill>
                <a:latin typeface="Calibri" pitchFamily="34" charset="0"/>
                <a:ea typeface="Calibri" pitchFamily="34" charset="-122"/>
                <a:cs typeface="Calibri" pitchFamily="34" charset="-120"/>
              </a:rPr>
              <a:t>Commonsense Logic</a:t>
            </a:r>
            <a:endParaRPr lang="en-US" sz="900" dirty="0"/>
          </a:p>
        </p:txBody>
      </p:sp>
      <p:sp>
        <p:nvSpPr>
          <p:cNvPr id="18" name="Text 16"/>
          <p:cNvSpPr/>
          <p:nvPr/>
        </p:nvSpPr>
        <p:spPr>
          <a:xfrm>
            <a:off x="3520440" y="2423160"/>
            <a:ext cx="2194560" cy="118872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5-choice questions requiring complex real-world commonsense reasoning designed with subtle semantic distractors.</a:t>
            </a:r>
            <a:endParaRPr lang="en-US" sz="1050" dirty="0"/>
          </a:p>
        </p:txBody>
      </p:sp>
      <p:sp>
        <p:nvSpPr>
          <p:cNvPr id="19" name="Shape 17"/>
          <p:cNvSpPr/>
          <p:nvPr/>
        </p:nvSpPr>
        <p:spPr>
          <a:xfrm>
            <a:off x="3474720" y="3749040"/>
            <a:ext cx="2286000" cy="548640"/>
          </a:xfrm>
          <a:prstGeom prst="roundRect">
            <a:avLst>
              <a:gd name="adj" fmla="val 8333"/>
            </a:avLst>
          </a:prstGeom>
          <a:solidFill>
            <a:srgbClr val="FDF2F4"/>
          </a:solidFill>
          <a:ln w="6350">
            <a:solidFill>
              <a:srgbClr val="800020"/>
            </a:solidFill>
            <a:prstDash val="solid"/>
          </a:ln>
        </p:spPr>
      </p:sp>
      <p:sp>
        <p:nvSpPr>
          <p:cNvPr id="20" name="Text 18"/>
          <p:cNvSpPr/>
          <p:nvPr/>
        </p:nvSpPr>
        <p:spPr>
          <a:xfrm>
            <a:off x="3520440" y="3767328"/>
            <a:ext cx="2194560" cy="502920"/>
          </a:xfrm>
          <a:prstGeom prst="rect">
            <a:avLst/>
          </a:prstGeom>
          <a:noFill/>
          <a:ln/>
        </p:spPr>
        <p:txBody>
          <a:bodyPr wrap="square" lIns="0" tIns="0" rIns="0" bIns="0" rtlCol="0" anchor="ctr"/>
          <a:lstStyle/>
          <a:p>
            <a:pPr indent="0" marL="0">
              <a:buNone/>
            </a:pPr>
            <a:r>
              <a:rPr lang="en-US" sz="900" i="1" dirty="0">
                <a:solidFill>
                  <a:srgbClr val="5C0017"/>
                </a:solidFill>
                <a:latin typeface="Calibri" pitchFamily="34" charset="0"/>
                <a:ea typeface="Calibri" pitchFamily="34" charset="-122"/>
                <a:cs typeface="Calibri" pitchFamily="34" charset="-120"/>
              </a:rPr>
              <a:t>Kim et al. claimed +15% gain with oracle guidance.</a:t>
            </a:r>
            <a:endParaRPr lang="en-US" sz="900" dirty="0"/>
          </a:p>
        </p:txBody>
      </p:sp>
      <p:sp>
        <p:nvSpPr>
          <p:cNvPr id="21" name="Shape 19"/>
          <p:cNvSpPr/>
          <p:nvPr/>
        </p:nvSpPr>
        <p:spPr>
          <a:xfrm>
            <a:off x="6126480" y="1234440"/>
            <a:ext cx="2560320" cy="3200400"/>
          </a:xfrm>
          <a:prstGeom prst="roundRect">
            <a:avLst>
              <a:gd name="adj" fmla="val 3571"/>
            </a:avLst>
          </a:prstGeom>
          <a:solidFill>
            <a:srgbClr val="F8F9FA"/>
          </a:solidFill>
          <a:ln w="12700">
            <a:solidFill>
              <a:srgbClr val="E2E8F0"/>
            </a:solidFill>
            <a:prstDash val="solid"/>
          </a:ln>
        </p:spPr>
      </p:sp>
      <p:sp>
        <p:nvSpPr>
          <p:cNvPr id="22" name="Text 20"/>
          <p:cNvSpPr/>
          <p:nvPr/>
        </p:nvSpPr>
        <p:spPr>
          <a:xfrm>
            <a:off x="6126480" y="1371600"/>
            <a:ext cx="2560320" cy="411480"/>
          </a:xfrm>
          <a:prstGeom prst="rect">
            <a:avLst/>
          </a:prstGeom>
          <a:noFill/>
          <a:ln/>
        </p:spPr>
        <p:txBody>
          <a:bodyPr wrap="square" lIns="0" tIns="0" rIns="0" bIns="0" rtlCol="0" anchor="ctr"/>
          <a:lstStyle/>
          <a:p>
            <a:pPr algn="ctr" indent="0" marL="0">
              <a:buNone/>
            </a:pPr>
            <a:r>
              <a:rPr lang="en-US" sz="2200" b="1" dirty="0">
                <a:solidFill>
                  <a:srgbClr val="800020"/>
                </a:solidFill>
                <a:latin typeface="Century Schoolbook" pitchFamily="34" charset="0"/>
                <a:ea typeface="Century Schoolbook" pitchFamily="34" charset="-122"/>
                <a:cs typeface="Century Schoolbook" pitchFamily="34" charset="-120"/>
              </a:rPr>
              <a:t>100 Samples (Closed-Book)</a:t>
            </a:r>
            <a:endParaRPr lang="en-US" sz="2200" dirty="0"/>
          </a:p>
        </p:txBody>
      </p:sp>
      <p:sp>
        <p:nvSpPr>
          <p:cNvPr id="23" name="Text 21"/>
          <p:cNvSpPr/>
          <p:nvPr/>
        </p:nvSpPr>
        <p:spPr>
          <a:xfrm>
            <a:off x="6126480" y="1783080"/>
            <a:ext cx="2560320" cy="274320"/>
          </a:xfrm>
          <a:prstGeom prst="rect">
            <a:avLst/>
          </a:prstGeom>
          <a:noFill/>
          <a:ln/>
        </p:spPr>
        <p:txBody>
          <a:bodyPr wrap="square" lIns="0" tIns="0" rIns="0" bIns="0" rtlCol="0" anchor="ctr"/>
          <a:lstStyle/>
          <a:p>
            <a:pPr algn="ctr" indent="0" marL="0">
              <a:buNone/>
            </a:pPr>
            <a:r>
              <a:rPr lang="en-US" sz="1400" b="1" dirty="0">
                <a:solidFill>
                  <a:srgbClr val="0F172A"/>
                </a:solidFill>
                <a:latin typeface="Century Schoolbook" pitchFamily="34" charset="0"/>
                <a:ea typeface="Century Schoolbook" pitchFamily="34" charset="-122"/>
                <a:cs typeface="Century Schoolbook" pitchFamily="34" charset="-120"/>
              </a:rPr>
              <a:t>HotpotQA</a:t>
            </a:r>
            <a:endParaRPr lang="en-US" sz="1400" dirty="0"/>
          </a:p>
        </p:txBody>
      </p:sp>
      <p:sp>
        <p:nvSpPr>
          <p:cNvPr id="24" name="Shape 22"/>
          <p:cNvSpPr/>
          <p:nvPr/>
        </p:nvSpPr>
        <p:spPr>
          <a:xfrm>
            <a:off x="6400800" y="2103120"/>
            <a:ext cx="2011680" cy="219456"/>
          </a:xfrm>
          <a:prstGeom prst="roundRect">
            <a:avLst>
              <a:gd name="adj" fmla="val 16667"/>
            </a:avLst>
          </a:prstGeom>
          <a:solidFill>
            <a:srgbClr val="FFFFFF"/>
          </a:solidFill>
          <a:ln w="6350">
            <a:solidFill>
              <a:srgbClr val="E2E8F0"/>
            </a:solidFill>
            <a:prstDash val="solid"/>
          </a:ln>
        </p:spPr>
      </p:sp>
      <p:sp>
        <p:nvSpPr>
          <p:cNvPr id="25" name="Text 23"/>
          <p:cNvSpPr/>
          <p:nvPr/>
        </p:nvSpPr>
        <p:spPr>
          <a:xfrm>
            <a:off x="6400800" y="2103120"/>
            <a:ext cx="2011680" cy="219456"/>
          </a:xfrm>
          <a:prstGeom prst="rect">
            <a:avLst/>
          </a:prstGeom>
          <a:noFill/>
          <a:ln/>
        </p:spPr>
        <p:txBody>
          <a:bodyPr wrap="square" lIns="0" tIns="0" rIns="0" bIns="0" rtlCol="0" anchor="ctr"/>
          <a:lstStyle/>
          <a:p>
            <a:pPr algn="ctr" indent="0" marL="0">
              <a:buNone/>
            </a:pPr>
            <a:r>
              <a:rPr lang="en-US" sz="900" b="1" dirty="0">
                <a:solidFill>
                  <a:srgbClr val="64748B"/>
                </a:solidFill>
                <a:latin typeface="Calibri" pitchFamily="34" charset="0"/>
                <a:ea typeface="Calibri" pitchFamily="34" charset="-122"/>
                <a:cs typeface="Calibri" pitchFamily="34" charset="-120"/>
              </a:rPr>
              <a:t>Information Synthesis</a:t>
            </a:r>
            <a:endParaRPr lang="en-US" sz="900" dirty="0"/>
          </a:p>
        </p:txBody>
      </p:sp>
      <p:sp>
        <p:nvSpPr>
          <p:cNvPr id="26" name="Text 24"/>
          <p:cNvSpPr/>
          <p:nvPr/>
        </p:nvSpPr>
        <p:spPr>
          <a:xfrm>
            <a:off x="6309360" y="2423160"/>
            <a:ext cx="2194560" cy="118872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Open-domain multi-hop questions requiring combining facts across multiple Wikipedia sources, evaluated in a challenging closed-book setting (Exact Match).</a:t>
            </a:r>
            <a:endParaRPr lang="en-US" sz="1050" dirty="0"/>
          </a:p>
        </p:txBody>
      </p:sp>
      <p:sp>
        <p:nvSpPr>
          <p:cNvPr id="27" name="Shape 25"/>
          <p:cNvSpPr/>
          <p:nvPr/>
        </p:nvSpPr>
        <p:spPr>
          <a:xfrm>
            <a:off x="6263640" y="3749040"/>
            <a:ext cx="2286000" cy="548640"/>
          </a:xfrm>
          <a:prstGeom prst="roundRect">
            <a:avLst>
              <a:gd name="adj" fmla="val 8333"/>
            </a:avLst>
          </a:prstGeom>
          <a:solidFill>
            <a:srgbClr val="FDF2F4"/>
          </a:solidFill>
          <a:ln w="6350">
            <a:solidFill>
              <a:srgbClr val="800020"/>
            </a:solidFill>
            <a:prstDash val="solid"/>
          </a:ln>
        </p:spPr>
      </p:sp>
      <p:sp>
        <p:nvSpPr>
          <p:cNvPr id="28" name="Text 26"/>
          <p:cNvSpPr/>
          <p:nvPr/>
        </p:nvSpPr>
        <p:spPr>
          <a:xfrm>
            <a:off x="6309360" y="3767328"/>
            <a:ext cx="2194560" cy="502920"/>
          </a:xfrm>
          <a:prstGeom prst="rect">
            <a:avLst/>
          </a:prstGeom>
          <a:noFill/>
          <a:ln/>
        </p:spPr>
        <p:txBody>
          <a:bodyPr wrap="square" lIns="0" tIns="0" rIns="0" bIns="0" rtlCol="0" anchor="ctr"/>
          <a:lstStyle/>
          <a:p>
            <a:pPr indent="0" marL="0">
              <a:buNone/>
            </a:pPr>
            <a:r>
              <a:rPr lang="en-US" sz="900" i="1" dirty="0">
                <a:solidFill>
                  <a:srgbClr val="5C0017"/>
                </a:solidFill>
                <a:latin typeface="Calibri" pitchFamily="34" charset="0"/>
                <a:ea typeface="Calibri" pitchFamily="34" charset="-122"/>
                <a:cs typeface="Calibri" pitchFamily="34" charset="-120"/>
              </a:rPr>
              <a:t>Shinn et al. reported improvements via reflection.</a:t>
            </a:r>
            <a:endParaRPr lang="en-US" sz="900" dirty="0"/>
          </a:p>
        </p:txBody>
      </p:sp>
      <p:sp>
        <p:nvSpPr>
          <p:cNvPr id="30" name="Text 27"/>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1" name="Text 28"/>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09/24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3. METHODOLOGY</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Models &amp; Experimental Controls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Models &amp; Setup: Rigorous evaluation across leading proprietary and open-weight LLMs</a:t>
            </a:r>
            <a:endParaRPr lang="en-US" sz="1100" dirty="0"/>
          </a:p>
        </p:txBody>
      </p:sp>
      <p:sp>
        <p:nvSpPr>
          <p:cNvPr id="5" name="Shape 3"/>
          <p:cNvSpPr/>
          <p:nvPr/>
        </p:nvSpPr>
        <p:spPr>
          <a:xfrm>
            <a:off x="548640" y="1234440"/>
            <a:ext cx="3886200" cy="3200400"/>
          </a:xfrm>
          <a:prstGeom prst="roundRect">
            <a:avLst>
              <a:gd name="adj" fmla="val 2857"/>
            </a:avLst>
          </a:prstGeom>
          <a:solidFill>
            <a:srgbClr val="F8F9FA"/>
          </a:solidFill>
          <a:ln w="12700">
            <a:solidFill>
              <a:srgbClr val="E2E8F0"/>
            </a:solidFill>
            <a:prstDash val="solid"/>
          </a:ln>
        </p:spPr>
      </p:sp>
      <p:sp>
        <p:nvSpPr>
          <p:cNvPr id="6" name="Text 4"/>
          <p:cNvSpPr/>
          <p:nvPr/>
        </p:nvSpPr>
        <p:spPr>
          <a:xfrm>
            <a:off x="777240" y="1371600"/>
            <a:ext cx="3429000" cy="274320"/>
          </a:xfrm>
          <a:prstGeom prst="rect">
            <a:avLst/>
          </a:prstGeom>
          <a:noFill/>
          <a:ln/>
        </p:spPr>
        <p:txBody>
          <a:bodyPr wrap="square" lIns="0" tIns="0" rIns="0" bIns="0" rtlCol="0" anchor="ctr"/>
          <a:lstStyle/>
          <a:p>
            <a:pPr indent="0" marL="0">
              <a:buNone/>
            </a:pPr>
            <a:r>
              <a:rPr lang="en-US" sz="1400" b="1" dirty="0">
                <a:solidFill>
                  <a:srgbClr val="800020"/>
                </a:solidFill>
                <a:latin typeface="Century Schoolbook" pitchFamily="34" charset="0"/>
                <a:ea typeface="Century Schoolbook" pitchFamily="34" charset="-122"/>
                <a:cs typeface="Century Schoolbook" pitchFamily="34" charset="-120"/>
              </a:rPr>
              <a:t>Evaluated Models</a:t>
            </a:r>
            <a:endParaRPr lang="en-US" sz="1400" dirty="0"/>
          </a:p>
        </p:txBody>
      </p:sp>
      <p:sp>
        <p:nvSpPr>
          <p:cNvPr id="7" name="Shape 5"/>
          <p:cNvSpPr/>
          <p:nvPr/>
        </p:nvSpPr>
        <p:spPr>
          <a:xfrm>
            <a:off x="777240" y="1783080"/>
            <a:ext cx="256032" cy="256032"/>
          </a:xfrm>
          <a:prstGeom prst="ellipse">
            <a:avLst/>
          </a:prstGeom>
          <a:solidFill>
            <a:srgbClr val="0F172A"/>
          </a:solidFill>
          <a:ln/>
        </p:spPr>
      </p:sp>
      <p:sp>
        <p:nvSpPr>
          <p:cNvPr id="8" name="Text 6"/>
          <p:cNvSpPr/>
          <p:nvPr/>
        </p:nvSpPr>
        <p:spPr>
          <a:xfrm>
            <a:off x="777240" y="178308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143000" y="1737360"/>
            <a:ext cx="2011680" cy="228600"/>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GPT-3.5-Turbo</a:t>
            </a:r>
            <a:endParaRPr lang="en-US" sz="1150" dirty="0"/>
          </a:p>
        </p:txBody>
      </p:sp>
      <p:sp>
        <p:nvSpPr>
          <p:cNvPr id="10" name="Text 8"/>
          <p:cNvSpPr/>
          <p:nvPr/>
        </p:nvSpPr>
        <p:spPr>
          <a:xfrm>
            <a:off x="1143000" y="1938528"/>
            <a:ext cx="2514600" cy="18288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gpt-3.5-turbo-0613</a:t>
            </a:r>
            <a:endParaRPr lang="en-US" sz="900" dirty="0"/>
          </a:p>
        </p:txBody>
      </p:sp>
      <p:sp>
        <p:nvSpPr>
          <p:cNvPr id="11" name="Text 9"/>
          <p:cNvSpPr/>
          <p:nvPr/>
        </p:nvSpPr>
        <p:spPr>
          <a:xfrm>
            <a:off x="1143000" y="2121408"/>
            <a:ext cx="2514600" cy="2286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Full dataset evaluations on GSM8K (1,319) and CSQA (1,221).</a:t>
            </a:r>
            <a:endParaRPr lang="en-US" sz="950" dirty="0"/>
          </a:p>
        </p:txBody>
      </p:sp>
      <p:sp>
        <p:nvSpPr>
          <p:cNvPr id="12" name="Shape 10"/>
          <p:cNvSpPr/>
          <p:nvPr/>
        </p:nvSpPr>
        <p:spPr>
          <a:xfrm>
            <a:off x="777240" y="2423160"/>
            <a:ext cx="256032" cy="256032"/>
          </a:xfrm>
          <a:prstGeom prst="ellipse">
            <a:avLst/>
          </a:prstGeom>
          <a:solidFill>
            <a:srgbClr val="0F172A"/>
          </a:solidFill>
          <a:ln/>
        </p:spPr>
      </p:sp>
      <p:sp>
        <p:nvSpPr>
          <p:cNvPr id="13" name="Text 11"/>
          <p:cNvSpPr/>
          <p:nvPr/>
        </p:nvSpPr>
        <p:spPr>
          <a:xfrm>
            <a:off x="777240" y="242316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143000" y="2377440"/>
            <a:ext cx="2011680" cy="228600"/>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GPT-4</a:t>
            </a:r>
            <a:endParaRPr lang="en-US" sz="1150" dirty="0"/>
          </a:p>
        </p:txBody>
      </p:sp>
      <p:sp>
        <p:nvSpPr>
          <p:cNvPr id="15" name="Text 13"/>
          <p:cNvSpPr/>
          <p:nvPr/>
        </p:nvSpPr>
        <p:spPr>
          <a:xfrm>
            <a:off x="1143000" y="2578608"/>
            <a:ext cx="2514600" cy="18288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Snapshot 2023/08/29</a:t>
            </a:r>
            <a:endParaRPr lang="en-US" sz="900" dirty="0"/>
          </a:p>
        </p:txBody>
      </p:sp>
      <p:sp>
        <p:nvSpPr>
          <p:cNvPr id="16" name="Text 14"/>
          <p:cNvSpPr/>
          <p:nvPr/>
        </p:nvSpPr>
        <p:spPr>
          <a:xfrm>
            <a:off x="1143000" y="2761488"/>
            <a:ext cx="2514600" cy="2286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Flagship proprietary model evaluated on standard benchmark splits.</a:t>
            </a:r>
            <a:endParaRPr lang="en-US" sz="950" dirty="0"/>
          </a:p>
        </p:txBody>
      </p:sp>
      <p:sp>
        <p:nvSpPr>
          <p:cNvPr id="17" name="Shape 15"/>
          <p:cNvSpPr/>
          <p:nvPr/>
        </p:nvSpPr>
        <p:spPr>
          <a:xfrm>
            <a:off x="777240" y="3063240"/>
            <a:ext cx="256032" cy="256032"/>
          </a:xfrm>
          <a:prstGeom prst="ellipse">
            <a:avLst/>
          </a:prstGeom>
          <a:solidFill>
            <a:srgbClr val="0F172A"/>
          </a:solidFill>
          <a:ln/>
        </p:spPr>
      </p:sp>
      <p:sp>
        <p:nvSpPr>
          <p:cNvPr id="18" name="Text 16"/>
          <p:cNvSpPr/>
          <p:nvPr/>
        </p:nvSpPr>
        <p:spPr>
          <a:xfrm>
            <a:off x="777240" y="306324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1143000" y="3017520"/>
            <a:ext cx="2011680" cy="228600"/>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GPT-4-Turbo</a:t>
            </a:r>
            <a:endParaRPr lang="en-US" sz="1150" dirty="0"/>
          </a:p>
        </p:txBody>
      </p:sp>
      <p:sp>
        <p:nvSpPr>
          <p:cNvPr id="20" name="Text 18"/>
          <p:cNvSpPr/>
          <p:nvPr/>
        </p:nvSpPr>
        <p:spPr>
          <a:xfrm>
            <a:off x="1143000" y="3218688"/>
            <a:ext cx="2514600" cy="18288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gpt-4-1106-preview</a:t>
            </a:r>
            <a:endParaRPr lang="en-US" sz="900" dirty="0"/>
          </a:p>
        </p:txBody>
      </p:sp>
      <p:sp>
        <p:nvSpPr>
          <p:cNvPr id="21" name="Text 19"/>
          <p:cNvSpPr/>
          <p:nvPr/>
        </p:nvSpPr>
        <p:spPr>
          <a:xfrm>
            <a:off x="1143000" y="3401568"/>
            <a:ext cx="2514600" cy="2286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Updated frontier model with enhanced reasoning capabilities.</a:t>
            </a:r>
            <a:endParaRPr lang="en-US" sz="950" dirty="0"/>
          </a:p>
        </p:txBody>
      </p:sp>
      <p:sp>
        <p:nvSpPr>
          <p:cNvPr id="22" name="Shape 20"/>
          <p:cNvSpPr/>
          <p:nvPr/>
        </p:nvSpPr>
        <p:spPr>
          <a:xfrm>
            <a:off x="777240" y="3703320"/>
            <a:ext cx="256032" cy="256032"/>
          </a:xfrm>
          <a:prstGeom prst="ellipse">
            <a:avLst/>
          </a:prstGeom>
          <a:solidFill>
            <a:srgbClr val="0F172A"/>
          </a:solidFill>
          <a:ln/>
        </p:spPr>
      </p:sp>
      <p:sp>
        <p:nvSpPr>
          <p:cNvPr id="23" name="Text 21"/>
          <p:cNvSpPr/>
          <p:nvPr/>
        </p:nvSpPr>
        <p:spPr>
          <a:xfrm>
            <a:off x="777240" y="37033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1143000" y="3657600"/>
            <a:ext cx="2011680" cy="228600"/>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Llama-2-70B-Chat</a:t>
            </a:r>
            <a:endParaRPr lang="en-US" sz="1150" dirty="0"/>
          </a:p>
        </p:txBody>
      </p:sp>
      <p:sp>
        <p:nvSpPr>
          <p:cNvPr id="25" name="Text 23"/>
          <p:cNvSpPr/>
          <p:nvPr/>
        </p:nvSpPr>
        <p:spPr>
          <a:xfrm>
            <a:off x="1143000" y="3858768"/>
            <a:ext cx="2514600" cy="18288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Open-weight baseline</a:t>
            </a:r>
            <a:endParaRPr lang="en-US" sz="900" dirty="0"/>
          </a:p>
        </p:txBody>
      </p:sp>
      <p:sp>
        <p:nvSpPr>
          <p:cNvPr id="26" name="Text 24"/>
          <p:cNvSpPr/>
          <p:nvPr/>
        </p:nvSpPr>
        <p:spPr>
          <a:xfrm>
            <a:off x="1143000" y="4041648"/>
            <a:ext cx="2514600" cy="22860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Leading open-weight foundation model evaluated with greedy &amp; sampling.</a:t>
            </a:r>
            <a:endParaRPr lang="en-US" sz="950" dirty="0"/>
          </a:p>
        </p:txBody>
      </p:sp>
      <p:sp>
        <p:nvSpPr>
          <p:cNvPr id="27" name="Shape 25"/>
          <p:cNvSpPr/>
          <p:nvPr/>
        </p:nvSpPr>
        <p:spPr>
          <a:xfrm>
            <a:off x="4709160" y="1234440"/>
            <a:ext cx="3886200" cy="3200400"/>
          </a:xfrm>
          <a:prstGeom prst="roundRect">
            <a:avLst>
              <a:gd name="adj" fmla="val 2857"/>
            </a:avLst>
          </a:prstGeom>
          <a:solidFill>
            <a:srgbClr val="F8F9FA"/>
          </a:solidFill>
          <a:ln w="12700">
            <a:solidFill>
              <a:srgbClr val="E2E8F0"/>
            </a:solidFill>
            <a:prstDash val="solid"/>
          </a:ln>
        </p:spPr>
      </p:sp>
      <p:sp>
        <p:nvSpPr>
          <p:cNvPr id="28" name="Text 26"/>
          <p:cNvSpPr/>
          <p:nvPr/>
        </p:nvSpPr>
        <p:spPr>
          <a:xfrm>
            <a:off x="4937760" y="1371600"/>
            <a:ext cx="3429000" cy="274320"/>
          </a:xfrm>
          <a:prstGeom prst="rect">
            <a:avLst/>
          </a:prstGeom>
          <a:noFill/>
          <a:ln/>
        </p:spPr>
        <p:txBody>
          <a:bodyPr wrap="square" lIns="0" tIns="0" rIns="0" bIns="0" rtlCol="0" anchor="ctr"/>
          <a:lstStyle/>
          <a:p>
            <a:pPr indent="0" marL="0">
              <a:buNone/>
            </a:pPr>
            <a:r>
              <a:rPr lang="en-US" sz="1400" b="1" dirty="0">
                <a:solidFill>
                  <a:srgbClr val="800020"/>
                </a:solidFill>
                <a:latin typeface="Century Schoolbook" pitchFamily="34" charset="0"/>
                <a:ea typeface="Century Schoolbook" pitchFamily="34" charset="-122"/>
                <a:cs typeface="Century Schoolbook" pitchFamily="34" charset="-120"/>
              </a:rPr>
              <a:t>Experimental Controls &amp; Rigor</a:t>
            </a:r>
            <a:endParaRPr lang="en-US" sz="1400" dirty="0"/>
          </a:p>
        </p:txBody>
      </p:sp>
      <p:sp>
        <p:nvSpPr>
          <p:cNvPr id="29" name="Shape 27"/>
          <p:cNvSpPr/>
          <p:nvPr/>
        </p:nvSpPr>
        <p:spPr>
          <a:xfrm>
            <a:off x="4937760" y="1792224"/>
            <a:ext cx="109728" cy="109728"/>
          </a:xfrm>
          <a:prstGeom prst="ellipse">
            <a:avLst/>
          </a:prstGeom>
          <a:solidFill>
            <a:srgbClr val="800020"/>
          </a:solidFill>
          <a:ln/>
        </p:spPr>
      </p:sp>
      <p:sp>
        <p:nvSpPr>
          <p:cNvPr id="30" name="Text 28"/>
          <p:cNvSpPr/>
          <p:nvPr/>
        </p:nvSpPr>
        <p:spPr>
          <a:xfrm>
            <a:off x="5120640" y="1737360"/>
            <a:ext cx="3063240" cy="201168"/>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Standard Prompting: </a:t>
            </a:r>
            <a:endParaRPr lang="en-US" sz="1050" dirty="0"/>
          </a:p>
        </p:txBody>
      </p:sp>
      <p:sp>
        <p:nvSpPr>
          <p:cNvPr id="31" name="Text 29"/>
          <p:cNvSpPr/>
          <p:nvPr/>
        </p:nvSpPr>
        <p:spPr>
          <a:xfrm>
            <a:off x="5120640" y="1920240"/>
            <a:ext cx="3063240" cy="3200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Zero-shot and few-shot Chain-of-Thought (CoT) baselines to elicit step-by-step reasoning.</a:t>
            </a:r>
            <a:endParaRPr lang="en-US" sz="950" dirty="0"/>
          </a:p>
        </p:txBody>
      </p:sp>
      <p:sp>
        <p:nvSpPr>
          <p:cNvPr id="32" name="Shape 30"/>
          <p:cNvSpPr/>
          <p:nvPr/>
        </p:nvSpPr>
        <p:spPr>
          <a:xfrm>
            <a:off x="4937760" y="2304288"/>
            <a:ext cx="109728" cy="109728"/>
          </a:xfrm>
          <a:prstGeom prst="ellipse">
            <a:avLst/>
          </a:prstGeom>
          <a:solidFill>
            <a:srgbClr val="800020"/>
          </a:solidFill>
          <a:ln/>
        </p:spPr>
      </p:sp>
      <p:sp>
        <p:nvSpPr>
          <p:cNvPr id="33" name="Text 31"/>
          <p:cNvSpPr/>
          <p:nvPr/>
        </p:nvSpPr>
        <p:spPr>
          <a:xfrm>
            <a:off x="5120640" y="2249424"/>
            <a:ext cx="3063240" cy="201168"/>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Temperature Controls: </a:t>
            </a:r>
            <a:endParaRPr lang="en-US" sz="1050" dirty="0"/>
          </a:p>
        </p:txBody>
      </p:sp>
      <p:sp>
        <p:nvSpPr>
          <p:cNvPr id="34" name="Text 32"/>
          <p:cNvSpPr/>
          <p:nvPr/>
        </p:nvSpPr>
        <p:spPr>
          <a:xfrm>
            <a:off x="5120640" y="2432304"/>
            <a:ext cx="3063240" cy="3200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Temperature = 1.0 for GPT models (standard exploration) and 0.7 for Llama-2-70B.</a:t>
            </a:r>
            <a:endParaRPr lang="en-US" sz="950" dirty="0"/>
          </a:p>
        </p:txBody>
      </p:sp>
      <p:sp>
        <p:nvSpPr>
          <p:cNvPr id="35" name="Shape 33"/>
          <p:cNvSpPr/>
          <p:nvPr/>
        </p:nvSpPr>
        <p:spPr>
          <a:xfrm>
            <a:off x="4937760" y="2816352"/>
            <a:ext cx="109728" cy="109728"/>
          </a:xfrm>
          <a:prstGeom prst="ellipse">
            <a:avLst/>
          </a:prstGeom>
          <a:solidFill>
            <a:srgbClr val="800020"/>
          </a:solidFill>
          <a:ln/>
        </p:spPr>
      </p:sp>
      <p:sp>
        <p:nvSpPr>
          <p:cNvPr id="36" name="Text 34"/>
          <p:cNvSpPr/>
          <p:nvPr/>
        </p:nvSpPr>
        <p:spPr>
          <a:xfrm>
            <a:off x="5120640" y="2761488"/>
            <a:ext cx="3063240" cy="201168"/>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Correction Horizon: </a:t>
            </a:r>
            <a:endParaRPr lang="en-US" sz="1050" dirty="0"/>
          </a:p>
        </p:txBody>
      </p:sp>
      <p:sp>
        <p:nvSpPr>
          <p:cNvPr id="37" name="Text 35"/>
          <p:cNvSpPr/>
          <p:nvPr/>
        </p:nvSpPr>
        <p:spPr>
          <a:xfrm>
            <a:off x="5120640" y="2944368"/>
            <a:ext cx="3063240" cy="3200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Standardized to a maximum of 2 sequential rounds of self-correction per question.</a:t>
            </a:r>
            <a:endParaRPr lang="en-US" sz="950" dirty="0"/>
          </a:p>
        </p:txBody>
      </p:sp>
      <p:sp>
        <p:nvSpPr>
          <p:cNvPr id="38" name="Shape 36"/>
          <p:cNvSpPr/>
          <p:nvPr/>
        </p:nvSpPr>
        <p:spPr>
          <a:xfrm>
            <a:off x="4937760" y="3328416"/>
            <a:ext cx="109728" cy="109728"/>
          </a:xfrm>
          <a:prstGeom prst="ellipse">
            <a:avLst/>
          </a:prstGeom>
          <a:solidFill>
            <a:srgbClr val="800020"/>
          </a:solidFill>
          <a:ln/>
        </p:spPr>
      </p:sp>
      <p:sp>
        <p:nvSpPr>
          <p:cNvPr id="39" name="Text 37"/>
          <p:cNvSpPr/>
          <p:nvPr/>
        </p:nvSpPr>
        <p:spPr>
          <a:xfrm>
            <a:off x="5120640" y="3273552"/>
            <a:ext cx="3063240" cy="201168"/>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Matched Feedback Prompts: </a:t>
            </a:r>
            <a:endParaRPr lang="en-US" sz="1050" dirty="0"/>
          </a:p>
        </p:txBody>
      </p:sp>
      <p:sp>
        <p:nvSpPr>
          <p:cNvPr id="40" name="Text 38"/>
          <p:cNvSpPr/>
          <p:nvPr/>
        </p:nvSpPr>
        <p:spPr>
          <a:xfrm>
            <a:off x="5120640" y="3456432"/>
            <a:ext cx="3063240" cy="3200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Generic self-correction prompts: 'Review your previous answer and find reasons why your answer could be wrong...'</a:t>
            </a:r>
            <a:endParaRPr lang="en-US" sz="950" dirty="0"/>
          </a:p>
        </p:txBody>
      </p:sp>
      <p:sp>
        <p:nvSpPr>
          <p:cNvPr id="41" name="Shape 39"/>
          <p:cNvSpPr/>
          <p:nvPr/>
        </p:nvSpPr>
        <p:spPr>
          <a:xfrm>
            <a:off x="4937760" y="3840480"/>
            <a:ext cx="109728" cy="109728"/>
          </a:xfrm>
          <a:prstGeom prst="ellipse">
            <a:avLst/>
          </a:prstGeom>
          <a:solidFill>
            <a:srgbClr val="800020"/>
          </a:solidFill>
          <a:ln/>
        </p:spPr>
      </p:sp>
      <p:sp>
        <p:nvSpPr>
          <p:cNvPr id="42" name="Text 40"/>
          <p:cNvSpPr/>
          <p:nvPr/>
        </p:nvSpPr>
        <p:spPr>
          <a:xfrm>
            <a:off x="5120640" y="3785616"/>
            <a:ext cx="3063240" cy="201168"/>
          </a:xfrm>
          <a:prstGeom prst="rect">
            <a:avLst/>
          </a:prstGeom>
          <a:noFill/>
          <a:ln/>
        </p:spPr>
        <p:txBody>
          <a:bodyPr wrap="square" lIns="0" tIns="0" rIns="0" bIns="0" rtlCol="0" anchor="ctr"/>
          <a:lstStyle/>
          <a:p>
            <a:pPr indent="0" marL="0">
              <a:buNone/>
            </a:pPr>
            <a:r>
              <a:rPr lang="en-US" sz="1050" b="1" dirty="0">
                <a:solidFill>
                  <a:srgbClr val="0F172A"/>
                </a:solidFill>
                <a:latin typeface="Calibri" pitchFamily="34" charset="0"/>
                <a:ea typeface="Calibri" pitchFamily="34" charset="-122"/>
                <a:cs typeface="Calibri" pitchFamily="34" charset="-120"/>
              </a:rPr>
              <a:t>Comparison Regimes: </a:t>
            </a:r>
            <a:endParaRPr lang="en-US" sz="1050" dirty="0"/>
          </a:p>
        </p:txBody>
      </p:sp>
      <p:sp>
        <p:nvSpPr>
          <p:cNvPr id="43" name="Text 41"/>
          <p:cNvSpPr/>
          <p:nvPr/>
        </p:nvSpPr>
        <p:spPr>
          <a:xfrm>
            <a:off x="5120640" y="3968496"/>
            <a:ext cx="3063240" cy="320040"/>
          </a:xfrm>
          <a:prstGeom prst="rect">
            <a:avLst/>
          </a:prstGeom>
          <a:noFill/>
          <a:ln/>
        </p:spPr>
        <p:txBody>
          <a:bodyPr wrap="square" lIns="0" tIns="0" rIns="0" bIns="0" rtlCol="0" anchor="ctr"/>
          <a:lstStyle/>
          <a:p>
            <a:pPr indent="0" marL="0">
              <a:buNone/>
            </a:pPr>
            <a:r>
              <a:rPr lang="en-US" sz="950" dirty="0">
                <a:solidFill>
                  <a:srgbClr val="1E293B"/>
                </a:solidFill>
                <a:latin typeface="Calibri" pitchFamily="34" charset="0"/>
                <a:ea typeface="Calibri" pitchFamily="34" charset="-122"/>
                <a:cs typeface="Calibri" pitchFamily="34" charset="-120"/>
              </a:rPr>
              <a:t>Controlled comparison: Intrinsic self-correction vs. Oracle-guided filtering.</a:t>
            </a:r>
            <a:endParaRPr lang="en-US" sz="950" dirty="0"/>
          </a:p>
        </p:txBody>
      </p:sp>
      <p:sp>
        <p:nvSpPr>
          <p:cNvPr id="45" name="Text 42"/>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46" name="Text 43"/>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10/24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3. METHODOLOGY</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Prompting Procedures &amp; Protocols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Evaluation: Contrasting the step-by-step workflow of oracle vs intrinsic correction</a:t>
            </a:r>
            <a:endParaRPr lang="en-US" sz="1100" dirty="0"/>
          </a:p>
        </p:txBody>
      </p:sp>
      <p:sp>
        <p:nvSpPr>
          <p:cNvPr id="5" name="Shape 3"/>
          <p:cNvSpPr/>
          <p:nvPr/>
        </p:nvSpPr>
        <p:spPr>
          <a:xfrm>
            <a:off x="548640" y="1234440"/>
            <a:ext cx="1874520" cy="1188720"/>
          </a:xfrm>
          <a:prstGeom prst="roundRect">
            <a:avLst>
              <a:gd name="adj" fmla="val 6154"/>
            </a:avLst>
          </a:prstGeom>
          <a:solidFill>
            <a:srgbClr val="F8F9FA"/>
          </a:solidFill>
          <a:ln w="12700">
            <a:solidFill>
              <a:srgbClr val="E2E8F0"/>
            </a:solidFill>
            <a:prstDash val="solid"/>
          </a:ln>
        </p:spPr>
      </p:sp>
      <p:sp>
        <p:nvSpPr>
          <p:cNvPr id="6" name="Shape 4"/>
          <p:cNvSpPr/>
          <p:nvPr/>
        </p:nvSpPr>
        <p:spPr>
          <a:xfrm>
            <a:off x="685800" y="1353312"/>
            <a:ext cx="256032" cy="256032"/>
          </a:xfrm>
          <a:prstGeom prst="ellipse">
            <a:avLst/>
          </a:prstGeom>
          <a:solidFill>
            <a:srgbClr val="800020"/>
          </a:solidFill>
          <a:ln/>
        </p:spPr>
      </p:sp>
      <p:sp>
        <p:nvSpPr>
          <p:cNvPr id="7" name="Text 5"/>
          <p:cNvSpPr/>
          <p:nvPr/>
        </p:nvSpPr>
        <p:spPr>
          <a:xfrm>
            <a:off x="685800" y="135331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005840" y="1353312"/>
            <a:ext cx="1325880" cy="256032"/>
          </a:xfrm>
          <a:prstGeom prst="rect">
            <a:avLst/>
          </a:prstGeom>
          <a:noFill/>
          <a:ln/>
        </p:spPr>
        <p:txBody>
          <a:bodyPr wrap="square" lIns="0" tIns="0" rIns="0" bIns="0" rtlCol="0" anchor="ctr"/>
          <a:lstStyle/>
          <a:p>
            <a:pPr indent="0" marL="0">
              <a:buNone/>
            </a:pPr>
            <a:r>
              <a:rPr lang="en-US" sz="1050" b="1" dirty="0">
                <a:solidFill>
                  <a:srgbClr val="0F172A"/>
                </a:solidFill>
                <a:latin typeface="Century Schoolbook" pitchFamily="34" charset="0"/>
                <a:ea typeface="Century Schoolbook" pitchFamily="34" charset="-122"/>
                <a:cs typeface="Century Schoolbook" pitchFamily="34" charset="-120"/>
              </a:rPr>
              <a:t>Initial Generation</a:t>
            </a:r>
            <a:endParaRPr lang="en-US" sz="1050" dirty="0"/>
          </a:p>
        </p:txBody>
      </p:sp>
      <p:sp>
        <p:nvSpPr>
          <p:cNvPr id="9" name="Text 7"/>
          <p:cNvSpPr/>
          <p:nvPr/>
        </p:nvSpPr>
        <p:spPr>
          <a:xfrm>
            <a:off x="685800" y="1664208"/>
            <a:ext cx="1600200" cy="68580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Model receives question and generates an initial reasoning chain and answer.</a:t>
            </a:r>
            <a:endParaRPr lang="en-US" sz="950" dirty="0"/>
          </a:p>
        </p:txBody>
      </p:sp>
      <p:sp>
        <p:nvSpPr>
          <p:cNvPr id="10" name="Text 8"/>
          <p:cNvSpPr/>
          <p:nvPr/>
        </p:nvSpPr>
        <p:spPr>
          <a:xfrm>
            <a:off x="2423160" y="1645920"/>
            <a:ext cx="182880" cy="365760"/>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606040" y="1234440"/>
            <a:ext cx="1874520" cy="1188720"/>
          </a:xfrm>
          <a:prstGeom prst="roundRect">
            <a:avLst>
              <a:gd name="adj" fmla="val 6154"/>
            </a:avLst>
          </a:prstGeom>
          <a:solidFill>
            <a:srgbClr val="F8F9FA"/>
          </a:solidFill>
          <a:ln w="12700">
            <a:solidFill>
              <a:srgbClr val="E2E8F0"/>
            </a:solidFill>
            <a:prstDash val="solid"/>
          </a:ln>
        </p:spPr>
      </p:sp>
      <p:sp>
        <p:nvSpPr>
          <p:cNvPr id="12" name="Shape 10"/>
          <p:cNvSpPr/>
          <p:nvPr/>
        </p:nvSpPr>
        <p:spPr>
          <a:xfrm>
            <a:off x="2743200" y="1353312"/>
            <a:ext cx="256032" cy="256032"/>
          </a:xfrm>
          <a:prstGeom prst="ellipse">
            <a:avLst/>
          </a:prstGeom>
          <a:solidFill>
            <a:srgbClr val="800020"/>
          </a:solidFill>
          <a:ln/>
        </p:spPr>
      </p:sp>
      <p:sp>
        <p:nvSpPr>
          <p:cNvPr id="13" name="Text 11"/>
          <p:cNvSpPr/>
          <p:nvPr/>
        </p:nvSpPr>
        <p:spPr>
          <a:xfrm>
            <a:off x="2743200" y="135331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3063240" y="1353312"/>
            <a:ext cx="1325880" cy="256032"/>
          </a:xfrm>
          <a:prstGeom prst="rect">
            <a:avLst/>
          </a:prstGeom>
          <a:noFill/>
          <a:ln/>
        </p:spPr>
        <p:txBody>
          <a:bodyPr wrap="square" lIns="0" tIns="0" rIns="0" bIns="0" rtlCol="0" anchor="ctr"/>
          <a:lstStyle/>
          <a:p>
            <a:pPr indent="0" marL="0">
              <a:buNone/>
            </a:pPr>
            <a:r>
              <a:rPr lang="en-US" sz="1050" b="1" dirty="0">
                <a:solidFill>
                  <a:srgbClr val="0F172A"/>
                </a:solidFill>
                <a:latin typeface="Century Schoolbook" pitchFamily="34" charset="0"/>
                <a:ea typeface="Century Schoolbook" pitchFamily="34" charset="-122"/>
                <a:cs typeface="Century Schoolbook" pitchFamily="34" charset="-120"/>
              </a:rPr>
              <a:t>Self-Review / Critique</a:t>
            </a:r>
            <a:endParaRPr lang="en-US" sz="1050" dirty="0"/>
          </a:p>
        </p:txBody>
      </p:sp>
      <p:sp>
        <p:nvSpPr>
          <p:cNvPr id="15" name="Text 13"/>
          <p:cNvSpPr/>
          <p:nvPr/>
        </p:nvSpPr>
        <p:spPr>
          <a:xfrm>
            <a:off x="2743200" y="1664208"/>
            <a:ext cx="1600200" cy="68580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Feedback prompt asks model to critique its logic and verify intermediate steps.</a:t>
            </a:r>
            <a:endParaRPr lang="en-US" sz="950" dirty="0"/>
          </a:p>
        </p:txBody>
      </p:sp>
      <p:sp>
        <p:nvSpPr>
          <p:cNvPr id="16" name="Text 14"/>
          <p:cNvSpPr/>
          <p:nvPr/>
        </p:nvSpPr>
        <p:spPr>
          <a:xfrm>
            <a:off x="4480560" y="1645920"/>
            <a:ext cx="182880" cy="365760"/>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4663440" y="1234440"/>
            <a:ext cx="1874520" cy="1188720"/>
          </a:xfrm>
          <a:prstGeom prst="roundRect">
            <a:avLst>
              <a:gd name="adj" fmla="val 6154"/>
            </a:avLst>
          </a:prstGeom>
          <a:solidFill>
            <a:srgbClr val="F8F9FA"/>
          </a:solidFill>
          <a:ln w="12700">
            <a:solidFill>
              <a:srgbClr val="E2E8F0"/>
            </a:solidFill>
            <a:prstDash val="solid"/>
          </a:ln>
        </p:spPr>
      </p:sp>
      <p:sp>
        <p:nvSpPr>
          <p:cNvPr id="18" name="Shape 16"/>
          <p:cNvSpPr/>
          <p:nvPr/>
        </p:nvSpPr>
        <p:spPr>
          <a:xfrm>
            <a:off x="4800600" y="1353312"/>
            <a:ext cx="256032" cy="256032"/>
          </a:xfrm>
          <a:prstGeom prst="ellipse">
            <a:avLst/>
          </a:prstGeom>
          <a:solidFill>
            <a:srgbClr val="800020"/>
          </a:solidFill>
          <a:ln/>
        </p:spPr>
      </p:sp>
      <p:sp>
        <p:nvSpPr>
          <p:cNvPr id="19" name="Text 17"/>
          <p:cNvSpPr/>
          <p:nvPr/>
        </p:nvSpPr>
        <p:spPr>
          <a:xfrm>
            <a:off x="4800600" y="135331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5120640" y="1353312"/>
            <a:ext cx="1325880" cy="256032"/>
          </a:xfrm>
          <a:prstGeom prst="rect">
            <a:avLst/>
          </a:prstGeom>
          <a:noFill/>
          <a:ln/>
        </p:spPr>
        <p:txBody>
          <a:bodyPr wrap="square" lIns="0" tIns="0" rIns="0" bIns="0" rtlCol="0" anchor="ctr"/>
          <a:lstStyle/>
          <a:p>
            <a:pPr indent="0" marL="0">
              <a:buNone/>
            </a:pPr>
            <a:r>
              <a:rPr lang="en-US" sz="1050" b="1" dirty="0">
                <a:solidFill>
                  <a:srgbClr val="0F172A"/>
                </a:solidFill>
                <a:latin typeface="Century Schoolbook" pitchFamily="34" charset="0"/>
                <a:ea typeface="Century Schoolbook" pitchFamily="34" charset="-122"/>
                <a:cs typeface="Century Schoolbook" pitchFamily="34" charset="-120"/>
              </a:rPr>
              <a:t>Revised Output</a:t>
            </a:r>
            <a:endParaRPr lang="en-US" sz="1050" dirty="0"/>
          </a:p>
        </p:txBody>
      </p:sp>
      <p:sp>
        <p:nvSpPr>
          <p:cNvPr id="21" name="Text 19"/>
          <p:cNvSpPr/>
          <p:nvPr/>
        </p:nvSpPr>
        <p:spPr>
          <a:xfrm>
            <a:off x="4800600" y="1664208"/>
            <a:ext cx="1600200" cy="68580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Model generates a revised reasoning path and final answer.</a:t>
            </a:r>
            <a:endParaRPr lang="en-US" sz="950" dirty="0"/>
          </a:p>
        </p:txBody>
      </p:sp>
      <p:sp>
        <p:nvSpPr>
          <p:cNvPr id="22" name="Text 20"/>
          <p:cNvSpPr/>
          <p:nvPr/>
        </p:nvSpPr>
        <p:spPr>
          <a:xfrm>
            <a:off x="6537960" y="1645920"/>
            <a:ext cx="182880" cy="365760"/>
          </a:xfrm>
          <a:prstGeom prst="rect">
            <a:avLst/>
          </a:prstGeom>
          <a:noFill/>
          <a:ln/>
        </p:spPr>
        <p:txBody>
          <a:bodyPr wrap="square" lIns="0" tIns="0" rIns="0" bIns="0" rtlCol="0" anchor="ctr"/>
          <a:lstStyle/>
          <a:p>
            <a:pPr algn="ctr" indent="0" marL="0">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23" name="Shape 21"/>
          <p:cNvSpPr/>
          <p:nvPr/>
        </p:nvSpPr>
        <p:spPr>
          <a:xfrm>
            <a:off x="6720840" y="1234440"/>
            <a:ext cx="1874520" cy="1188720"/>
          </a:xfrm>
          <a:prstGeom prst="roundRect">
            <a:avLst>
              <a:gd name="adj" fmla="val 6154"/>
            </a:avLst>
          </a:prstGeom>
          <a:solidFill>
            <a:srgbClr val="F8F9FA"/>
          </a:solidFill>
          <a:ln w="12700">
            <a:solidFill>
              <a:srgbClr val="E2E8F0"/>
            </a:solidFill>
            <a:prstDash val="solid"/>
          </a:ln>
        </p:spPr>
      </p:sp>
      <p:sp>
        <p:nvSpPr>
          <p:cNvPr id="24" name="Shape 22"/>
          <p:cNvSpPr/>
          <p:nvPr/>
        </p:nvSpPr>
        <p:spPr>
          <a:xfrm>
            <a:off x="6858000" y="1353312"/>
            <a:ext cx="256032" cy="256032"/>
          </a:xfrm>
          <a:prstGeom prst="ellipse">
            <a:avLst/>
          </a:prstGeom>
          <a:solidFill>
            <a:srgbClr val="800020"/>
          </a:solidFill>
          <a:ln/>
        </p:spPr>
      </p:sp>
      <p:sp>
        <p:nvSpPr>
          <p:cNvPr id="25" name="Text 23"/>
          <p:cNvSpPr/>
          <p:nvPr/>
        </p:nvSpPr>
        <p:spPr>
          <a:xfrm>
            <a:off x="6858000" y="135331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7178040" y="1353312"/>
            <a:ext cx="1325880" cy="256032"/>
          </a:xfrm>
          <a:prstGeom prst="rect">
            <a:avLst/>
          </a:prstGeom>
          <a:noFill/>
          <a:ln/>
        </p:spPr>
        <p:txBody>
          <a:bodyPr wrap="square" lIns="0" tIns="0" rIns="0" bIns="0" rtlCol="0" anchor="ctr"/>
          <a:lstStyle/>
          <a:p>
            <a:pPr indent="0" marL="0">
              <a:buNone/>
            </a:pPr>
            <a:r>
              <a:rPr lang="en-US" sz="1050" b="1" dirty="0">
                <a:solidFill>
                  <a:srgbClr val="0F172A"/>
                </a:solidFill>
                <a:latin typeface="Century Schoolbook" pitchFamily="34" charset="0"/>
                <a:ea typeface="Century Schoolbook" pitchFamily="34" charset="-122"/>
                <a:cs typeface="Century Schoolbook" pitchFamily="34" charset="-120"/>
              </a:rPr>
              <a:t>Iteration (Round 2)</a:t>
            </a:r>
            <a:endParaRPr lang="en-US" sz="1050" dirty="0"/>
          </a:p>
        </p:txBody>
      </p:sp>
      <p:sp>
        <p:nvSpPr>
          <p:cNvPr id="27" name="Text 25"/>
          <p:cNvSpPr/>
          <p:nvPr/>
        </p:nvSpPr>
        <p:spPr>
          <a:xfrm>
            <a:off x="6858000" y="1664208"/>
            <a:ext cx="1600200" cy="685800"/>
          </a:xfrm>
          <a:prstGeom prst="rect">
            <a:avLst/>
          </a:prstGeom>
          <a:noFill/>
          <a:ln/>
        </p:spPr>
        <p:txBody>
          <a:bodyPr wrap="square" lIns="0" tIns="0" rIns="0" bIns="0" rtlCol="0" anchor="t"/>
          <a:lstStyle/>
          <a:p>
            <a:pPr indent="0" marL="0">
              <a:buNone/>
            </a:pPr>
            <a:r>
              <a:rPr lang="en-US" sz="950" dirty="0">
                <a:solidFill>
                  <a:srgbClr val="1E293B"/>
                </a:solidFill>
                <a:latin typeface="Calibri" pitchFamily="34" charset="0"/>
                <a:ea typeface="Calibri" pitchFamily="34" charset="-122"/>
                <a:cs typeface="Calibri" pitchFamily="34" charset="-120"/>
              </a:rPr>
              <a:t>Process repeats for up to 2 rounds to test multi-turn stability.</a:t>
            </a:r>
            <a:endParaRPr lang="en-US" sz="950" dirty="0"/>
          </a:p>
        </p:txBody>
      </p:sp>
      <p:sp>
        <p:nvSpPr>
          <p:cNvPr id="28" name="Shape 26"/>
          <p:cNvSpPr/>
          <p:nvPr/>
        </p:nvSpPr>
        <p:spPr>
          <a:xfrm>
            <a:off x="548640" y="2606040"/>
            <a:ext cx="3886200" cy="1828800"/>
          </a:xfrm>
          <a:prstGeom prst="roundRect">
            <a:avLst>
              <a:gd name="adj" fmla="val 4000"/>
            </a:avLst>
          </a:prstGeom>
          <a:solidFill>
            <a:srgbClr val="F0FDF4"/>
          </a:solidFill>
          <a:ln w="12700">
            <a:solidFill>
              <a:srgbClr val="166534"/>
            </a:solidFill>
            <a:prstDash val="solid"/>
          </a:ln>
        </p:spPr>
      </p:sp>
      <p:sp>
        <p:nvSpPr>
          <p:cNvPr id="29" name="Text 27"/>
          <p:cNvSpPr/>
          <p:nvPr/>
        </p:nvSpPr>
        <p:spPr>
          <a:xfrm>
            <a:off x="777240" y="2743200"/>
            <a:ext cx="3429000" cy="228600"/>
          </a:xfrm>
          <a:prstGeom prst="rect">
            <a:avLst/>
          </a:prstGeom>
          <a:noFill/>
          <a:ln/>
        </p:spPr>
        <p:txBody>
          <a:bodyPr wrap="square" lIns="0" tIns="0" rIns="0" bIns="0" rtlCol="0" anchor="ctr"/>
          <a:lstStyle/>
          <a:p>
            <a:pPr indent="0" marL="0">
              <a:buNone/>
            </a:pPr>
            <a:r>
              <a:rPr lang="en-US" sz="1250" b="1" dirty="0">
                <a:solidFill>
                  <a:srgbClr val="166534"/>
                </a:solidFill>
                <a:latin typeface="Century Schoolbook" pitchFamily="34" charset="0"/>
                <a:ea typeface="Century Schoolbook" pitchFamily="34" charset="-122"/>
                <a:cs typeface="Century Schoolbook" pitchFamily="34" charset="-120"/>
              </a:rPr>
              <a:t>With Oracle Feedback (Prior Flawed Setup)</a:t>
            </a:r>
            <a:endParaRPr lang="en-US" sz="1250" dirty="0"/>
          </a:p>
        </p:txBody>
      </p:sp>
      <p:sp>
        <p:nvSpPr>
          <p:cNvPr id="30" name="Text 28"/>
          <p:cNvSpPr/>
          <p:nvPr/>
        </p:nvSpPr>
        <p:spPr>
          <a:xfrm>
            <a:off x="777240" y="3017520"/>
            <a:ext cx="3429000" cy="1280160"/>
          </a:xfrm>
          <a:prstGeom prst="rect">
            <a:avLst/>
          </a:prstGeom>
          <a:noFill/>
          <a:ln/>
        </p:spPr>
        <p:txBody>
          <a:bodyPr wrap="square" lIns="0" tIns="0" rIns="0" bIns="0" rtlCol="0" anchor="t"/>
          <a:lstStyle/>
          <a:p>
            <a:pPr indent="0" marL="0">
              <a:spcAft>
                <a:spcPts val="400"/>
              </a:spcAft>
              <a:buNone/>
            </a:pPr>
            <a:r>
              <a:rPr lang="en-US" sz="1050" dirty="0">
                <a:solidFill>
                  <a:srgbClr val="1E293B"/>
                </a:solidFill>
                <a:latin typeface="Calibri" pitchFamily="34" charset="0"/>
                <a:ea typeface="Calibri" pitchFamily="34" charset="-122"/>
                <a:cs typeface="Calibri" pitchFamily="34" charset="-120"/>
              </a:rPr>
              <a:t>• External verifier checks answer correctness after Step 1.</a:t>
            </a:r>
            <a:endParaRPr lang="en-US" sz="1050" dirty="0"/>
          </a:p>
          <a:p>
            <a:pPr indent="0" marL="0">
              <a:spcAft>
                <a:spcPts val="400"/>
              </a:spcAft>
              <a:buNone/>
            </a:pPr>
            <a:r>
              <a:rPr lang="en-US" sz="1050" dirty="0">
                <a:solidFill>
                  <a:srgbClr val="1E293B"/>
                </a:solidFill>
                <a:latin typeface="Calibri" pitchFamily="34" charset="0"/>
                <a:ea typeface="Calibri" pitchFamily="34" charset="-122"/>
                <a:cs typeface="Calibri" pitchFamily="34" charset="-120"/>
              </a:rPr>
              <a:t>• Model is told WHEN its answer is wrong → triggers Step 2.</a:t>
            </a:r>
            <a:endParaRPr lang="en-US" sz="1050" dirty="0"/>
          </a:p>
          <a:p>
            <a:pPr indent="0" marL="0">
              <a:buNone/>
            </a:pPr>
            <a:r>
              <a:rPr lang="en-US" sz="1050" b="1" dirty="0">
                <a:solidFill>
                  <a:srgbClr val="166534"/>
                </a:solidFill>
                <a:latin typeface="Calibri" pitchFamily="34" charset="0"/>
                <a:ea typeface="Calibri" pitchFamily="34" charset="-122"/>
                <a:cs typeface="Calibri" pitchFamily="34" charset="-120"/>
              </a:rPr>
              <a:t>• Correct answers are never touched → Performance artificially inflates.</a:t>
            </a:r>
            <a:endParaRPr lang="en-US" sz="1050" dirty="0"/>
          </a:p>
        </p:txBody>
      </p:sp>
      <p:sp>
        <p:nvSpPr>
          <p:cNvPr id="31" name="Shape 29"/>
          <p:cNvSpPr/>
          <p:nvPr/>
        </p:nvSpPr>
        <p:spPr>
          <a:xfrm>
            <a:off x="4709160" y="2606040"/>
            <a:ext cx="3886200" cy="1828800"/>
          </a:xfrm>
          <a:prstGeom prst="roundRect">
            <a:avLst>
              <a:gd name="adj" fmla="val 4000"/>
            </a:avLst>
          </a:prstGeom>
          <a:solidFill>
            <a:srgbClr val="FEF2F2"/>
          </a:solidFill>
          <a:ln w="12700">
            <a:solidFill>
              <a:srgbClr val="DC2626"/>
            </a:solidFill>
            <a:prstDash val="solid"/>
          </a:ln>
        </p:spPr>
      </p:sp>
      <p:sp>
        <p:nvSpPr>
          <p:cNvPr id="32" name="Text 30"/>
          <p:cNvSpPr/>
          <p:nvPr/>
        </p:nvSpPr>
        <p:spPr>
          <a:xfrm>
            <a:off x="4937760" y="2743200"/>
            <a:ext cx="3429000" cy="228600"/>
          </a:xfrm>
          <a:prstGeom prst="rect">
            <a:avLst/>
          </a:prstGeom>
          <a:noFill/>
          <a:ln/>
        </p:spPr>
        <p:txBody>
          <a:bodyPr wrap="square" lIns="0" tIns="0" rIns="0" bIns="0" rtlCol="0" anchor="ctr"/>
          <a:lstStyle/>
          <a:p>
            <a:pPr indent="0" marL="0">
              <a:buNone/>
            </a:pPr>
            <a:r>
              <a:rPr lang="en-US" sz="1250" b="1" dirty="0">
                <a:solidFill>
                  <a:srgbClr val="DC2626"/>
                </a:solidFill>
                <a:latin typeface="Century Schoolbook" pitchFamily="34" charset="0"/>
                <a:ea typeface="Century Schoolbook" pitchFamily="34" charset="-122"/>
                <a:cs typeface="Century Schoolbook" pitchFamily="34" charset="-120"/>
              </a:rPr>
              <a:t>Intrinsic Self-Correction (Realistic Setup)</a:t>
            </a:r>
            <a:endParaRPr lang="en-US" sz="1250" dirty="0"/>
          </a:p>
        </p:txBody>
      </p:sp>
      <p:sp>
        <p:nvSpPr>
          <p:cNvPr id="33" name="Text 31"/>
          <p:cNvSpPr/>
          <p:nvPr/>
        </p:nvSpPr>
        <p:spPr>
          <a:xfrm>
            <a:off x="4937760" y="3017520"/>
            <a:ext cx="3429000" cy="1280160"/>
          </a:xfrm>
          <a:prstGeom prst="rect">
            <a:avLst/>
          </a:prstGeom>
          <a:noFill/>
          <a:ln/>
        </p:spPr>
        <p:txBody>
          <a:bodyPr wrap="square" lIns="0" tIns="0" rIns="0" bIns="0" rtlCol="0" anchor="t"/>
          <a:lstStyle/>
          <a:p>
            <a:pPr indent="0" marL="0">
              <a:spcAft>
                <a:spcPts val="400"/>
              </a:spcAft>
              <a:buNone/>
            </a:pPr>
            <a:r>
              <a:rPr lang="en-US" sz="1050" dirty="0">
                <a:solidFill>
                  <a:srgbClr val="1E293B"/>
                </a:solidFill>
                <a:latin typeface="Calibri" pitchFamily="34" charset="0"/>
                <a:ea typeface="Calibri" pitchFamily="34" charset="-122"/>
                <a:cs typeface="Calibri" pitchFamily="34" charset="-120"/>
              </a:rPr>
              <a:t>• No external signals provided. Model must decide if it is right.</a:t>
            </a:r>
            <a:endParaRPr lang="en-US" sz="1050" dirty="0"/>
          </a:p>
          <a:p>
            <a:pPr indent="0" marL="0">
              <a:spcAft>
                <a:spcPts val="400"/>
              </a:spcAft>
              <a:buNone/>
            </a:pPr>
            <a:r>
              <a:rPr lang="en-US" sz="1050" dirty="0">
                <a:solidFill>
                  <a:srgbClr val="1E293B"/>
                </a:solidFill>
                <a:latin typeface="Calibri" pitchFamily="34" charset="0"/>
                <a:ea typeface="Calibri" pitchFamily="34" charset="-122"/>
                <a:cs typeface="Calibri" pitchFamily="34" charset="-120"/>
              </a:rPr>
              <a:t>• Model blindly critiques itself across all problems.</a:t>
            </a:r>
            <a:endParaRPr lang="en-US" sz="1050" dirty="0"/>
          </a:p>
          <a:p>
            <a:pPr indent="0" marL="0">
              <a:buNone/>
            </a:pPr>
            <a:r>
              <a:rPr lang="en-US" sz="1050" b="1" dirty="0">
                <a:solidFill>
                  <a:srgbClr val="DC2626"/>
                </a:solidFill>
                <a:latin typeface="Calibri" pitchFamily="34" charset="0"/>
                <a:ea typeface="Calibri" pitchFamily="34" charset="-122"/>
                <a:cs typeface="Calibri" pitchFamily="34" charset="-120"/>
              </a:rPr>
              <a:t>• Model frequently changes correct answers into incorrect ones → Performance drops.</a:t>
            </a:r>
            <a:endParaRPr lang="en-US" sz="1050" dirty="0"/>
          </a:p>
        </p:txBody>
      </p:sp>
      <p:sp>
        <p:nvSpPr>
          <p:cNvPr id="35" name="Text 32"/>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6" name="Text 33"/>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11/24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4. RESULTS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Intrinsic Self-Correction Fails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Main Finding: Empirical proof that intrinsic self-correction degrades reasoning performance</a:t>
            </a:r>
            <a:endParaRPr lang="en-US" sz="1100" dirty="0"/>
          </a:p>
        </p:txBody>
      </p:sp>
      <p:sp>
        <p:nvSpPr>
          <p:cNvPr id="5" name="Shape 3"/>
          <p:cNvSpPr/>
          <p:nvPr/>
        </p:nvSpPr>
        <p:spPr>
          <a:xfrm>
            <a:off x="548640" y="1234440"/>
            <a:ext cx="8046720" cy="1005840"/>
          </a:xfrm>
          <a:prstGeom prst="roundRect">
            <a:avLst>
              <a:gd name="adj" fmla="val 7273"/>
            </a:avLst>
          </a:prstGeom>
          <a:solidFill>
            <a:srgbClr val="FDF2F4"/>
          </a:solidFill>
          <a:ln w="19050">
            <a:solidFill>
              <a:srgbClr val="800020"/>
            </a:solidFill>
            <a:prstDash val="solid"/>
          </a:ln>
        </p:spPr>
      </p:sp>
      <p:sp>
        <p:nvSpPr>
          <p:cNvPr id="6" name="Text 4"/>
          <p:cNvSpPr/>
          <p:nvPr/>
        </p:nvSpPr>
        <p:spPr>
          <a:xfrm>
            <a:off x="777240" y="1325880"/>
            <a:ext cx="7589520" cy="201168"/>
          </a:xfrm>
          <a:prstGeom prst="rect">
            <a:avLst/>
          </a:prstGeom>
          <a:noFill/>
          <a:ln/>
        </p:spPr>
        <p:txBody>
          <a:bodyPr wrap="square" lIns="0" tIns="0" rIns="0" bIns="0" rtlCol="0" anchor="ctr"/>
          <a:lstStyle/>
          <a:p>
            <a:pPr indent="0" marL="0">
              <a:buNone/>
            </a:pPr>
            <a:r>
              <a:rPr lang="en-US" sz="950" b="1" spc="150" kern="0" dirty="0">
                <a:solidFill>
                  <a:srgbClr val="800020"/>
                </a:solidFill>
                <a:latin typeface="Calibri" pitchFamily="34" charset="0"/>
                <a:ea typeface="Calibri" pitchFamily="34" charset="-122"/>
                <a:cs typeface="Calibri" pitchFamily="34" charset="-120"/>
              </a:rPr>
              <a:t>CENTRAL EMPIRICAL FINDING</a:t>
            </a:r>
            <a:endParaRPr lang="en-US" sz="950" dirty="0"/>
          </a:p>
        </p:txBody>
      </p:sp>
      <p:sp>
        <p:nvSpPr>
          <p:cNvPr id="7" name="Text 5"/>
          <p:cNvSpPr/>
          <p:nvPr/>
        </p:nvSpPr>
        <p:spPr>
          <a:xfrm>
            <a:off x="777240" y="1554480"/>
            <a:ext cx="7589520" cy="594360"/>
          </a:xfrm>
          <a:prstGeom prst="rect">
            <a:avLst/>
          </a:prstGeom>
          <a:noFill/>
          <a:ln/>
        </p:spPr>
        <p:txBody>
          <a:bodyPr wrap="square" lIns="0" tIns="0" rIns="0" bIns="0" rtlCol="0" anchor="ctr"/>
          <a:lstStyle/>
          <a:p>
            <a:pPr indent="0" marL="0">
              <a:buNone/>
            </a:pPr>
            <a:r>
              <a:rPr lang="en-US" sz="1400" b="1" dirty="0">
                <a:solidFill>
                  <a:srgbClr val="0F172A"/>
                </a:solidFill>
                <a:latin typeface="Century Schoolbook" pitchFamily="34" charset="0"/>
                <a:ea typeface="Century Schoolbook" pitchFamily="34" charset="-122"/>
                <a:cs typeface="Century Schoolbook" pitchFamily="34" charset="-120"/>
              </a:rPr>
              <a:t>Across all tested benchmarks and models, intrinsic self-correction does NOT improve reasoning accuracy — performance consistently declines after self-correction.</a:t>
            </a:r>
            <a:endParaRPr lang="en-US" sz="1400" dirty="0"/>
          </a:p>
        </p:txBody>
      </p:sp>
      <p:sp>
        <p:nvSpPr>
          <p:cNvPr id="8" name="Shape 6"/>
          <p:cNvSpPr/>
          <p:nvPr/>
        </p:nvSpPr>
        <p:spPr>
          <a:xfrm>
            <a:off x="548640" y="2423160"/>
            <a:ext cx="2560320" cy="2011680"/>
          </a:xfrm>
          <a:prstGeom prst="roundRect">
            <a:avLst>
              <a:gd name="adj" fmla="val 3636"/>
            </a:avLst>
          </a:prstGeom>
          <a:solidFill>
            <a:srgbClr val="F8F9FA"/>
          </a:solidFill>
          <a:ln w="12700">
            <a:solidFill>
              <a:srgbClr val="E2E8F0"/>
            </a:solidFill>
            <a:prstDash val="solid"/>
          </a:ln>
        </p:spPr>
      </p:sp>
      <p:sp>
        <p:nvSpPr>
          <p:cNvPr id="9" name="Shape 7"/>
          <p:cNvSpPr/>
          <p:nvPr/>
        </p:nvSpPr>
        <p:spPr>
          <a:xfrm>
            <a:off x="731520" y="2560320"/>
            <a:ext cx="292608" cy="292608"/>
          </a:xfrm>
          <a:prstGeom prst="ellipse">
            <a:avLst/>
          </a:prstGeom>
          <a:solidFill>
            <a:srgbClr val="800020"/>
          </a:solidFill>
          <a:ln/>
        </p:spPr>
      </p:sp>
      <p:sp>
        <p:nvSpPr>
          <p:cNvPr id="10" name="Text 8"/>
          <p:cNvSpPr/>
          <p:nvPr/>
        </p:nvSpPr>
        <p:spPr>
          <a:xfrm>
            <a:off x="731520" y="25603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1097280" y="2560320"/>
            <a:ext cx="1828800" cy="274320"/>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Universal Degradation</a:t>
            </a:r>
            <a:endParaRPr lang="en-US" sz="1300" dirty="0"/>
          </a:p>
        </p:txBody>
      </p:sp>
      <p:sp>
        <p:nvSpPr>
          <p:cNvPr id="12" name="Shape 10"/>
          <p:cNvSpPr/>
          <p:nvPr/>
        </p:nvSpPr>
        <p:spPr>
          <a:xfrm>
            <a:off x="731520" y="2926080"/>
            <a:ext cx="2194560" cy="201168"/>
          </a:xfrm>
          <a:prstGeom prst="roundRect">
            <a:avLst>
              <a:gd name="adj" fmla="val 18182"/>
            </a:avLst>
          </a:prstGeom>
          <a:solidFill>
            <a:srgbClr val="FFFFFF"/>
          </a:solidFill>
          <a:ln w="6350">
            <a:solidFill>
              <a:srgbClr val="E2E8F0"/>
            </a:solidFill>
            <a:prstDash val="solid"/>
          </a:ln>
        </p:spPr>
      </p:sp>
      <p:sp>
        <p:nvSpPr>
          <p:cNvPr id="13" name="Text 11"/>
          <p:cNvSpPr/>
          <p:nvPr/>
        </p:nvSpPr>
        <p:spPr>
          <a:xfrm>
            <a:off x="731520" y="2926080"/>
            <a:ext cx="2194560" cy="201168"/>
          </a:xfrm>
          <a:prstGeom prst="rect">
            <a:avLst/>
          </a:prstGeom>
          <a:noFill/>
          <a:ln/>
        </p:spPr>
        <p:txBody>
          <a:bodyPr wrap="square" lIns="0" tIns="0" rIns="0" bIns="0" rtlCol="0" anchor="ctr"/>
          <a:lstStyle/>
          <a:p>
            <a:pPr algn="ctr" indent="0" marL="0">
              <a:buNone/>
            </a:pPr>
            <a:r>
              <a:rPr lang="en-US" sz="850" b="1" dirty="0">
                <a:solidFill>
                  <a:srgbClr val="800020"/>
                </a:solidFill>
                <a:latin typeface="Calibri" pitchFamily="34" charset="0"/>
                <a:ea typeface="Calibri" pitchFamily="34" charset="-122"/>
                <a:cs typeface="Calibri" pitchFamily="34" charset="-120"/>
              </a:rPr>
              <a:t>All Models Affected</a:t>
            </a:r>
            <a:endParaRPr lang="en-US" sz="850" dirty="0"/>
          </a:p>
        </p:txBody>
      </p:sp>
      <p:sp>
        <p:nvSpPr>
          <p:cNvPr id="14" name="Text 12"/>
          <p:cNvSpPr/>
          <p:nvPr/>
        </p:nvSpPr>
        <p:spPr>
          <a:xfrm>
            <a:off x="731520" y="3200400"/>
            <a:ext cx="2194560" cy="1143000"/>
          </a:xfrm>
          <a:prstGeom prst="rect">
            <a:avLst/>
          </a:prstGeom>
          <a:noFill/>
          <a:ln/>
        </p:spPr>
        <p:txBody>
          <a:bodyPr wrap="square" lIns="0" tIns="0" rIns="0" bIns="0" rtlCol="0" anchor="t"/>
          <a:lstStyle/>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Whether testing GPT-3.5, GPT-4, GPT-4-Turbo, or Llama-2-70B, accuracy drops after Round 1 and often drops further after Round 2.</a:t>
            </a:r>
            <a:endParaRPr lang="en-US" sz="1000" dirty="0"/>
          </a:p>
        </p:txBody>
      </p:sp>
      <p:sp>
        <p:nvSpPr>
          <p:cNvPr id="15" name="Shape 13"/>
          <p:cNvSpPr/>
          <p:nvPr/>
        </p:nvSpPr>
        <p:spPr>
          <a:xfrm>
            <a:off x="3337560" y="2423160"/>
            <a:ext cx="2560320" cy="2011680"/>
          </a:xfrm>
          <a:prstGeom prst="roundRect">
            <a:avLst>
              <a:gd name="adj" fmla="val 3636"/>
            </a:avLst>
          </a:prstGeom>
          <a:solidFill>
            <a:srgbClr val="F8F9FA"/>
          </a:solidFill>
          <a:ln w="12700">
            <a:solidFill>
              <a:srgbClr val="E2E8F0"/>
            </a:solidFill>
            <a:prstDash val="solid"/>
          </a:ln>
        </p:spPr>
      </p:sp>
      <p:sp>
        <p:nvSpPr>
          <p:cNvPr id="16" name="Shape 14"/>
          <p:cNvSpPr/>
          <p:nvPr/>
        </p:nvSpPr>
        <p:spPr>
          <a:xfrm>
            <a:off x="3520440" y="2560320"/>
            <a:ext cx="292608" cy="292608"/>
          </a:xfrm>
          <a:prstGeom prst="ellipse">
            <a:avLst/>
          </a:prstGeom>
          <a:solidFill>
            <a:srgbClr val="800020"/>
          </a:solidFill>
          <a:ln/>
        </p:spPr>
      </p:sp>
      <p:sp>
        <p:nvSpPr>
          <p:cNvPr id="17" name="Text 15"/>
          <p:cNvSpPr/>
          <p:nvPr/>
        </p:nvSpPr>
        <p:spPr>
          <a:xfrm>
            <a:off x="3520440" y="25603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3886200" y="2560320"/>
            <a:ext cx="1828800" cy="274320"/>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Task-Agnostic Failure</a:t>
            </a:r>
            <a:endParaRPr lang="en-US" sz="1300" dirty="0"/>
          </a:p>
        </p:txBody>
      </p:sp>
      <p:sp>
        <p:nvSpPr>
          <p:cNvPr id="19" name="Shape 17"/>
          <p:cNvSpPr/>
          <p:nvPr/>
        </p:nvSpPr>
        <p:spPr>
          <a:xfrm>
            <a:off x="3520440" y="2926080"/>
            <a:ext cx="2194560" cy="201168"/>
          </a:xfrm>
          <a:prstGeom prst="roundRect">
            <a:avLst>
              <a:gd name="adj" fmla="val 18182"/>
            </a:avLst>
          </a:prstGeom>
          <a:solidFill>
            <a:srgbClr val="FFFFFF"/>
          </a:solidFill>
          <a:ln w="6350">
            <a:solidFill>
              <a:srgbClr val="E2E8F0"/>
            </a:solidFill>
            <a:prstDash val="solid"/>
          </a:ln>
        </p:spPr>
      </p:sp>
      <p:sp>
        <p:nvSpPr>
          <p:cNvPr id="20" name="Text 18"/>
          <p:cNvSpPr/>
          <p:nvPr/>
        </p:nvSpPr>
        <p:spPr>
          <a:xfrm>
            <a:off x="3520440" y="2926080"/>
            <a:ext cx="2194560" cy="201168"/>
          </a:xfrm>
          <a:prstGeom prst="rect">
            <a:avLst/>
          </a:prstGeom>
          <a:noFill/>
          <a:ln/>
        </p:spPr>
        <p:txBody>
          <a:bodyPr wrap="square" lIns="0" tIns="0" rIns="0" bIns="0" rtlCol="0" anchor="ctr"/>
          <a:lstStyle/>
          <a:p>
            <a:pPr algn="ctr" indent="0" marL="0">
              <a:buNone/>
            </a:pPr>
            <a:r>
              <a:rPr lang="en-US" sz="850" b="1" dirty="0">
                <a:solidFill>
                  <a:srgbClr val="800020"/>
                </a:solidFill>
                <a:latin typeface="Calibri" pitchFamily="34" charset="0"/>
                <a:ea typeface="Calibri" pitchFamily="34" charset="-122"/>
                <a:cs typeface="Calibri" pitchFamily="34" charset="-120"/>
              </a:rPr>
              <a:t>Math, Logic &amp; QA</a:t>
            </a:r>
            <a:endParaRPr lang="en-US" sz="850" dirty="0"/>
          </a:p>
        </p:txBody>
      </p:sp>
      <p:sp>
        <p:nvSpPr>
          <p:cNvPr id="21" name="Text 19"/>
          <p:cNvSpPr/>
          <p:nvPr/>
        </p:nvSpPr>
        <p:spPr>
          <a:xfrm>
            <a:off x="3520440" y="3200400"/>
            <a:ext cx="2194560" cy="1143000"/>
          </a:xfrm>
          <a:prstGeom prst="rect">
            <a:avLst/>
          </a:prstGeom>
          <a:noFill/>
          <a:ln/>
        </p:spPr>
        <p:txBody>
          <a:bodyPr wrap="square" lIns="0" tIns="0" rIns="0" bIns="0" rtlCol="0" anchor="t"/>
          <a:lstStyle/>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Failures occur across math word problems (GSM8K), commonsense multiple-choice (CSQA), and open-domain multi-hop QA (HotpotQA).</a:t>
            </a:r>
            <a:endParaRPr lang="en-US" sz="1000" dirty="0"/>
          </a:p>
        </p:txBody>
      </p:sp>
      <p:sp>
        <p:nvSpPr>
          <p:cNvPr id="22" name="Shape 20"/>
          <p:cNvSpPr/>
          <p:nvPr/>
        </p:nvSpPr>
        <p:spPr>
          <a:xfrm>
            <a:off x="6126480" y="2423160"/>
            <a:ext cx="2560320" cy="2011680"/>
          </a:xfrm>
          <a:prstGeom prst="roundRect">
            <a:avLst>
              <a:gd name="adj" fmla="val 3636"/>
            </a:avLst>
          </a:prstGeom>
          <a:solidFill>
            <a:srgbClr val="FFFBEB"/>
          </a:solidFill>
          <a:ln w="12700">
            <a:solidFill>
              <a:srgbClr val="E2E8F0"/>
            </a:solidFill>
            <a:prstDash val="solid"/>
          </a:ln>
        </p:spPr>
      </p:sp>
      <p:sp>
        <p:nvSpPr>
          <p:cNvPr id="23" name="Shape 21"/>
          <p:cNvSpPr/>
          <p:nvPr/>
        </p:nvSpPr>
        <p:spPr>
          <a:xfrm>
            <a:off x="6309360" y="2560320"/>
            <a:ext cx="292608" cy="292608"/>
          </a:xfrm>
          <a:prstGeom prst="ellipse">
            <a:avLst/>
          </a:prstGeom>
          <a:solidFill>
            <a:srgbClr val="800020"/>
          </a:solidFill>
          <a:ln/>
        </p:spPr>
      </p:sp>
      <p:sp>
        <p:nvSpPr>
          <p:cNvPr id="24" name="Text 22"/>
          <p:cNvSpPr/>
          <p:nvPr/>
        </p:nvSpPr>
        <p:spPr>
          <a:xfrm>
            <a:off x="6309360" y="25603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6675120" y="2560320"/>
            <a:ext cx="1828800" cy="274320"/>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The Oracle Illusion</a:t>
            </a:r>
            <a:endParaRPr lang="en-US" sz="1300" dirty="0"/>
          </a:p>
        </p:txBody>
      </p:sp>
      <p:sp>
        <p:nvSpPr>
          <p:cNvPr id="26" name="Shape 24"/>
          <p:cNvSpPr/>
          <p:nvPr/>
        </p:nvSpPr>
        <p:spPr>
          <a:xfrm>
            <a:off x="6309360" y="2926080"/>
            <a:ext cx="2194560" cy="201168"/>
          </a:xfrm>
          <a:prstGeom prst="roundRect">
            <a:avLst>
              <a:gd name="adj" fmla="val 18182"/>
            </a:avLst>
          </a:prstGeom>
          <a:solidFill>
            <a:srgbClr val="FFFFFF"/>
          </a:solidFill>
          <a:ln w="6350">
            <a:solidFill>
              <a:srgbClr val="E2E8F0"/>
            </a:solidFill>
            <a:prstDash val="solid"/>
          </a:ln>
        </p:spPr>
      </p:sp>
      <p:sp>
        <p:nvSpPr>
          <p:cNvPr id="27" name="Text 25"/>
          <p:cNvSpPr/>
          <p:nvPr/>
        </p:nvSpPr>
        <p:spPr>
          <a:xfrm>
            <a:off x="6309360" y="2926080"/>
            <a:ext cx="2194560" cy="201168"/>
          </a:xfrm>
          <a:prstGeom prst="rect">
            <a:avLst/>
          </a:prstGeom>
          <a:noFill/>
          <a:ln/>
        </p:spPr>
        <p:txBody>
          <a:bodyPr wrap="square" lIns="0" tIns="0" rIns="0" bIns="0" rtlCol="0" anchor="ctr"/>
          <a:lstStyle/>
          <a:p>
            <a:pPr algn="ctr" indent="0" marL="0">
              <a:buNone/>
            </a:pPr>
            <a:r>
              <a:rPr lang="en-US" sz="850" b="1" dirty="0">
                <a:solidFill>
                  <a:srgbClr val="800020"/>
                </a:solidFill>
                <a:latin typeface="Calibri" pitchFamily="34" charset="0"/>
                <a:ea typeface="Calibri" pitchFamily="34" charset="-122"/>
                <a:cs typeface="Calibri" pitchFamily="34" charset="-120"/>
              </a:rPr>
              <a:t>Prior Artifacts</a:t>
            </a:r>
            <a:endParaRPr lang="en-US" sz="850" dirty="0"/>
          </a:p>
        </p:txBody>
      </p:sp>
      <p:sp>
        <p:nvSpPr>
          <p:cNvPr id="28" name="Text 26"/>
          <p:cNvSpPr/>
          <p:nvPr/>
        </p:nvSpPr>
        <p:spPr>
          <a:xfrm>
            <a:off x="6309360" y="3200400"/>
            <a:ext cx="2194560" cy="1143000"/>
          </a:xfrm>
          <a:prstGeom prst="rect">
            <a:avLst/>
          </a:prstGeom>
          <a:noFill/>
          <a:ln/>
        </p:spPr>
        <p:txBody>
          <a:bodyPr wrap="square" lIns="0" tIns="0" rIns="0" bIns="0" rtlCol="0" anchor="t"/>
          <a:lstStyle/>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Performance only improves when external oracle labels guide when to correct, proving prior reported gains were evaluation artifacts.</a:t>
            </a:r>
            <a:endParaRPr lang="en-US" sz="1000" dirty="0"/>
          </a:p>
        </p:txBody>
      </p:sp>
      <p:sp>
        <p:nvSpPr>
          <p:cNvPr id="30" name="Text 27"/>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31" name="Text 28"/>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12/24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4. RESULTS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GPT-3.5 &amp; GPT-4 Results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Detailed Results: Benchmark accuracy across rounds of intrinsic self-correction (Table 3)</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914400"/>
        </p:xfrm>
        <a:graphic>
          <a:graphicData uri="http://schemas.openxmlformats.org/drawingml/2006/table">
            <a:tbl>
              <a:tblPr/>
              <a:tblGrid>
                <a:gridCol w="1463040"/>
                <a:gridCol w="2011680"/>
                <a:gridCol w="1463040"/>
                <a:gridCol w="1645920"/>
                <a:gridCol w="1463040"/>
              </a:tblGrid>
              <a:tr h="347472">
                <a:tc>
                  <a:txBody>
                    <a:bodyPr/>
                    <a:lstStyle/>
                    <a:p>
                      <a:pP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Model</a:t>
                      </a:r>
                      <a:endParaRPr lang="en-US" sz="1100" dirty="0">
                        <a:latin typeface="Century Schoolbook" charset="0"/>
                        <a:ea typeface="Century Schoolbook" charset="0"/>
                        <a:cs typeface="Century Schoolbook"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c>
                  <a:txBody>
                    <a:bodyPr/>
                    <a:lstStyle/>
                    <a:p>
                      <a:pP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Correction Setting</a:t>
                      </a:r>
                      <a:endParaRPr lang="en-US" sz="1100" dirty="0">
                        <a:latin typeface="Century Schoolbook" charset="0"/>
                        <a:ea typeface="Century Schoolbook" charset="0"/>
                        <a:cs typeface="Century Schoolbook"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c>
                  <a:txBody>
                    <a:bodyPr/>
                    <a:lstStyle/>
                    <a:p>
                      <a:pPr algn="ct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GSM8K (Math)</a:t>
                      </a:r>
                      <a:endParaRPr lang="en-US" sz="1100" dirty="0">
                        <a:latin typeface="Century Schoolbook" charset="0"/>
                        <a:ea typeface="Century Schoolbook" charset="0"/>
                        <a:cs typeface="Century Schoolbook"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c>
                  <a:txBody>
                    <a:bodyPr/>
                    <a:lstStyle/>
                    <a:p>
                      <a:pPr algn="ct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CommonSenseQA</a:t>
                      </a:r>
                      <a:endParaRPr lang="en-US" sz="1100" dirty="0">
                        <a:latin typeface="Century Schoolbook" charset="0"/>
                        <a:ea typeface="Century Schoolbook" charset="0"/>
                        <a:cs typeface="Century Schoolbook"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c>
                  <a:txBody>
                    <a:bodyPr/>
                    <a:lstStyle/>
                    <a:p>
                      <a:pPr algn="ct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HotpotQA (EM)</a:t>
                      </a:r>
                      <a:endParaRPr lang="en-US" sz="1100" dirty="0">
                        <a:latin typeface="Century Schoolbook" charset="0"/>
                        <a:ea typeface="Century Schoolbook" charset="0"/>
                        <a:cs typeface="Century Schoolbook"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r>
              <a:tr h="38404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GPT-3.5-Turbo</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Standard (CoT)</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77.0%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72.5%</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29.0%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r>
              <a:tr h="384048">
                <a:tc>
                  <a:txBody>
                    <a:bodyPr/>
                    <a:lstStyle/>
                    <a:p>
                      <a:pPr indent="0" marL="0">
                        <a:buNone/>
                      </a:pP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Self-Correction Round 1</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75.2%  ▼ (-1.8)</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63.5%  ▼ (-9.0)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26.0%  ▼ (-3.0)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Self-Correction Round 2</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72.6%  ▼ (-4.4)</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55.3%  ▼ (-17.2)</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25.0%  ▼ (-4.0)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r>
              <a:tr h="38404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GPT-4</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Standard (CoT)</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92.0%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78.5%</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53.0%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Self-Correction Round 1</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88.5%  ▼ (-3.5)</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72.5%  ▼ (-6.0)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42.0%  ▼ (-11.0)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r>
              <a:tr h="384048">
                <a:tc>
                  <a:txBody>
                    <a:bodyPr/>
                    <a:lstStyle/>
                    <a:p>
                      <a:pPr indent="0" marL="0">
                        <a:buNone/>
                      </a:pP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Self-Correction Round 2</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88.0%  ▼ (-4.0)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72.0%  ▼ (-6.5)</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42.0%  ▼ (-11.0)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069080"/>
            <a:ext cx="8046720" cy="411480"/>
          </a:xfrm>
          <a:prstGeom prst="roundRect">
            <a:avLst>
              <a:gd name="adj" fmla="val 11111"/>
            </a:avLst>
          </a:prstGeom>
          <a:solidFill>
            <a:srgbClr val="FDF2F4"/>
          </a:solidFill>
          <a:ln w="6350">
            <a:solidFill>
              <a:srgbClr val="800020"/>
            </a:solidFill>
            <a:prstDash val="solid"/>
          </a:ln>
        </p:spPr>
      </p:sp>
      <p:sp>
        <p:nvSpPr>
          <p:cNvPr id="7" name="Text 4"/>
          <p:cNvSpPr/>
          <p:nvPr/>
        </p:nvSpPr>
        <p:spPr>
          <a:xfrm>
            <a:off x="731520" y="4069080"/>
            <a:ext cx="7680960" cy="411480"/>
          </a:xfrm>
          <a:prstGeom prst="rect">
            <a:avLst/>
          </a:prstGeom>
          <a:noFill/>
          <a:ln/>
        </p:spPr>
        <p:txBody>
          <a:bodyPr wrap="square" lIns="0" tIns="0" rIns="0" bIns="0" rtlCol="0" anchor="ctr"/>
          <a:lstStyle/>
          <a:p>
            <a:pPr indent="0" marL="0">
              <a:buNone/>
            </a:pPr>
            <a:r>
              <a:rPr lang="en-US" sz="1050" b="1" dirty="0">
                <a:solidFill>
                  <a:srgbClr val="800020"/>
                </a:solidFill>
                <a:latin typeface="Calibri" pitchFamily="34" charset="0"/>
                <a:ea typeface="Calibri" pitchFamily="34" charset="-122"/>
                <a:cs typeface="Calibri" pitchFamily="34" charset="-120"/>
              </a:rPr>
              <a:t>Key Trend: GPT-3.5 on CSQA drops 17.2% by Round 2; GPT-4 drops 11.0% on HotpotQA.</a:t>
            </a:r>
            <a:endParaRPr lang="en-US" sz="1050" dirty="0"/>
          </a:p>
        </p:txBody>
      </p:sp>
      <p:sp>
        <p:nvSpPr>
          <p:cNvPr id="9" name="Text 5"/>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0" name="Text 6"/>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13/24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4. RESULTS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GPT-4-Turbo &amp; Llama-2 Results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Generalizability: Extending evaluation confirms failure across open and proprietary LLMs (Table 4)</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914400"/>
        </p:xfrm>
        <a:graphic>
          <a:graphicData uri="http://schemas.openxmlformats.org/drawingml/2006/table">
            <a:tbl>
              <a:tblPr/>
              <a:tblGrid>
                <a:gridCol w="2011680"/>
                <a:gridCol w="2194560"/>
                <a:gridCol w="1920240"/>
                <a:gridCol w="1920240"/>
              </a:tblGrid>
              <a:tr h="347472">
                <a:tc>
                  <a:txBody>
                    <a:bodyPr/>
                    <a:lstStyle/>
                    <a:p>
                      <a:pP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Model</a:t>
                      </a:r>
                      <a:endParaRPr lang="en-US" sz="1100" dirty="0">
                        <a:latin typeface="Century Schoolbook" charset="0"/>
                        <a:ea typeface="Century Schoolbook" charset="0"/>
                        <a:cs typeface="Century Schoolbook"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c>
                  <a:txBody>
                    <a:bodyPr/>
                    <a:lstStyle/>
                    <a:p>
                      <a:pP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Correction Setting</a:t>
                      </a:r>
                      <a:endParaRPr lang="en-US" sz="1100" dirty="0">
                        <a:latin typeface="Century Schoolbook" charset="0"/>
                        <a:ea typeface="Century Schoolbook" charset="0"/>
                        <a:cs typeface="Century Schoolbook"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c>
                  <a:txBody>
                    <a:bodyPr/>
                    <a:lstStyle/>
                    <a:p>
                      <a:pPr algn="ct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GSM8K (Math)</a:t>
                      </a:r>
                      <a:endParaRPr lang="en-US" sz="1100" dirty="0">
                        <a:latin typeface="Century Schoolbook" charset="0"/>
                        <a:ea typeface="Century Schoolbook" charset="0"/>
                        <a:cs typeface="Century Schoolbook"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c>
                  <a:txBody>
                    <a:bodyPr/>
                    <a:lstStyle/>
                    <a:p>
                      <a:pPr algn="ctr" indent="0" marL="0">
                        <a:buNone/>
                      </a:pPr>
                      <a:r>
                        <a:rPr lang="en-US" sz="1100" b="1" dirty="0">
                          <a:solidFill>
                            <a:srgbClr val="FFFFFF"/>
                          </a:solidFill>
                          <a:latin typeface="Century Schoolbook" pitchFamily="34" charset="0"/>
                          <a:ea typeface="Century Schoolbook" pitchFamily="34" charset="-122"/>
                          <a:cs typeface="Century Schoolbook" pitchFamily="34" charset="-120"/>
                        </a:rPr>
                        <a:t>CommonSenseQA</a:t>
                      </a:r>
                      <a:endParaRPr lang="en-US" sz="1100" dirty="0">
                        <a:latin typeface="Century Schoolbook" charset="0"/>
                        <a:ea typeface="Century Schoolbook" charset="0"/>
                        <a:cs typeface="Century Schoolbook"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00020"/>
                    </a:solidFill>
                  </a:tcPr>
                </a:tc>
              </a:tr>
              <a:tr h="38404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GPT-4-Turbo</a:t>
                      </a:r>
                      <a:endParaRPr lang="en-US" sz="1050" dirty="0">
                        <a:latin typeface="Calibri" charset="0"/>
                        <a:ea typeface="Calibri" charset="0"/>
                        <a:cs typeface="Calibri" charset="0"/>
                      </a:endParaRPr>
                    </a:p>
                    <a:p>
                      <a:pPr indent="0" marL="0">
                        <a:buNone/>
                      </a:pPr>
                      <a:r>
                        <a:rPr lang="en-US" sz="1050" b="1" dirty="0">
                          <a:solidFill>
                            <a:srgbClr val="000000"/>
                          </a:solidFill>
                          <a:latin typeface="Calibri" pitchFamily="34" charset="0"/>
                          <a:ea typeface="Calibri" pitchFamily="34" charset="-122"/>
                          <a:cs typeface="Calibri" pitchFamily="34" charset="-120"/>
                        </a:rPr>
                        <a:t>(gpt-4-1106-preview)</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Standard (CoT)</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91.5%</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84.0%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r>
              <a:tr h="384048">
                <a:tc>
                  <a:txBody>
                    <a:bodyPr/>
                    <a:lstStyle/>
                    <a:p>
                      <a:pPr indent="0" marL="0">
                        <a:buNone/>
                      </a:pP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Self-Correction Round 1</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88.0%  ▼ (-3.5)</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81.5%  ▼ (-2.5)</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Self-Correction Round 2</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D97706"/>
                          </a:solidFill>
                          <a:latin typeface="Calibri" pitchFamily="34" charset="0"/>
                          <a:ea typeface="Calibri" pitchFamily="34" charset="-122"/>
                          <a:cs typeface="Calibri" pitchFamily="34" charset="-120"/>
                        </a:rPr>
                        <a:t>90.0%  ▼ (-1.5)</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D97706"/>
                          </a:solidFill>
                          <a:latin typeface="Calibri" pitchFamily="34" charset="0"/>
                          <a:ea typeface="Calibri" pitchFamily="34" charset="-122"/>
                          <a:cs typeface="Calibri" pitchFamily="34" charset="-120"/>
                        </a:rPr>
                        <a:t>83.0%  ▼ (-1.0)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r>
              <a:tr h="384048">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Llama-2-70B-Chat</a:t>
                      </a:r>
                      <a:endParaRPr lang="en-US" sz="1050" dirty="0">
                        <a:latin typeface="Calibri" charset="0"/>
                        <a:ea typeface="Calibri" charset="0"/>
                        <a:cs typeface="Calibri" charset="0"/>
                      </a:endParaRPr>
                    </a:p>
                    <a:p>
                      <a:pPr indent="0" marL="0">
                        <a:buNone/>
                      </a:pPr>
                      <a:r>
                        <a:rPr lang="en-US" sz="1050" b="1" dirty="0">
                          <a:solidFill>
                            <a:srgbClr val="000000"/>
                          </a:solidFill>
                          <a:latin typeface="Calibri" pitchFamily="34" charset="0"/>
                          <a:ea typeface="Calibri" pitchFamily="34" charset="-122"/>
                          <a:cs typeface="Calibri" pitchFamily="34" charset="-120"/>
                        </a:rPr>
                        <a:t>(Open-Weight)</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Standard (CoT)</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62.0%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Calibri" pitchFamily="34" charset="0"/>
                          <a:ea typeface="Calibri" pitchFamily="34" charset="-122"/>
                          <a:cs typeface="Calibri" pitchFamily="34" charset="-120"/>
                        </a:rPr>
                        <a:t>64.0%</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Self-Correction Round 1</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43.5%  ▼ (-18.5)</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37.5%  ▼ (-26.5)</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DF2F4"/>
                    </a:solidFill>
                  </a:tcPr>
                </a:tc>
              </a:tr>
              <a:tr h="384048">
                <a:tc>
                  <a:txBody>
                    <a:bodyPr/>
                    <a:lstStyle/>
                    <a:p>
                      <a:pPr indent="0" marL="0">
                        <a:buNone/>
                      </a:pP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Self-Correction Round 2</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36.5%  ▼ (-25.5)</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C2626"/>
                          </a:solidFill>
                          <a:latin typeface="Calibri" pitchFamily="34" charset="0"/>
                          <a:ea typeface="Calibri" pitchFamily="34" charset="-122"/>
                          <a:cs typeface="Calibri" pitchFamily="34" charset="-120"/>
                        </a:rPr>
                        <a:t>36.5%  ▼ (-27.5)</a:t>
                      </a:r>
                      <a:endParaRPr lang="en-US" sz="1050" dirty="0">
                        <a:latin typeface="Calibri" charset="0"/>
                        <a:ea typeface="Calibri" charset="0"/>
                        <a:cs typeface="Calibri" charset="0"/>
                      </a:endParaRPr>
                    </a:p>
                  </a:txBody>
                  <a:tcPr marL="76200" marR="76200" marT="38100" marB="3810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069080"/>
            <a:ext cx="8046720" cy="411480"/>
          </a:xfrm>
          <a:prstGeom prst="roundRect">
            <a:avLst>
              <a:gd name="adj" fmla="val 11111"/>
            </a:avLst>
          </a:prstGeom>
          <a:solidFill>
            <a:srgbClr val="FEF2F2"/>
          </a:solidFill>
          <a:ln w="12700">
            <a:solidFill>
              <a:srgbClr val="DC2626"/>
            </a:solidFill>
            <a:prstDash val="solid"/>
          </a:ln>
        </p:spPr>
      </p:sp>
      <p:sp>
        <p:nvSpPr>
          <p:cNvPr id="7" name="Text 4"/>
          <p:cNvSpPr/>
          <p:nvPr/>
        </p:nvSpPr>
        <p:spPr>
          <a:xfrm>
            <a:off x="731520" y="4069080"/>
            <a:ext cx="7680960" cy="411480"/>
          </a:xfrm>
          <a:prstGeom prst="rect">
            <a:avLst/>
          </a:prstGeom>
          <a:noFill/>
          <a:ln/>
        </p:spPr>
        <p:txBody>
          <a:bodyPr wrap="square" lIns="0" tIns="0" rIns="0" bIns="0" rtlCol="0" anchor="ctr"/>
          <a:lstStyle/>
          <a:p>
            <a:pPr indent="0" marL="0">
              <a:buNone/>
            </a:pPr>
            <a:r>
              <a:rPr lang="en-US" sz="1050" b="1" dirty="0">
                <a:solidFill>
                  <a:srgbClr val="DC2626"/>
                </a:solidFill>
                <a:latin typeface="Calibri" pitchFamily="34" charset="0"/>
                <a:ea typeface="Calibri" pitchFamily="34" charset="-122"/>
                <a:cs typeface="Calibri" pitchFamily="34" charset="-120"/>
              </a:rPr>
              <a:t>Critical Observation: Llama-2-70B accuracy collapses by nearly half (62.0% → 36.5% on GSM8K).</a:t>
            </a:r>
            <a:endParaRPr lang="en-US" sz="1050" dirty="0"/>
          </a:p>
        </p:txBody>
      </p:sp>
      <p:sp>
        <p:nvSpPr>
          <p:cNvPr id="9" name="Text 5"/>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0" name="Text 6"/>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14/24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4. RESULTS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Answer Transition Dynamics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Error Persistence: Why accuracy drops — net negative answer flipping (Figure 1)</a:t>
            </a:r>
            <a:endParaRPr lang="en-US" sz="1100" dirty="0"/>
          </a:p>
        </p:txBody>
      </p:sp>
      <p:pic>
        <p:nvPicPr>
          <p:cNvPr id="5" name="Image 0" descr="/Users/nafiskabbo/development/presentation/output/assets/fig_transitions_breakdown.png">    </p:cNvPr>
          <p:cNvPicPr>
            <a:picLocks noChangeAspect="1"/>
          </p:cNvPicPr>
          <p:nvPr/>
        </p:nvPicPr>
        <p:blipFill>
          <a:blip r:embed="rId1"/>
          <a:stretch>
            <a:fillRect/>
          </a:stretch>
        </p:blipFill>
        <p:spPr>
          <a:xfrm>
            <a:off x="548640" y="1234440"/>
            <a:ext cx="8046720" cy="2377440"/>
          </a:xfrm>
          <a:prstGeom prst="rect">
            <a:avLst/>
          </a:prstGeom>
        </p:spPr>
      </p:pic>
      <p:sp>
        <p:nvSpPr>
          <p:cNvPr id="6" name="Shape 3"/>
          <p:cNvSpPr/>
          <p:nvPr/>
        </p:nvSpPr>
        <p:spPr>
          <a:xfrm>
            <a:off x="548640" y="3749040"/>
            <a:ext cx="8046720" cy="777240"/>
          </a:xfrm>
          <a:prstGeom prst="roundRect">
            <a:avLst>
              <a:gd name="adj" fmla="val 9412"/>
            </a:avLst>
          </a:prstGeom>
          <a:solidFill>
            <a:srgbClr val="F8F9FA"/>
          </a:solidFill>
          <a:ln w="12700">
            <a:solidFill>
              <a:srgbClr val="E2E8F0"/>
            </a:solidFill>
            <a:prstDash val="solid"/>
          </a:ln>
        </p:spPr>
      </p:sp>
      <p:sp>
        <p:nvSpPr>
          <p:cNvPr id="7" name="Text 4"/>
          <p:cNvSpPr/>
          <p:nvPr/>
        </p:nvSpPr>
        <p:spPr>
          <a:xfrm>
            <a:off x="731520" y="3822192"/>
            <a:ext cx="7680960" cy="182880"/>
          </a:xfrm>
          <a:prstGeom prst="rect">
            <a:avLst/>
          </a:prstGeom>
          <a:noFill/>
          <a:ln/>
        </p:spPr>
        <p:txBody>
          <a:bodyPr wrap="square" lIns="0" tIns="0" rIns="0" bIns="0" rtlCol="0" anchor="ctr"/>
          <a:lstStyle/>
          <a:p>
            <a:pPr indent="0" marL="0">
              <a:buNone/>
            </a:pPr>
            <a:r>
              <a:rPr lang="en-US" sz="950" b="1" spc="100" kern="0" dirty="0">
                <a:solidFill>
                  <a:srgbClr val="800020"/>
                </a:solidFill>
                <a:latin typeface="Calibri" pitchFamily="34" charset="0"/>
                <a:ea typeface="Calibri" pitchFamily="34" charset="-122"/>
                <a:cs typeface="Calibri" pitchFamily="34" charset="-120"/>
              </a:rPr>
              <a:t>THE ROOT CAUSE OF PERFORMANCE DEGRADATION</a:t>
            </a:r>
            <a:endParaRPr lang="en-US" sz="950" dirty="0"/>
          </a:p>
        </p:txBody>
      </p:sp>
      <p:sp>
        <p:nvSpPr>
          <p:cNvPr id="8" name="Text 5"/>
          <p:cNvSpPr/>
          <p:nvPr/>
        </p:nvSpPr>
        <p:spPr>
          <a:xfrm>
            <a:off x="731520" y="4023360"/>
            <a:ext cx="7680960" cy="457200"/>
          </a:xfrm>
          <a:prstGeom prst="rect">
            <a:avLst/>
          </a:prstGeom>
          <a:noFill/>
          <a:ln/>
        </p:spPr>
        <p:txBody>
          <a:bodyPr wrap="square" lIns="0" tIns="0" rIns="0" bIns="0" rtlCol="0" anchor="ctr"/>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Models flip correct answers into incorrect ones (8.9%) more frequently than they fix incorrect answers (7.6%). The self-correction prompt acts as a negative bias, inducing unwarranted self-doubt on sound reasoning.</a:t>
            </a:r>
            <a:endParaRPr lang="en-US" sz="1050" dirty="0"/>
          </a:p>
        </p:txBody>
      </p:sp>
      <p:sp>
        <p:nvSpPr>
          <p:cNvPr id="10" name="Text 6"/>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1" name="Text 7"/>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15/24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5. ANALYSIS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Multi-Agent Debate vs. Self-Consistency</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Why Does Self-Correction Fail?: Equal-compute comparison with simple majority voting (Table 7)</a:t>
            </a:r>
            <a:endParaRPr lang="en-US" sz="1100" dirty="0"/>
          </a:p>
        </p:txBody>
      </p:sp>
      <p:pic>
        <p:nvPicPr>
          <p:cNvPr id="5" name="Image 0" descr="/Users/nafiskabbo/development/presentation/output/assets/fig_debate_vs_consistency.png">    </p:cNvPr>
          <p:cNvPicPr>
            <a:picLocks noChangeAspect="1"/>
          </p:cNvPicPr>
          <p:nvPr/>
        </p:nvPicPr>
        <p:blipFill>
          <a:blip r:embed="rId1"/>
          <a:stretch>
            <a:fillRect/>
          </a:stretch>
        </p:blipFill>
        <p:spPr>
          <a:xfrm>
            <a:off x="548640" y="1234440"/>
            <a:ext cx="8046720" cy="2423160"/>
          </a:xfrm>
          <a:prstGeom prst="rect">
            <a:avLst/>
          </a:prstGeom>
        </p:spPr>
      </p:pic>
      <p:sp>
        <p:nvSpPr>
          <p:cNvPr id="6" name="Shape 3"/>
          <p:cNvSpPr/>
          <p:nvPr/>
        </p:nvSpPr>
        <p:spPr>
          <a:xfrm>
            <a:off x="548640" y="3794760"/>
            <a:ext cx="8046720" cy="731520"/>
          </a:xfrm>
          <a:prstGeom prst="roundRect">
            <a:avLst>
              <a:gd name="adj" fmla="val 10000"/>
            </a:avLst>
          </a:prstGeom>
          <a:solidFill>
            <a:srgbClr val="F8F9FA"/>
          </a:solidFill>
          <a:ln w="12700">
            <a:solidFill>
              <a:srgbClr val="E2E8F0"/>
            </a:solidFill>
            <a:prstDash val="solid"/>
          </a:ln>
        </p:spPr>
      </p:sp>
      <p:sp>
        <p:nvSpPr>
          <p:cNvPr id="7" name="Text 4"/>
          <p:cNvSpPr/>
          <p:nvPr/>
        </p:nvSpPr>
        <p:spPr>
          <a:xfrm>
            <a:off x="731520" y="3858768"/>
            <a:ext cx="7680960" cy="182880"/>
          </a:xfrm>
          <a:prstGeom prst="rect">
            <a:avLst/>
          </a:prstGeom>
          <a:noFill/>
          <a:ln/>
        </p:spPr>
        <p:txBody>
          <a:bodyPr wrap="square" lIns="0" tIns="0" rIns="0" bIns="0" rtlCol="0" anchor="ctr"/>
          <a:lstStyle/>
          <a:p>
            <a:pPr indent="0" marL="0">
              <a:buNone/>
            </a:pPr>
            <a:r>
              <a:rPr lang="en-US" sz="950" b="1" spc="100" kern="0" dirty="0">
                <a:solidFill>
                  <a:srgbClr val="800020"/>
                </a:solidFill>
                <a:latin typeface="Calibri" pitchFamily="34" charset="0"/>
                <a:ea typeface="Calibri" pitchFamily="34" charset="-122"/>
                <a:cs typeface="Calibri" pitchFamily="34" charset="-120"/>
              </a:rPr>
              <a:t>EMPIRICAL FINDING AT EQUAL INFERENCE COST</a:t>
            </a:r>
            <a:endParaRPr lang="en-US" sz="950" dirty="0"/>
          </a:p>
        </p:txBody>
      </p:sp>
      <p:sp>
        <p:nvSpPr>
          <p:cNvPr id="8" name="Text 5"/>
          <p:cNvSpPr/>
          <p:nvPr/>
        </p:nvSpPr>
        <p:spPr>
          <a:xfrm>
            <a:off x="731520" y="4041648"/>
            <a:ext cx="7680960" cy="438912"/>
          </a:xfrm>
          <a:prstGeom prst="rect">
            <a:avLst/>
          </a:prstGeom>
          <a:noFill/>
          <a:ln/>
        </p:spPr>
        <p:txBody>
          <a:bodyPr wrap="square" lIns="0" tIns="0" rIns="0" bIns="0" rtlCol="0" anchor="ctr"/>
          <a:lstStyle/>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When controlling for inference cost (number of generated responses), Multi-Agent Debate achieves NO statistically significant advantage over Self-Consistency (majority voting across N parallel samples), while introducing significant latency and complexity.</a:t>
            </a:r>
            <a:endParaRPr lang="en-US" sz="1000" dirty="0"/>
          </a:p>
        </p:txBody>
      </p:sp>
      <p:sp>
        <p:nvSpPr>
          <p:cNvPr id="10" name="Text 6"/>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1" name="Text 7"/>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16/24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5. ANALYSIS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The Prompt Design Trap</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Possible Causes: Misleading evaluation gains caused by asymmetric prompt information</a:t>
            </a:r>
            <a:endParaRPr lang="en-US" sz="1100" dirty="0"/>
          </a:p>
        </p:txBody>
      </p:sp>
      <p:pic>
        <p:nvPicPr>
          <p:cNvPr id="5" name="Image 0" descr="/Users/nafiskabbo/development/presentation/output/assets/fig_prompt_trap.png">    </p:cNvPr>
          <p:cNvPicPr>
            <a:picLocks noChangeAspect="1"/>
          </p:cNvPicPr>
          <p:nvPr/>
        </p:nvPicPr>
        <p:blipFill>
          <a:blip r:embed="rId1"/>
          <a:stretch>
            <a:fillRect/>
          </a:stretch>
        </p:blipFill>
        <p:spPr>
          <a:xfrm>
            <a:off x="548640" y="1234440"/>
            <a:ext cx="8046720" cy="2423160"/>
          </a:xfrm>
          <a:prstGeom prst="rect">
            <a:avLst/>
          </a:prstGeom>
        </p:spPr>
      </p:pic>
      <p:sp>
        <p:nvSpPr>
          <p:cNvPr id="6" name="Shape 3"/>
          <p:cNvSpPr/>
          <p:nvPr/>
        </p:nvSpPr>
        <p:spPr>
          <a:xfrm>
            <a:off x="548640" y="3794760"/>
            <a:ext cx="8046720" cy="731520"/>
          </a:xfrm>
          <a:prstGeom prst="roundRect">
            <a:avLst>
              <a:gd name="adj" fmla="val 10000"/>
            </a:avLst>
          </a:prstGeom>
          <a:solidFill>
            <a:srgbClr val="F8F9FA"/>
          </a:solidFill>
          <a:ln w="12700">
            <a:solidFill>
              <a:srgbClr val="E2E8F0"/>
            </a:solidFill>
            <a:prstDash val="solid"/>
          </a:ln>
        </p:spPr>
      </p:sp>
      <p:sp>
        <p:nvSpPr>
          <p:cNvPr id="7" name="Text 4"/>
          <p:cNvSpPr/>
          <p:nvPr/>
        </p:nvSpPr>
        <p:spPr>
          <a:xfrm>
            <a:off x="731520" y="3858768"/>
            <a:ext cx="7680960" cy="182880"/>
          </a:xfrm>
          <a:prstGeom prst="rect">
            <a:avLst/>
          </a:prstGeom>
          <a:noFill/>
          <a:ln/>
        </p:spPr>
        <p:txBody>
          <a:bodyPr wrap="square" lIns="0" tIns="0" rIns="0" bIns="0" rtlCol="0" anchor="ctr"/>
          <a:lstStyle/>
          <a:p>
            <a:pPr indent="0" marL="0">
              <a:buNone/>
            </a:pPr>
            <a:r>
              <a:rPr lang="en-US" sz="950" b="1" spc="100" kern="0" dirty="0">
                <a:solidFill>
                  <a:srgbClr val="800020"/>
                </a:solidFill>
                <a:latin typeface="Calibri" pitchFamily="34" charset="0"/>
                <a:ea typeface="Calibri" pitchFamily="34" charset="-122"/>
                <a:cs typeface="Calibri" pitchFamily="34" charset="-120"/>
              </a:rPr>
              <a:t>CASE IN POINT: CONSTRAINED GENERATION (TABLE 8)</a:t>
            </a:r>
            <a:endParaRPr lang="en-US" sz="950" dirty="0"/>
          </a:p>
        </p:txBody>
      </p:sp>
      <p:sp>
        <p:nvSpPr>
          <p:cNvPr id="8" name="Text 5"/>
          <p:cNvSpPr/>
          <p:nvPr/>
        </p:nvSpPr>
        <p:spPr>
          <a:xfrm>
            <a:off x="731520" y="4041648"/>
            <a:ext cx="7680960" cy="438912"/>
          </a:xfrm>
          <a:prstGeom prst="rect">
            <a:avLst/>
          </a:prstGeom>
          <a:noFill/>
          <a:ln/>
        </p:spPr>
        <p:txBody>
          <a:bodyPr wrap="square" lIns="0" tIns="0" rIns="0" bIns="0" rtlCol="0" anchor="ctr"/>
          <a:lstStyle/>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Self-Refine evaluated on CommonGen using an initial prompt that omitted target word constraints, then re-added them in the feedback prompt. When all constraints are included in the initial prompt, 1-shot generation beats the self-correction loop.</a:t>
            </a:r>
            <a:endParaRPr lang="en-US" sz="1000" dirty="0"/>
          </a:p>
        </p:txBody>
      </p:sp>
      <p:sp>
        <p:nvSpPr>
          <p:cNvPr id="10" name="Text 6"/>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1" name="Text 7"/>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17/24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5. ANALYSIS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Case Study: The Gaslighting Effect</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Error Persistence: Concrete breakdown of how self-critique corrupts sound reasoning (Figure 4)</a:t>
            </a:r>
            <a:endParaRPr lang="en-US" sz="1100" dirty="0"/>
          </a:p>
        </p:txBody>
      </p:sp>
      <p:pic>
        <p:nvPicPr>
          <p:cNvPr id="5" name="Image 0" descr="/Users/nafiskabbo/development/presentation/output/assets/fig_yogurt_case_study.png">    </p:cNvPr>
          <p:cNvPicPr>
            <a:picLocks noChangeAspect="1"/>
          </p:cNvPicPr>
          <p:nvPr/>
        </p:nvPicPr>
        <p:blipFill>
          <a:blip r:embed="rId1"/>
          <a:stretch>
            <a:fillRect/>
          </a:stretch>
        </p:blipFill>
        <p:spPr>
          <a:xfrm>
            <a:off x="548640" y="1234440"/>
            <a:ext cx="8046720" cy="2423160"/>
          </a:xfrm>
          <a:prstGeom prst="rect">
            <a:avLst/>
          </a:prstGeom>
        </p:spPr>
      </p:pic>
      <p:sp>
        <p:nvSpPr>
          <p:cNvPr id="6" name="Shape 3"/>
          <p:cNvSpPr/>
          <p:nvPr/>
        </p:nvSpPr>
        <p:spPr>
          <a:xfrm>
            <a:off x="548640" y="3794760"/>
            <a:ext cx="8046720" cy="731520"/>
          </a:xfrm>
          <a:prstGeom prst="roundRect">
            <a:avLst>
              <a:gd name="adj" fmla="val 10000"/>
            </a:avLst>
          </a:prstGeom>
          <a:solidFill>
            <a:srgbClr val="FDF2F4"/>
          </a:solidFill>
          <a:ln w="12700">
            <a:solidFill>
              <a:srgbClr val="800020"/>
            </a:solidFill>
            <a:prstDash val="solid"/>
          </a:ln>
        </p:spPr>
      </p:sp>
      <p:sp>
        <p:nvSpPr>
          <p:cNvPr id="7" name="Text 4"/>
          <p:cNvSpPr/>
          <p:nvPr/>
        </p:nvSpPr>
        <p:spPr>
          <a:xfrm>
            <a:off x="731520" y="3858768"/>
            <a:ext cx="7680960" cy="182880"/>
          </a:xfrm>
          <a:prstGeom prst="rect">
            <a:avLst/>
          </a:prstGeom>
          <a:noFill/>
          <a:ln/>
        </p:spPr>
        <p:txBody>
          <a:bodyPr wrap="square" lIns="0" tIns="0" rIns="0" bIns="0" rtlCol="0" anchor="ctr"/>
          <a:lstStyle/>
          <a:p>
            <a:pPr indent="0" marL="0">
              <a:buNone/>
            </a:pPr>
            <a:r>
              <a:rPr lang="en-US" sz="950" b="1" spc="100" kern="0" dirty="0">
                <a:solidFill>
                  <a:srgbClr val="800020"/>
                </a:solidFill>
                <a:latin typeface="Calibri" pitchFamily="34" charset="0"/>
                <a:ea typeface="Calibri" pitchFamily="34" charset="-122"/>
                <a:cs typeface="Calibri" pitchFamily="34" charset="-120"/>
              </a:rPr>
              <a:t>PSYCHOLOGY OF LLM SELF-DOUBT</a:t>
            </a:r>
            <a:endParaRPr lang="en-US" sz="950" dirty="0"/>
          </a:p>
        </p:txBody>
      </p:sp>
      <p:sp>
        <p:nvSpPr>
          <p:cNvPr id="8" name="Text 5"/>
          <p:cNvSpPr/>
          <p:nvPr/>
        </p:nvSpPr>
        <p:spPr>
          <a:xfrm>
            <a:off x="731520" y="4041648"/>
            <a:ext cx="7680960" cy="438912"/>
          </a:xfrm>
          <a:prstGeom prst="rect">
            <a:avLst/>
          </a:prstGeom>
          <a:noFill/>
          <a:ln/>
        </p:spPr>
        <p:txBody>
          <a:bodyPr wrap="square" lIns="0" tIns="0" rIns="0" bIns="0" rtlCol="0" anchor="ctr"/>
          <a:lstStyle/>
          <a:p>
            <a:pPr indent="0" marL="0">
              <a:lnSpc>
                <a:spcPct val="115000"/>
              </a:lnSpc>
              <a:buNone/>
            </a:pPr>
            <a:r>
              <a:rPr lang="en-US" sz="1000" dirty="0">
                <a:solidFill>
                  <a:srgbClr val="0F172A"/>
                </a:solidFill>
                <a:latin typeface="Calibri" pitchFamily="34" charset="0"/>
                <a:ea typeface="Calibri" pitchFamily="34" charset="-122"/>
                <a:cs typeface="Calibri" pitchFamily="34" charset="-120"/>
              </a:rPr>
              <a:t>When prompted 'Review your answer and find problems', the model assumes the user knows the prior response was wrong. It hallucinated an erroneous edge case (4 yogurts for 2 days) and replaced its correct $75 calculation with $150.</a:t>
            </a:r>
            <a:endParaRPr lang="en-US" sz="1000" dirty="0"/>
          </a:p>
        </p:txBody>
      </p:sp>
      <p:sp>
        <p:nvSpPr>
          <p:cNvPr id="10" name="Text 6"/>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11" name="Text 7"/>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18/24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5. ANALYSIS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The Verification Barrier</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Underlying Mechanism: Why intrinsic verification is as hard as initial generation</a:t>
            </a:r>
            <a:endParaRPr lang="en-US" sz="1100" dirty="0"/>
          </a:p>
        </p:txBody>
      </p:sp>
      <p:sp>
        <p:nvSpPr>
          <p:cNvPr id="5" name="Shape 3"/>
          <p:cNvSpPr/>
          <p:nvPr/>
        </p:nvSpPr>
        <p:spPr>
          <a:xfrm>
            <a:off x="548640" y="1234440"/>
            <a:ext cx="2560320" cy="3200400"/>
          </a:xfrm>
          <a:prstGeom prst="roundRect">
            <a:avLst>
              <a:gd name="adj" fmla="val 3571"/>
            </a:avLst>
          </a:prstGeom>
          <a:solidFill>
            <a:srgbClr val="F8F9FA"/>
          </a:solidFill>
          <a:ln w="12700">
            <a:solidFill>
              <a:srgbClr val="E2E8F0"/>
            </a:solidFill>
            <a:prstDash val="solid"/>
          </a:ln>
        </p:spPr>
      </p:sp>
      <p:sp>
        <p:nvSpPr>
          <p:cNvPr id="6" name="Shape 4"/>
          <p:cNvSpPr/>
          <p:nvPr/>
        </p:nvSpPr>
        <p:spPr>
          <a:xfrm>
            <a:off x="731520" y="1417320"/>
            <a:ext cx="320040" cy="320040"/>
          </a:xfrm>
          <a:prstGeom prst="ellipse">
            <a:avLst/>
          </a:prstGeom>
          <a:solidFill>
            <a:srgbClr val="800020"/>
          </a:solidFill>
          <a:ln/>
        </p:spPr>
      </p:sp>
      <p:sp>
        <p:nvSpPr>
          <p:cNvPr id="7" name="Text 5"/>
          <p:cNvSpPr/>
          <p:nvPr/>
        </p:nvSpPr>
        <p:spPr>
          <a:xfrm>
            <a:off x="731520" y="14173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731520" y="1874520"/>
            <a:ext cx="2194560" cy="457200"/>
          </a:xfrm>
          <a:prstGeom prst="rect">
            <a:avLst/>
          </a:prstGeom>
          <a:noFill/>
          <a:ln/>
        </p:spPr>
        <p:txBody>
          <a:bodyPr wrap="square" lIns="0" tIns="0" rIns="0" bIns="0" rtlCol="0" anchor="ctr"/>
          <a:lstStyle/>
          <a:p>
            <a:pPr indent="0" marL="0">
              <a:buNone/>
            </a:pPr>
            <a:r>
              <a:rPr lang="en-US" sz="1400" b="1" dirty="0">
                <a:solidFill>
                  <a:srgbClr val="0F172A"/>
                </a:solidFill>
                <a:latin typeface="Century Schoolbook" pitchFamily="34" charset="0"/>
                <a:ea typeface="Century Schoolbook" pitchFamily="34" charset="-122"/>
                <a:cs typeface="Century Schoolbook" pitchFamily="34" charset="-120"/>
              </a:rPr>
              <a:t>Shared Parameter Bounds</a:t>
            </a:r>
            <a:endParaRPr lang="en-US" sz="1400" dirty="0"/>
          </a:p>
        </p:txBody>
      </p:sp>
      <p:sp>
        <p:nvSpPr>
          <p:cNvPr id="9" name="Shape 7"/>
          <p:cNvSpPr/>
          <p:nvPr/>
        </p:nvSpPr>
        <p:spPr>
          <a:xfrm>
            <a:off x="731520" y="2377440"/>
            <a:ext cx="2194560" cy="228600"/>
          </a:xfrm>
          <a:prstGeom prst="roundRect">
            <a:avLst>
              <a:gd name="adj" fmla="val 20000"/>
            </a:avLst>
          </a:prstGeom>
          <a:solidFill>
            <a:srgbClr val="FFFFFF"/>
          </a:solidFill>
          <a:ln w="6350">
            <a:solidFill>
              <a:srgbClr val="E2E8F0"/>
            </a:solidFill>
            <a:prstDash val="solid"/>
          </a:ln>
        </p:spPr>
      </p:sp>
      <p:sp>
        <p:nvSpPr>
          <p:cNvPr id="10" name="Text 8"/>
          <p:cNvSpPr/>
          <p:nvPr/>
        </p:nvSpPr>
        <p:spPr>
          <a:xfrm>
            <a:off x="731520" y="2377440"/>
            <a:ext cx="2194560" cy="228600"/>
          </a:xfrm>
          <a:prstGeom prst="rect">
            <a:avLst/>
          </a:prstGeom>
          <a:noFill/>
          <a:ln/>
        </p:spPr>
        <p:txBody>
          <a:bodyPr wrap="square" lIns="0" tIns="0" rIns="0" bIns="0" rtlCol="0" anchor="ctr"/>
          <a:lstStyle/>
          <a:p>
            <a:pPr algn="ctr" indent="0" marL="0">
              <a:buNone/>
            </a:pPr>
            <a:r>
              <a:rPr lang="en-US" sz="900" b="1" dirty="0">
                <a:solidFill>
                  <a:srgbClr val="800020"/>
                </a:solidFill>
                <a:latin typeface="Calibri" pitchFamily="34" charset="0"/>
                <a:ea typeface="Calibri" pitchFamily="34" charset="-122"/>
                <a:cs typeface="Calibri" pitchFamily="34" charset="-120"/>
              </a:rPr>
              <a:t>Knowledge Parity</a:t>
            </a:r>
            <a:endParaRPr lang="en-US" sz="900" dirty="0"/>
          </a:p>
        </p:txBody>
      </p:sp>
      <p:sp>
        <p:nvSpPr>
          <p:cNvPr id="11" name="Text 9"/>
          <p:cNvSpPr/>
          <p:nvPr/>
        </p:nvSpPr>
        <p:spPr>
          <a:xfrm>
            <a:off x="731520" y="2743200"/>
            <a:ext cx="2194560" cy="150876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The critic and generator share the exact same weights and representations. If the model lacks the knowledge to generate the correct step initially, it lacks the knowledge to verify that step.</a:t>
            </a:r>
            <a:endParaRPr lang="en-US" sz="1050" dirty="0"/>
          </a:p>
        </p:txBody>
      </p:sp>
      <p:sp>
        <p:nvSpPr>
          <p:cNvPr id="12" name="Shape 10"/>
          <p:cNvSpPr/>
          <p:nvPr/>
        </p:nvSpPr>
        <p:spPr>
          <a:xfrm>
            <a:off x="3337560" y="1234440"/>
            <a:ext cx="2560320" cy="3200400"/>
          </a:xfrm>
          <a:prstGeom prst="roundRect">
            <a:avLst>
              <a:gd name="adj" fmla="val 3571"/>
            </a:avLst>
          </a:prstGeom>
          <a:solidFill>
            <a:srgbClr val="F8F9FA"/>
          </a:solidFill>
          <a:ln w="12700">
            <a:solidFill>
              <a:srgbClr val="E2E8F0"/>
            </a:solidFill>
            <a:prstDash val="solid"/>
          </a:ln>
        </p:spPr>
      </p:sp>
      <p:sp>
        <p:nvSpPr>
          <p:cNvPr id="13" name="Shape 11"/>
          <p:cNvSpPr/>
          <p:nvPr/>
        </p:nvSpPr>
        <p:spPr>
          <a:xfrm>
            <a:off x="3520440" y="1417320"/>
            <a:ext cx="320040" cy="320040"/>
          </a:xfrm>
          <a:prstGeom prst="ellipse">
            <a:avLst/>
          </a:prstGeom>
          <a:solidFill>
            <a:srgbClr val="800020"/>
          </a:solidFill>
          <a:ln/>
        </p:spPr>
      </p:sp>
      <p:sp>
        <p:nvSpPr>
          <p:cNvPr id="14" name="Text 12"/>
          <p:cNvSpPr/>
          <p:nvPr/>
        </p:nvSpPr>
        <p:spPr>
          <a:xfrm>
            <a:off x="3520440" y="14173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3520440" y="1874520"/>
            <a:ext cx="2194560" cy="457200"/>
          </a:xfrm>
          <a:prstGeom prst="rect">
            <a:avLst/>
          </a:prstGeom>
          <a:noFill/>
          <a:ln/>
        </p:spPr>
        <p:txBody>
          <a:bodyPr wrap="square" lIns="0" tIns="0" rIns="0" bIns="0" rtlCol="0" anchor="ctr"/>
          <a:lstStyle/>
          <a:p>
            <a:pPr indent="0" marL="0">
              <a:buNone/>
            </a:pPr>
            <a:r>
              <a:rPr lang="en-US" sz="1400" b="1" dirty="0">
                <a:solidFill>
                  <a:srgbClr val="0F172A"/>
                </a:solidFill>
                <a:latin typeface="Century Schoolbook" pitchFamily="34" charset="0"/>
                <a:ea typeface="Century Schoolbook" pitchFamily="34" charset="-122"/>
                <a:cs typeface="Century Schoolbook" pitchFamily="34" charset="-120"/>
              </a:rPr>
              <a:t>Negative Prompt Bias</a:t>
            </a:r>
            <a:endParaRPr lang="en-US" sz="1400" dirty="0"/>
          </a:p>
        </p:txBody>
      </p:sp>
      <p:sp>
        <p:nvSpPr>
          <p:cNvPr id="16" name="Shape 14"/>
          <p:cNvSpPr/>
          <p:nvPr/>
        </p:nvSpPr>
        <p:spPr>
          <a:xfrm>
            <a:off x="3520440" y="2377440"/>
            <a:ext cx="2194560" cy="228600"/>
          </a:xfrm>
          <a:prstGeom prst="roundRect">
            <a:avLst>
              <a:gd name="adj" fmla="val 20000"/>
            </a:avLst>
          </a:prstGeom>
          <a:solidFill>
            <a:srgbClr val="FFFFFF"/>
          </a:solidFill>
          <a:ln w="6350">
            <a:solidFill>
              <a:srgbClr val="E2E8F0"/>
            </a:solidFill>
            <a:prstDash val="solid"/>
          </a:ln>
        </p:spPr>
      </p:sp>
      <p:sp>
        <p:nvSpPr>
          <p:cNvPr id="17" name="Text 15"/>
          <p:cNvSpPr/>
          <p:nvPr/>
        </p:nvSpPr>
        <p:spPr>
          <a:xfrm>
            <a:off x="3520440" y="2377440"/>
            <a:ext cx="2194560" cy="228600"/>
          </a:xfrm>
          <a:prstGeom prst="rect">
            <a:avLst/>
          </a:prstGeom>
          <a:noFill/>
          <a:ln/>
        </p:spPr>
        <p:txBody>
          <a:bodyPr wrap="square" lIns="0" tIns="0" rIns="0" bIns="0" rtlCol="0" anchor="ctr"/>
          <a:lstStyle/>
          <a:p>
            <a:pPr algn="ctr" indent="0" marL="0">
              <a:buNone/>
            </a:pPr>
            <a:r>
              <a:rPr lang="en-US" sz="900" b="1" dirty="0">
                <a:solidFill>
                  <a:srgbClr val="800020"/>
                </a:solidFill>
                <a:latin typeface="Calibri" pitchFamily="34" charset="0"/>
                <a:ea typeface="Calibri" pitchFamily="34" charset="-122"/>
                <a:cs typeface="Calibri" pitchFamily="34" charset="-120"/>
              </a:rPr>
              <a:t>Compliance Bias</a:t>
            </a:r>
            <a:endParaRPr lang="en-US" sz="900" dirty="0"/>
          </a:p>
        </p:txBody>
      </p:sp>
      <p:sp>
        <p:nvSpPr>
          <p:cNvPr id="18" name="Text 16"/>
          <p:cNvSpPr/>
          <p:nvPr/>
        </p:nvSpPr>
        <p:spPr>
          <a:xfrm>
            <a:off x="3520440" y="2743200"/>
            <a:ext cx="2194560" cy="150876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Instruction-tuned LLMs are optimized to follow user instructions. Prompts asking 'find errors' bias the model toward modifying answers even when the original derivation was completely correct.</a:t>
            </a:r>
            <a:endParaRPr lang="en-US" sz="1050" dirty="0"/>
          </a:p>
        </p:txBody>
      </p:sp>
      <p:sp>
        <p:nvSpPr>
          <p:cNvPr id="19" name="Shape 17"/>
          <p:cNvSpPr/>
          <p:nvPr/>
        </p:nvSpPr>
        <p:spPr>
          <a:xfrm>
            <a:off x="6126480" y="1234440"/>
            <a:ext cx="2560320" cy="3200400"/>
          </a:xfrm>
          <a:prstGeom prst="roundRect">
            <a:avLst>
              <a:gd name="adj" fmla="val 3571"/>
            </a:avLst>
          </a:prstGeom>
          <a:solidFill>
            <a:srgbClr val="F8F9FA"/>
          </a:solidFill>
          <a:ln w="12700">
            <a:solidFill>
              <a:srgbClr val="E2E8F0"/>
            </a:solidFill>
            <a:prstDash val="solid"/>
          </a:ln>
        </p:spPr>
      </p:sp>
      <p:sp>
        <p:nvSpPr>
          <p:cNvPr id="20" name="Shape 18"/>
          <p:cNvSpPr/>
          <p:nvPr/>
        </p:nvSpPr>
        <p:spPr>
          <a:xfrm>
            <a:off x="6309360" y="1417320"/>
            <a:ext cx="320040" cy="320040"/>
          </a:xfrm>
          <a:prstGeom prst="ellipse">
            <a:avLst/>
          </a:prstGeom>
          <a:solidFill>
            <a:srgbClr val="800020"/>
          </a:solidFill>
          <a:ln/>
        </p:spPr>
      </p:sp>
      <p:sp>
        <p:nvSpPr>
          <p:cNvPr id="21" name="Text 19"/>
          <p:cNvSpPr/>
          <p:nvPr/>
        </p:nvSpPr>
        <p:spPr>
          <a:xfrm>
            <a:off x="6309360" y="1417320"/>
            <a:ext cx="3200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6309360" y="1874520"/>
            <a:ext cx="2194560" cy="457200"/>
          </a:xfrm>
          <a:prstGeom prst="rect">
            <a:avLst/>
          </a:prstGeom>
          <a:noFill/>
          <a:ln/>
        </p:spPr>
        <p:txBody>
          <a:bodyPr wrap="square" lIns="0" tIns="0" rIns="0" bIns="0" rtlCol="0" anchor="ctr"/>
          <a:lstStyle/>
          <a:p>
            <a:pPr indent="0" marL="0">
              <a:buNone/>
            </a:pPr>
            <a:r>
              <a:rPr lang="en-US" sz="1400" b="1" dirty="0">
                <a:solidFill>
                  <a:srgbClr val="0F172A"/>
                </a:solidFill>
                <a:latin typeface="Century Schoolbook" pitchFamily="34" charset="0"/>
                <a:ea typeface="Century Schoolbook" pitchFamily="34" charset="-122"/>
                <a:cs typeface="Century Schoolbook" pitchFamily="34" charset="-120"/>
              </a:rPr>
              <a:t>Lack of Grounded Verifiers</a:t>
            </a:r>
            <a:endParaRPr lang="en-US" sz="1400" dirty="0"/>
          </a:p>
        </p:txBody>
      </p:sp>
      <p:sp>
        <p:nvSpPr>
          <p:cNvPr id="23" name="Shape 21"/>
          <p:cNvSpPr/>
          <p:nvPr/>
        </p:nvSpPr>
        <p:spPr>
          <a:xfrm>
            <a:off x="6309360" y="2377440"/>
            <a:ext cx="2194560" cy="228600"/>
          </a:xfrm>
          <a:prstGeom prst="roundRect">
            <a:avLst>
              <a:gd name="adj" fmla="val 20000"/>
            </a:avLst>
          </a:prstGeom>
          <a:solidFill>
            <a:srgbClr val="FFFFFF"/>
          </a:solidFill>
          <a:ln w="6350">
            <a:solidFill>
              <a:srgbClr val="E2E8F0"/>
            </a:solidFill>
            <a:prstDash val="solid"/>
          </a:ln>
        </p:spPr>
      </p:sp>
      <p:sp>
        <p:nvSpPr>
          <p:cNvPr id="24" name="Text 22"/>
          <p:cNvSpPr/>
          <p:nvPr/>
        </p:nvSpPr>
        <p:spPr>
          <a:xfrm>
            <a:off x="6309360" y="2377440"/>
            <a:ext cx="2194560" cy="228600"/>
          </a:xfrm>
          <a:prstGeom prst="rect">
            <a:avLst/>
          </a:prstGeom>
          <a:noFill/>
          <a:ln/>
        </p:spPr>
        <p:txBody>
          <a:bodyPr wrap="square" lIns="0" tIns="0" rIns="0" bIns="0" rtlCol="0" anchor="ctr"/>
          <a:lstStyle/>
          <a:p>
            <a:pPr algn="ctr" indent="0" marL="0">
              <a:buNone/>
            </a:pPr>
            <a:r>
              <a:rPr lang="en-US" sz="900" b="1" dirty="0">
                <a:solidFill>
                  <a:srgbClr val="800020"/>
                </a:solidFill>
                <a:latin typeface="Calibri" pitchFamily="34" charset="0"/>
                <a:ea typeface="Calibri" pitchFamily="34" charset="-122"/>
                <a:cs typeface="Calibri" pitchFamily="34" charset="-120"/>
              </a:rPr>
              <a:t>No Grounding</a:t>
            </a:r>
            <a:endParaRPr lang="en-US" sz="900" dirty="0"/>
          </a:p>
        </p:txBody>
      </p:sp>
      <p:sp>
        <p:nvSpPr>
          <p:cNvPr id="25" name="Text 23"/>
          <p:cNvSpPr/>
          <p:nvPr/>
        </p:nvSpPr>
        <p:spPr>
          <a:xfrm>
            <a:off x="6309360" y="2743200"/>
            <a:ext cx="2194560" cy="150876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Without an external ground-truth oracle, deterministic code interpreter (e.g. Python), or reward model, the model cannot distinguish genuine logical errors from valid steps.</a:t>
            </a:r>
            <a:endParaRPr lang="en-US" sz="1050" dirty="0"/>
          </a:p>
        </p:txBody>
      </p:sp>
      <p:sp>
        <p:nvSpPr>
          <p:cNvPr id="27" name="Text 24"/>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8" name="Text 25"/>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19/24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6. CONCLUSION &amp; FUTURE WORK</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Key Takeaways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Summary: Core conclusions established by Huang et al. (ICLR 2024)</a:t>
            </a:r>
            <a:endParaRPr lang="en-US" sz="1100" dirty="0"/>
          </a:p>
        </p:txBody>
      </p:sp>
      <p:sp>
        <p:nvSpPr>
          <p:cNvPr id="5" name="Shape 3"/>
          <p:cNvSpPr/>
          <p:nvPr/>
        </p:nvSpPr>
        <p:spPr>
          <a:xfrm>
            <a:off x="548640" y="1234440"/>
            <a:ext cx="8046720" cy="896112"/>
          </a:xfrm>
          <a:prstGeom prst="roundRect">
            <a:avLst>
              <a:gd name="adj" fmla="val 8163"/>
            </a:avLst>
          </a:prstGeom>
          <a:solidFill>
            <a:srgbClr val="F8F9FA"/>
          </a:solidFill>
          <a:ln w="12700">
            <a:solidFill>
              <a:srgbClr val="E2E8F0"/>
            </a:solidFill>
            <a:prstDash val="solid"/>
          </a:ln>
        </p:spPr>
      </p:sp>
      <p:sp>
        <p:nvSpPr>
          <p:cNvPr id="6" name="Shape 4"/>
          <p:cNvSpPr/>
          <p:nvPr/>
        </p:nvSpPr>
        <p:spPr>
          <a:xfrm>
            <a:off x="777240" y="1463040"/>
            <a:ext cx="384048" cy="384048"/>
          </a:xfrm>
          <a:prstGeom prst="ellipse">
            <a:avLst/>
          </a:prstGeom>
          <a:solidFill>
            <a:srgbClr val="800020"/>
          </a:solidFill>
          <a:ln/>
        </p:spPr>
      </p:sp>
      <p:sp>
        <p:nvSpPr>
          <p:cNvPr id="7" name="Text 5"/>
          <p:cNvSpPr/>
          <p:nvPr/>
        </p:nvSpPr>
        <p:spPr>
          <a:xfrm>
            <a:off x="777240" y="1463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25880" y="1371600"/>
            <a:ext cx="7040880" cy="256032"/>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Intrinsic Self-Correction Does Not Work for Reasoning</a:t>
            </a:r>
            <a:endParaRPr lang="en-US" sz="1300" dirty="0"/>
          </a:p>
        </p:txBody>
      </p:sp>
      <p:sp>
        <p:nvSpPr>
          <p:cNvPr id="9" name="Text 7"/>
          <p:cNvSpPr/>
          <p:nvPr/>
        </p:nvSpPr>
        <p:spPr>
          <a:xfrm>
            <a:off x="1325880" y="1645920"/>
            <a:ext cx="7040880" cy="411480"/>
          </a:xfrm>
          <a:prstGeom prst="rect">
            <a:avLst/>
          </a:prstGeom>
          <a:noFill/>
          <a:ln/>
        </p:spPr>
        <p:txBody>
          <a:bodyPr wrap="square" lIns="0" tIns="0" rIns="0" bIns="0" rtlCol="0" anchor="ctr"/>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Without external feedback, LLMs cannot reliably identify and correct their reasoning errors. Performance consistently degrades across benchmarks and model families.</a:t>
            </a:r>
            <a:endParaRPr lang="en-US" sz="1050" dirty="0"/>
          </a:p>
        </p:txBody>
      </p:sp>
      <p:sp>
        <p:nvSpPr>
          <p:cNvPr id="10" name="Shape 8"/>
          <p:cNvSpPr/>
          <p:nvPr/>
        </p:nvSpPr>
        <p:spPr>
          <a:xfrm>
            <a:off x="548640" y="2286000"/>
            <a:ext cx="8046720" cy="896112"/>
          </a:xfrm>
          <a:prstGeom prst="roundRect">
            <a:avLst>
              <a:gd name="adj" fmla="val 8163"/>
            </a:avLst>
          </a:prstGeom>
          <a:solidFill>
            <a:srgbClr val="F8F9FA"/>
          </a:solidFill>
          <a:ln w="12700">
            <a:solidFill>
              <a:srgbClr val="E2E8F0"/>
            </a:solidFill>
            <a:prstDash val="solid"/>
          </a:ln>
        </p:spPr>
      </p:sp>
      <p:sp>
        <p:nvSpPr>
          <p:cNvPr id="11" name="Shape 9"/>
          <p:cNvSpPr/>
          <p:nvPr/>
        </p:nvSpPr>
        <p:spPr>
          <a:xfrm>
            <a:off x="777240" y="2514600"/>
            <a:ext cx="384048" cy="384048"/>
          </a:xfrm>
          <a:prstGeom prst="ellipse">
            <a:avLst/>
          </a:prstGeom>
          <a:solidFill>
            <a:srgbClr val="800020"/>
          </a:solidFill>
          <a:ln/>
        </p:spPr>
      </p:sp>
      <p:sp>
        <p:nvSpPr>
          <p:cNvPr id="12" name="Text 10"/>
          <p:cNvSpPr/>
          <p:nvPr/>
        </p:nvSpPr>
        <p:spPr>
          <a:xfrm>
            <a:off x="777240" y="25146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325880" y="2423160"/>
            <a:ext cx="7040880" cy="256032"/>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Prior Claims Were Methodological Artifacts</a:t>
            </a:r>
            <a:endParaRPr lang="en-US" sz="1300" dirty="0"/>
          </a:p>
        </p:txBody>
      </p:sp>
      <p:sp>
        <p:nvSpPr>
          <p:cNvPr id="14" name="Text 12"/>
          <p:cNvSpPr/>
          <p:nvPr/>
        </p:nvSpPr>
        <p:spPr>
          <a:xfrm>
            <a:off x="1325880" y="2697480"/>
            <a:ext cx="7040880" cy="411480"/>
          </a:xfrm>
          <a:prstGeom prst="rect">
            <a:avLst/>
          </a:prstGeom>
          <a:noFill/>
          <a:ln/>
        </p:spPr>
        <p:txBody>
          <a:bodyPr wrap="square" lIns="0" tIns="0" rIns="0" bIns="0" rtlCol="0" anchor="ctr"/>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Reported gains in earlier studies were driven by oracle label leakage (telling the model when to stop), unfair compute baselines, or incomplete initial prompts.</a:t>
            </a:r>
            <a:endParaRPr lang="en-US" sz="1050" dirty="0"/>
          </a:p>
        </p:txBody>
      </p:sp>
      <p:sp>
        <p:nvSpPr>
          <p:cNvPr id="15" name="Shape 13"/>
          <p:cNvSpPr/>
          <p:nvPr/>
        </p:nvSpPr>
        <p:spPr>
          <a:xfrm>
            <a:off x="548640" y="3337560"/>
            <a:ext cx="8046720" cy="896112"/>
          </a:xfrm>
          <a:prstGeom prst="roundRect">
            <a:avLst>
              <a:gd name="adj" fmla="val 8163"/>
            </a:avLst>
          </a:prstGeom>
          <a:solidFill>
            <a:srgbClr val="F8F9FA"/>
          </a:solidFill>
          <a:ln w="12700">
            <a:solidFill>
              <a:srgbClr val="E2E8F0"/>
            </a:solidFill>
            <a:prstDash val="solid"/>
          </a:ln>
        </p:spPr>
      </p:sp>
      <p:sp>
        <p:nvSpPr>
          <p:cNvPr id="16" name="Shape 14"/>
          <p:cNvSpPr/>
          <p:nvPr/>
        </p:nvSpPr>
        <p:spPr>
          <a:xfrm>
            <a:off x="777240" y="3566160"/>
            <a:ext cx="384048" cy="384048"/>
          </a:xfrm>
          <a:prstGeom prst="ellipse">
            <a:avLst/>
          </a:prstGeom>
          <a:solidFill>
            <a:srgbClr val="800020"/>
          </a:solidFill>
          <a:ln/>
        </p:spPr>
      </p:sp>
      <p:sp>
        <p:nvSpPr>
          <p:cNvPr id="17" name="Text 15"/>
          <p:cNvSpPr/>
          <p:nvPr/>
        </p:nvSpPr>
        <p:spPr>
          <a:xfrm>
            <a:off x="777240" y="3566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325880" y="3474720"/>
            <a:ext cx="7040880" cy="256032"/>
          </a:xfrm>
          <a:prstGeom prst="rect">
            <a:avLst/>
          </a:prstGeom>
          <a:noFill/>
          <a:ln/>
        </p:spPr>
        <p:txBody>
          <a:bodyPr wrap="square" lIns="0" tIns="0" rIns="0" bIns="0" rtlCol="0" anchor="ctr"/>
          <a:lstStyle/>
          <a:p>
            <a:pPr indent="0" marL="0">
              <a:buNone/>
            </a:pPr>
            <a:r>
              <a:rPr lang="en-US" sz="1300" b="1" dirty="0">
                <a:solidFill>
                  <a:srgbClr val="0F172A"/>
                </a:solidFill>
                <a:latin typeface="Century Schoolbook" pitchFamily="34" charset="0"/>
                <a:ea typeface="Century Schoolbook" pitchFamily="34" charset="-122"/>
                <a:cs typeface="Century Schoolbook" pitchFamily="34" charset="-120"/>
              </a:rPr>
              <a:t>External Feedback is Essential for Reliable Correction</a:t>
            </a:r>
            <a:endParaRPr lang="en-US" sz="1300" dirty="0"/>
          </a:p>
        </p:txBody>
      </p:sp>
      <p:sp>
        <p:nvSpPr>
          <p:cNvPr id="19" name="Text 17"/>
          <p:cNvSpPr/>
          <p:nvPr/>
        </p:nvSpPr>
        <p:spPr>
          <a:xfrm>
            <a:off x="1325880" y="3749040"/>
            <a:ext cx="7040880" cy="411480"/>
          </a:xfrm>
          <a:prstGeom prst="rect">
            <a:avLst/>
          </a:prstGeom>
          <a:noFill/>
          <a:ln/>
        </p:spPr>
        <p:txBody>
          <a:bodyPr wrap="square" lIns="0" tIns="0" rIns="0" bIns="0" rtlCol="0" anchor="ctr"/>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Self-correction is highly effective when paired with external grounding signals, such as code execution environments, calculators, unit tests, or human verifiers.</a:t>
            </a:r>
            <a:endParaRPr lang="en-US" sz="1050" dirty="0"/>
          </a:p>
        </p:txBody>
      </p:sp>
      <p:sp>
        <p:nvSpPr>
          <p:cNvPr id="21" name="Text 18"/>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2" name="Text 19"/>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20/24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6. CONCLUSION &amp; FUTURE WORK</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Study Limitations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Scope &amp; Boundaries: Contextualizing the empirical boundaries of this research</a:t>
            </a:r>
            <a:endParaRPr lang="en-US" sz="1100" dirty="0"/>
          </a:p>
        </p:txBody>
      </p:sp>
      <p:sp>
        <p:nvSpPr>
          <p:cNvPr id="5" name="Shape 3"/>
          <p:cNvSpPr/>
          <p:nvPr/>
        </p:nvSpPr>
        <p:spPr>
          <a:xfrm>
            <a:off x="548640" y="1234440"/>
            <a:ext cx="3886200" cy="3200400"/>
          </a:xfrm>
          <a:prstGeom prst="roundRect">
            <a:avLst>
              <a:gd name="adj" fmla="val 2857"/>
            </a:avLst>
          </a:prstGeom>
          <a:solidFill>
            <a:srgbClr val="F8F9FA"/>
          </a:solidFill>
          <a:ln w="12700">
            <a:solidFill>
              <a:srgbClr val="E2E8F0"/>
            </a:solidFill>
            <a:prstDash val="solid"/>
          </a:ln>
        </p:spPr>
      </p:sp>
      <p:sp>
        <p:nvSpPr>
          <p:cNvPr id="6" name="Text 4"/>
          <p:cNvSpPr/>
          <p:nvPr/>
        </p:nvSpPr>
        <p:spPr>
          <a:xfrm>
            <a:off x="777240" y="1371600"/>
            <a:ext cx="3429000" cy="274320"/>
          </a:xfrm>
          <a:prstGeom prst="rect">
            <a:avLst/>
          </a:prstGeom>
          <a:noFill/>
          <a:ln/>
        </p:spPr>
        <p:txBody>
          <a:bodyPr wrap="square" lIns="0" tIns="0" rIns="0" bIns="0" rtlCol="0" anchor="ctr"/>
          <a:lstStyle/>
          <a:p>
            <a:pPr indent="0" marL="0">
              <a:buNone/>
            </a:pPr>
            <a:r>
              <a:rPr lang="en-US" sz="1400" b="1" dirty="0">
                <a:solidFill>
                  <a:srgbClr val="800020"/>
                </a:solidFill>
                <a:latin typeface="Century Schoolbook" pitchFamily="34" charset="0"/>
                <a:ea typeface="Century Schoolbook" pitchFamily="34" charset="-122"/>
                <a:cs typeface="Century Schoolbook" pitchFamily="34" charset="-120"/>
              </a:rPr>
              <a:t>Scope Limitations</a:t>
            </a:r>
            <a:endParaRPr lang="en-US" sz="1400" dirty="0"/>
          </a:p>
        </p:txBody>
      </p:sp>
      <p:sp>
        <p:nvSpPr>
          <p:cNvPr id="7" name="Shape 5"/>
          <p:cNvSpPr/>
          <p:nvPr/>
        </p:nvSpPr>
        <p:spPr>
          <a:xfrm>
            <a:off x="777240" y="1783080"/>
            <a:ext cx="109728" cy="109728"/>
          </a:xfrm>
          <a:prstGeom prst="ellipse">
            <a:avLst/>
          </a:prstGeom>
          <a:solidFill>
            <a:srgbClr val="800020"/>
          </a:solidFill>
          <a:ln/>
        </p:spPr>
      </p:sp>
      <p:sp>
        <p:nvSpPr>
          <p:cNvPr id="8" name="Text 6"/>
          <p:cNvSpPr/>
          <p:nvPr/>
        </p:nvSpPr>
        <p:spPr>
          <a:xfrm>
            <a:off x="960120" y="1737360"/>
            <a:ext cx="3246120"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Reasoning-Specific Scope</a:t>
            </a:r>
            <a:endParaRPr lang="en-US" sz="1100" dirty="0"/>
          </a:p>
        </p:txBody>
      </p:sp>
      <p:sp>
        <p:nvSpPr>
          <p:cNvPr id="9" name="Text 7"/>
          <p:cNvSpPr/>
          <p:nvPr/>
        </p:nvSpPr>
        <p:spPr>
          <a:xfrm>
            <a:off x="960120" y="1938528"/>
            <a:ext cx="3246120" cy="594360"/>
          </a:xfrm>
          <a:prstGeom prst="rect">
            <a:avLst/>
          </a:prstGeom>
          <a:noFill/>
          <a:ln/>
        </p:spPr>
        <p:txBody>
          <a:bodyPr wrap="square" lIns="0" tIns="0" rIns="0" bIns="0"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Focuses exclusively on reasoning benchmarks (math, logic, multi-hop QA). Does not evaluate stylistic writing, translation, or text summarization.</a:t>
            </a:r>
            <a:endParaRPr lang="en-US" sz="950" dirty="0"/>
          </a:p>
        </p:txBody>
      </p:sp>
      <p:sp>
        <p:nvSpPr>
          <p:cNvPr id="10" name="Shape 8"/>
          <p:cNvSpPr/>
          <p:nvPr/>
        </p:nvSpPr>
        <p:spPr>
          <a:xfrm>
            <a:off x="777240" y="2606040"/>
            <a:ext cx="109728" cy="109728"/>
          </a:xfrm>
          <a:prstGeom prst="ellipse">
            <a:avLst/>
          </a:prstGeom>
          <a:solidFill>
            <a:srgbClr val="800020"/>
          </a:solidFill>
          <a:ln/>
        </p:spPr>
      </p:sp>
      <p:sp>
        <p:nvSpPr>
          <p:cNvPr id="11" name="Text 9"/>
          <p:cNvSpPr/>
          <p:nvPr/>
        </p:nvSpPr>
        <p:spPr>
          <a:xfrm>
            <a:off x="960120" y="2560320"/>
            <a:ext cx="3246120"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Prompt-Only Paradigm</a:t>
            </a:r>
            <a:endParaRPr lang="en-US" sz="1100" dirty="0"/>
          </a:p>
        </p:txBody>
      </p:sp>
      <p:sp>
        <p:nvSpPr>
          <p:cNvPr id="12" name="Text 10"/>
          <p:cNvSpPr/>
          <p:nvPr/>
        </p:nvSpPr>
        <p:spPr>
          <a:xfrm>
            <a:off x="960120" y="2761488"/>
            <a:ext cx="3246120" cy="594360"/>
          </a:xfrm>
          <a:prstGeom prst="rect">
            <a:avLst/>
          </a:prstGeom>
          <a:noFill/>
          <a:ln/>
        </p:spPr>
        <p:txBody>
          <a:bodyPr wrap="square" lIns="0" tIns="0" rIns="0" bIns="0"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Examines frozen, off-the-shelf LLMs via prompting. Does not evaluate fine-tuned verifier models or RL-trained self-correction agents.</a:t>
            </a:r>
            <a:endParaRPr lang="en-US" sz="950" dirty="0"/>
          </a:p>
        </p:txBody>
      </p:sp>
      <p:sp>
        <p:nvSpPr>
          <p:cNvPr id="13" name="Shape 11"/>
          <p:cNvSpPr/>
          <p:nvPr/>
        </p:nvSpPr>
        <p:spPr>
          <a:xfrm>
            <a:off x="777240" y="3429000"/>
            <a:ext cx="109728" cy="109728"/>
          </a:xfrm>
          <a:prstGeom prst="ellipse">
            <a:avLst/>
          </a:prstGeom>
          <a:solidFill>
            <a:srgbClr val="800020"/>
          </a:solidFill>
          <a:ln/>
        </p:spPr>
      </p:sp>
      <p:sp>
        <p:nvSpPr>
          <p:cNvPr id="14" name="Text 12"/>
          <p:cNvSpPr/>
          <p:nvPr/>
        </p:nvSpPr>
        <p:spPr>
          <a:xfrm>
            <a:off x="960120" y="3383280"/>
            <a:ext cx="3246120"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Temporal Model Snapshot</a:t>
            </a:r>
            <a:endParaRPr lang="en-US" sz="1100" dirty="0"/>
          </a:p>
        </p:txBody>
      </p:sp>
      <p:sp>
        <p:nvSpPr>
          <p:cNvPr id="15" name="Text 13"/>
          <p:cNvSpPr/>
          <p:nvPr/>
        </p:nvSpPr>
        <p:spPr>
          <a:xfrm>
            <a:off x="960120" y="3584448"/>
            <a:ext cx="3246120" cy="594360"/>
          </a:xfrm>
          <a:prstGeom prst="rect">
            <a:avLst/>
          </a:prstGeom>
          <a:noFill/>
          <a:ln/>
        </p:spPr>
        <p:txBody>
          <a:bodyPr wrap="square" lIns="0" tIns="0" rIns="0" bIns="0"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Evaluated on models available in mid-to-late 2023 (GPT-3.5, GPT-4, Llama-2). Newer reasoning-focused models (e.g. OpenAI o1/o3, Gemini 2.0 Flash Thinking) warrant future study.</a:t>
            </a:r>
            <a:endParaRPr lang="en-US" sz="950" dirty="0"/>
          </a:p>
        </p:txBody>
      </p:sp>
      <p:sp>
        <p:nvSpPr>
          <p:cNvPr id="16" name="Shape 14"/>
          <p:cNvSpPr/>
          <p:nvPr/>
        </p:nvSpPr>
        <p:spPr>
          <a:xfrm>
            <a:off x="4709160" y="1234440"/>
            <a:ext cx="3886200" cy="3200400"/>
          </a:xfrm>
          <a:prstGeom prst="roundRect">
            <a:avLst>
              <a:gd name="adj" fmla="val 2857"/>
            </a:avLst>
          </a:prstGeom>
          <a:solidFill>
            <a:srgbClr val="F8F9FA"/>
          </a:solidFill>
          <a:ln w="12700">
            <a:solidFill>
              <a:srgbClr val="E2E8F0"/>
            </a:solidFill>
            <a:prstDash val="solid"/>
          </a:ln>
        </p:spPr>
      </p:sp>
      <p:sp>
        <p:nvSpPr>
          <p:cNvPr id="17" name="Text 15"/>
          <p:cNvSpPr/>
          <p:nvPr/>
        </p:nvSpPr>
        <p:spPr>
          <a:xfrm>
            <a:off x="4937760" y="1371600"/>
            <a:ext cx="3429000" cy="274320"/>
          </a:xfrm>
          <a:prstGeom prst="rect">
            <a:avLst/>
          </a:prstGeom>
          <a:noFill/>
          <a:ln/>
        </p:spPr>
        <p:txBody>
          <a:bodyPr wrap="square" lIns="0" tIns="0" rIns="0" bIns="0" rtlCol="0" anchor="ctr"/>
          <a:lstStyle/>
          <a:p>
            <a:pPr indent="0" marL="0">
              <a:buNone/>
            </a:pPr>
            <a:r>
              <a:rPr lang="en-US" sz="1400" b="1" dirty="0">
                <a:solidFill>
                  <a:srgbClr val="800020"/>
                </a:solidFill>
                <a:latin typeface="Century Schoolbook" pitchFamily="34" charset="0"/>
                <a:ea typeface="Century Schoolbook" pitchFamily="34" charset="-122"/>
                <a:cs typeface="Century Schoolbook" pitchFamily="34" charset="-120"/>
              </a:rPr>
              <a:t>Methodological Boundaries</a:t>
            </a:r>
            <a:endParaRPr lang="en-US" sz="1400" dirty="0"/>
          </a:p>
        </p:txBody>
      </p:sp>
      <p:sp>
        <p:nvSpPr>
          <p:cNvPr id="18" name="Shape 16"/>
          <p:cNvSpPr/>
          <p:nvPr/>
        </p:nvSpPr>
        <p:spPr>
          <a:xfrm>
            <a:off x="4937760" y="1783080"/>
            <a:ext cx="109728" cy="109728"/>
          </a:xfrm>
          <a:prstGeom prst="ellipse">
            <a:avLst/>
          </a:prstGeom>
          <a:solidFill>
            <a:srgbClr val="800020"/>
          </a:solidFill>
          <a:ln/>
        </p:spPr>
      </p:sp>
      <p:sp>
        <p:nvSpPr>
          <p:cNvPr id="19" name="Text 17"/>
          <p:cNvSpPr/>
          <p:nvPr/>
        </p:nvSpPr>
        <p:spPr>
          <a:xfrm>
            <a:off x="5120640" y="1737360"/>
            <a:ext cx="3246120"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HotpotQA Sample Size</a:t>
            </a:r>
            <a:endParaRPr lang="en-US" sz="1100" dirty="0"/>
          </a:p>
        </p:txBody>
      </p:sp>
      <p:sp>
        <p:nvSpPr>
          <p:cNvPr id="20" name="Text 18"/>
          <p:cNvSpPr/>
          <p:nvPr/>
        </p:nvSpPr>
        <p:spPr>
          <a:xfrm>
            <a:off x="5120640" y="1938528"/>
            <a:ext cx="3246120" cy="594360"/>
          </a:xfrm>
          <a:prstGeom prst="rect">
            <a:avLst/>
          </a:prstGeom>
          <a:noFill/>
          <a:ln/>
        </p:spPr>
        <p:txBody>
          <a:bodyPr wrap="square" lIns="0" tIns="0" rIns="0" bIns="0"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HotpotQA closed-book evaluation was restricted to 100 samples due to API cost constraints, limiting statistical power on multi-hop QA.</a:t>
            </a:r>
            <a:endParaRPr lang="en-US" sz="950" dirty="0"/>
          </a:p>
        </p:txBody>
      </p:sp>
      <p:sp>
        <p:nvSpPr>
          <p:cNvPr id="21" name="Shape 19"/>
          <p:cNvSpPr/>
          <p:nvPr/>
        </p:nvSpPr>
        <p:spPr>
          <a:xfrm>
            <a:off x="4937760" y="2606040"/>
            <a:ext cx="109728" cy="109728"/>
          </a:xfrm>
          <a:prstGeom prst="ellipse">
            <a:avLst/>
          </a:prstGeom>
          <a:solidFill>
            <a:srgbClr val="800020"/>
          </a:solidFill>
          <a:ln/>
        </p:spPr>
      </p:sp>
      <p:sp>
        <p:nvSpPr>
          <p:cNvPr id="22" name="Text 20"/>
          <p:cNvSpPr/>
          <p:nvPr/>
        </p:nvSpPr>
        <p:spPr>
          <a:xfrm>
            <a:off x="5120640" y="2560320"/>
            <a:ext cx="3246120"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Prompt Variation Sensitivity</a:t>
            </a:r>
            <a:endParaRPr lang="en-US" sz="1100" dirty="0"/>
          </a:p>
        </p:txBody>
      </p:sp>
      <p:sp>
        <p:nvSpPr>
          <p:cNvPr id="23" name="Text 21"/>
          <p:cNvSpPr/>
          <p:nvPr/>
        </p:nvSpPr>
        <p:spPr>
          <a:xfrm>
            <a:off x="5120640" y="2761488"/>
            <a:ext cx="3246120" cy="594360"/>
          </a:xfrm>
          <a:prstGeom prst="rect">
            <a:avLst/>
          </a:prstGeom>
          <a:noFill/>
          <a:ln/>
        </p:spPr>
        <p:txBody>
          <a:bodyPr wrap="square" lIns="0" tIns="0" rIns="0" bIns="0"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While multiple feedback prompt templates were tested, the space of all possible prompt variations cannot be exhaustively evaluated.</a:t>
            </a:r>
            <a:endParaRPr lang="en-US" sz="950" dirty="0"/>
          </a:p>
        </p:txBody>
      </p:sp>
      <p:sp>
        <p:nvSpPr>
          <p:cNvPr id="24" name="Shape 22"/>
          <p:cNvSpPr/>
          <p:nvPr/>
        </p:nvSpPr>
        <p:spPr>
          <a:xfrm>
            <a:off x="4937760" y="3429000"/>
            <a:ext cx="109728" cy="109728"/>
          </a:xfrm>
          <a:prstGeom prst="ellipse">
            <a:avLst/>
          </a:prstGeom>
          <a:solidFill>
            <a:srgbClr val="800020"/>
          </a:solidFill>
          <a:ln/>
        </p:spPr>
      </p:sp>
      <p:sp>
        <p:nvSpPr>
          <p:cNvPr id="25" name="Text 23"/>
          <p:cNvSpPr/>
          <p:nvPr/>
        </p:nvSpPr>
        <p:spPr>
          <a:xfrm>
            <a:off x="5120640" y="3383280"/>
            <a:ext cx="3246120" cy="201168"/>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Closed-Book Assumptions</a:t>
            </a:r>
            <a:endParaRPr lang="en-US" sz="1100" dirty="0"/>
          </a:p>
        </p:txBody>
      </p:sp>
      <p:sp>
        <p:nvSpPr>
          <p:cNvPr id="26" name="Text 24"/>
          <p:cNvSpPr/>
          <p:nvPr/>
        </p:nvSpPr>
        <p:spPr>
          <a:xfrm>
            <a:off x="5120640" y="3584448"/>
            <a:ext cx="3246120" cy="594360"/>
          </a:xfrm>
          <a:prstGeom prst="rect">
            <a:avLst/>
          </a:prstGeom>
          <a:noFill/>
          <a:ln/>
        </p:spPr>
        <p:txBody>
          <a:bodyPr wrap="square" lIns="0" tIns="0" rIns="0" bIns="0"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Models operated without retrieval augmentation (RAG), which could provide factual grounding for knowledge verification.</a:t>
            </a:r>
            <a:endParaRPr lang="en-US" sz="950" dirty="0"/>
          </a:p>
        </p:txBody>
      </p:sp>
      <p:sp>
        <p:nvSpPr>
          <p:cNvPr id="28" name="Text 25"/>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9" name="Text 26"/>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21/24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6. CONCLUSION &amp; FUTURE WORK</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Future Directions &amp; Fair Standards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Future Work: Constructive pathways forward and recommendations for fair evaluation</a:t>
            </a:r>
            <a:endParaRPr lang="en-US" sz="1100" dirty="0"/>
          </a:p>
        </p:txBody>
      </p:sp>
      <p:sp>
        <p:nvSpPr>
          <p:cNvPr id="5" name="Shape 3"/>
          <p:cNvSpPr/>
          <p:nvPr/>
        </p:nvSpPr>
        <p:spPr>
          <a:xfrm>
            <a:off x="548640" y="1234440"/>
            <a:ext cx="3886200" cy="1463040"/>
          </a:xfrm>
          <a:prstGeom prst="roundRect">
            <a:avLst>
              <a:gd name="adj" fmla="val 5000"/>
            </a:avLst>
          </a:prstGeom>
          <a:solidFill>
            <a:srgbClr val="F8F9FA"/>
          </a:solidFill>
          <a:ln w="12700">
            <a:solidFill>
              <a:srgbClr val="E2E8F0"/>
            </a:solidFill>
            <a:prstDash val="solid"/>
          </a:ln>
        </p:spPr>
      </p:sp>
      <p:sp>
        <p:nvSpPr>
          <p:cNvPr id="6" name="Text 4"/>
          <p:cNvSpPr/>
          <p:nvPr/>
        </p:nvSpPr>
        <p:spPr>
          <a:xfrm>
            <a:off x="731520" y="1371600"/>
            <a:ext cx="2286000" cy="274320"/>
          </a:xfrm>
          <a:prstGeom prst="rect">
            <a:avLst/>
          </a:prstGeom>
          <a:noFill/>
          <a:ln/>
        </p:spPr>
        <p:txBody>
          <a:bodyPr wrap="square" lIns="0" tIns="0" rIns="0" bIns="0" rtlCol="0" anchor="ctr"/>
          <a:lstStyle/>
          <a:p>
            <a:pPr indent="0" marL="0">
              <a:buNone/>
            </a:pPr>
            <a:r>
              <a:rPr lang="en-US" sz="1350" b="1" dirty="0">
                <a:solidFill>
                  <a:srgbClr val="800020"/>
                </a:solidFill>
                <a:latin typeface="Century Schoolbook" pitchFamily="34" charset="0"/>
                <a:ea typeface="Century Schoolbook" pitchFamily="34" charset="-122"/>
                <a:cs typeface="Century Schoolbook" pitchFamily="34" charset="-120"/>
              </a:rPr>
              <a:t>Tool-Augmented Verification</a:t>
            </a:r>
            <a:endParaRPr lang="en-US" sz="1350" dirty="0"/>
          </a:p>
        </p:txBody>
      </p:sp>
      <p:sp>
        <p:nvSpPr>
          <p:cNvPr id="7" name="Shape 5"/>
          <p:cNvSpPr/>
          <p:nvPr/>
        </p:nvSpPr>
        <p:spPr>
          <a:xfrm>
            <a:off x="2788920" y="1371600"/>
            <a:ext cx="1463040" cy="219456"/>
          </a:xfrm>
          <a:prstGeom prst="roundRect">
            <a:avLst>
              <a:gd name="adj" fmla="val 16667"/>
            </a:avLst>
          </a:prstGeom>
          <a:solidFill>
            <a:srgbClr val="FFFFFF"/>
          </a:solidFill>
          <a:ln w="6350">
            <a:solidFill>
              <a:srgbClr val="E2E8F0"/>
            </a:solidFill>
            <a:prstDash val="solid"/>
          </a:ln>
        </p:spPr>
      </p:sp>
      <p:sp>
        <p:nvSpPr>
          <p:cNvPr id="8" name="Text 6"/>
          <p:cNvSpPr/>
          <p:nvPr/>
        </p:nvSpPr>
        <p:spPr>
          <a:xfrm>
            <a:off x="2788920" y="1371600"/>
            <a:ext cx="1463040" cy="219456"/>
          </a:xfrm>
          <a:prstGeom prst="rect">
            <a:avLst/>
          </a:prstGeom>
          <a:noFill/>
          <a:ln/>
        </p:spPr>
        <p:txBody>
          <a:bodyPr wrap="square" lIns="0" tIns="0" rIns="0" bIns="0" rtlCol="0" anchor="ctr"/>
          <a:lstStyle/>
          <a:p>
            <a:pPr algn="ctr" indent="0" marL="0">
              <a:buNone/>
            </a:pPr>
            <a:r>
              <a:rPr lang="en-US" sz="850" b="1" dirty="0">
                <a:solidFill>
                  <a:srgbClr val="64748B"/>
                </a:solidFill>
                <a:latin typeface="Calibri" pitchFamily="34" charset="0"/>
                <a:ea typeface="Calibri" pitchFamily="34" charset="-122"/>
                <a:cs typeface="Calibri" pitchFamily="34" charset="-120"/>
              </a:rPr>
              <a:t>Deterministic Execution</a:t>
            </a:r>
            <a:endParaRPr lang="en-US" sz="850" dirty="0"/>
          </a:p>
        </p:txBody>
      </p:sp>
      <p:sp>
        <p:nvSpPr>
          <p:cNvPr id="9" name="Text 7"/>
          <p:cNvSpPr/>
          <p:nvPr/>
        </p:nvSpPr>
        <p:spPr>
          <a:xfrm>
            <a:off x="731520" y="1737360"/>
            <a:ext cx="3520440" cy="86868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Integrate deterministic Python interpreters, symbolic math solvers, and SQL execution engines to verify calculations externally.</a:t>
            </a:r>
            <a:endParaRPr lang="en-US" sz="1050" dirty="0"/>
          </a:p>
        </p:txBody>
      </p:sp>
      <p:sp>
        <p:nvSpPr>
          <p:cNvPr id="10" name="Shape 8"/>
          <p:cNvSpPr/>
          <p:nvPr/>
        </p:nvSpPr>
        <p:spPr>
          <a:xfrm>
            <a:off x="4709160" y="1234440"/>
            <a:ext cx="3886200" cy="1463040"/>
          </a:xfrm>
          <a:prstGeom prst="roundRect">
            <a:avLst>
              <a:gd name="adj" fmla="val 5000"/>
            </a:avLst>
          </a:prstGeom>
          <a:solidFill>
            <a:srgbClr val="F8F9FA"/>
          </a:solidFill>
          <a:ln w="12700">
            <a:solidFill>
              <a:srgbClr val="E2E8F0"/>
            </a:solidFill>
            <a:prstDash val="solid"/>
          </a:ln>
        </p:spPr>
      </p:sp>
      <p:sp>
        <p:nvSpPr>
          <p:cNvPr id="11" name="Text 9"/>
          <p:cNvSpPr/>
          <p:nvPr/>
        </p:nvSpPr>
        <p:spPr>
          <a:xfrm>
            <a:off x="4892040" y="1371600"/>
            <a:ext cx="2286000" cy="274320"/>
          </a:xfrm>
          <a:prstGeom prst="rect">
            <a:avLst/>
          </a:prstGeom>
          <a:noFill/>
          <a:ln/>
        </p:spPr>
        <p:txBody>
          <a:bodyPr wrap="square" lIns="0" tIns="0" rIns="0" bIns="0" rtlCol="0" anchor="ctr"/>
          <a:lstStyle/>
          <a:p>
            <a:pPr indent="0" marL="0">
              <a:buNone/>
            </a:pPr>
            <a:r>
              <a:rPr lang="en-US" sz="1350" b="1" dirty="0">
                <a:solidFill>
                  <a:srgbClr val="800020"/>
                </a:solidFill>
                <a:latin typeface="Century Schoolbook" pitchFamily="34" charset="0"/>
                <a:ea typeface="Century Schoolbook" pitchFamily="34" charset="-122"/>
                <a:cs typeface="Century Schoolbook" pitchFamily="34" charset="-120"/>
              </a:rPr>
              <a:t>Learned Verifiers &amp; Reward Models</a:t>
            </a:r>
            <a:endParaRPr lang="en-US" sz="1350" dirty="0"/>
          </a:p>
        </p:txBody>
      </p:sp>
      <p:sp>
        <p:nvSpPr>
          <p:cNvPr id="12" name="Shape 10"/>
          <p:cNvSpPr/>
          <p:nvPr/>
        </p:nvSpPr>
        <p:spPr>
          <a:xfrm>
            <a:off x="6949440" y="1371600"/>
            <a:ext cx="1463040" cy="219456"/>
          </a:xfrm>
          <a:prstGeom prst="roundRect">
            <a:avLst>
              <a:gd name="adj" fmla="val 16667"/>
            </a:avLst>
          </a:prstGeom>
          <a:solidFill>
            <a:srgbClr val="FFFFFF"/>
          </a:solidFill>
          <a:ln w="6350">
            <a:solidFill>
              <a:srgbClr val="E2E8F0"/>
            </a:solidFill>
            <a:prstDash val="solid"/>
          </a:ln>
        </p:spPr>
      </p:sp>
      <p:sp>
        <p:nvSpPr>
          <p:cNvPr id="13" name="Text 11"/>
          <p:cNvSpPr/>
          <p:nvPr/>
        </p:nvSpPr>
        <p:spPr>
          <a:xfrm>
            <a:off x="6949440" y="1371600"/>
            <a:ext cx="1463040" cy="219456"/>
          </a:xfrm>
          <a:prstGeom prst="rect">
            <a:avLst/>
          </a:prstGeom>
          <a:noFill/>
          <a:ln/>
        </p:spPr>
        <p:txBody>
          <a:bodyPr wrap="square" lIns="0" tIns="0" rIns="0" bIns="0" rtlCol="0" anchor="ctr"/>
          <a:lstStyle/>
          <a:p>
            <a:pPr algn="ctr" indent="0" marL="0">
              <a:buNone/>
            </a:pPr>
            <a:r>
              <a:rPr lang="en-US" sz="850" b="1" dirty="0">
                <a:solidFill>
                  <a:srgbClr val="64748B"/>
                </a:solidFill>
                <a:latin typeface="Calibri" pitchFamily="34" charset="0"/>
                <a:ea typeface="Calibri" pitchFamily="34" charset="-122"/>
                <a:cs typeface="Calibri" pitchFamily="34" charset="-120"/>
              </a:rPr>
              <a:t>Specialized Discriminators</a:t>
            </a:r>
            <a:endParaRPr lang="en-US" sz="850" dirty="0"/>
          </a:p>
        </p:txBody>
      </p:sp>
      <p:sp>
        <p:nvSpPr>
          <p:cNvPr id="14" name="Text 12"/>
          <p:cNvSpPr/>
          <p:nvPr/>
        </p:nvSpPr>
        <p:spPr>
          <a:xfrm>
            <a:off x="4892040" y="1737360"/>
            <a:ext cx="3520440" cy="86868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Train separate specialized discriminator models (e.g. Process Reward Models / PRMs) to evaluate step-by-step reasoning quality.</a:t>
            </a:r>
            <a:endParaRPr lang="en-US" sz="1050" dirty="0"/>
          </a:p>
        </p:txBody>
      </p:sp>
      <p:sp>
        <p:nvSpPr>
          <p:cNvPr id="15" name="Shape 13"/>
          <p:cNvSpPr/>
          <p:nvPr/>
        </p:nvSpPr>
        <p:spPr>
          <a:xfrm>
            <a:off x="548640" y="2926080"/>
            <a:ext cx="3886200" cy="1463040"/>
          </a:xfrm>
          <a:prstGeom prst="roundRect">
            <a:avLst>
              <a:gd name="adj" fmla="val 5000"/>
            </a:avLst>
          </a:prstGeom>
          <a:solidFill>
            <a:srgbClr val="F8F9FA"/>
          </a:solidFill>
          <a:ln w="12700">
            <a:solidFill>
              <a:srgbClr val="E2E8F0"/>
            </a:solidFill>
            <a:prstDash val="solid"/>
          </a:ln>
        </p:spPr>
      </p:sp>
      <p:sp>
        <p:nvSpPr>
          <p:cNvPr id="16" name="Text 14"/>
          <p:cNvSpPr/>
          <p:nvPr/>
        </p:nvSpPr>
        <p:spPr>
          <a:xfrm>
            <a:off x="731520" y="3063240"/>
            <a:ext cx="2286000" cy="274320"/>
          </a:xfrm>
          <a:prstGeom prst="rect">
            <a:avLst/>
          </a:prstGeom>
          <a:noFill/>
          <a:ln/>
        </p:spPr>
        <p:txBody>
          <a:bodyPr wrap="square" lIns="0" tIns="0" rIns="0" bIns="0" rtlCol="0" anchor="ctr"/>
          <a:lstStyle/>
          <a:p>
            <a:pPr indent="0" marL="0">
              <a:buNone/>
            </a:pPr>
            <a:r>
              <a:rPr lang="en-US" sz="1350" b="1" dirty="0">
                <a:solidFill>
                  <a:srgbClr val="800020"/>
                </a:solidFill>
                <a:latin typeface="Century Schoolbook" pitchFamily="34" charset="0"/>
                <a:ea typeface="Century Schoolbook" pitchFamily="34" charset="-122"/>
                <a:cs typeface="Century Schoolbook" pitchFamily="34" charset="-120"/>
              </a:rPr>
              <a:t>Training-Time Self-Correction</a:t>
            </a:r>
            <a:endParaRPr lang="en-US" sz="1350" dirty="0"/>
          </a:p>
        </p:txBody>
      </p:sp>
      <p:sp>
        <p:nvSpPr>
          <p:cNvPr id="17" name="Shape 15"/>
          <p:cNvSpPr/>
          <p:nvPr/>
        </p:nvSpPr>
        <p:spPr>
          <a:xfrm>
            <a:off x="2788920" y="3063240"/>
            <a:ext cx="1463040" cy="219456"/>
          </a:xfrm>
          <a:prstGeom prst="roundRect">
            <a:avLst>
              <a:gd name="adj" fmla="val 16667"/>
            </a:avLst>
          </a:prstGeom>
          <a:solidFill>
            <a:srgbClr val="FFFFFF"/>
          </a:solidFill>
          <a:ln w="6350">
            <a:solidFill>
              <a:srgbClr val="E2E8F0"/>
            </a:solidFill>
            <a:prstDash val="solid"/>
          </a:ln>
        </p:spPr>
      </p:sp>
      <p:sp>
        <p:nvSpPr>
          <p:cNvPr id="18" name="Text 16"/>
          <p:cNvSpPr/>
          <p:nvPr/>
        </p:nvSpPr>
        <p:spPr>
          <a:xfrm>
            <a:off x="2788920" y="3063240"/>
            <a:ext cx="1463040" cy="219456"/>
          </a:xfrm>
          <a:prstGeom prst="rect">
            <a:avLst/>
          </a:prstGeom>
          <a:noFill/>
          <a:ln/>
        </p:spPr>
        <p:txBody>
          <a:bodyPr wrap="square" lIns="0" tIns="0" rIns="0" bIns="0" rtlCol="0" anchor="ctr"/>
          <a:lstStyle/>
          <a:p>
            <a:pPr algn="ctr" indent="0" marL="0">
              <a:buNone/>
            </a:pPr>
            <a:r>
              <a:rPr lang="en-US" sz="850" b="1" dirty="0">
                <a:solidFill>
                  <a:srgbClr val="64748B"/>
                </a:solidFill>
                <a:latin typeface="Calibri" pitchFamily="34" charset="0"/>
                <a:ea typeface="Calibri" pitchFamily="34" charset="-122"/>
                <a:cs typeface="Calibri" pitchFamily="34" charset="-120"/>
              </a:rPr>
              <a:t>RL &amp; Search</a:t>
            </a:r>
            <a:endParaRPr lang="en-US" sz="850" dirty="0"/>
          </a:p>
        </p:txBody>
      </p:sp>
      <p:sp>
        <p:nvSpPr>
          <p:cNvPr id="19" name="Text 17"/>
          <p:cNvSpPr/>
          <p:nvPr/>
        </p:nvSpPr>
        <p:spPr>
          <a:xfrm>
            <a:off x="731520" y="3429000"/>
            <a:ext cx="3520440" cy="86868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Train models via Reinforcement Learning with search (e.g. Monte Carlo Tree Search, test-time compute) rather than superficial prompt loops.</a:t>
            </a:r>
            <a:endParaRPr lang="en-US" sz="1050" dirty="0"/>
          </a:p>
        </p:txBody>
      </p:sp>
      <p:sp>
        <p:nvSpPr>
          <p:cNvPr id="20" name="Shape 18"/>
          <p:cNvSpPr/>
          <p:nvPr/>
        </p:nvSpPr>
        <p:spPr>
          <a:xfrm>
            <a:off x="4709160" y="2926080"/>
            <a:ext cx="3886200" cy="1463040"/>
          </a:xfrm>
          <a:prstGeom prst="roundRect">
            <a:avLst>
              <a:gd name="adj" fmla="val 5000"/>
            </a:avLst>
          </a:prstGeom>
          <a:solidFill>
            <a:srgbClr val="F8F9FA"/>
          </a:solidFill>
          <a:ln w="12700">
            <a:solidFill>
              <a:srgbClr val="E2E8F0"/>
            </a:solidFill>
            <a:prstDash val="solid"/>
          </a:ln>
        </p:spPr>
      </p:sp>
      <p:sp>
        <p:nvSpPr>
          <p:cNvPr id="21" name="Text 19"/>
          <p:cNvSpPr/>
          <p:nvPr/>
        </p:nvSpPr>
        <p:spPr>
          <a:xfrm>
            <a:off x="4892040" y="3063240"/>
            <a:ext cx="2286000" cy="274320"/>
          </a:xfrm>
          <a:prstGeom prst="rect">
            <a:avLst/>
          </a:prstGeom>
          <a:noFill/>
          <a:ln/>
        </p:spPr>
        <p:txBody>
          <a:bodyPr wrap="square" lIns="0" tIns="0" rIns="0" bIns="0" rtlCol="0" anchor="ctr"/>
          <a:lstStyle/>
          <a:p>
            <a:pPr indent="0" marL="0">
              <a:buNone/>
            </a:pPr>
            <a:r>
              <a:rPr lang="en-US" sz="1350" b="1" dirty="0">
                <a:solidFill>
                  <a:srgbClr val="800020"/>
                </a:solidFill>
                <a:latin typeface="Century Schoolbook" pitchFamily="34" charset="0"/>
                <a:ea typeface="Century Schoolbook" pitchFamily="34" charset="-122"/>
                <a:cs typeface="Century Schoolbook" pitchFamily="34" charset="-120"/>
              </a:rPr>
              <a:t>Fair Evaluation Standards</a:t>
            </a:r>
            <a:endParaRPr lang="en-US" sz="1350" dirty="0"/>
          </a:p>
        </p:txBody>
      </p:sp>
      <p:sp>
        <p:nvSpPr>
          <p:cNvPr id="22" name="Shape 20"/>
          <p:cNvSpPr/>
          <p:nvPr/>
        </p:nvSpPr>
        <p:spPr>
          <a:xfrm>
            <a:off x="6949440" y="3063240"/>
            <a:ext cx="1463040" cy="219456"/>
          </a:xfrm>
          <a:prstGeom prst="roundRect">
            <a:avLst>
              <a:gd name="adj" fmla="val 16667"/>
            </a:avLst>
          </a:prstGeom>
          <a:solidFill>
            <a:srgbClr val="FFFFFF"/>
          </a:solidFill>
          <a:ln w="6350">
            <a:solidFill>
              <a:srgbClr val="E2E8F0"/>
            </a:solidFill>
            <a:prstDash val="solid"/>
          </a:ln>
        </p:spPr>
      </p:sp>
      <p:sp>
        <p:nvSpPr>
          <p:cNvPr id="23" name="Text 21"/>
          <p:cNvSpPr/>
          <p:nvPr/>
        </p:nvSpPr>
        <p:spPr>
          <a:xfrm>
            <a:off x="6949440" y="3063240"/>
            <a:ext cx="1463040" cy="219456"/>
          </a:xfrm>
          <a:prstGeom prst="rect">
            <a:avLst/>
          </a:prstGeom>
          <a:noFill/>
          <a:ln/>
        </p:spPr>
        <p:txBody>
          <a:bodyPr wrap="square" lIns="0" tIns="0" rIns="0" bIns="0" rtlCol="0" anchor="ctr"/>
          <a:lstStyle/>
          <a:p>
            <a:pPr algn="ctr" indent="0" marL="0">
              <a:buNone/>
            </a:pPr>
            <a:r>
              <a:rPr lang="en-US" sz="850" b="1" dirty="0">
                <a:solidFill>
                  <a:srgbClr val="64748B"/>
                </a:solidFill>
                <a:latin typeface="Calibri" pitchFamily="34" charset="0"/>
                <a:ea typeface="Calibri" pitchFamily="34" charset="-122"/>
                <a:cs typeface="Calibri" pitchFamily="34" charset="-120"/>
              </a:rPr>
              <a:t>Research Best Practices</a:t>
            </a:r>
            <a:endParaRPr lang="en-US" sz="850" dirty="0"/>
          </a:p>
        </p:txBody>
      </p:sp>
      <p:sp>
        <p:nvSpPr>
          <p:cNvPr id="24" name="Text 22"/>
          <p:cNvSpPr/>
          <p:nvPr/>
        </p:nvSpPr>
        <p:spPr>
          <a:xfrm>
            <a:off x="4892040" y="3429000"/>
            <a:ext cx="3520440" cy="868680"/>
          </a:xfrm>
          <a:prstGeom prst="rect">
            <a:avLst/>
          </a:prstGeom>
          <a:noFill/>
          <a:ln/>
        </p:spPr>
        <p:txBody>
          <a:bodyPr wrap="square" lIns="0" tIns="0" rIns="0" bIns="0" rtlCol="0" anchor="t"/>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Mandate equal inference-cost baselines (Self-Consistency), prohibit oracle leakage, and ensure baseline prompts include all constraints.</a:t>
            </a:r>
            <a:endParaRPr lang="en-US" sz="1050" dirty="0"/>
          </a:p>
        </p:txBody>
      </p:sp>
      <p:sp>
        <p:nvSpPr>
          <p:cNvPr id="26" name="Text 23"/>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7" name="Text 24"/>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22/24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REFERENCES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References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Academic literature and baseline studies cited in this presentation (IEEE Format)</a:t>
            </a:r>
            <a:endParaRPr lang="en-US" sz="1100" dirty="0"/>
          </a:p>
        </p:txBody>
      </p:sp>
      <p:sp>
        <p:nvSpPr>
          <p:cNvPr id="5" name="Shape 3"/>
          <p:cNvSpPr/>
          <p:nvPr/>
        </p:nvSpPr>
        <p:spPr>
          <a:xfrm>
            <a:off x="548640" y="1234440"/>
            <a:ext cx="8046720" cy="402336"/>
          </a:xfrm>
          <a:prstGeom prst="roundRect">
            <a:avLst>
              <a:gd name="adj" fmla="val 11364"/>
            </a:avLst>
          </a:prstGeom>
          <a:solidFill>
            <a:srgbClr val="F8F9FA"/>
          </a:solidFill>
          <a:ln w="9525">
            <a:solidFill>
              <a:srgbClr val="E2E8F0"/>
            </a:solidFill>
            <a:prstDash val="solid"/>
          </a:ln>
        </p:spPr>
      </p:sp>
      <p:sp>
        <p:nvSpPr>
          <p:cNvPr id="6" name="Text 4"/>
          <p:cNvSpPr/>
          <p:nvPr/>
        </p:nvSpPr>
        <p:spPr>
          <a:xfrm>
            <a:off x="685800" y="1234440"/>
            <a:ext cx="457200" cy="402336"/>
          </a:xfrm>
          <a:prstGeom prst="rect">
            <a:avLst/>
          </a:prstGeom>
          <a:noFill/>
          <a:ln/>
        </p:spPr>
        <p:txBody>
          <a:bodyPr wrap="square" lIns="0" tIns="0" rIns="0" bIns="0" rtlCol="0" anchor="ctr"/>
          <a:lstStyle/>
          <a:p>
            <a:pPr indent="0" marL="0">
              <a:buNone/>
            </a:pPr>
            <a:r>
              <a:rPr lang="en-US" sz="1000" b="1" dirty="0">
                <a:solidFill>
                  <a:srgbClr val="800020"/>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1188720" y="1234440"/>
            <a:ext cx="7223760" cy="402336"/>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J. Huang, X. Chen, S. Mishra, H. S. Zheng, A. W. Yu, X. Song, and D. Zhou, "Large Language Models Cannot Self-Correct Reasoning Yet," in Proc. International Conference on Learning Representations (ICLR), 2024.</a:t>
            </a:r>
            <a:endParaRPr lang="en-US" sz="900" dirty="0"/>
          </a:p>
        </p:txBody>
      </p:sp>
      <p:sp>
        <p:nvSpPr>
          <p:cNvPr id="8" name="Shape 6"/>
          <p:cNvSpPr/>
          <p:nvPr/>
        </p:nvSpPr>
        <p:spPr>
          <a:xfrm>
            <a:off x="548640" y="1709928"/>
            <a:ext cx="8046720" cy="402336"/>
          </a:xfrm>
          <a:prstGeom prst="roundRect">
            <a:avLst>
              <a:gd name="adj" fmla="val 11364"/>
            </a:avLst>
          </a:prstGeom>
          <a:solidFill>
            <a:srgbClr val="F8F9FA"/>
          </a:solidFill>
          <a:ln w="9525">
            <a:solidFill>
              <a:srgbClr val="E2E8F0"/>
            </a:solidFill>
            <a:prstDash val="solid"/>
          </a:ln>
        </p:spPr>
      </p:sp>
      <p:sp>
        <p:nvSpPr>
          <p:cNvPr id="9" name="Text 7"/>
          <p:cNvSpPr/>
          <p:nvPr/>
        </p:nvSpPr>
        <p:spPr>
          <a:xfrm>
            <a:off x="685800" y="1709928"/>
            <a:ext cx="457200" cy="402336"/>
          </a:xfrm>
          <a:prstGeom prst="rect">
            <a:avLst/>
          </a:prstGeom>
          <a:noFill/>
          <a:ln/>
        </p:spPr>
        <p:txBody>
          <a:bodyPr wrap="square" lIns="0" tIns="0" rIns="0" bIns="0" rtlCol="0" anchor="ctr"/>
          <a:lstStyle/>
          <a:p>
            <a:pPr indent="0" marL="0">
              <a:buNone/>
            </a:pPr>
            <a:r>
              <a:rPr lang="en-US" sz="1000" b="1" dirty="0">
                <a:solidFill>
                  <a:srgbClr val="800020"/>
                </a:solidFill>
                <a:latin typeface="Calibri" pitchFamily="34" charset="0"/>
                <a:ea typeface="Calibri" pitchFamily="34" charset="-122"/>
                <a:cs typeface="Calibri" pitchFamily="34" charset="-120"/>
              </a:rPr>
              <a:t>[2]</a:t>
            </a:r>
            <a:endParaRPr lang="en-US" sz="1000" dirty="0"/>
          </a:p>
        </p:txBody>
      </p:sp>
      <p:sp>
        <p:nvSpPr>
          <p:cNvPr id="10" name="Text 8"/>
          <p:cNvSpPr/>
          <p:nvPr/>
        </p:nvSpPr>
        <p:spPr>
          <a:xfrm>
            <a:off x="1188720" y="1709928"/>
            <a:ext cx="7223760" cy="402336"/>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G. Kim, P. Baldi, and S. McAleer, "Language Models Can Solve Computer Tasks," in Advances in Neural Information Processing Systems (NeurIPS), vol. 36, 2023.</a:t>
            </a:r>
            <a:endParaRPr lang="en-US" sz="900" dirty="0"/>
          </a:p>
        </p:txBody>
      </p:sp>
      <p:sp>
        <p:nvSpPr>
          <p:cNvPr id="11" name="Shape 9"/>
          <p:cNvSpPr/>
          <p:nvPr/>
        </p:nvSpPr>
        <p:spPr>
          <a:xfrm>
            <a:off x="548640" y="2185416"/>
            <a:ext cx="8046720" cy="402336"/>
          </a:xfrm>
          <a:prstGeom prst="roundRect">
            <a:avLst>
              <a:gd name="adj" fmla="val 11364"/>
            </a:avLst>
          </a:prstGeom>
          <a:solidFill>
            <a:srgbClr val="F8F9FA"/>
          </a:solidFill>
          <a:ln w="9525">
            <a:solidFill>
              <a:srgbClr val="E2E8F0"/>
            </a:solidFill>
            <a:prstDash val="solid"/>
          </a:ln>
        </p:spPr>
      </p:sp>
      <p:sp>
        <p:nvSpPr>
          <p:cNvPr id="12" name="Text 10"/>
          <p:cNvSpPr/>
          <p:nvPr/>
        </p:nvSpPr>
        <p:spPr>
          <a:xfrm>
            <a:off x="685800" y="2185416"/>
            <a:ext cx="457200" cy="402336"/>
          </a:xfrm>
          <a:prstGeom prst="rect">
            <a:avLst/>
          </a:prstGeom>
          <a:noFill/>
          <a:ln/>
        </p:spPr>
        <p:txBody>
          <a:bodyPr wrap="square" lIns="0" tIns="0" rIns="0" bIns="0" rtlCol="0" anchor="ctr"/>
          <a:lstStyle/>
          <a:p>
            <a:pPr indent="0" marL="0">
              <a:buNone/>
            </a:pPr>
            <a:r>
              <a:rPr lang="en-US" sz="1000" b="1" dirty="0">
                <a:solidFill>
                  <a:srgbClr val="800020"/>
                </a:solidFill>
                <a:latin typeface="Calibri" pitchFamily="34" charset="0"/>
                <a:ea typeface="Calibri" pitchFamily="34" charset="-122"/>
                <a:cs typeface="Calibri" pitchFamily="34" charset="-120"/>
              </a:rPr>
              <a:t>[3]</a:t>
            </a:r>
            <a:endParaRPr lang="en-US" sz="1000" dirty="0"/>
          </a:p>
        </p:txBody>
      </p:sp>
      <p:sp>
        <p:nvSpPr>
          <p:cNvPr id="13" name="Text 11"/>
          <p:cNvSpPr/>
          <p:nvPr/>
        </p:nvSpPr>
        <p:spPr>
          <a:xfrm>
            <a:off x="1188720" y="2185416"/>
            <a:ext cx="7223760" cy="402336"/>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N. Shinn, F. Cassano, A. Gopinath, K. Narasimhan, and S. Yao, "Reflexion: Language Agents with Verbal Reinforcement Learning," in Advances in Neural Information Processing Systems (NeurIPS), vol. 36, 2023.</a:t>
            </a:r>
            <a:endParaRPr lang="en-US" sz="900" dirty="0"/>
          </a:p>
        </p:txBody>
      </p:sp>
      <p:sp>
        <p:nvSpPr>
          <p:cNvPr id="14" name="Shape 12"/>
          <p:cNvSpPr/>
          <p:nvPr/>
        </p:nvSpPr>
        <p:spPr>
          <a:xfrm>
            <a:off x="548640" y="2660904"/>
            <a:ext cx="8046720" cy="402336"/>
          </a:xfrm>
          <a:prstGeom prst="roundRect">
            <a:avLst>
              <a:gd name="adj" fmla="val 11364"/>
            </a:avLst>
          </a:prstGeom>
          <a:solidFill>
            <a:srgbClr val="F8F9FA"/>
          </a:solidFill>
          <a:ln w="9525">
            <a:solidFill>
              <a:srgbClr val="E2E8F0"/>
            </a:solidFill>
            <a:prstDash val="solid"/>
          </a:ln>
        </p:spPr>
      </p:sp>
      <p:sp>
        <p:nvSpPr>
          <p:cNvPr id="15" name="Text 13"/>
          <p:cNvSpPr/>
          <p:nvPr/>
        </p:nvSpPr>
        <p:spPr>
          <a:xfrm>
            <a:off x="685800" y="2660904"/>
            <a:ext cx="457200" cy="402336"/>
          </a:xfrm>
          <a:prstGeom prst="rect">
            <a:avLst/>
          </a:prstGeom>
          <a:noFill/>
          <a:ln/>
        </p:spPr>
        <p:txBody>
          <a:bodyPr wrap="square" lIns="0" tIns="0" rIns="0" bIns="0" rtlCol="0" anchor="ctr"/>
          <a:lstStyle/>
          <a:p>
            <a:pPr indent="0" marL="0">
              <a:buNone/>
            </a:pPr>
            <a:r>
              <a:rPr lang="en-US" sz="1000" b="1" dirty="0">
                <a:solidFill>
                  <a:srgbClr val="800020"/>
                </a:solidFill>
                <a:latin typeface="Calibri" pitchFamily="34" charset="0"/>
                <a:ea typeface="Calibri" pitchFamily="34" charset="-122"/>
                <a:cs typeface="Calibri" pitchFamily="34" charset="-120"/>
              </a:rPr>
              <a:t>[4]</a:t>
            </a:r>
            <a:endParaRPr lang="en-US" sz="1000" dirty="0"/>
          </a:p>
        </p:txBody>
      </p:sp>
      <p:sp>
        <p:nvSpPr>
          <p:cNvPr id="16" name="Text 14"/>
          <p:cNvSpPr/>
          <p:nvPr/>
        </p:nvSpPr>
        <p:spPr>
          <a:xfrm>
            <a:off x="1188720" y="2660904"/>
            <a:ext cx="7223760" cy="402336"/>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A. Madaan, N. Tandon, P. Gupta, et al., "Self-Refine: Iterative Refinement with Self-Feedback," in Advances in Neural Information Processing Systems (NeurIPS), vol. 36, 2023.</a:t>
            </a:r>
            <a:endParaRPr lang="en-US" sz="900" dirty="0"/>
          </a:p>
        </p:txBody>
      </p:sp>
      <p:sp>
        <p:nvSpPr>
          <p:cNvPr id="17" name="Shape 15"/>
          <p:cNvSpPr/>
          <p:nvPr/>
        </p:nvSpPr>
        <p:spPr>
          <a:xfrm>
            <a:off x="548640" y="3136392"/>
            <a:ext cx="8046720" cy="402336"/>
          </a:xfrm>
          <a:prstGeom prst="roundRect">
            <a:avLst>
              <a:gd name="adj" fmla="val 11364"/>
            </a:avLst>
          </a:prstGeom>
          <a:solidFill>
            <a:srgbClr val="F8F9FA"/>
          </a:solidFill>
          <a:ln w="9525">
            <a:solidFill>
              <a:srgbClr val="E2E8F0"/>
            </a:solidFill>
            <a:prstDash val="solid"/>
          </a:ln>
        </p:spPr>
      </p:sp>
      <p:sp>
        <p:nvSpPr>
          <p:cNvPr id="18" name="Text 16"/>
          <p:cNvSpPr/>
          <p:nvPr/>
        </p:nvSpPr>
        <p:spPr>
          <a:xfrm>
            <a:off x="685800" y="3136392"/>
            <a:ext cx="457200" cy="402336"/>
          </a:xfrm>
          <a:prstGeom prst="rect">
            <a:avLst/>
          </a:prstGeom>
          <a:noFill/>
          <a:ln/>
        </p:spPr>
        <p:txBody>
          <a:bodyPr wrap="square" lIns="0" tIns="0" rIns="0" bIns="0" rtlCol="0" anchor="ctr"/>
          <a:lstStyle/>
          <a:p>
            <a:pPr indent="0" marL="0">
              <a:buNone/>
            </a:pPr>
            <a:r>
              <a:rPr lang="en-US" sz="1000" b="1" dirty="0">
                <a:solidFill>
                  <a:srgbClr val="800020"/>
                </a:solidFill>
                <a:latin typeface="Calibri" pitchFamily="34" charset="0"/>
                <a:ea typeface="Calibri" pitchFamily="34" charset="-122"/>
                <a:cs typeface="Calibri" pitchFamily="34" charset="-120"/>
              </a:rPr>
              <a:t>[5]</a:t>
            </a:r>
            <a:endParaRPr lang="en-US" sz="1000" dirty="0"/>
          </a:p>
        </p:txBody>
      </p:sp>
      <p:sp>
        <p:nvSpPr>
          <p:cNvPr id="19" name="Text 17"/>
          <p:cNvSpPr/>
          <p:nvPr/>
        </p:nvSpPr>
        <p:spPr>
          <a:xfrm>
            <a:off x="1188720" y="3136392"/>
            <a:ext cx="7223760" cy="402336"/>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Y. Du, S. Li, A. Torralba, J. B. Tenenbaum, and I. Mordatch, "Improving Factuality and Reasoning in Language Models through Multiagent Debate," arXiv preprint arXiv:2305.14325, 2023.</a:t>
            </a:r>
            <a:endParaRPr lang="en-US" sz="900" dirty="0"/>
          </a:p>
        </p:txBody>
      </p:sp>
      <p:sp>
        <p:nvSpPr>
          <p:cNvPr id="20" name="Shape 18"/>
          <p:cNvSpPr/>
          <p:nvPr/>
        </p:nvSpPr>
        <p:spPr>
          <a:xfrm>
            <a:off x="548640" y="3611880"/>
            <a:ext cx="8046720" cy="402336"/>
          </a:xfrm>
          <a:prstGeom prst="roundRect">
            <a:avLst>
              <a:gd name="adj" fmla="val 11364"/>
            </a:avLst>
          </a:prstGeom>
          <a:solidFill>
            <a:srgbClr val="F8F9FA"/>
          </a:solidFill>
          <a:ln w="9525">
            <a:solidFill>
              <a:srgbClr val="E2E8F0"/>
            </a:solidFill>
            <a:prstDash val="solid"/>
          </a:ln>
        </p:spPr>
      </p:sp>
      <p:sp>
        <p:nvSpPr>
          <p:cNvPr id="21" name="Text 19"/>
          <p:cNvSpPr/>
          <p:nvPr/>
        </p:nvSpPr>
        <p:spPr>
          <a:xfrm>
            <a:off x="685800" y="3611880"/>
            <a:ext cx="457200" cy="402336"/>
          </a:xfrm>
          <a:prstGeom prst="rect">
            <a:avLst/>
          </a:prstGeom>
          <a:noFill/>
          <a:ln/>
        </p:spPr>
        <p:txBody>
          <a:bodyPr wrap="square" lIns="0" tIns="0" rIns="0" bIns="0" rtlCol="0" anchor="ctr"/>
          <a:lstStyle/>
          <a:p>
            <a:pPr indent="0" marL="0">
              <a:buNone/>
            </a:pPr>
            <a:r>
              <a:rPr lang="en-US" sz="1000" b="1" dirty="0">
                <a:solidFill>
                  <a:srgbClr val="800020"/>
                </a:solidFill>
                <a:latin typeface="Calibri" pitchFamily="34" charset="0"/>
                <a:ea typeface="Calibri" pitchFamily="34" charset="-122"/>
                <a:cs typeface="Calibri" pitchFamily="34" charset="-120"/>
              </a:rPr>
              <a:t>[6]</a:t>
            </a:r>
            <a:endParaRPr lang="en-US" sz="1000" dirty="0"/>
          </a:p>
        </p:txBody>
      </p:sp>
      <p:sp>
        <p:nvSpPr>
          <p:cNvPr id="22" name="Text 20"/>
          <p:cNvSpPr/>
          <p:nvPr/>
        </p:nvSpPr>
        <p:spPr>
          <a:xfrm>
            <a:off x="1188720" y="3611880"/>
            <a:ext cx="7223760" cy="402336"/>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X. Wang, J. Wei, D. Schuurmans, et al., "Self-Consistency Improves Chain of Thought Reasoning in Language Models," in Proc. International Conference on Learning Representations (ICLR), 2023.</a:t>
            </a:r>
            <a:endParaRPr lang="en-US" sz="900" dirty="0"/>
          </a:p>
        </p:txBody>
      </p:sp>
      <p:sp>
        <p:nvSpPr>
          <p:cNvPr id="23" name="Shape 21"/>
          <p:cNvSpPr/>
          <p:nvPr/>
        </p:nvSpPr>
        <p:spPr>
          <a:xfrm>
            <a:off x="548640" y="4087368"/>
            <a:ext cx="8046720" cy="402336"/>
          </a:xfrm>
          <a:prstGeom prst="roundRect">
            <a:avLst>
              <a:gd name="adj" fmla="val 11364"/>
            </a:avLst>
          </a:prstGeom>
          <a:solidFill>
            <a:srgbClr val="F8F9FA"/>
          </a:solidFill>
          <a:ln w="9525">
            <a:solidFill>
              <a:srgbClr val="E2E8F0"/>
            </a:solidFill>
            <a:prstDash val="solid"/>
          </a:ln>
        </p:spPr>
      </p:sp>
      <p:sp>
        <p:nvSpPr>
          <p:cNvPr id="24" name="Text 22"/>
          <p:cNvSpPr/>
          <p:nvPr/>
        </p:nvSpPr>
        <p:spPr>
          <a:xfrm>
            <a:off x="685800" y="4087368"/>
            <a:ext cx="457200" cy="402336"/>
          </a:xfrm>
          <a:prstGeom prst="rect">
            <a:avLst/>
          </a:prstGeom>
          <a:noFill/>
          <a:ln/>
        </p:spPr>
        <p:txBody>
          <a:bodyPr wrap="square" lIns="0" tIns="0" rIns="0" bIns="0" rtlCol="0" anchor="ctr"/>
          <a:lstStyle/>
          <a:p>
            <a:pPr indent="0" marL="0">
              <a:buNone/>
            </a:pPr>
            <a:r>
              <a:rPr lang="en-US" sz="1000" b="1" dirty="0">
                <a:solidFill>
                  <a:srgbClr val="800020"/>
                </a:solidFill>
                <a:latin typeface="Calibri" pitchFamily="34" charset="0"/>
                <a:ea typeface="Calibri" pitchFamily="34" charset="-122"/>
                <a:cs typeface="Calibri" pitchFamily="34" charset="-120"/>
              </a:rPr>
              <a:t>[7]</a:t>
            </a:r>
            <a:endParaRPr lang="en-US" sz="1000" dirty="0"/>
          </a:p>
        </p:txBody>
      </p:sp>
      <p:sp>
        <p:nvSpPr>
          <p:cNvPr id="25" name="Text 23"/>
          <p:cNvSpPr/>
          <p:nvPr/>
        </p:nvSpPr>
        <p:spPr>
          <a:xfrm>
            <a:off x="1188720" y="4087368"/>
            <a:ext cx="7223760" cy="402336"/>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K. Cobbe, V. Kosaraju, M. Bavarian, et al., "Training Verifiers to Solve Math Word Problems," arXiv preprint arXiv:2110.14168, 2021.</a:t>
            </a:r>
            <a:endParaRPr lang="en-US" sz="900" dirty="0"/>
          </a:p>
        </p:txBody>
      </p:sp>
      <p:sp>
        <p:nvSpPr>
          <p:cNvPr id="27" name="Text 24"/>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8" name="Text 25"/>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23/24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
            <a:ext cx="8046720" cy="228600"/>
          </a:xfrm>
          <a:prstGeom prst="rect">
            <a:avLst/>
          </a:prstGeom>
          <a:noFill/>
          <a:ln/>
        </p:spPr>
        <p:txBody>
          <a:bodyPr wrap="square" lIns="0" tIns="0" rIns="0" bIns="0" rtlCol="0" anchor="ctr"/>
          <a:lstStyle/>
          <a:p>
            <a:pPr indent="0" marL="0">
              <a:buNone/>
            </a:pPr>
            <a:r>
              <a:rPr lang="en-US" sz="900" b="1" spc="150" kern="0" dirty="0">
                <a:solidFill>
                  <a:srgbClr val="800020"/>
                </a:solidFill>
                <a:latin typeface="Calibri" pitchFamily="34" charset="0"/>
                <a:ea typeface="Calibri" pitchFamily="34" charset="-122"/>
                <a:cs typeface="Calibri" pitchFamily="34" charset="-120"/>
              </a:rPr>
              <a:t>THANK YOU &amp; QUESTIONS</a:t>
            </a:r>
            <a:endParaRPr lang="en-US" sz="900" dirty="0"/>
          </a:p>
        </p:txBody>
      </p:sp>
      <p:sp>
        <p:nvSpPr>
          <p:cNvPr id="3" name="Text 1"/>
          <p:cNvSpPr/>
          <p:nvPr/>
        </p:nvSpPr>
        <p:spPr>
          <a:xfrm>
            <a:off x="548640" y="438912"/>
            <a:ext cx="8046720" cy="411480"/>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Thank You &amp; Questions</a:t>
            </a:r>
            <a:endParaRPr lang="en-US" sz="2400" dirty="0"/>
          </a:p>
        </p:txBody>
      </p:sp>
      <p:sp>
        <p:nvSpPr>
          <p:cNvPr id="4" name="Text 2"/>
          <p:cNvSpPr/>
          <p:nvPr/>
        </p:nvSpPr>
        <p:spPr>
          <a:xfrm>
            <a:off x="548640" y="868680"/>
            <a:ext cx="804672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Discussion, Q&amp;A, and Group Acknowledgments</a:t>
            </a:r>
            <a:endParaRPr lang="en-US" sz="1100" dirty="0"/>
          </a:p>
        </p:txBody>
      </p:sp>
      <p:sp>
        <p:nvSpPr>
          <p:cNvPr id="5" name="Shape 3"/>
          <p:cNvSpPr/>
          <p:nvPr/>
        </p:nvSpPr>
        <p:spPr>
          <a:xfrm>
            <a:off x="548640" y="1234440"/>
            <a:ext cx="3886200" cy="3200400"/>
          </a:xfrm>
          <a:prstGeom prst="roundRect">
            <a:avLst>
              <a:gd name="adj" fmla="val 2857"/>
            </a:avLst>
          </a:prstGeom>
          <a:solidFill>
            <a:srgbClr val="FDF2F4"/>
          </a:solidFill>
          <a:ln w="19050">
            <a:solidFill>
              <a:srgbClr val="800020"/>
            </a:solidFill>
            <a:prstDash val="solid"/>
          </a:ln>
        </p:spPr>
      </p:sp>
      <p:sp>
        <p:nvSpPr>
          <p:cNvPr id="6" name="Text 4"/>
          <p:cNvSpPr/>
          <p:nvPr/>
        </p:nvSpPr>
        <p:spPr>
          <a:xfrm>
            <a:off x="777240" y="1417320"/>
            <a:ext cx="3429000" cy="274320"/>
          </a:xfrm>
          <a:prstGeom prst="rect">
            <a:avLst/>
          </a:prstGeom>
          <a:noFill/>
          <a:ln/>
        </p:spPr>
        <p:txBody>
          <a:bodyPr wrap="square" lIns="0" tIns="0" rIns="0" bIns="0" rtlCol="0" anchor="ctr"/>
          <a:lstStyle/>
          <a:p>
            <a:pPr indent="0" marL="0">
              <a:buNone/>
            </a:pPr>
            <a:r>
              <a:rPr lang="en-US" sz="1400" b="1" dirty="0">
                <a:solidFill>
                  <a:srgbClr val="800020"/>
                </a:solidFill>
                <a:latin typeface="Century Schoolbook" pitchFamily="34" charset="0"/>
                <a:ea typeface="Century Schoolbook" pitchFamily="34" charset="-122"/>
                <a:cs typeface="Century Schoolbook" pitchFamily="34" charset="-120"/>
              </a:rPr>
              <a:t>Open Questions for Discussion</a:t>
            </a:r>
            <a:endParaRPr lang="en-US" sz="1400" dirty="0"/>
          </a:p>
        </p:txBody>
      </p:sp>
      <p:sp>
        <p:nvSpPr>
          <p:cNvPr id="7" name="Text 5"/>
          <p:cNvSpPr/>
          <p:nvPr/>
        </p:nvSpPr>
        <p:spPr>
          <a:xfrm>
            <a:off x="777240" y="1828800"/>
            <a:ext cx="3429000" cy="685800"/>
          </a:xfrm>
          <a:prstGeom prst="rect">
            <a:avLst/>
          </a:prstGeom>
          <a:noFill/>
          <a:ln/>
        </p:spPr>
        <p:txBody>
          <a:bodyPr wrap="square" lIns="0" tIns="0" rIns="0" bIns="0" rtlCol="0" anchor="ctr"/>
          <a:lstStyle/>
          <a:p>
            <a:pPr indent="0" marL="0">
              <a:lnSpc>
                <a:spcPct val="115000"/>
              </a:lnSpc>
              <a:buNone/>
            </a:pPr>
            <a:r>
              <a:rPr lang="en-US" sz="1050" b="1" dirty="0">
                <a:solidFill>
                  <a:srgbClr val="0F172A"/>
                </a:solidFill>
                <a:latin typeface="Calibri" pitchFamily="34" charset="0"/>
                <a:ea typeface="Calibri" pitchFamily="34" charset="-122"/>
                <a:cs typeface="Calibri" pitchFamily="34" charset="-120"/>
              </a:rPr>
              <a:t>1. Do newer reasoning models with test-time compute (e.g. OpenAI o1/o3, Gemini 2.0 Flash Thinking) overcome this verification barrier?</a:t>
            </a:r>
            <a:endParaRPr lang="en-US" sz="1050" dirty="0"/>
          </a:p>
        </p:txBody>
      </p:sp>
      <p:sp>
        <p:nvSpPr>
          <p:cNvPr id="8" name="Text 6"/>
          <p:cNvSpPr/>
          <p:nvPr/>
        </p:nvSpPr>
        <p:spPr>
          <a:xfrm>
            <a:off x="777240" y="2606040"/>
            <a:ext cx="3429000" cy="685800"/>
          </a:xfrm>
          <a:prstGeom prst="rect">
            <a:avLst/>
          </a:prstGeom>
          <a:noFill/>
          <a:ln/>
        </p:spPr>
        <p:txBody>
          <a:bodyPr wrap="square" lIns="0" tIns="0" rIns="0" bIns="0" rtlCol="0" anchor="ctr"/>
          <a:lstStyle/>
          <a:p>
            <a:pPr indent="0" marL="0">
              <a:lnSpc>
                <a:spcPct val="115000"/>
              </a:lnSpc>
              <a:buNone/>
            </a:pPr>
            <a:r>
              <a:rPr lang="en-US" sz="1050" b="1" dirty="0">
                <a:solidFill>
                  <a:srgbClr val="0F172A"/>
                </a:solidFill>
                <a:latin typeface="Calibri" pitchFamily="34" charset="0"/>
                <a:ea typeface="Calibri" pitchFamily="34" charset="-122"/>
                <a:cs typeface="Calibri" pitchFamily="34" charset="-120"/>
              </a:rPr>
              <a:t>2. How can we best integrate lightweight deterministic verifiers (e.g. Python REPL) into general AI agent architectures?</a:t>
            </a:r>
            <a:endParaRPr lang="en-US" sz="1050" dirty="0"/>
          </a:p>
        </p:txBody>
      </p:sp>
      <p:sp>
        <p:nvSpPr>
          <p:cNvPr id="9" name="Text 7"/>
          <p:cNvSpPr/>
          <p:nvPr/>
        </p:nvSpPr>
        <p:spPr>
          <a:xfrm>
            <a:off x="777240" y="3383280"/>
            <a:ext cx="3429000" cy="685800"/>
          </a:xfrm>
          <a:prstGeom prst="rect">
            <a:avLst/>
          </a:prstGeom>
          <a:noFill/>
          <a:ln/>
        </p:spPr>
        <p:txBody>
          <a:bodyPr wrap="square" lIns="0" tIns="0" rIns="0" bIns="0" rtlCol="0" anchor="ctr"/>
          <a:lstStyle/>
          <a:p>
            <a:pPr indent="0" marL="0">
              <a:lnSpc>
                <a:spcPct val="115000"/>
              </a:lnSpc>
              <a:buNone/>
            </a:pPr>
            <a:r>
              <a:rPr lang="en-US" sz="1050" b="1" dirty="0">
                <a:solidFill>
                  <a:srgbClr val="0F172A"/>
                </a:solidFill>
                <a:latin typeface="Calibri" pitchFamily="34" charset="0"/>
                <a:ea typeface="Calibri" pitchFamily="34" charset="-122"/>
                <a:cs typeface="Calibri" pitchFamily="34" charset="-120"/>
              </a:rPr>
              <a:t>3. Is true intrinsic self-correction theoretically possible without external ground truth?</a:t>
            </a:r>
            <a:endParaRPr lang="en-US" sz="1050" dirty="0"/>
          </a:p>
        </p:txBody>
      </p:sp>
      <p:sp>
        <p:nvSpPr>
          <p:cNvPr id="10" name="Shape 8"/>
          <p:cNvSpPr/>
          <p:nvPr/>
        </p:nvSpPr>
        <p:spPr>
          <a:xfrm>
            <a:off x="4709160" y="1234440"/>
            <a:ext cx="3886200" cy="3200400"/>
          </a:xfrm>
          <a:prstGeom prst="roundRect">
            <a:avLst>
              <a:gd name="adj" fmla="val 2857"/>
            </a:avLst>
          </a:prstGeom>
          <a:solidFill>
            <a:srgbClr val="F8F9FA"/>
          </a:solidFill>
          <a:ln w="12700">
            <a:solidFill>
              <a:srgbClr val="E2E8F0"/>
            </a:solidFill>
            <a:prstDash val="solid"/>
          </a:ln>
        </p:spPr>
      </p:sp>
      <p:sp>
        <p:nvSpPr>
          <p:cNvPr id="11" name="Text 9"/>
          <p:cNvSpPr/>
          <p:nvPr/>
        </p:nvSpPr>
        <p:spPr>
          <a:xfrm>
            <a:off x="4937760" y="1417320"/>
            <a:ext cx="3429000" cy="274320"/>
          </a:xfrm>
          <a:prstGeom prst="rect">
            <a:avLst/>
          </a:prstGeom>
          <a:noFill/>
          <a:ln/>
        </p:spPr>
        <p:txBody>
          <a:bodyPr wrap="square" lIns="0" tIns="0" rIns="0" bIns="0" rtlCol="0" anchor="ctr"/>
          <a:lstStyle/>
          <a:p>
            <a:pPr indent="0" marL="0">
              <a:buNone/>
            </a:pPr>
            <a:r>
              <a:rPr lang="en-US" sz="1400" b="1" dirty="0">
                <a:solidFill>
                  <a:srgbClr val="0F172A"/>
                </a:solidFill>
                <a:latin typeface="Century Schoolbook" pitchFamily="34" charset="0"/>
                <a:ea typeface="Century Schoolbook" pitchFamily="34" charset="-122"/>
                <a:cs typeface="Century Schoolbook" pitchFamily="34" charset="-120"/>
              </a:rPr>
              <a:t>Group Presenters &amp; Sections</a:t>
            </a:r>
            <a:endParaRPr lang="en-US" sz="1400" dirty="0"/>
          </a:p>
        </p:txBody>
      </p:sp>
      <p:sp>
        <p:nvSpPr>
          <p:cNvPr id="12" name="Text 10"/>
          <p:cNvSpPr/>
          <p:nvPr/>
        </p:nvSpPr>
        <p:spPr>
          <a:xfrm>
            <a:off x="4937760" y="1783080"/>
            <a:ext cx="201168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Nafis Islam Kabbo (2303180)</a:t>
            </a:r>
            <a:endParaRPr lang="en-US" sz="1000" dirty="0"/>
          </a:p>
        </p:txBody>
      </p:sp>
      <p:sp>
        <p:nvSpPr>
          <p:cNvPr id="13" name="Text 11"/>
          <p:cNvSpPr/>
          <p:nvPr/>
        </p:nvSpPr>
        <p:spPr>
          <a:xfrm>
            <a:off x="6766560" y="1783080"/>
            <a:ext cx="1645920" cy="320040"/>
          </a:xfrm>
          <a:prstGeom prst="rect">
            <a:avLst/>
          </a:prstGeom>
          <a:noFill/>
          <a:ln/>
        </p:spPr>
        <p:txBody>
          <a:bodyPr wrap="square" lIns="0" tIns="0" rIns="0" bIns="0" rtlCol="0" anchor="ctr"/>
          <a:lstStyle/>
          <a:p>
            <a:pPr indent="0" marL="0">
              <a:buNone/>
            </a:pPr>
            <a:r>
              <a:rPr lang="en-US" sz="900" b="1" dirty="0">
                <a:solidFill>
                  <a:srgbClr val="800020"/>
                </a:solidFill>
                <a:latin typeface="Calibri" pitchFamily="34" charset="0"/>
                <a:ea typeface="Calibri" pitchFamily="34" charset="-122"/>
                <a:cs typeface="Calibri" pitchFamily="34" charset="-120"/>
              </a:rPr>
              <a:t>1. Introduction</a:t>
            </a:r>
            <a:endParaRPr lang="en-US" sz="900" dirty="0"/>
          </a:p>
        </p:txBody>
      </p:sp>
      <p:sp>
        <p:nvSpPr>
          <p:cNvPr id="14" name="Text 12"/>
          <p:cNvSpPr/>
          <p:nvPr/>
        </p:nvSpPr>
        <p:spPr>
          <a:xfrm>
            <a:off x="4937760" y="2194560"/>
            <a:ext cx="201168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Srijon (2303179)</a:t>
            </a:r>
            <a:endParaRPr lang="en-US" sz="1000" dirty="0"/>
          </a:p>
        </p:txBody>
      </p:sp>
      <p:sp>
        <p:nvSpPr>
          <p:cNvPr id="15" name="Text 13"/>
          <p:cNvSpPr/>
          <p:nvPr/>
        </p:nvSpPr>
        <p:spPr>
          <a:xfrm>
            <a:off x="6766560" y="2194560"/>
            <a:ext cx="1645920" cy="320040"/>
          </a:xfrm>
          <a:prstGeom prst="rect">
            <a:avLst/>
          </a:prstGeom>
          <a:noFill/>
          <a:ln/>
        </p:spPr>
        <p:txBody>
          <a:bodyPr wrap="square" lIns="0" tIns="0" rIns="0" bIns="0" rtlCol="0" anchor="ctr"/>
          <a:lstStyle/>
          <a:p>
            <a:pPr indent="0" marL="0">
              <a:buNone/>
            </a:pPr>
            <a:r>
              <a:rPr lang="en-US" sz="900" b="1" dirty="0">
                <a:solidFill>
                  <a:srgbClr val="800020"/>
                </a:solidFill>
                <a:latin typeface="Calibri" pitchFamily="34" charset="0"/>
                <a:ea typeface="Calibri" pitchFamily="34" charset="-122"/>
                <a:cs typeface="Calibri" pitchFamily="34" charset="-120"/>
              </a:rPr>
              <a:t>2. Background &amp; Related Work</a:t>
            </a:r>
            <a:endParaRPr lang="en-US" sz="900" dirty="0"/>
          </a:p>
        </p:txBody>
      </p:sp>
      <p:sp>
        <p:nvSpPr>
          <p:cNvPr id="16" name="Text 14"/>
          <p:cNvSpPr/>
          <p:nvPr/>
        </p:nvSpPr>
        <p:spPr>
          <a:xfrm>
            <a:off x="4937760" y="2606040"/>
            <a:ext cx="201168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Anindo (2303181)</a:t>
            </a:r>
            <a:endParaRPr lang="en-US" sz="1000" dirty="0"/>
          </a:p>
        </p:txBody>
      </p:sp>
      <p:sp>
        <p:nvSpPr>
          <p:cNvPr id="17" name="Text 15"/>
          <p:cNvSpPr/>
          <p:nvPr/>
        </p:nvSpPr>
        <p:spPr>
          <a:xfrm>
            <a:off x="6766560" y="2606040"/>
            <a:ext cx="1645920" cy="320040"/>
          </a:xfrm>
          <a:prstGeom prst="rect">
            <a:avLst/>
          </a:prstGeom>
          <a:noFill/>
          <a:ln/>
        </p:spPr>
        <p:txBody>
          <a:bodyPr wrap="square" lIns="0" tIns="0" rIns="0" bIns="0" rtlCol="0" anchor="ctr"/>
          <a:lstStyle/>
          <a:p>
            <a:pPr indent="0" marL="0">
              <a:buNone/>
            </a:pPr>
            <a:r>
              <a:rPr lang="en-US" sz="900" b="1" dirty="0">
                <a:solidFill>
                  <a:srgbClr val="800020"/>
                </a:solidFill>
                <a:latin typeface="Calibri" pitchFamily="34" charset="0"/>
                <a:ea typeface="Calibri" pitchFamily="34" charset="-122"/>
                <a:cs typeface="Calibri" pitchFamily="34" charset="-120"/>
              </a:rPr>
              <a:t>3. Methodology</a:t>
            </a:r>
            <a:endParaRPr lang="en-US" sz="900" dirty="0"/>
          </a:p>
        </p:txBody>
      </p:sp>
      <p:sp>
        <p:nvSpPr>
          <p:cNvPr id="18" name="Text 16"/>
          <p:cNvSpPr/>
          <p:nvPr/>
        </p:nvSpPr>
        <p:spPr>
          <a:xfrm>
            <a:off x="4937760" y="3017520"/>
            <a:ext cx="201168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Mahid (2303127)</a:t>
            </a:r>
            <a:endParaRPr lang="en-US" sz="1000" dirty="0"/>
          </a:p>
        </p:txBody>
      </p:sp>
      <p:sp>
        <p:nvSpPr>
          <p:cNvPr id="19" name="Text 17"/>
          <p:cNvSpPr/>
          <p:nvPr/>
        </p:nvSpPr>
        <p:spPr>
          <a:xfrm>
            <a:off x="6766560" y="3017520"/>
            <a:ext cx="1645920" cy="320040"/>
          </a:xfrm>
          <a:prstGeom prst="rect">
            <a:avLst/>
          </a:prstGeom>
          <a:noFill/>
          <a:ln/>
        </p:spPr>
        <p:txBody>
          <a:bodyPr wrap="square" lIns="0" tIns="0" rIns="0" bIns="0" rtlCol="0" anchor="ctr"/>
          <a:lstStyle/>
          <a:p>
            <a:pPr indent="0" marL="0">
              <a:buNone/>
            </a:pPr>
            <a:r>
              <a:rPr lang="en-US" sz="900" b="1" dirty="0">
                <a:solidFill>
                  <a:srgbClr val="800020"/>
                </a:solidFill>
                <a:latin typeface="Calibri" pitchFamily="34" charset="0"/>
                <a:ea typeface="Calibri" pitchFamily="34" charset="-122"/>
                <a:cs typeface="Calibri" pitchFamily="34" charset="-120"/>
              </a:rPr>
              <a:t>4. Results</a:t>
            </a:r>
            <a:endParaRPr lang="en-US" sz="900" dirty="0"/>
          </a:p>
        </p:txBody>
      </p:sp>
      <p:sp>
        <p:nvSpPr>
          <p:cNvPr id="20" name="Text 18"/>
          <p:cNvSpPr/>
          <p:nvPr/>
        </p:nvSpPr>
        <p:spPr>
          <a:xfrm>
            <a:off x="4937760" y="3429000"/>
            <a:ext cx="201168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Jebon (2303160)</a:t>
            </a:r>
            <a:endParaRPr lang="en-US" sz="1000" dirty="0"/>
          </a:p>
        </p:txBody>
      </p:sp>
      <p:sp>
        <p:nvSpPr>
          <p:cNvPr id="21" name="Text 19"/>
          <p:cNvSpPr/>
          <p:nvPr/>
        </p:nvSpPr>
        <p:spPr>
          <a:xfrm>
            <a:off x="6766560" y="3429000"/>
            <a:ext cx="1645920" cy="320040"/>
          </a:xfrm>
          <a:prstGeom prst="rect">
            <a:avLst/>
          </a:prstGeom>
          <a:noFill/>
          <a:ln/>
        </p:spPr>
        <p:txBody>
          <a:bodyPr wrap="square" lIns="0" tIns="0" rIns="0" bIns="0" rtlCol="0" anchor="ctr"/>
          <a:lstStyle/>
          <a:p>
            <a:pPr indent="0" marL="0">
              <a:buNone/>
            </a:pPr>
            <a:r>
              <a:rPr lang="en-US" sz="900" b="1" dirty="0">
                <a:solidFill>
                  <a:srgbClr val="800020"/>
                </a:solidFill>
                <a:latin typeface="Calibri" pitchFamily="34" charset="0"/>
                <a:ea typeface="Calibri" pitchFamily="34" charset="-122"/>
                <a:cs typeface="Calibri" pitchFamily="34" charset="-120"/>
              </a:rPr>
              <a:t>5. Analysis</a:t>
            </a:r>
            <a:endParaRPr lang="en-US" sz="900" dirty="0"/>
          </a:p>
        </p:txBody>
      </p:sp>
      <p:sp>
        <p:nvSpPr>
          <p:cNvPr id="22" name="Text 20"/>
          <p:cNvSpPr/>
          <p:nvPr/>
        </p:nvSpPr>
        <p:spPr>
          <a:xfrm>
            <a:off x="4937760" y="3840480"/>
            <a:ext cx="2011680" cy="320040"/>
          </a:xfrm>
          <a:prstGeom prst="rect">
            <a:avLst/>
          </a:prstGeom>
          <a:noFill/>
          <a:ln/>
        </p:spPr>
        <p:txBody>
          <a:bodyPr wrap="square" lIns="0" tIns="0" rIns="0" bIns="0" rtlCol="0" anchor="ctr"/>
          <a:lstStyle/>
          <a:p>
            <a:pPr indent="0" marL="0">
              <a:buNone/>
            </a:pPr>
            <a:r>
              <a:rPr lang="en-US" sz="1000" b="1" dirty="0">
                <a:solidFill>
                  <a:srgbClr val="0F172A"/>
                </a:solidFill>
                <a:latin typeface="Calibri" pitchFamily="34" charset="0"/>
                <a:ea typeface="Calibri" pitchFamily="34" charset="-122"/>
                <a:cs typeface="Calibri" pitchFamily="34" charset="-120"/>
              </a:rPr>
              <a:t>Refayet (2303148)</a:t>
            </a:r>
            <a:endParaRPr lang="en-US" sz="1000" dirty="0"/>
          </a:p>
        </p:txBody>
      </p:sp>
      <p:sp>
        <p:nvSpPr>
          <p:cNvPr id="23" name="Text 21"/>
          <p:cNvSpPr/>
          <p:nvPr/>
        </p:nvSpPr>
        <p:spPr>
          <a:xfrm>
            <a:off x="6766560" y="3840480"/>
            <a:ext cx="1645920" cy="320040"/>
          </a:xfrm>
          <a:prstGeom prst="rect">
            <a:avLst/>
          </a:prstGeom>
          <a:noFill/>
          <a:ln/>
        </p:spPr>
        <p:txBody>
          <a:bodyPr wrap="square" lIns="0" tIns="0" rIns="0" bIns="0" rtlCol="0" anchor="ctr"/>
          <a:lstStyle/>
          <a:p>
            <a:pPr indent="0" marL="0">
              <a:buNone/>
            </a:pPr>
            <a:r>
              <a:rPr lang="en-US" sz="900" b="1" dirty="0">
                <a:solidFill>
                  <a:srgbClr val="800020"/>
                </a:solidFill>
                <a:latin typeface="Calibri" pitchFamily="34" charset="0"/>
                <a:ea typeface="Calibri" pitchFamily="34" charset="-122"/>
                <a:cs typeface="Calibri" pitchFamily="34" charset="-120"/>
              </a:rPr>
              <a:t>6. Conclusion &amp; Future Work</a:t>
            </a:r>
            <a:endParaRPr lang="en-US" sz="900" dirty="0"/>
          </a:p>
        </p:txBody>
      </p:sp>
      <p:sp>
        <p:nvSpPr>
          <p:cNvPr id="24" name="Shape 22"/>
          <p:cNvSpPr/>
          <p:nvPr/>
        </p:nvSpPr>
        <p:spPr>
          <a:xfrm>
            <a:off x="4937760" y="3794760"/>
            <a:ext cx="3429000" cy="411480"/>
          </a:xfrm>
          <a:prstGeom prst="roundRect">
            <a:avLst>
              <a:gd name="adj" fmla="val 11111"/>
            </a:avLst>
          </a:prstGeom>
          <a:solidFill>
            <a:srgbClr val="FFFFFF"/>
          </a:solidFill>
          <a:ln w="6350">
            <a:solidFill>
              <a:srgbClr val="E2E8F0"/>
            </a:solidFill>
            <a:prstDash val="solid"/>
          </a:ln>
        </p:spPr>
      </p:sp>
      <p:sp>
        <p:nvSpPr>
          <p:cNvPr id="25" name="Text 23"/>
          <p:cNvSpPr/>
          <p:nvPr/>
        </p:nvSpPr>
        <p:spPr>
          <a:xfrm>
            <a:off x="5029200" y="3794760"/>
            <a:ext cx="3246120" cy="411480"/>
          </a:xfrm>
          <a:prstGeom prst="rect">
            <a:avLst/>
          </a:prstGeom>
          <a:noFill/>
          <a:ln/>
        </p:spPr>
        <p:txBody>
          <a:bodyPr wrap="square" lIns="0" tIns="0" rIns="0" bIns="0"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We invite questions and comments from the audience.</a:t>
            </a:r>
            <a:endParaRPr lang="en-US" sz="1000" dirty="0"/>
          </a:p>
        </p:txBody>
      </p:sp>
      <p:sp>
        <p:nvSpPr>
          <p:cNvPr id="27" name="Text 24"/>
          <p:cNvSpPr/>
          <p:nvPr/>
        </p:nvSpPr>
        <p:spPr>
          <a:xfrm>
            <a:off x="548640" y="4736592"/>
            <a:ext cx="6583680" cy="274320"/>
          </a:xfrm>
          <a:prstGeom prst="rect">
            <a:avLst/>
          </a:prstGeom>
          <a:noFill/>
          <a:ln/>
        </p:spPr>
        <p:txBody>
          <a:bodyPr wrap="square" lIns="0" tIns="0" rIns="0" bIns="0" rtlCol="0" anchor="ctr"/>
          <a:lstStyle/>
          <a:p>
            <a:pPr algn="l" indent="0" marL="0">
              <a:buNone/>
            </a:pPr>
            <a:r>
              <a:rPr lang="en-US" sz="850" dirty="0">
                <a:solidFill>
                  <a:srgbClr val="64748B"/>
                </a:solidFill>
                <a:latin typeface="Calibri" pitchFamily="34" charset="0"/>
                <a:ea typeface="Calibri" pitchFamily="34" charset="-122"/>
                <a:cs typeface="Calibri" pitchFamily="34" charset="-120"/>
              </a:rPr>
              <a:t>Large Language Models Cannot Self-Correct Reasoning Yet  |  ICLR 2024</a:t>
            </a:r>
            <a:endParaRPr lang="en-US" sz="850" dirty="0"/>
          </a:p>
        </p:txBody>
      </p:sp>
      <p:sp>
        <p:nvSpPr>
          <p:cNvPr id="28" name="Text 25"/>
          <p:cNvSpPr/>
          <p:nvPr/>
        </p:nvSpPr>
        <p:spPr>
          <a:xfrm>
            <a:off x="7315200" y="4736592"/>
            <a:ext cx="1280160" cy="274320"/>
          </a:xfrm>
          <a:prstGeom prst="rect">
            <a:avLst/>
          </a:prstGeom>
          <a:noFill/>
          <a:ln/>
        </p:spPr>
        <p:txBody>
          <a:bodyPr wrap="square" lIns="0" tIns="0" rIns="0" bIns="0" rtlCol="0" anchor="ctr"/>
          <a:lstStyle/>
          <a:p>
            <a:pPr algn="r" indent="0" marL="0">
              <a:buNone/>
            </a:pPr>
            <a:r>
              <a:rPr lang="en-US" sz="850" b="1" dirty="0">
                <a:solidFill>
                  <a:srgbClr val="64748B"/>
                </a:solidFill>
                <a:latin typeface="Calibri" pitchFamily="34" charset="0"/>
                <a:ea typeface="Calibri" pitchFamily="34" charset="-122"/>
                <a:cs typeface="Calibri" pitchFamily="34" charset="-120"/>
              </a:rPr>
              <a:t>24/24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Large Language Models Cannot Self-Correct Reasoning Yet</dc:title>
  <dc:subject>PptxGenJS Presentation</dc:subject>
  <dc:creator>Group Presentation</dc:creator>
  <cp:lastModifiedBy>Group Presentation</cp:lastModifiedBy>
  <cp:revision>1</cp:revision>
  <dcterms:created xsi:type="dcterms:W3CDTF">2026-08-27T20:04:19Z</dcterms:created>
  <dcterms:modified xsi:type="dcterms:W3CDTF">2026-08-27T20:04:19Z</dcterms:modified>
</cp:coreProperties>
</file>