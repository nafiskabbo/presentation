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(CoT)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(3.5)</c:v>
                  </c:pt>
                  <c:pt idx="1">
                    <c:v>CSQA (3.5)</c:v>
                  </c:pt>
                  <c:pt idx="2">
                    <c:v>Hotpot (3.5)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</c:v>
                </c:pt>
                <c:pt idx="1">
                  <c:v>72.5</c:v>
                </c:pt>
                <c:pt idx="2">
                  <c:v>29</c:v>
                </c:pt>
                <c:pt idx="3">
                  <c:v>92</c:v>
                </c:pt>
                <c:pt idx="4">
                  <c:v>78.5</c:v>
                </c:pt>
                <c:pt idx="5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Self-Correct R1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(3.5)</c:v>
                  </c:pt>
                  <c:pt idx="1">
                    <c:v>CSQA (3.5)</c:v>
                  </c:pt>
                  <c:pt idx="2">
                    <c:v>Hotpot (3.5)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75.2</c:v>
                </c:pt>
                <c:pt idx="1">
                  <c:v>63.5</c:v>
                </c:pt>
                <c:pt idx="2">
                  <c:v>26</c:v>
                </c:pt>
                <c:pt idx="3">
                  <c:v>88.5</c:v>
                </c:pt>
                <c:pt idx="4">
                  <c:v>72.5</c:v>
                </c:pt>
                <c:pt idx="5">
                  <c:v>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Self-Correct R2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(3.5)</c:v>
                  </c:pt>
                  <c:pt idx="1">
                    <c:v>CSQA (3.5)</c:v>
                  </c:pt>
                  <c:pt idx="2">
                    <c:v>Hotpot (3.5)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72.6</c:v>
                </c:pt>
                <c:pt idx="1">
                  <c:v>55.3</c:v>
                </c:pt>
                <c:pt idx="2">
                  <c:v>25</c:v>
                </c:pt>
                <c:pt idx="3">
                  <c:v>88</c:v>
                </c:pt>
                <c:pt idx="4">
                  <c:v>72</c:v>
                </c:pt>
                <c:pt idx="5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Cambr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F172A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Cambr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  <a:latin typeface="Cambria"/>
              <a:cs typeface="Cambri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(CoT)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GSM8K (Turbo)</c:v>
                  </c:pt>
                  <c:pt idx="1">
                    <c:v>CSQA (Turbo)</c:v>
                  </c:pt>
                  <c:pt idx="2">
                    <c:v>GSM8K (Llama-2)</c:v>
                  </c:pt>
                  <c:pt idx="3">
                    <c:v>CSQA (Llama-2)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91.5</c:v>
                </c:pt>
                <c:pt idx="1">
                  <c:v>84</c:v>
                </c:pt>
                <c:pt idx="2">
                  <c:v>62</c:v>
                </c:pt>
                <c:pt idx="3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Self-Correct R1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GSM8K (Turbo)</c:v>
                  </c:pt>
                  <c:pt idx="1">
                    <c:v>CSQA (Turbo)</c:v>
                  </c:pt>
                  <c:pt idx="2">
                    <c:v>GSM8K (Llama-2)</c:v>
                  </c:pt>
                  <c:pt idx="3">
                    <c:v>CSQA (Llama-2)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81.5</c:v>
                </c:pt>
                <c:pt idx="2">
                  <c:v>43.5</c:v>
                </c:pt>
                <c:pt idx="3">
                  <c:v>37.5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Self-Correct R2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GSM8K (Turbo)</c:v>
                  </c:pt>
                  <c:pt idx="1">
                    <c:v>CSQA (Turbo)</c:v>
                  </c:pt>
                  <c:pt idx="2">
                    <c:v>GSM8K (Llama-2)</c:v>
                  </c:pt>
                  <c:pt idx="3">
                    <c:v>CSQA (Llama-2)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90</c:v>
                </c:pt>
                <c:pt idx="1">
                  <c:v>83</c:v>
                </c:pt>
                <c:pt idx="2">
                  <c:v>36.5</c:v>
                </c:pt>
                <c:pt idx="3">
                  <c:v>36.5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Cambr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F172A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Cambr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  <a:latin typeface="Cambria"/>
              <a:cs typeface="Cambri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Transitions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bubble3D val="0"/>
            <c:spPr>
              <a:solidFill>
                <a:srgbClr val="166534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mbria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mbria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mbria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mbria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Unchanged 74.7%</c:v>
                </c:pt>
                <c:pt idx="1">
                  <c:v>Correct-&gt;Wrong 8.9%</c:v>
                </c:pt>
                <c:pt idx="2">
                  <c:v>Wrong-&gt;Correct 7.6%</c:v>
                </c:pt>
                <c:pt idx="3">
                  <c:v>Stayed Wrong 8.8%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74.7</c:v>
                </c:pt>
                <c:pt idx="1">
                  <c:v>8.9</c:v>
                </c:pt>
                <c:pt idx="2">
                  <c:v>7.6</c:v>
                </c:pt>
                <c:pt idx="3">
                  <c:v>8.8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  <a:latin typeface="Cambria"/>
              <a:cs typeface="Cambri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Single-Shot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GSM8K</c:v>
                  </c:pt>
                  <c:pt idx="1">
                    <c:v>CSQA</c:v>
                  </c:pt>
                  <c:pt idx="2">
                    <c:v>Chess QA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</c:v>
                </c:pt>
                <c:pt idx="1">
                  <c:v>72.5</c:v>
                </c:pt>
                <c:pt idx="2">
                  <c:v>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 Debate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GSM8K</c:v>
                  </c:pt>
                  <c:pt idx="1">
                    <c:v>CSQA</c:v>
                  </c:pt>
                  <c:pt idx="2">
                    <c:v>Chess QA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</c:v>
                </c:pt>
                <c:pt idx="1">
                  <c:v>75</c:v>
                </c:pt>
                <c:pt idx="2">
                  <c:v>58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Self-Consistency</c:v>
                </c:pt>
              </c:strCache>
            </c:strRef>
          </c:tx>
          <c:spPr>
            <a:solidFill>
              <a:srgbClr val="1665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GSM8K</c:v>
                  </c:pt>
                  <c:pt idx="1">
                    <c:v>CSQA</c:v>
                  </c:pt>
                  <c:pt idx="2">
                    <c:v>Chess QA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82.5</c:v>
                </c:pt>
                <c:pt idx="1">
                  <c:v>77</c:v>
                </c:pt>
                <c:pt idx="2">
                  <c:v>60.5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Cambr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F172A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Cambr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  <a:latin typeface="Cambria"/>
              <a:cs typeface="Cambri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welcomes the audience, introduces the ICLR 2024 paper by Huang et al., and presents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opens with the roadmap, six sections from motivation to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explains the domino effect with the CoT flowchart.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walks through the 3-step self-correction loop, closed loop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introduces the paradox. Keep distinct from Slide 07 which details the taxonomy.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Kabbo maps four prior frameworks, RCI, Reflexion, Self-Refine,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Kabbo contrasts intrinsic closed loop with tool guided feedback using the flowchart.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Kabbo explains Table 1 flaws, no reference column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Mahid introduces GSM8K, CommonSenseQA, HotpotQA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Mahid presents models and controls as bullet points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Mahid contrasts oracle versus intrinsic workflows with the flowchart.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presents the headline finding, intrinsic correction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walks through the GPT-3.5 and GPT-4 bar chart drops.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highlights the Llama-2 collapse and compliance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explains the doughnut, harmful flips exceed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Anindo explains equal compute parity, debate versus self-consistency.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Anindo shows the prompt design trap with the two flowcharts.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Anindo walks through the redesigned yogurt case study, correct to wrong with generated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Anindo details the three verification barriers.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6 (Refayet): Summarize three takeaways.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6 (Refayet): Transparency on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6 (Refayet): Present future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Refayet closes with thanks and opens floor. Pose the three questions verbally, invite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FDF2F4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ICLR 2024 CONFERENCE PAPER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 Language Models</a:t>
            </a:r>
            <a:endParaRPr lang="en-US" sz="3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Cannot Self-Correct Reasoning Yet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Jie Huang (UIUC), Xinyun Chen, Swaroop Mishra, Huaixiu Steven Zheng, Adams Wei Yu, Xinying Song, Denny Zhou (Google DeepMind)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8046720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175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Presentation | Student Presenters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Nafis Islam Kabbo (2303180)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3383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Srijon (2303179)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3383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760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Anindo (2303181)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8587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Mahid (2303127)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37560" y="38587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Jebon (2303160)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38587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608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Refayet (2303148)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01/23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Presentation Outline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sections tracing motivation to constructive future 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4416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44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344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166420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multi-step reasoning fails and what self-correction promises.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207008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34416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44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39512" y="1344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Background &amp; Literature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39512" y="166420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RCI, Reflexion, Self-Refine, Debate and their evaluation flaws.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359152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496312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496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78992" y="28163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GSM8K, CSQA, HotpotQA across GPT-3.5, GPT-4, Turbo, Llama-2.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9152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496312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9512" y="2496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Results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39512" y="28163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declines after self-correction, net negative flips.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511296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648456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36484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Analysis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78992" y="39684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gains vanish at equal compute and without feedback.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511296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648456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9512" y="36484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 &amp; Future Work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39512" y="39684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tools, verifiers, and fair evaluation standards.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02/23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 Language Models &amp; Reasoning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Motivation: Why sequential generation breaks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286000" cy="1691640"/>
          </a:xfrm>
          <a:prstGeom prst="roundRect">
            <a:avLst>
              <a:gd name="adj" fmla="val 5405"/>
            </a:avLst>
          </a:prstGeom>
          <a:solidFill>
            <a:srgbClr val="F8F9FA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508760"/>
            <a:ext cx="914400" cy="274320"/>
          </a:xfrm>
          <a:prstGeom prst="ellipse">
            <a:avLst/>
          </a:prstGeom>
          <a:solidFill>
            <a:srgbClr val="FDF2F4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GSM8K math problem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Multi-step prompt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80360" y="2084832"/>
            <a:ext cx="384048" cy="182880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13258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1508760"/>
            <a:ext cx="224028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5087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 (CoT) STEPS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93008" y="1874520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762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18745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Correct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93008" y="2176272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1762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Error occurs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93008" y="2478024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4780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Error cascades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93008" y="278892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Autoregressive: each token depends on prior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961888" y="2084832"/>
            <a:ext cx="384048" cy="182880"/>
          </a:xfrm>
          <a:prstGeom prst="right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1325880"/>
            <a:ext cx="2240280" cy="1691640"/>
          </a:xfrm>
          <a:prstGeom prst="roundRect">
            <a:avLst>
              <a:gd name="adj" fmla="val 5405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22592" y="1508760"/>
            <a:ext cx="9601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1508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19672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Incorrect Answer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19672" y="2240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answer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corrupted by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earlier slip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24612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FDF2F4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3649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VULNERABILITY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" y="35844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slip -&gt; every later step inherits the error. Without outside checks, the model cannot tell the chain is broken.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7240" y="4069080"/>
            <a:ext cx="237744" cy="237744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069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" y="40690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Domino effect in sequential reasoning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03/23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Concept of Self-Correction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models fix themselves? A 3-step loop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5331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Generation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Draft Answer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-&gt; CoT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938528"/>
            <a:ext cx="201168" cy="164592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207008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35331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20440" y="1691640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8620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Self-Critique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"Find flaws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reasoning"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1938528"/>
            <a:ext cx="201168" cy="164592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207008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DF2F4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35331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Refined Output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09360" y="169164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Revised Answer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Updated CoT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answer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2999232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3072384"/>
            <a:ext cx="237744" cy="237744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0723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↻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" y="30723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Self-correction loop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14600" y="30723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critique -&gt; revise (max 2 rounds)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0" y="3127248"/>
            <a:ext cx="274320" cy="128016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312724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675120" y="3127248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3127248"/>
            <a:ext cx="128016" cy="128016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7" name="Shape 35"/>
          <p:cNvSpPr/>
          <p:nvPr/>
        </p:nvSpPr>
        <p:spPr>
          <a:xfrm>
            <a:off x="7040880" y="3127248"/>
            <a:ext cx="128016" cy="12801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7242048" y="31272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-&gt; Critique -&gt; Fix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48640" y="35204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3611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 vs REALITY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7724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Promise: Autonomous fix without humans.  Reality: Can a frozen model detect its own flaws? Evidence says no.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04/23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Central Research Question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paradox that drives the study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1417320"/>
          </a:xfrm>
          <a:prstGeom prst="roundRect">
            <a:avLst>
              <a:gd name="adj" fmla="val 6452"/>
            </a:avLst>
          </a:prstGeom>
          <a:solidFill>
            <a:srgbClr val="FDF2F4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 PARADOX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"If a model can correct a mistake, why did it not get it right the first time?"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weights. Same model as critic and generator. No new information.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0" y="274320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743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tests: intrinsic only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274320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743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tools: out of scope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3291840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frozen knowledge fix itself?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4114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comparison on next slide.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434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question defines the paper. If intrinsic correction worked, it would be free performance.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05/23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Self-Correction Frameworks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paradigms that claimed success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RCI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8892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Critique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62763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 et al. NeurIPS 2023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1920240"/>
            <a:ext cx="237744" cy="23774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20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 -&gt; revise recursively.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44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Reflexion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4944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Verbal Memory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92040" y="162763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Shinn et al. NeurIPS 2023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1920240"/>
            <a:ext cx="237744" cy="23774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920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Stores reflections across trials.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Self-Refine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8892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Refine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" y="33009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Madaan et al. NeurIPS 2023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3593592"/>
            <a:ext cx="237744" cy="23774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593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35935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-&gt; refine in loop.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Multi-Agent Debate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94944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Consensus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92040" y="33009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et al. 2023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3593592"/>
            <a:ext cx="237744" cy="23774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593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35935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debate to consensus.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06/23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vs. External Feedback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Isolating what the model can do alone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3291840"/>
          </a:xfrm>
          <a:prstGeom prst="roundRect">
            <a:avLst>
              <a:gd name="adj" fmla="val 2778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533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INTRINSIC (Paper Scope)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Closed-loop only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745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generates answer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74520" y="2395728"/>
            <a:ext cx="365760" cy="292608"/>
          </a:xfrm>
          <a:prstGeom prst="diamond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23957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7614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Self-check: Any error?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301752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175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model revises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65960" y="2313432"/>
            <a:ext cx="164592" cy="109728"/>
          </a:xfrm>
          <a:prstGeom prst="down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2944368"/>
            <a:ext cx="164592" cy="109728"/>
          </a:xfrm>
          <a:prstGeom prst="down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657600"/>
            <a:ext cx="34290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FAILS -&gt; accuracy drops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207008"/>
            <a:ext cx="3886200" cy="3291840"/>
          </a:xfrm>
          <a:prstGeom prst="roundRect">
            <a:avLst>
              <a:gd name="adj" fmla="val 2778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3533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/ TOOL-ASSISTED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15544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 verifier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187452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8745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generates answer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395728"/>
            <a:ext cx="365760" cy="292608"/>
          </a:xfrm>
          <a:prstGeom prst="diamond">
            <a:avLst/>
          </a:prstGeom>
          <a:solidFill>
            <a:srgbClr val="F0FDF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3957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7614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checks: Python / Oracle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37760" y="301752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0175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revision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313432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944368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3657600"/>
            <a:ext cx="34290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CAN succeed -&gt; new signal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07/23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Flaws in Prior Evaluations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reported gains were confounded (Table 1)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4206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Method</a:t>
                      </a:r>
                      <a:endParaRPr lang="en-US" sz="105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Identified Flaw</a:t>
                      </a:r>
                      <a:endParaRPr lang="en-US" sz="105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Mechanism</a:t>
                      </a:r>
                      <a:endParaRPr lang="en-US" sz="105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Oracle leakage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Only corrects when told the answer is wrong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Reflexion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Oracle leakage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Reflection only when the environment signals failure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Multi-Agent Debate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Unfair compute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Compared to single shot, not equal sampling budget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Self-Refine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Weak initial prompt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Missing constraints added only in feedback step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8221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1: Evaluation confounders in prior self-correction studies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4069080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06908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confounders removed, reasoning gains disappear.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08/23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Evaluation Benchmarks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reasoning tasks covering math, logic, multi-hop QA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1,319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problems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GSM8K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304288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School Math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2-8 step arithmetic.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Tracks state &amp; logic.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Prior: +7% with oracle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1,221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multiple-choice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CommonSenseQA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611880" y="2304288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Commonsense Logic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5786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5-choice QA.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Subtle distractors.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0" y="37033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Prior: +15% with oracle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2648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HotpotQA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0" y="2304288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Synthesis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25786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Closed-book multi-hop.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Match.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37033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Prior: gains via reflection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09/23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Models &amp; Experimental Controls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LLMs under standardized conditions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Evaluated Models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801368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75564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GPT-3.5-Turbo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9933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gpt-3.5-turbo-0613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459736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4140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651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Snapshot 2023/08/29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118104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0723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GPT-4-Turbo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3101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gpt-4-1106-preview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3776472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76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7307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Llama-2-70B-Chat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9684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Open-weight 70B baseline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Controls &amp; Rigor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18288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6" name="Text 24"/>
          <p:cNvSpPr/>
          <p:nvPr/>
        </p:nvSpPr>
        <p:spPr>
          <a:xfrm>
            <a:off x="5138928" y="1783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 few/zero-shot prompting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2340864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8" name="Text 26"/>
          <p:cNvSpPr/>
          <p:nvPr/>
        </p:nvSpPr>
        <p:spPr>
          <a:xfrm>
            <a:off x="5138928" y="22951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Temp: 1.0 (GPT), 0.7 (Llama)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2852928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0" name="Text 28"/>
          <p:cNvSpPr/>
          <p:nvPr/>
        </p:nvSpPr>
        <p:spPr>
          <a:xfrm>
            <a:off x="5138928" y="28072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2 correction rounds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3364992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2" name="Text 30"/>
          <p:cNvSpPr/>
          <p:nvPr/>
        </p:nvSpPr>
        <p:spPr>
          <a:xfrm>
            <a:off x="5138928" y="33192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feedback prompts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3877056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4" name="Text 32"/>
          <p:cNvSpPr/>
          <p:nvPr/>
        </p:nvSpPr>
        <p:spPr>
          <a:xfrm>
            <a:off x="5138928" y="38313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Intrinsic vs Oracle comparison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10/23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Prompting Procedures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Flow: intrinsic vs oracle regimes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Initial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draft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41448" y="1664208"/>
            <a:ext cx="146304" cy="12801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Critique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logic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98848" y="1664208"/>
            <a:ext cx="146304" cy="12801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reasoning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56248" y="1664208"/>
            <a:ext cx="146304" cy="12801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Iterate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2 repeat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246888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F0FDF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2633472"/>
            <a:ext cx="256032" cy="256032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" y="26334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 Oracle (Flawed)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77240" y="297180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Verifier checks answer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Tells model WHEN wrong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Correct answers untouched -&gt; inflated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46888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2633472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2080" y="26334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(Realistic)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937760" y="297180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No external signal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Model judges itself blindly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Flips correct -&gt; wrong -&gt; drops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17320" y="2286000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2286000"/>
            <a:ext cx="164592" cy="109728"/>
          </a:xfrm>
          <a:prstGeom prst="down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11/23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Fails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Finding: Performance declines after self-correction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DF2F4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EMPIRICAL FINDING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does NOT improve accuracy. Scores drop across all models and tasks.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6888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Universal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models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3154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GPT-3.5, GPT-4, Turbo, Llama-2 all decline after R1 and R2.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00200" y="370332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7560" y="22860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246888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8620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Task-Agnostic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520440" y="283464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tasks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20440" y="3154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(GSM8K), logic (CSQA), QA (HotpotQA) all fail.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70332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6480" y="22860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246888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Oracle Illusion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283464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artifact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3154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Gains only with external labels guiding when to fix.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78040" y="370332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12/23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GPT-3.5 &amp; GPT-4 Benchmark Results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drops across rounds (Table 2)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Drops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1755648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828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GPT-3.5 on CSQA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1828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-17.2%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97880" y="20482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72.5% -&gt; 55.3% (R2)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596896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 on HotpotQA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9788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-11.0%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97880" y="28895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53.0% -&gt; 42.0%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3438144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3511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 on GSM8K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97880" y="3511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-4.0%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97880" y="37307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92.0% -&gt; 88.0%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2: GPT-3.5 and GPT-4 accuracy across two self-correction rounds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13/23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GPT-4-Turbo &amp; Llama-2 Results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generalizes across open and proprietary models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Llama-2 Collapse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755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GSM8K: 62.0% -&gt; 36.5% (-25.5%)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CSQA: 64.0% -&gt; 36.5% (-27.5%)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233172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Open-weight models are highly prompt-compliant: they abandon correct answers when asked to "find flaws".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92240" y="32918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76072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compliance vulnerability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3: GPT-4-Turbo and Llama-2 results across self-correction rounds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14/23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Transition Dynamics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accuracy drops: net-negative flips (Figure 1)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3891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20700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49240" y="12984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74.7%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09360" y="13167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Unchanged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09360" y="1554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Kept initial answer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212080" y="202996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2121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8.9%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09360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-&gt; Wrong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0936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Harmful flip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12080" y="285292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9240" y="29443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7.6%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09360" y="29626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-&gt; Correct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09360" y="3200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Beneficial fix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212080" y="367588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DF2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49240" y="3767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-1.3%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09360" y="37856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Loss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4023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 &gt; help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1: Answer transition dynamics after two self-correction rounds on GSM8K (GPT-3.5)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15/23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Multi-Agent Debate vs. Self-Consistency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compute: sampling beats debate (Table 4)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Compute Parity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737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60720" y="19385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Debate &gt; single-shot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0" y="2286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Reality: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60720" y="24871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same cost, Self-Consistency (majority vote) matches or beats debate with less latency.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60720" y="333756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3429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Debate: N x M calls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97880" y="3657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Self-Consistency: N calls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97880" y="3886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Vote = simple, fast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4: Multi-Agent Debate versus Self-Consistency at equal inference cost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16/23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Prompt Design Trap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Gains from missing info, not reflection (Table 5)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2423160"/>
          </a:xfrm>
          <a:prstGeom prst="roundRect">
            <a:avLst>
              <a:gd name="adj" fmla="val 3774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53312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3533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Flawed Setup (Self-Refine)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91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Weak initial prompt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omits required rules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4560" y="2176272"/>
            <a:ext cx="164592" cy="109728"/>
          </a:xfrm>
          <a:prstGeom prst="down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33172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31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Feedback re-adds rules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"Add missing word X"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94560" y="2816352"/>
            <a:ext cx="164592" cy="109728"/>
          </a:xfrm>
          <a:prstGeom prst="down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944368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44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Improves -&gt; claim "It works!"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207008"/>
            <a:ext cx="3886200" cy="2423160"/>
          </a:xfrm>
          <a:prstGeom prst="roundRect">
            <a:avLst>
              <a:gd name="adj" fmla="val 3774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1353312"/>
            <a:ext cx="256032" cy="256032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13533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Fair Setup (Huang et al.)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37760" y="169164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691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Complete prompt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all rules up-front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55080" y="2176272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33172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331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Strong answer immediately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55080" y="2816352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2944368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944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Self-correction -&gt; DROPS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7947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Takeaway: Well-prompted single shot beats loops. Gains were prompt artifacts.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4348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5: Constrained generation under flawed versus fair prompts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17/23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Study: The Gaslighting Effect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correct reasoning flips to wrong (Figure 2)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329184" cy="329184"/>
          </a:xfrm>
          <a:prstGeom prst="ellipse">
            <a:avLst/>
          </a:prstGeom>
          <a:solidFill>
            <a:srgbClr val="FDF2F4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2984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GSM8K: Terry eats 2 yogurts a day. A 4-pack costs $5. How much for 30 days?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57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43000" y="2304288"/>
            <a:ext cx="1554480" cy="59436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30428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$75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2944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x 2 = 60  |  60 / 4 = 15  |  15 x $5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0" y="1920240"/>
            <a:ext cx="21945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011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Self-critique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22402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240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"Find flaws"</a:t>
            </a:r>
            <a:endParaRPr lang="en-US" sz="900" dirty="0"/>
          </a:p>
        </p:txBody>
      </p:sp>
      <p:pic>
        <p:nvPicPr>
          <p:cNvPr id="19" name="Image 0" descr="output/yogurt_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2670048"/>
            <a:ext cx="1737360" cy="9144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3273552" y="2743200"/>
            <a:ext cx="201168" cy="146304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50992" y="2743200"/>
            <a:ext cx="201168" cy="146304"/>
          </a:xfrm>
          <a:prstGeom prst="right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52160" y="192024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2057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2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446520" y="2304288"/>
            <a:ext cx="1554480" cy="5943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46520" y="230428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$150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035040" y="2944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 •  Flipped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035040" y="3200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Doubts correct math,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hallucinates new logic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48640" y="3931920"/>
            <a:ext cx="8046720" cy="438912"/>
          </a:xfrm>
          <a:prstGeom prst="roundRect">
            <a:avLst>
              <a:gd name="adj" fmla="val 12500"/>
            </a:avLst>
          </a:prstGeom>
          <a:solidFill>
            <a:srgbClr val="FDF2F4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5800" y="4023360"/>
            <a:ext cx="256032" cy="256032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05840" y="4023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prompt gaslights a correct answer.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48640" y="44348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2: Yogurt case study, a correct $75 answer flips to $150 after self-critique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18/23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Verification Barrier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intrinsic checks are as hard as generation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988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Shared Weights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359152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Parity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 = Generator.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can't generate it,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can't verify 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08760" y="370332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138988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Compliance Bias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520440" y="2359152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tuning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"Find flaws" biases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to invent errors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when sound.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370332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↯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2648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38988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Grounding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09360" y="2359152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signal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Python/oracle,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can't tell fix from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86600" y="370332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∅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19/23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Takeaways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conclusions from Huang et al. (ICLR 2024)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35608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3441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Fails for Reasoning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25880" y="161848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external feedback, accuracy consistently drops across models and tasks.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96312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40487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Gains Were Evaluation Artifacts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25880" y="267919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leakage, unfair compute, weak prompts created illusion of progress.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57016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46557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External Feedback Required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25880" y="3739896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refinement needs tools: code execution, verifiers, or human review.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20/23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Study Limitations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and boundaries of this research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Scope Limitations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37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Reasoning-Specific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Math/logic only. Not creative writing or translation.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260604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Prompting-Only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761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models. Not fine-tuned for self-correction.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83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 Models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5844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GPT-3.5/4, Llama-2. Newer reasoners (o1/o3) need study.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Methodological Boundaries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78308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737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HotpotQA 100 samples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1938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by API cost, lower resolution.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260604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Sensitivity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20640" y="2761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prompts tested, but not exhaustive.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4290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383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Closed-Book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20640" y="35844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retrieval (RAG) allowed.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21/23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Directions &amp; Fair Standards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Constructive paths forward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Tool-Augmented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6824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Python, solvers, SQL to verify calculations externally.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Learned Verifiers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PRMs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92040" y="16824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separate discriminators to judge step quality.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Training-Time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8892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&amp; Search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3355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+ MCTS / test-time compute, not prompt loops.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Fair Standards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3355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Equal-cost baselines (Self-Consistency), no oracle leakage.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22/23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023360" y="1920240"/>
            <a:ext cx="10972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Discussions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welcome questions from the professor and audience.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97280" y="2944368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81328" y="29077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asking a model to find flaws often make it hallucinate errors where none exist?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56616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352958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should we rely on external tools like Python or verifiers instead of prompting alone?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4187952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81328" y="4151376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we design a fair self-correction benchmark that avoids oracle leakage?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23/23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Language Models Cannot Self-Correct Reasoning Yet</dc:title>
  <dc:subject>PptxGenJS Presentation</dc:subject>
  <dc:creator>Group Presentation</dc:creator>
  <cp:lastModifiedBy>Group Presentation</cp:lastModifiedBy>
  <cp:revision>1</cp:revision>
  <dcterms:created xsi:type="dcterms:W3CDTF">2026-08-27T21:55:37Z</dcterms:created>
  <dcterms:modified xsi:type="dcterms:W3CDTF">2026-08-27T21:55:37Z</dcterms:modified>
</cp:coreProperties>
</file>