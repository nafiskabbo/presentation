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GSM8K (3.5)</c:v>
                  </c:pt>
                  <c:pt idx="1">
                    <c:v>CSQA (3.5)</c:v>
                  </c:pt>
                  <c:pt idx="2">
                    <c:v>Hotpot (3.5)</c:v>
                  </c:pt>
                  <c:pt idx="3">
                    <c:v>GSM8K (GPT-4)</c:v>
                  </c:pt>
                  <c:pt idx="4">
                    <c:v>CSQA (GPT-4)</c:v>
                  </c:pt>
                  <c:pt idx="5">
                    <c:v>Hotpot (GPT-4)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72.5</c:v>
                </c:pt>
                <c:pt idx="2">
                  <c:v>29</c:v>
                </c:pt>
                <c:pt idx="3">
                  <c:v>92</c:v>
                </c:pt>
                <c:pt idx="4">
                  <c:v>78.5</c:v>
                </c:pt>
                <c:pt idx="5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GSM8K (3.5)</c:v>
                  </c:pt>
                  <c:pt idx="1">
                    <c:v>CSQA (3.5)</c:v>
                  </c:pt>
                  <c:pt idx="2">
                    <c:v>Hotpot (3.5)</c:v>
                  </c:pt>
                  <c:pt idx="3">
                    <c:v>GSM8K (GPT-4)</c:v>
                  </c:pt>
                  <c:pt idx="4">
                    <c:v>CSQA (GPT-4)</c:v>
                  </c:pt>
                  <c:pt idx="5">
                    <c:v>Hotpot (GPT-4)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75.2</c:v>
                </c:pt>
                <c:pt idx="1">
                  <c:v>63.5</c:v>
                </c:pt>
                <c:pt idx="2">
                  <c:v>26</c:v>
                </c:pt>
                <c:pt idx="3">
                  <c:v>88.5</c:v>
                </c:pt>
                <c:pt idx="4">
                  <c:v>72.5</c:v>
                </c:pt>
                <c:pt idx="5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GSM8K (3.5)</c:v>
                  </c:pt>
                  <c:pt idx="1">
                    <c:v>CSQA (3.5)</c:v>
                  </c:pt>
                  <c:pt idx="2">
                    <c:v>Hotpot (3.5)</c:v>
                  </c:pt>
                  <c:pt idx="3">
                    <c:v>GSM8K (GPT-4)</c:v>
                  </c:pt>
                  <c:pt idx="4">
                    <c:v>CSQA (GPT-4)</c:v>
                  </c:pt>
                  <c:pt idx="5">
                    <c:v>Hotpot (GPT-4)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72.6</c:v>
                </c:pt>
                <c:pt idx="1">
                  <c:v>55.3</c:v>
                </c:pt>
                <c:pt idx="2">
                  <c:v>25</c:v>
                </c:pt>
                <c:pt idx="3">
                  <c:v>88</c:v>
                </c:pt>
                <c:pt idx="4">
                  <c:v>72</c:v>
                </c:pt>
                <c:pt idx="5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F172A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Cambri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  <a:latin typeface="Cambria"/>
              <a:cs typeface="Cambr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GSM8K (Turbo)</c:v>
                  </c:pt>
                  <c:pt idx="1">
                    <c:v>CSQA (Turbo)</c:v>
                  </c:pt>
                  <c:pt idx="2">
                    <c:v>GSM8K (Llama-2)</c:v>
                  </c:pt>
                  <c:pt idx="3">
                    <c:v>CSQA (Llama-2)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91.5</c:v>
                </c:pt>
                <c:pt idx="1">
                  <c:v>84</c:v>
                </c:pt>
                <c:pt idx="2">
                  <c:v>62</c:v>
                </c:pt>
                <c:pt idx="3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GSM8K (Turbo)</c:v>
                  </c:pt>
                  <c:pt idx="1">
                    <c:v>CSQA (Turbo)</c:v>
                  </c:pt>
                  <c:pt idx="2">
                    <c:v>GSM8K (Llama-2)</c:v>
                  </c:pt>
                  <c:pt idx="3">
                    <c:v>CSQA (Llama-2)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81.5</c:v>
                </c:pt>
                <c:pt idx="2">
                  <c:v>43.5</c:v>
                </c:pt>
                <c:pt idx="3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GSM8K (Turbo)</c:v>
                  </c:pt>
                  <c:pt idx="1">
                    <c:v>CSQA (Turbo)</c:v>
                  </c:pt>
                  <c:pt idx="2">
                    <c:v>GSM8K (Llama-2)</c:v>
                  </c:pt>
                  <c:pt idx="3">
                    <c:v>CSQA (Llama-2)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</c:v>
                </c:pt>
                <c:pt idx="1">
                  <c:v>83</c:v>
                </c:pt>
                <c:pt idx="2">
                  <c:v>36.5</c:v>
                </c:pt>
                <c:pt idx="3">
                  <c:v>36.5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F172A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Cambri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  <a:latin typeface="Cambria"/>
              <a:cs typeface="Cambr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Transitions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72A"/>
              </a:solidFill>
              <a:effectLst/>
            </c:spPr>
          </c:dPt>
          <c:dPt>
            <c:idx val="1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bubble3D val="0"/>
            <c:spPr>
              <a:solidFill>
                <a:srgbClr val="166534"/>
              </a:solidFill>
              <a:effectLst/>
            </c:spPr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Cambria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Cambria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Cambria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Cambria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Unchanged 74.7%</c:v>
                </c:pt>
                <c:pt idx="1">
                  <c:v>Correct-&gt;Wrong 8.9%</c:v>
                </c:pt>
                <c:pt idx="2">
                  <c:v>Wrong-&gt;Correct 7.6%</c:v>
                </c:pt>
                <c:pt idx="3">
                  <c:v>Stayed Wrong 8.8%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74.7</c:v>
                </c:pt>
                <c:pt idx="1">
                  <c:v>8.9</c:v>
                </c:pt>
                <c:pt idx="2">
                  <c:v>7.6</c:v>
                </c:pt>
                <c:pt idx="3">
                  <c:v>8.8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  <a:latin typeface="Cambria"/>
              <a:cs typeface="Cambr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Single-Shot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GSM8K</c:v>
                  </c:pt>
                  <c:pt idx="1">
                    <c:v>CSQA</c:v>
                  </c:pt>
                  <c:pt idx="2">
                    <c:v>Chess QA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77</c:v>
                </c:pt>
                <c:pt idx="1">
                  <c:v>72.5</c:v>
                </c:pt>
                <c:pt idx="2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Debate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GSM8K</c:v>
                  </c:pt>
                  <c:pt idx="1">
                    <c:v>CSQA</c:v>
                  </c:pt>
                  <c:pt idx="2">
                    <c:v>Chess QA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</c:v>
                </c:pt>
                <c:pt idx="1">
                  <c:v>75</c:v>
                </c:pt>
                <c:pt idx="2">
                  <c:v>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Self-Consistency</c:v>
                </c:pt>
              </c:strCache>
            </c:strRef>
          </c:tx>
          <c:spPr>
            <a:solidFill>
              <a:srgbClr val="1665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F172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GSM8K</c:v>
                  </c:pt>
                  <c:pt idx="1">
                    <c:v>CSQA</c:v>
                  </c:pt>
                  <c:pt idx="2">
                    <c:v>Chess QA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82.5</c:v>
                </c:pt>
                <c:pt idx="1">
                  <c:v>77</c:v>
                </c:pt>
                <c:pt idx="2">
                  <c:v>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F172A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Cambri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  <a:latin typeface="Cambria"/>
              <a:cs typeface="Cambr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welcomes the audience, introduces the ICLR 2024 paper by Huang et al., and presents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opens with the roadmap, six sections from motivation to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explains the domino effect with the CoT flowchart.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walks through the 3-step self-correction loop, closed loop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introduces the paradox. Keep distinct from Slide 07 which details the taxonomy.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Kabbo maps four prior frameworks, RCI, Reflexion, Self-Refine,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Kabbo contrasts intrinsic closed loop with tool guided feedback using the flowchart.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Kabbo explains Table 1 flaws, no reference column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introduces GSM8K, CommonSenseQA, HotpotQA briefly.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presents models and controls as bullet points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contrasts oracle versus intrinsic workflows with the flowchart.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presents the headline finding, intrinsic correction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walks through the GPT-3.5 and GPT-4 bar chart drops.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highlights the Llama-2 collapse and compliance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explains the doughnut, harmful flips exceed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explains equal compute parity, debate versus self-consistency.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shows the prompt design trap with the two flowcharts.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walks through the redesigned yogurt case study, correct to wrong with generated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details the three verification barriers.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6 (Refayet): Summarize three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6 (Refayet): Transparency on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6 (Refayet): Present future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closes with thanks and opens floor. Pose the three questions verbally, invite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2857"/>
            </a:avLst>
          </a:prstGeom>
          <a:solidFill>
            <a:srgbClr val="FDF2F4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ICLR 2024 CONFERENCE PAPER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</a:t>
            </a:r>
            <a:endParaRPr lang="en-US" sz="3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Cannot Self-Correct Reasoning Yet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Jie Huang (UIUC), Xinyun Chen, Swaroop Mishra, Huaixiu Steven Zheng, Adams Wei Yu, Xinying Song, Denny Zhou (Google DeepMind)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8046720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01752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Presentation | Student Presenters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338328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383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Nafis Islam Kabbo (2303180)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338328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3383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Srijon (2303179)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338328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07608" y="3383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Anindo (2303181)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858768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858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Mahid (2303127)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37560" y="3858768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47288" y="3858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Jebon (2303160)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97880" y="3858768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7608" y="3858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Refayet (2303148)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01/23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Presentation Outline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sections tracing motivation to constructive 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multi-step reasoning fails and what self-correction promises.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951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Background &amp; Literature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RCI, Reflexion, Self-Refine, Debate and their evaluation flaws.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899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GSM8K, CSQA, HotpotQA across GPT-3.5, GPT-4, Turbo, Llama-2.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951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3951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declines after self-correction, net negative flips.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899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gains vanish at equal compute and without feedback.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Conclusion &amp; Future Work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3951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tools, verifiers, and fair evaluation standards.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02/23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 &amp; Reasoning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Motivation: Why sequential generation breaks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286000" cy="1691640"/>
          </a:xfrm>
          <a:prstGeom prst="roundRect">
            <a:avLst>
              <a:gd name="adj" fmla="val 5405"/>
            </a:avLst>
          </a:prstGeom>
          <a:solidFill>
            <a:srgbClr val="F8F9FA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1508760"/>
            <a:ext cx="914400" cy="274320"/>
          </a:xfrm>
          <a:prstGeom prst="ellipse">
            <a:avLst/>
          </a:prstGeom>
          <a:solidFill>
            <a:srgbClr val="FDF2F4"/>
          </a:solidFill>
          <a:ln w="889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Question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GSM8K math problem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Multi-step prompt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80360" y="2084832"/>
            <a:ext cx="384048" cy="182880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132588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240">
            <a:solidFill>
              <a:srgbClr val="0F17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93008" y="1508760"/>
            <a:ext cx="2240280" cy="256032"/>
          </a:xfrm>
          <a:prstGeom prst="roundRect">
            <a:avLst>
              <a:gd name="adj" fmla="val 1785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008" y="15087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CHAIN-OF-THOUGHT (CoT) STEPS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493008" y="1874520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F0FDF4"/>
          </a:solidFill>
          <a:ln w="762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8745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Correct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93008" y="217627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FEF2F2"/>
          </a:solidFill>
          <a:ln w="762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21762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Error occurs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93008" y="2478024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FEF2F2"/>
          </a:solidFill>
          <a:ln w="762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93008" y="247802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Error cascades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93008" y="278892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Autoregressive: each token depends on prior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61888" y="2084832"/>
            <a:ext cx="384048" cy="182880"/>
          </a:xfrm>
          <a:prstGeom prst="rightArrow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1325880"/>
            <a:ext cx="2240280" cy="169164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22592" y="1508760"/>
            <a:ext cx="9601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22592" y="15087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19672" y="19202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Incorrect Answer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19672" y="22402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answer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corrupted by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earlier slip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3246120"/>
            <a:ext cx="8046720" cy="1143000"/>
          </a:xfrm>
          <a:prstGeom prst="roundRect">
            <a:avLst>
              <a:gd name="adj" fmla="val 6400"/>
            </a:avLst>
          </a:prstGeom>
          <a:solidFill>
            <a:srgbClr val="FDF2F4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336499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VULNERABILITY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7240" y="358444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slip -&gt; every later step inherits the error. Without outside checks, the model cannot tell the chain is broken.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4069080"/>
            <a:ext cx="237744" cy="237744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069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" y="40690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Domino effect in sequential reasoning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03/23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Concept of Self-Correction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models fix themselves? A 3-step loop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8F9FA"/>
          </a:solidFill>
          <a:ln w="15240">
            <a:solidFill>
              <a:srgbClr val="0F17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5331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53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Generation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1520" y="1691640"/>
            <a:ext cx="292608" cy="29260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1691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Draft Answer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-&gt; CoT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answer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1938528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207008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35331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353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520440" y="1691640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1691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Self-Critique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057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"Find flaws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reasoning"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97880" y="1938528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207008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FDF2F4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353312"/>
            <a:ext cx="228600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1353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Refined Output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69164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0" y="1691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Revised Answer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Updated CoT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answer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2999232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3072384"/>
            <a:ext cx="237744" cy="237744"/>
          </a:xfrm>
          <a:prstGeom prst="ellipse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30723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↻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87552" y="307238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Self-correction loop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514600" y="30723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critique -&gt; revise (max 2 rounds)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3127248"/>
            <a:ext cx="274320" cy="128016"/>
          </a:xfrm>
          <a:prstGeom prst="rightArrow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9320" y="3127248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675120" y="3127248"/>
            <a:ext cx="128016" cy="12801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0" y="3127248"/>
            <a:ext cx="128016" cy="128016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0880" y="3127248"/>
            <a:ext cx="128016" cy="12801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38" name="Text 36"/>
          <p:cNvSpPr/>
          <p:nvPr/>
        </p:nvSpPr>
        <p:spPr>
          <a:xfrm>
            <a:off x="7242048" y="312724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-&gt; Critique -&gt; Fix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48640" y="352044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" y="3611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vs REALITY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77240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Promise: Autonomous fix without humans.  Reality: Can a frozen model detect its own flaws? Evidence says no.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04/23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Central Research Question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paradox that drives the study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1417320"/>
          </a:xfrm>
          <a:prstGeom prst="roundRect">
            <a:avLst>
              <a:gd name="adj" fmla="val 6452"/>
            </a:avLst>
          </a:prstGeom>
          <a:solidFill>
            <a:srgbClr val="FDF2F4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7160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PARADOX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"If a model can correct a mistake, why did it not get it right the first time?"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Frozen weights. Same model as critic and generator. No new information.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11680" y="274320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2743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tests: intrinsic only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46320" y="274320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889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743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tools: out of scope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3291840"/>
            <a:ext cx="457200" cy="457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0040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frozen knowledge fix itself?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4114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comparison on next slide.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434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question defines the paper. If intrinsic correction worked, it would be free performance.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05/23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Prior Self-Correction Frameworks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paradigms that claimed success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RCI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88920" y="1344168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3441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Recursive Critique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62763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 et al. NeurIPS 2023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1920240"/>
            <a:ext cx="237744" cy="23774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20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1920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 -&gt; revise recursively.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207008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44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Reflexion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949440" y="1344168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13441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Verbal Memory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92040" y="162763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Shinn et al. NeurIPS 2023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92040" y="1920240"/>
            <a:ext cx="237744" cy="23774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1920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0" y="1920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Stores reflections across trials.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2880360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Self-Refine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788920" y="3017520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3017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Iterative Refine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31520" y="330098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Madaan et al. NeurIPS 2023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593592"/>
            <a:ext cx="237744" cy="23774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" y="35935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-&gt; refine in loop.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2880360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49440" y="3017520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3017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Consensus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92040" y="330098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et al. 2023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3593592"/>
            <a:ext cx="237744" cy="23774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35" name="Text 33"/>
          <p:cNvSpPr/>
          <p:nvPr/>
        </p:nvSpPr>
        <p:spPr>
          <a:xfrm>
            <a:off x="48920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2080" y="35935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debate to consensus.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06/23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vs. External Feedback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Isolating what the model can do alone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53312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(Paper Scope)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Closed-loop only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74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generates answer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74520" y="2395728"/>
            <a:ext cx="365760" cy="292608"/>
          </a:xfrm>
          <a:prstGeom prst="diamond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4520" y="2395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27614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Self-check: Any error?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7240" y="30175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17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model revises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65960" y="2313432"/>
            <a:ext cx="164592" cy="109728"/>
          </a:xfrm>
          <a:prstGeom prst="downArrow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65960" y="2944368"/>
            <a:ext cx="164592" cy="109728"/>
          </a:xfrm>
          <a:prstGeom prst="downArrow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57600"/>
            <a:ext cx="34290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576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FAILS -&gt; accuracy drops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1207008"/>
            <a:ext cx="3886200" cy="3291840"/>
          </a:xfrm>
          <a:prstGeom prst="roundRect">
            <a:avLst>
              <a:gd name="adj" fmla="val 2778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353312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/ TOOL-ASSISTED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15544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With verifier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37760" y="18745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874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generates answer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395728"/>
            <a:ext cx="365760" cy="292608"/>
          </a:xfrm>
          <a:prstGeom prst="diamond">
            <a:avLst/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35040" y="2395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76148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checks: Python / Oracle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937760" y="30175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17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revision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313432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944368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0" y="3657600"/>
            <a:ext cx="34290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36576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CAN succeed -&gt; new signal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07/23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Flaws in Prior Evaluations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reported gains were confounded (Table 1)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206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Method</a:t>
                      </a:r>
                      <a:endParaRPr lang="en-US" sz="105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Identified Flaw</a:t>
                      </a:r>
                      <a:endParaRPr lang="en-US" sz="105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Mechanism</a:t>
                      </a:r>
                      <a:endParaRPr lang="en-US" sz="105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Oracle leakage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Only corrects when told the answer is wrong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Oracle leakage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Reflection only when the environment signals failure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Multi-Agent Debate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Unfair compute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Compared to single shot, not equal sampling budget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Self-Refine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Weak initial prompt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Missing constraints added only in feedback step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82219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1: Evaluation confounders in prior self-correction studies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4069080"/>
            <a:ext cx="8046720" cy="438912"/>
          </a:xfrm>
          <a:prstGeom prst="roundRect">
            <a:avLst>
              <a:gd name="adj" fmla="val 10417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406908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confounders removed, reasoning gains disappear.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08/23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Evaluation Benchmarks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reasoning tasks covering math, logic, multi-hop QA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533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1,319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problems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GSM8K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304288"/>
            <a:ext cx="201168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04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School Math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2-8 step arithmetic.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Tracks state &amp; logic.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" y="3703320"/>
            <a:ext cx="2286000" cy="594360"/>
          </a:xfrm>
          <a:prstGeom prst="roundRect">
            <a:avLst>
              <a:gd name="adj" fmla="val 7692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307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0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Prior: +7% with oracle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3756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3533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1,221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37560" y="17556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multiple-choice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3756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CommonSenseQA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611880" y="2304288"/>
            <a:ext cx="201168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2304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Commonsense Logic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20440" y="2578608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5-choice QA.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Subtle distractors.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74720" y="3703320"/>
            <a:ext cx="2286000" cy="594360"/>
          </a:xfrm>
          <a:prstGeom prst="roundRect">
            <a:avLst>
              <a:gd name="adj" fmla="val 7692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37307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0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Prior: +15% with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533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100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126480" y="17556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2648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HotpotQA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0" y="2304288"/>
            <a:ext cx="201168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304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 Synthesis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09360" y="2578608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Closed-book multi-hop.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Match.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3703320"/>
            <a:ext cx="2286000" cy="594360"/>
          </a:xfrm>
          <a:prstGeom prst="roundRect">
            <a:avLst>
              <a:gd name="adj" fmla="val 7692"/>
            </a:avLst>
          </a:prstGeom>
          <a:solidFill>
            <a:srgbClr val="FDF2F4"/>
          </a:solidFill>
          <a:ln w="6350">
            <a:solidFill>
              <a:srgbClr val="800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37307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0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Prior: gains via reflection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09/23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Models &amp; Experimental Controls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LLMs under standardized conditions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71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Evaluated Models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801368"/>
            <a:ext cx="256032" cy="256032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01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175564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GPT-3.5-Turbo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gpt-3.5-turbo-0613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59736"/>
            <a:ext cx="256032" cy="256032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59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140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265176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2023/08/29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18104"/>
            <a:ext cx="256032" cy="256032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11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0723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331012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gpt-4-1106-preview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76472"/>
            <a:ext cx="256032" cy="256032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776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Llama-2-70B-Chat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43000" y="39684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Open-weight 70B baseline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1207008"/>
            <a:ext cx="388620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371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Controls &amp; Rigor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182880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6" name="Text 24"/>
          <p:cNvSpPr/>
          <p:nvPr/>
        </p:nvSpPr>
        <p:spPr>
          <a:xfrm>
            <a:off x="5138928" y="17830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CoT few/zero-shot prompting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37760" y="2340864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5138928" y="229514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Temp: 1.0 (GPT), 0.7 (Llama)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937760" y="2852928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0" name="Text 28"/>
          <p:cNvSpPr/>
          <p:nvPr/>
        </p:nvSpPr>
        <p:spPr>
          <a:xfrm>
            <a:off x="5138928" y="28072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2 correction rounds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937760" y="3364992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5138928" y="33192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feedback prompts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37760" y="3877056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4" name="Text 32"/>
          <p:cNvSpPr/>
          <p:nvPr/>
        </p:nvSpPr>
        <p:spPr>
          <a:xfrm>
            <a:off x="5138928" y="38313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vs Oracle comparison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Prompting Procedures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Flow: intrinsic vs oracle regimes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53312"/>
            <a:ext cx="256032" cy="256032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Initial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6642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draft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414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353312"/>
            <a:ext cx="256032" cy="256032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6324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Critique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0" y="16642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logic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988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1353312"/>
            <a:ext cx="256032" cy="256032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Revise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16642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reasoning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562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08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1353312"/>
            <a:ext cx="256032" cy="256032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13533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Iterate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0" y="166420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2 repeat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2633472"/>
            <a:ext cx="256032" cy="256032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633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1560" y="26334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With Oracle (Flawed)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297180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Verifier checks answer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Tells model WHEN wrong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Correct answers untouched -&gt; inflated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2040" y="263347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4892040" y="2633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12080" y="263347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(Realistic)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937760" y="297180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No external signal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Model judges itself blindly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Flips correct -&gt; wrong -&gt; drops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17320" y="2286000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0" y="2286000"/>
            <a:ext cx="164592" cy="109728"/>
          </a:xfrm>
          <a:prstGeom prst="downArrow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Finding: Performance declines after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DF2F4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25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EMPIRICAL FINDING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does NOT improve accuracy. Scores drop across all models and tasks.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Universal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models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GPT-3.5, GPT-4, Turbo, Llama-2 all decline after R1 and R2.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0020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Task-Agnostic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2044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tasks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(GSM8K), logic (CSQA), QA (HotpotQA) all fail.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2648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Oracle Illusion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artifact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Gains only with external labels guiding when to fix.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 &amp; GPT-4 Benchmark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drops across rounds (Table 2)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07008"/>
          <a:ext cx="47548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Drops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60720" y="1755648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GPT-3.5 on CSQA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-17.2%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72.5% -&gt; 55.3% (R2)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760720" y="2596896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GPT-4 on HotpotQA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-11.0%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9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53.0% -&gt; 42.0%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3438144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GPT-4 on GSM8K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92.0% -&gt; 88.0%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2: GPT-3.5 and GPT-4 accuracy across two self-correction rounds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 &amp; Llama-2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generalizes across open and proprietary models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07008"/>
          <a:ext cx="47548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 Collapse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76072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GSM8K: 62.0% -&gt; 36.5% (-25.5%)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CSQA: 64.0% -&gt; 36.5% (-27.5%)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33172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Open-weight models are highly prompt-compliant: they abandon correct answers when asked to "find flaws".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92240" y="32918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Extreme compliance vulnerability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3: GPT-4-Turbo and Llama-2 results across self-correction rounds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Answer Transition Dynamics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accuracy drops: net-negative flips (Figure 1)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07008"/>
          <a:ext cx="43891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20700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49240" y="1298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74.7%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3167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Unchanged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09360" y="1554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Kept initial answer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212080" y="202996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121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8.9%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2139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-&gt; Wrong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0936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Harmful flip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212080" y="285292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49240" y="29443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7.6%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962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-&gt; Correct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0936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Beneficial fix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212080" y="367588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DF2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924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09360" y="37856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Loss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0936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 &gt; help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 1: Answer transition dynamics after two self-correction rounds on GSM8K (GPT-3.5)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 vs. Self-Consistency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compute: sampling beats debate (Table 4)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07008"/>
          <a:ext cx="47548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Compute Parity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760720" y="17373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60720" y="19385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Debate &gt; single-shot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22860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Reality: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760720" y="2487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same cost, Self-Consistency (majority vote) matches or beats debate with less latency.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0" y="33375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Debate: N x M calls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97880" y="36576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Self-Consistency: N calls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897880" y="38862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 = simple, fast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4: Multi-Agent Debate versus Self-Consistency at equal inference cost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Prompt Design Trap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Gains from missing info, not reflection (Table 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2423160"/>
          </a:xfrm>
          <a:prstGeom prst="roundRect">
            <a:avLst>
              <a:gd name="adj" fmla="val 3774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53312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35331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Flawed Setup (Self-Refine)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691640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916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Weak initial prompt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omits required rules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2176272"/>
            <a:ext cx="164592" cy="109728"/>
          </a:xfrm>
          <a:prstGeom prst="downArrow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331720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317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Feedback re-adds rules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"Add missing word X"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94560" y="2816352"/>
            <a:ext cx="164592" cy="109728"/>
          </a:xfrm>
          <a:prstGeom prst="downArrow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2944368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9443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Improves -&gt; claim "It works!"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09160" y="1207008"/>
            <a:ext cx="3886200" cy="2423160"/>
          </a:xfrm>
          <a:prstGeom prst="roundRect">
            <a:avLst>
              <a:gd name="adj" fmla="val 3774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353312"/>
            <a:ext cx="256032" cy="256032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1353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135331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Fair Setup (Huang et al.)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1691640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6916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Complete prompt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all rules up-front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55080" y="2176272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0" y="2331720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3317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Strong answer immediately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2816352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2944368"/>
            <a:ext cx="3429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29443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Self-correction -&gt; DROPS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794760"/>
            <a:ext cx="8046720" cy="594360"/>
          </a:xfrm>
          <a:prstGeom prst="roundRect">
            <a:avLst>
              <a:gd name="adj" fmla="val 12308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79476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Takeaway: Well-prompted single shot beats loops. Gains were prompt artifacts.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43484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5: Constrained generation under flawed versus fair prompts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Case Study: The Gaslighting Effect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correct reasoning flips to wrong (Figure 2)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25880"/>
            <a:ext cx="329184" cy="329184"/>
          </a:xfrm>
          <a:prstGeom prst="ellipse">
            <a:avLst/>
          </a:prstGeom>
          <a:solidFill>
            <a:srgbClr val="FDF2F4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2984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GSM8K: Terry eats 2 yogurts a day. A 4-pack costs $5. How much for 30 days?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57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43000" y="2304288"/>
            <a:ext cx="1554480" cy="59436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30428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29443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x 2 = 60  |  60 / 4 = 15  |  15 x $5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474720" y="1920240"/>
            <a:ext cx="21945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2011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Self-critique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0" y="224028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FFFBEB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22402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"Find flaws"</a:t>
            </a:r>
            <a:endParaRPr lang="en-US" sz="900" dirty="0"/>
          </a:p>
        </p:txBody>
      </p:sp>
      <p:pic>
        <p:nvPicPr>
          <p:cNvPr id="19" name="Image 0" descr="output/yogurt_illust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2670048"/>
            <a:ext cx="1737360" cy="9144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273552" y="2743200"/>
            <a:ext cx="201168" cy="146304"/>
          </a:xfrm>
          <a:prstGeom prst="rightArrow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50992" y="2743200"/>
            <a:ext cx="201168" cy="146304"/>
          </a:xfrm>
          <a:prstGeom prst="rightArrow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52160" y="192024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0" y="20574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2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446520" y="2304288"/>
            <a:ext cx="1554480" cy="5943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46520" y="230428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035040" y="29443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 •  Flipped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035040" y="3200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Doubts correct math,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hallucinates new logic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48640" y="3931920"/>
            <a:ext cx="8046720" cy="438912"/>
          </a:xfrm>
          <a:prstGeom prst="roundRect">
            <a:avLst>
              <a:gd name="adj" fmla="val 12500"/>
            </a:avLst>
          </a:prstGeom>
          <a:solidFill>
            <a:srgbClr val="FDF2F4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5800" y="4023360"/>
            <a:ext cx="256032" cy="256032"/>
          </a:xfrm>
          <a:prstGeom prst="ellipse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" y="4023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005840" y="40233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prompt gaslights a correct answer.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48640" y="443484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Figure 2: Yogurt case study, a correct $75 answer flips to $150 after self-critique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18/23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Verification Barrier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intrinsic checks are as hard as generation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988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89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Shared Weights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59152"/>
            <a:ext cx="219456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59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Parity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 = Generator.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can't generate it,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can't verify it.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08760" y="3703320"/>
            <a:ext cx="64008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≡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3756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138988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389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Compliance Bias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520440" y="2359152"/>
            <a:ext cx="219456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359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 tuning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20440" y="26974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"Find flaws" biases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to invent errors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when sound.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97680" y="3703320"/>
            <a:ext cx="64008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↯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26480" y="1207008"/>
            <a:ext cx="2560320" cy="3246120"/>
          </a:xfrm>
          <a:prstGeom prst="roundRect">
            <a:avLst>
              <a:gd name="adj" fmla="val 3571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9360" y="138988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1389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1847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 Grounding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309360" y="2359152"/>
            <a:ext cx="219456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2359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signal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09360" y="269748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Python/oracle,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can't tell fix from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86600" y="3703320"/>
            <a:ext cx="64008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∅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19/23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Takeaways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conclusions from Huang et al. (ICLR 2024)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435608"/>
            <a:ext cx="384048" cy="38404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344168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 for Reasoning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618488"/>
            <a:ext cx="7040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external feedback, accuracy consistently drops across models and tasks.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267712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496312"/>
            <a:ext cx="384048" cy="38404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404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Prior Gains Were Evaluation Artifacts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25880" y="2679192"/>
            <a:ext cx="7040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leakage, unfair compute, weak prompts created illusion of progress.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328416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557016"/>
            <a:ext cx="384048" cy="38404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3465576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External Feedback Required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325880" y="3739896"/>
            <a:ext cx="7040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refinement needs tools: code execution, verifiers, or human review.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20/23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Study Limitations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boundaries of this 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71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Scope Limitations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73736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Reasoning-Specific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19385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Math/logic only. Not creative writing or translation.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77240" y="260604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603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Prompting-Only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276148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Frozen models. Not fine-tuned for self-correction.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42900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3832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58444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GPT-3.5/4, Llama-2. Newer reasoners (o1/o3) need study.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1207008"/>
            <a:ext cx="3886200" cy="3246120"/>
          </a:xfrm>
          <a:prstGeom prst="roundRect">
            <a:avLst>
              <a:gd name="adj" fmla="val 2817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371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Methodological Boundaries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178308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173736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HotpotQA 100 samples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20640" y="193852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by API cost, lower resolution.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37760" y="260604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25603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Sensitivity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120640" y="276148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prompts tested, but not exhaustive.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937760" y="3429000"/>
            <a:ext cx="109728" cy="10972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3832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Closed-Book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20640" y="358444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retrieval (RAG) allowed.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21/23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Directions &amp; Fair Standards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Constructive paths forward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Tool-Augmented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88920" y="1344168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3441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Python, solvers, SQL to verify calculations externally.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344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Learned Verifiers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1344168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3441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PRMs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92040" y="16824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separate discriminators to judge step quality.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880360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Training-Time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88920" y="3017520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3017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&amp; Search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1520" y="335584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+ MCTS / test-time compute, not prompt loops.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2880360"/>
            <a:ext cx="3886200" cy="1444752"/>
          </a:xfrm>
          <a:prstGeom prst="roundRect">
            <a:avLst>
              <a:gd name="adj" fmla="val 5063"/>
            </a:avLst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Fair Standards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49440" y="3017520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0" y="3017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335584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Equal-cost baselines (Self-Consistency), no oracle leakage.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22/23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00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023360" y="1920240"/>
            <a:ext cx="10972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 Discussions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welcome questions from the professor and audience.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94436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9077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asking a model to find flaws often make it hallucinate errors where none exist?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35295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should we rely on external tools like Python or verifiers instead of prompting alone?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4187952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81328" y="41513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we design a fair self-correction benchmark that avoids oracle leakage?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Group Presentation</cp:lastModifiedBy>
  <cp:revision>1</cp:revision>
  <dcterms:created xsi:type="dcterms:W3CDTF">2026-08-27T21:54:39Z</dcterms:created>
  <dcterms:modified xsi:type="dcterms:W3CDTF">2026-08-27T21:54:39Z</dcterms:modified>
</cp:coreProperties>
</file>