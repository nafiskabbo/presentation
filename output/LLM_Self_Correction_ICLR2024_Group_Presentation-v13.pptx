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5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Reported (With Confounder)</c:v>
                </c:pt>
              </c:strCache>
            </c:strRef>
          </c:tx>
          <c:spPr>
            <a:solidFill>
              <a:srgbClr val="800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Oracle Leakage</c:v>
                  </c:pt>
                  <c:pt idx="1">
                    <c:v>Compute Asymmetry</c:v>
                  </c:pt>
                  <c:pt idx="2">
                    <c:v>Prompt Distortion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10.5</c:v>
                </c:pt>
                <c:pt idx="1">
                  <c:v>4</c:v>
                </c:pt>
                <c:pt idx="2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Controlled (Fair Baseline)</c:v>
                </c:pt>
              </c:strCache>
            </c:strRef>
          </c:tx>
          <c:spPr>
            <a:solidFill>
              <a:srgbClr val="1665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Oracle Leakage</c:v>
                  </c:pt>
                  <c:pt idx="1">
                    <c:v>Compute Asymmetry</c:v>
                  </c:pt>
                  <c:pt idx="2">
                    <c:v>Prompt Distortion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-2.5</c:v>
                </c:pt>
                <c:pt idx="1">
                  <c:v>-1.5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-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(CoT)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GSM8K (3.5)</c:v>
                  </c:pt>
                  <c:pt idx="1">
                    <c:v>CSQA (3.5)</c:v>
                  </c:pt>
                  <c:pt idx="2">
                    <c:v>Hotpot (3.5)</c:v>
                  </c:pt>
                  <c:pt idx="3">
                    <c:v>GSM8K (GPT-4)</c:v>
                  </c:pt>
                  <c:pt idx="4">
                    <c:v>CSQA (GPT-4)</c:v>
                  </c:pt>
                  <c:pt idx="5">
                    <c:v>Hotpot (GPT-4)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77</c:v>
                </c:pt>
                <c:pt idx="1">
                  <c:v>72.5</c:v>
                </c:pt>
                <c:pt idx="2">
                  <c:v>29</c:v>
                </c:pt>
                <c:pt idx="3">
                  <c:v>92</c:v>
                </c:pt>
                <c:pt idx="4">
                  <c:v>78.5</c:v>
                </c:pt>
                <c:pt idx="5">
                  <c:v>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Self-Correct R1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GSM8K (3.5)</c:v>
                  </c:pt>
                  <c:pt idx="1">
                    <c:v>CSQA (3.5)</c:v>
                  </c:pt>
                  <c:pt idx="2">
                    <c:v>Hotpot (3.5)</c:v>
                  </c:pt>
                  <c:pt idx="3">
                    <c:v>GSM8K (GPT-4)</c:v>
                  </c:pt>
                  <c:pt idx="4">
                    <c:v>CSQA (GPT-4)</c:v>
                  </c:pt>
                  <c:pt idx="5">
                    <c:v>Hotpot (GPT-4)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75.2</c:v>
                </c:pt>
                <c:pt idx="1">
                  <c:v>63.5</c:v>
                </c:pt>
                <c:pt idx="2">
                  <c:v>26</c:v>
                </c:pt>
                <c:pt idx="3">
                  <c:v>88.5</c:v>
                </c:pt>
                <c:pt idx="4">
                  <c:v>72.5</c:v>
                </c:pt>
                <c:pt idx="5">
                  <c:v>42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Self-Correct R2</c:v>
                </c:pt>
              </c:strCache>
            </c:strRef>
          </c:tx>
          <c:spPr>
            <a:solidFill>
              <a:srgbClr val="800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GSM8K (3.5)</c:v>
                  </c:pt>
                  <c:pt idx="1">
                    <c:v>CSQA (3.5)</c:v>
                  </c:pt>
                  <c:pt idx="2">
                    <c:v>Hotpot (3.5)</c:v>
                  </c:pt>
                  <c:pt idx="3">
                    <c:v>GSM8K (GPT-4)</c:v>
                  </c:pt>
                  <c:pt idx="4">
                    <c:v>CSQA (GPT-4)</c:v>
                  </c:pt>
                  <c:pt idx="5">
                    <c:v>Hotpot (GPT-4)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72.6</c:v>
                </c:pt>
                <c:pt idx="1">
                  <c:v>55.3</c:v>
                </c:pt>
                <c:pt idx="2">
                  <c:v>25</c:v>
                </c:pt>
                <c:pt idx="3">
                  <c:v>88</c:v>
                </c:pt>
                <c:pt idx="4">
                  <c:v>72</c:v>
                </c:pt>
                <c:pt idx="5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(CoT)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GSM8K (Turbo)</c:v>
                  </c:pt>
                  <c:pt idx="1">
                    <c:v>CSQA (Turbo)</c:v>
                  </c:pt>
                  <c:pt idx="2">
                    <c:v>GSM8K (Llama-2)</c:v>
                  </c:pt>
                  <c:pt idx="3">
                    <c:v>CSQA (Llama-2)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91.5</c:v>
                </c:pt>
                <c:pt idx="1">
                  <c:v>84</c:v>
                </c:pt>
                <c:pt idx="2">
                  <c:v>62</c:v>
                </c:pt>
                <c:pt idx="3">
                  <c:v>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Self-Correct R1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GSM8K (Turbo)</c:v>
                  </c:pt>
                  <c:pt idx="1">
                    <c:v>CSQA (Turbo)</c:v>
                  </c:pt>
                  <c:pt idx="2">
                    <c:v>GSM8K (Llama-2)</c:v>
                  </c:pt>
                  <c:pt idx="3">
                    <c:v>CSQA (Llama-2)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81.5</c:v>
                </c:pt>
                <c:pt idx="2">
                  <c:v>43.5</c:v>
                </c:pt>
                <c:pt idx="3">
                  <c:v>37.5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Self-Correct R2</c:v>
                </c:pt>
              </c:strCache>
            </c:strRef>
          </c:tx>
          <c:spPr>
            <a:solidFill>
              <a:srgbClr val="800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GSM8K (Turbo)</c:v>
                  </c:pt>
                  <c:pt idx="1">
                    <c:v>CSQA (Turbo)</c:v>
                  </c:pt>
                  <c:pt idx="2">
                    <c:v>GSM8K (Llama-2)</c:v>
                  </c:pt>
                  <c:pt idx="3">
                    <c:v>CSQA (Llama-2)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90</c:v>
                </c:pt>
                <c:pt idx="1">
                  <c:v>83</c:v>
                </c:pt>
                <c:pt idx="2">
                  <c:v>36.5</c:v>
                </c:pt>
                <c:pt idx="3">
                  <c:v>36.5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Transitions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bubble3D val="0"/>
            <c:spPr>
              <a:solidFill>
                <a:srgbClr val="800020"/>
              </a:solidFill>
              <a:effectLst/>
            </c:spPr>
          </c:dPt>
          <c:dPt>
            <c:idx val="2"/>
            <c:bubble3D val="0"/>
            <c:spPr>
              <a:solidFill>
                <a:srgbClr val="166534"/>
              </a:solidFill>
              <a:effectLst/>
            </c:spPr>
          </c:dPt>
          <c:dPt>
            <c:idx val="3"/>
            <c:bubble3D val="0"/>
            <c:spPr>
              <a:solidFill>
                <a:srgbClr val="80002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Unchanged 74.7%</c:v>
                </c:pt>
                <c:pt idx="1">
                  <c:v>Correct-&gt;Wrong 8.9%</c:v>
                </c:pt>
                <c:pt idx="2">
                  <c:v>Wrong-&gt;Correct 7.6%</c:v>
                </c:pt>
                <c:pt idx="3">
                  <c:v>Stayed Wrong 8.8%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74.7</c:v>
                </c:pt>
                <c:pt idx="1">
                  <c:v>8.9</c:v>
                </c:pt>
                <c:pt idx="2">
                  <c:v>7.6</c:v>
                </c:pt>
                <c:pt idx="3">
                  <c:v>8.8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Single-Shot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GSM8K</c:v>
                  </c:pt>
                  <c:pt idx="1">
                    <c:v>CSQA</c:v>
                  </c:pt>
                  <c:pt idx="2">
                    <c:v>Chess QA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</c:v>
                </c:pt>
                <c:pt idx="1">
                  <c:v>72.5</c:v>
                </c:pt>
                <c:pt idx="2">
                  <c:v>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Multi-Agent Debate</c:v>
                </c:pt>
              </c:strCache>
            </c:strRef>
          </c:tx>
          <c:spPr>
            <a:solidFill>
              <a:srgbClr val="800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GSM8K</c:v>
                  </c:pt>
                  <c:pt idx="1">
                    <c:v>CSQA</c:v>
                  </c:pt>
                  <c:pt idx="2">
                    <c:v>Chess QA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81</c:v>
                </c:pt>
                <c:pt idx="1">
                  <c:v>75</c:v>
                </c:pt>
                <c:pt idx="2">
                  <c:v>58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Self-Consistency</c:v>
                </c:pt>
              </c:strCache>
            </c:strRef>
          </c:tx>
          <c:spPr>
            <a:solidFill>
              <a:srgbClr val="1665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GSM8K</c:v>
                  </c:pt>
                  <c:pt idx="1">
                    <c:v>CSQA</c:v>
                  </c:pt>
                  <c:pt idx="2">
                    <c:v>Chess QA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82.5</c:v>
                </c:pt>
                <c:pt idx="1">
                  <c:v>77</c:v>
                </c:pt>
                <c:pt idx="2">
                  <c:v>60.5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Nafis Islam Kabbo welcomes the audience, introduces the ICLR 2024 paper, and presents the group members.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Nafis Islam Kabbo outlines the roadmap across six core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Nafis Islam Kabbo explains why autoregressive generation causes error cascades in multi-step reasoning.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Nafis Islam Kabbo explains the 3-step closed-loop self-correction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Nafis Islam Kabbo presents the central paradox that motivates the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Srijon reviews the four prior self-correction frameworks and their operational loops, highlighting that reported gains stemmed from evaluation confounders.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Srijon contrasts intrinsic closed loop with external tool assisted feedback, highlighting that without new information, a model cannot verify its own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Srijon breaks down Table 1 into three root confounders: oracle leakage, unfair compute parity, and prompt design distortion.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Anindo introduces the three evaluation tasks, covering arithmetic on GSM8K, logic on CommonSenseQA, and multi-hop reasoning on HotpotQA.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Anindo presents the evaluated models and strict experimental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Anindo contrasts the oracle feedback procedure against intrinsic blind self-correction.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Mahid presents the headline empirical finding that intrinsic correction fails across all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Mahid details the numerical drops across GPT-3.5 and GPT-4.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Mahid highlights the severe collapse of Llama-2 under self-correction prompting.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Mahid shows that harmful flips exceed beneficial fixes, explaining the net decline in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Jebon explains compute parity, proving that majority voting matches or outperforms multi-agent debate at equal inference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Jebon explains the prompt design trap, demonstrating that apparent gains vanished when prompts were complete up-front.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Jebon walks through the concrete Yogurt problem case study from Figure 2, demonstrating how self-critique prompts cause models to hallucinate errors and flip correct $75 answers to incorrect $150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Jebon details the three verification barriers: shared parameters, instruction compliance bias, and lack of external grounding.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Refayet synthesizes the paper's three main conclusions.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Refayet discusses the study's scope limitations and methodological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Refayet outlines future research directions including tool integration and learned process reward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Refayet concludes the presentation and opens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FFF1F2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2024 CONFERENCE PAPER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Large Language Models</a:t>
            </a:r>
            <a:endParaRPr lang="en-US" sz="3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Cannot Self-Correct Reasoning Yet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Jie Huang (UIUC), Xinyun Chen, Swaroop Mishra, Huaixiu Steven Zheng, Adams Wei Yu, Xinying Song, Denny Zhou (Google DeepMind)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804672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01752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Presentation | Student Presenters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338328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Nafis Islam Kabbo (2303180)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338328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Srijon (2303179)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97880" y="338328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07608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Anindo (2303181)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385876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8587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Mahid (2303127)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37560" y="385876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38587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Jebon (2303160)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97880" y="385876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07608" y="38587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Refayet (2303148)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01/23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Presentation Outline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sections tracing motivation to constructive future work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44168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44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13441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78992" y="166420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multi-step reasoning fails and what self-correction promises.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207008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344168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344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39512" y="13441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Background &amp; Literature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39512" y="166420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RCI, Reflexion, Self-Refine, Debate and their evaluation flaws.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359152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496312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496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24963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78992" y="281635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GSM8K, CSQA, HotpotQA across GPT-3.5, GPT-4, Turbo, Llama-2.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359152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496312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496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39512" y="24963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Results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39512" y="281635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declines after self-correction, net negative flips.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511296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3648456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648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8992" y="36484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Analysis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78992" y="396849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gains vanish at equal compute and without feedback.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3511296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648456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648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39512" y="36484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Conclusion &amp; Future Work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239512" y="396849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tools, verifiers, and fair evaluation standards.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02/23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Large Language Models &amp; Reasoning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Why sequential generation breaks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28600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1508760"/>
            <a:ext cx="914400" cy="274320"/>
          </a:xfrm>
          <a:prstGeom prst="ellipse">
            <a:avLst/>
          </a:prstGeom>
          <a:solidFill>
            <a:srgbClr val="FFF1F2"/>
          </a:solidFill>
          <a:ln w="8890">
            <a:solidFill>
              <a:srgbClr val="800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Question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 math problem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prompt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80360" y="2084832"/>
            <a:ext cx="384048" cy="182880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0128" y="13258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93008" y="1508760"/>
            <a:ext cx="2240280" cy="256032"/>
          </a:xfrm>
          <a:prstGeom prst="roundRect">
            <a:avLst>
              <a:gd name="adj" fmla="val 1785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15087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(CoT) STEPS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93008" y="1874520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F0FDF4"/>
          </a:solidFill>
          <a:ln w="762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3008" y="18745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Correct deduction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93008" y="2176272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FFF1F2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21762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Arithmetic slip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93008" y="2478024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FFF1F2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247802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Error cascades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93008" y="278892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Autoregressive: each token depends on prior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961888" y="2084832"/>
            <a:ext cx="384048" cy="182880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82512" y="1325880"/>
            <a:ext cx="2240280" cy="1691640"/>
          </a:xfrm>
          <a:prstGeom prst="roundRect">
            <a:avLst>
              <a:gd name="adj" fmla="val 5405"/>
            </a:avLst>
          </a:prstGeom>
          <a:solidFill>
            <a:srgbClr val="FFF1F2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22592" y="1508760"/>
            <a:ext cx="960120" cy="274320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22592" y="15087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19672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Incorrect Answer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19672" y="2240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by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slip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3246120"/>
            <a:ext cx="8046720" cy="1143000"/>
          </a:xfrm>
          <a:prstGeom prst="roundRect">
            <a:avLst>
              <a:gd name="adj" fmla="val 6400"/>
            </a:avLst>
          </a:prstGeom>
          <a:solidFill>
            <a:srgbClr val="FFF1F2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3649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VULNERABILITY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7240" y="35844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slip means every subsequent step inherits the error. Without external checks, the model cannot tell the chain is broken.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77240" y="4069080"/>
            <a:ext cx="237744" cy="237744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069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78992" y="40690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Domino effect in sequential reasoning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03/23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Concept of Self-Correction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models fix themselves? A 3-step loop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53312"/>
            <a:ext cx="228600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53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Generation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91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691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Draft Answer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-&gt; CoT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answer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1938528"/>
            <a:ext cx="201168" cy="164592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207008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BEB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353312"/>
            <a:ext cx="228600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353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520440" y="1691640"/>
            <a:ext cx="292608" cy="29260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1691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86200" y="1691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Self-Critique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044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flaws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reasoning"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97880" y="1938528"/>
            <a:ext cx="201168" cy="164592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207008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1F2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353312"/>
            <a:ext cx="228600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353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Output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309360" y="169164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691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1691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Revised Answer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CoT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answer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2999232"/>
            <a:ext cx="80467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3072384"/>
            <a:ext cx="237744" cy="237744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0723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7552" y="30723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 loop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514600" y="30723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critique -&gt; revise (max 2 rounds)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0" y="3127248"/>
            <a:ext cx="274320" cy="128016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312724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675120" y="3127248"/>
            <a:ext cx="128016" cy="12801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0" y="3127248"/>
            <a:ext cx="128016" cy="128016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7" name="Shape 35"/>
          <p:cNvSpPr/>
          <p:nvPr/>
        </p:nvSpPr>
        <p:spPr>
          <a:xfrm>
            <a:off x="7040880" y="3127248"/>
            <a:ext cx="128016" cy="12801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7242048" y="312724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-&gt; Critique -&gt; Fix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48640" y="352044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1F2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3611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vs REALITY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77240" y="38404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Promise: Autonomous fix without humans. Reality: Can a frozen model detect its own flaws? Evidence says no.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04/23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Central Research Question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paradox that drives the study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8046720" cy="1417320"/>
          </a:xfrm>
          <a:prstGeom prst="roundRect">
            <a:avLst>
              <a:gd name="adj" fmla="val 6452"/>
            </a:avLst>
          </a:prstGeom>
          <a:solidFill>
            <a:srgbClr val="FFF1F2"/>
          </a:solidFill>
          <a:ln w="19050">
            <a:solidFill>
              <a:srgbClr val="800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PARADOX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627632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"If a model can correct a mistake, why did it not get it right the first time?"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weights. Same model as critic and generator. No new information.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11680" y="2743200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2743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tests: intrinsic only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2743200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743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tools: out of scope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43400" y="3291840"/>
            <a:ext cx="457200" cy="457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0040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frozen knowledge fix itself?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4114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comparison on next slide.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8046720" cy="41148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4348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question defines the paper. If intrinsic correction worked, it would be free performance.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05/23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 &amp; RELATED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Prior Self-Correction Frameworks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prominent paradigms and their operational loops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8745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3970">
            <a:solidFill>
              <a:srgbClr val="800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1691640" cy="237744"/>
          </a:xfrm>
          <a:prstGeom prst="roundRect">
            <a:avLst>
              <a:gd name="adj" fmla="val 15385"/>
            </a:avLst>
          </a:prstGeom>
          <a:solidFill>
            <a:srgbClr val="FFF1F2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618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1536192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et al. (NeurIPS '23)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21792" y="1719072"/>
            <a:ext cx="1728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zero-shot error prompt &amp; patch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2157984"/>
            <a:ext cx="1655064" cy="201168"/>
          </a:xfrm>
          <a:prstGeom prst="roundRect">
            <a:avLst>
              <a:gd name="adj" fmla="val 18182"/>
            </a:avLst>
          </a:prstGeom>
          <a:solidFill>
            <a:srgbClr val="FFF1F2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15798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Claimed: +7.0% (Oracle)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606040" y="1188720"/>
            <a:ext cx="18745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3970">
            <a:solidFill>
              <a:srgbClr val="1665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1261872"/>
            <a:ext cx="1691640" cy="237744"/>
          </a:xfrm>
          <a:prstGeom prst="roundRect">
            <a:avLst>
              <a:gd name="adj" fmla="val 15385"/>
            </a:avLst>
          </a:prstGeom>
          <a:solidFill>
            <a:srgbClr val="F0FDF4"/>
          </a:solidFill>
          <a:ln w="7620">
            <a:solidFill>
              <a:srgbClr val="1665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2618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79192" y="1536192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Shinn et al. (NeurIPS '23)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679192" y="1719072"/>
            <a:ext cx="1728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 buffer across failed trials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15768" y="2157984"/>
            <a:ext cx="1655064" cy="201168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 w="635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15768" y="215798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Claimed: +11.0% (Oracle)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663440" y="1188720"/>
            <a:ext cx="18745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3970">
            <a:solidFill>
              <a:srgbClr val="B4530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261872"/>
            <a:ext cx="1691640" cy="237744"/>
          </a:xfrm>
          <a:prstGeom prst="roundRect">
            <a:avLst>
              <a:gd name="adj" fmla="val 15385"/>
            </a:avLst>
          </a:prstGeom>
          <a:solidFill>
            <a:srgbClr val="FFFBEB"/>
          </a:solidFill>
          <a:ln w="762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2618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Self-Refine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36592" y="1536192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Madaan et al. (NeurIPS '23)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36592" y="1719072"/>
            <a:ext cx="1728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feedback on style &amp; constraints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73168" y="2157984"/>
            <a:ext cx="1655064" cy="201168"/>
          </a:xfrm>
          <a:prstGeom prst="roundRect">
            <a:avLst>
              <a:gd name="adj" fmla="val 18182"/>
            </a:avLst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215798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Claimed: +10.0% (Prompt)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720840" y="1188720"/>
            <a:ext cx="18745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3970">
            <a:solidFill>
              <a:srgbClr val="0F17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12280" y="1261872"/>
            <a:ext cx="1691640" cy="237744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12618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93992" y="1536192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et al. (ICLR '24)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793992" y="1719072"/>
            <a:ext cx="1728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cross-examination &amp; voting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830568" y="2157984"/>
            <a:ext cx="1655064" cy="201168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30568" y="215798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Claimed: +4.0% (vs 1-Shot)</a:t>
            </a:r>
            <a:endParaRPr lang="en-US" sz="750" dirty="0"/>
          </a:p>
        </p:txBody>
      </p:sp>
      <p:pic>
        <p:nvPicPr>
          <p:cNvPr id="33" name="Image 0" descr="output/prior_frameworks_anim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0"/>
            <a:ext cx="8046720" cy="173736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548640" y="4407408"/>
            <a:ext cx="8046720" cy="274320"/>
          </a:xfrm>
          <a:prstGeom prst="roundRect">
            <a:avLst>
              <a:gd name="adj" fmla="val 13333"/>
            </a:avLst>
          </a:prstGeom>
          <a:solidFill>
            <a:srgbClr val="FFF1F2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" y="44074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All four frameworks claimed +4% to +15% gains, but all relied on unaddressed evaluation confounders.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06/23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 &amp; RELATED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vs. External Feedback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self-doubt vs. grounded deterministic verification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86200" cy="1261872"/>
          </a:xfrm>
          <a:prstGeom prst="roundRect">
            <a:avLst>
              <a:gd name="adj" fmla="val 5797"/>
            </a:avLst>
          </a:prstGeom>
          <a:solidFill>
            <a:srgbClr val="FFF1F2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80160"/>
            <a:ext cx="3611880" cy="256032"/>
          </a:xfrm>
          <a:prstGeom prst="roundRect">
            <a:avLst>
              <a:gd name="adj" fmla="val 14286"/>
            </a:avLst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801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(Closed-Loop / Paper Focus)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59105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ACCURACY DROPS (-1.3% to -27.5%)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97510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frozen weights, zero external ground truth, hallucinated error drift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3886200" cy="1261872"/>
          </a:xfrm>
          <a:prstGeom prst="roundRect">
            <a:avLst>
              <a:gd name="adj" fmla="val 5797"/>
            </a:avLst>
          </a:prstGeom>
          <a:solidFill>
            <a:srgbClr val="F0FDF4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80160"/>
            <a:ext cx="3611880" cy="256032"/>
          </a:xfrm>
          <a:prstGeom prst="roundRect">
            <a:avLst>
              <a:gd name="adj" fmla="val 14286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801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/ TOOL-ASSISTED (Grounded)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0" y="159105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ACCURACY IMPROVES (+7.0% to +15.0%)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97510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Python REPL / Oracle, exact traceback and error localization</a:t>
            </a:r>
            <a:endParaRPr lang="en-US" sz="850" dirty="0"/>
          </a:p>
        </p:txBody>
      </p:sp>
      <p:pic>
        <p:nvPicPr>
          <p:cNvPr id="15" name="Image 0" descr="output/feedback_loops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0"/>
            <a:ext cx="8046720" cy="17373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48640" y="4407408"/>
            <a:ext cx="804672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44074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Principle: A frozen model cannot act as an independent verifier of its own output without external grounding.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 &amp; RELATED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Flaws in Prior Evaluations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root confounders exposed by Huang et al. (Table 1)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188720"/>
          <a:ext cx="438912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166360" y="1188720"/>
            <a:ext cx="34290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80002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57800" y="1261872"/>
            <a:ext cx="3246120" cy="237744"/>
          </a:xfrm>
          <a:prstGeom prst="roundRect">
            <a:avLst>
              <a:gd name="adj" fmla="val 15385"/>
            </a:avLst>
          </a:prstGeom>
          <a:solidFill>
            <a:srgbClr val="FFF1F2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76088" y="1261872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Oracle Leakage (RCI, Reflexion)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276088" y="1536192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alerted model ONLY when wrong, shielding correct answers.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276088" y="1883664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Reported: +10.5% | Controlled: -2.5%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166360" y="2286000"/>
            <a:ext cx="34290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B4530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257800" y="2359152"/>
            <a:ext cx="3246120" cy="237744"/>
          </a:xfrm>
          <a:prstGeom prst="roundRect">
            <a:avLst>
              <a:gd name="adj" fmla="val 15385"/>
            </a:avLst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76088" y="2359152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Compute Asymmetry (Debate)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276088" y="2633472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used 3-6x compute. Equal-budget Self-Consistency voting wins.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76088" y="2980944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Reported: +4.0% | Controlled: -1.5%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166360" y="3383280"/>
            <a:ext cx="34290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0F172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57800" y="3456432"/>
            <a:ext cx="3246120" cy="237744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76088" y="3456432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Prompt Distortion (Self-Refine)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276088" y="3730752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prompt omitted rules, feedback prompt merely injected them.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276088" y="4078224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Reported: +10.0% | Controlled: 0.0%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48640" y="4434840"/>
            <a:ext cx="8046720" cy="256032"/>
          </a:xfrm>
          <a:prstGeom prst="roundRect">
            <a:avLst>
              <a:gd name="adj" fmla="val 14286"/>
            </a:avLst>
          </a:prstGeom>
          <a:solidFill>
            <a:srgbClr val="FFF1F2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44348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 Summary: When oracle leakage, unfair compute, and prompt distortion are controlled, self-correction gains drop to zero.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08/23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Evaluation Benchmarks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reasoning tasks covering math, logic, multi-hop QA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533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1,319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755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problems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GSM8K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2304288"/>
            <a:ext cx="2011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04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School Math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2578608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2-8 step arithmetic.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state and logic.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370332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FFF1F2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3075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Prior: +7% with oracle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3533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1,221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37560" y="1755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multiple-choice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CommonSenseQA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611880" y="2304288"/>
            <a:ext cx="2011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304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Commonsense Logic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20440" y="2578608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5-choice QA.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distractors.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0" y="370332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FFF1F2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373075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Prior: +15% with oracle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3533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126480" y="1755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2648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HotpotQA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00800" y="2304288"/>
            <a:ext cx="2011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304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Synthesis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09360" y="2578608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Closed-book multi-hop.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63640" y="370332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FFF1F2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73075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Prior: gains via reflection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09/23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Models &amp; Experimental Controls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LLMs under standardized conditions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3246120"/>
          </a:xfrm>
          <a:prstGeom prst="roundRect">
            <a:avLst>
              <a:gd name="adj" fmla="val 28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Evaluated Models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801368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01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75564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GPT-3.5-Turbo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9933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gpt-3.5-turbo-0613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2459736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59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4140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26517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2023/08/29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3118104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118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307238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GPT-4-Turbo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31012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gpt-4-1106-preview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7240" y="3776472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776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373075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Llama-2-70B-Chat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39684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70B baseline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1207008"/>
            <a:ext cx="3886200" cy="3246120"/>
          </a:xfrm>
          <a:prstGeom prst="roundRect">
            <a:avLst>
              <a:gd name="adj" fmla="val 28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Controls &amp; Rigor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37760" y="182880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6" name="Text 24"/>
          <p:cNvSpPr/>
          <p:nvPr/>
        </p:nvSpPr>
        <p:spPr>
          <a:xfrm>
            <a:off x="5138928" y="17830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few/zero-shot prompting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37760" y="2340864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8" name="Text 26"/>
          <p:cNvSpPr/>
          <p:nvPr/>
        </p:nvSpPr>
        <p:spPr>
          <a:xfrm>
            <a:off x="5138928" y="22951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Temp: 1.0 (GPT), 0.7 (Llama)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37760" y="2852928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0" name="Text 28"/>
          <p:cNvSpPr/>
          <p:nvPr/>
        </p:nvSpPr>
        <p:spPr>
          <a:xfrm>
            <a:off x="5138928" y="28072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 correction rounds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37760" y="3364992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2" name="Text 30"/>
          <p:cNvSpPr/>
          <p:nvPr/>
        </p:nvSpPr>
        <p:spPr>
          <a:xfrm>
            <a:off x="5138928" y="33192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feedback prompts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37760" y="3877056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4" name="Text 32"/>
          <p:cNvSpPr/>
          <p:nvPr/>
        </p:nvSpPr>
        <p:spPr>
          <a:xfrm>
            <a:off x="5138928" y="38313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vs Oracle comparison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10/23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Prompting Procedures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intrinsic vs oracle regimes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5331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Initial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6642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draft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41448" y="1664208"/>
            <a:ext cx="146304" cy="12801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1207008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135331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63240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Critique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0" y="16642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logic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98848" y="1664208"/>
            <a:ext cx="146304" cy="12801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207008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35331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Revise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16642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reasoning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56248" y="1664208"/>
            <a:ext cx="146304" cy="12801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1207008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135331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Iterate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58000" y="16642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repeat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2468880"/>
            <a:ext cx="3886200" cy="1965960"/>
          </a:xfrm>
          <a:prstGeom prst="roundRect">
            <a:avLst>
              <a:gd name="adj" fmla="val 3721"/>
            </a:avLst>
          </a:prstGeom>
          <a:solidFill>
            <a:srgbClr val="F0FDF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2633472"/>
            <a:ext cx="256032" cy="256032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1560" y="26334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With Oracle (Flawed)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77240" y="297180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Verifier checks answer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Tells model WHEN wrong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Correct answers untouched -&gt; inflated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2468880"/>
            <a:ext cx="3886200" cy="1965960"/>
          </a:xfrm>
          <a:prstGeom prst="roundRect">
            <a:avLst>
              <a:gd name="adj" fmla="val 3721"/>
            </a:avLst>
          </a:prstGeom>
          <a:solidFill>
            <a:srgbClr val="FFF1F2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263347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12080" y="26334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(Realistic)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937760" y="297180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external signal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judges itself blindly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Flips correct -&gt; wrong -&gt; drops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417320" y="2286000"/>
            <a:ext cx="164592" cy="109728"/>
          </a:xfrm>
          <a:prstGeom prst="down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2286000"/>
            <a:ext cx="164592" cy="109728"/>
          </a:xfrm>
          <a:prstGeom prst="down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Self-Correction Fails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Finding: Performance declines after self-correction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1F2"/>
          </a:solidFill>
          <a:ln w="19050">
            <a:solidFill>
              <a:srgbClr val="800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25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EMPIRICAL FINDING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self-correction does NOT improve accuracy. Scores drop across all models and tasks.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46888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Universal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21945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34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3154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GPT-3.5, GPT-4, Turbo, Llama-2 all decline after R1 and R2.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00200" y="3703320"/>
            <a:ext cx="457200" cy="457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02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37560" y="228600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0440" y="246888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8620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Task-Agnostic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520440" y="2834640"/>
            <a:ext cx="21945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834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tasks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520440" y="3154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(GSM8K), logic (CSQA), QA (HotpotQA) all fail.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3703320"/>
            <a:ext cx="457200" cy="457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26480" y="228600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246888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Oracle Illusion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09360" y="2834640"/>
            <a:ext cx="21945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834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artifact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09360" y="3154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only with external labels guiding when to fix.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78040" y="3703320"/>
            <a:ext cx="457200" cy="457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GPT-3.5 &amp; GPT-4 Benchmark Results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drops across rounds (Table 2)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07008"/>
          <a:ext cx="47548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07008"/>
            <a:ext cx="3017520" cy="3246120"/>
          </a:xfrm>
          <a:prstGeom prst="roundRect">
            <a:avLst>
              <a:gd name="adj" fmla="val 30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Drops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760720" y="1755648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18288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 on CSQA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97880" y="18288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-17.2%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97880" y="20482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72.5% -&gt; 55.3% (R2)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2596896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2670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on HotpotQA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97880" y="2670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-11.0%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97880" y="28895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53.0% -&gt; 42.0%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60720" y="3438144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7880" y="35112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on GSM8K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97880" y="35112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-4.0%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97880" y="37307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92.0% -&gt; 88.0%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48640" y="452628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2: GPT-3.5 and GPT-4 accuracy across two self-correction rounds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GPT-4-Turbo &amp; Llama-2 Results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generalizes across open and proprietary models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07008"/>
          <a:ext cx="47548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07008"/>
            <a:ext cx="3017520" cy="3246120"/>
          </a:xfrm>
          <a:prstGeom prst="roundRect">
            <a:avLst>
              <a:gd name="adj" fmla="val 3030"/>
            </a:avLst>
          </a:prstGeom>
          <a:solidFill>
            <a:srgbClr val="FFF1F2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Llama-2 Collapse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60720" y="17556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GSM8K: 62.0% -&gt; 36.5% (-25.5%)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CSQA: 64.0% -&gt; 36.5% (-27.5%)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0" y="233172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models are highly prompt-compliant: they abandon correct answers when asked to "find flaws".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92240" y="32918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760720" y="3840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compliance vulnerability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48640" y="452628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3: GPT-4-Turbo and Llama-2 results across self-correction rounds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Transition Dynamics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accuracy drops: net-negative flips (Figure 1)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07008"/>
          <a:ext cx="43891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212080" y="1207008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49240" y="12984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74.7%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09360" y="131673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09360" y="15544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initial answer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212080" y="2029968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FF1F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49240" y="21214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8.9%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09360" y="2139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-&gt; Wrong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09360" y="2377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 flip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212080" y="2852928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49240" y="29443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7.6%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09360" y="29626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-&gt; Correct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309360" y="3200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Beneficial fix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212080" y="3675888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FF1F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49240" y="37673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-1.3%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09360" y="37856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Loss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09360" y="40233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 &gt; help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48640" y="452628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Answer transition dynamics after two self-correction rounds on GSM8K (GPT-3.5)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15/23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Multi-Agent Debate vs. Self-Consistency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compute: sampling beats debate (Table 4)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07008"/>
          <a:ext cx="47548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07008"/>
            <a:ext cx="3017520" cy="3246120"/>
          </a:xfrm>
          <a:prstGeom prst="roundRect">
            <a:avLst>
              <a:gd name="adj" fmla="val 30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Compute Parity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60720" y="17373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60720" y="19385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&gt; single-shot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60720" y="22860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Reality: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60720" y="24871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same cost, Self-Consistency (majority vote) matches or beats debate with less latency.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760720" y="333756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3429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Debate: N x M calls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897880" y="36576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Self-Consistency: N calls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897880" y="3886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= simple, fast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8640" y="452628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4: Multi-Agent Debate versus Self-Consistency at equal inference cost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Prompt Design Trap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from missing info, not reflection (Table 5)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2423160"/>
          </a:xfrm>
          <a:prstGeom prst="roundRect">
            <a:avLst>
              <a:gd name="adj" fmla="val 3774"/>
            </a:avLst>
          </a:prstGeom>
          <a:solidFill>
            <a:srgbClr val="FFF1F2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5331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3533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Flawed Setup (Self-Refine)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169164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6916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Weak initial prompt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omits required rules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94560" y="2176272"/>
            <a:ext cx="164592" cy="109728"/>
          </a:xfrm>
          <a:prstGeom prst="down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33172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3317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Feedback re-adds rules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"Add missing word X"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194560" y="2816352"/>
            <a:ext cx="164592" cy="109728"/>
          </a:xfrm>
          <a:prstGeom prst="down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2944368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9443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Improves -&gt; claim "It works!"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1207008"/>
            <a:ext cx="3886200" cy="2423160"/>
          </a:xfrm>
          <a:prstGeom prst="roundRect">
            <a:avLst>
              <a:gd name="adj" fmla="val 3774"/>
            </a:avLst>
          </a:prstGeom>
          <a:solidFill>
            <a:srgbClr val="F0FDF4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1353312"/>
            <a:ext cx="256032" cy="256032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13533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Fair Setup (Huang et al.)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937760" y="169164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6916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Complete prompt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all rules up-front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55080" y="2176272"/>
            <a:ext cx="164592" cy="109728"/>
          </a:xfrm>
          <a:prstGeom prst="down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233172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3317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Strong answer immediately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55080" y="2816352"/>
            <a:ext cx="164592" cy="109728"/>
          </a:xfrm>
          <a:prstGeom prst="down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2944368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9443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Self-correction -&gt; DROPS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379476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7947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Well-prompted single shot beats loops. Gains were prompt artifacts.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43484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5: Constrained generation under flawed versus fair prompts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17/23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WHY DOES SELF-CORRECTION FAIL?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Case Study: The Gaslighting Effect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Trace: How critique prompts force correct reasoning into hallucination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61872"/>
            <a:ext cx="960120" cy="219456"/>
          </a:xfrm>
          <a:prstGeom prst="roundRect">
            <a:avLst>
              <a:gd name="adj" fmla="val 16667"/>
            </a:avLst>
          </a:prstGeom>
          <a:solidFill>
            <a:srgbClr val="FFF1F2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6187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 TASK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37360" y="1234440"/>
            <a:ext cx="6720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Terry eats 2 yogurts a day. They are sold in 4-packs at $5.00 per pack. How much does he spend on yogurts in 30 days?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883664"/>
            <a:ext cx="2514600" cy="2240280"/>
          </a:xfrm>
          <a:prstGeom prst="roundRect">
            <a:avLst>
              <a:gd name="adj" fmla="val 3265"/>
            </a:avLst>
          </a:prstGeom>
          <a:solidFill>
            <a:srgbClr val="F0FDF4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993392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933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1: CORRECT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228600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$75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85800" y="2761488"/>
            <a:ext cx="22402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852928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Total yogurts needed: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30 days x 2 = 60 yogurts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4-packs required: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60 / 4 = 15 packs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Total expenditure: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15 packs x $5 = $75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27248" y="2935224"/>
            <a:ext cx="201168" cy="164592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64992" y="1883664"/>
            <a:ext cx="2414016" cy="2240280"/>
          </a:xfrm>
          <a:prstGeom prst="roundRect">
            <a:avLst>
              <a:gd name="adj" fmla="val 3265"/>
            </a:avLst>
          </a:prstGeom>
          <a:solidFill>
            <a:srgbClr val="FFFBEB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02152" y="1993392"/>
            <a:ext cx="2139696" cy="256032"/>
          </a:xfrm>
          <a:prstGeom prst="roundRect">
            <a:avLst>
              <a:gd name="adj" fmla="val 14286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199339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SELF-CRITIQUE PROMPT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02152" y="2322576"/>
            <a:ext cx="2139696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2322576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"Review your answer and find flaws."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02152" y="2871216"/>
            <a:ext cx="2139696" cy="1124712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2926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Compliance Trap: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566160" y="310896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Instruction-following bias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assumes prompt implies an error occurred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invents non-existent flaws to comply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833872" y="2935224"/>
            <a:ext cx="201168" cy="164592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1883664"/>
            <a:ext cx="2514600" cy="2240280"/>
          </a:xfrm>
          <a:prstGeom prst="roundRect">
            <a:avLst>
              <a:gd name="adj" fmla="val 3265"/>
            </a:avLst>
          </a:prstGeom>
          <a:solidFill>
            <a:srgbClr val="FFF1F2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993392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9933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2: WRONG FLIP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17920" y="228600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$150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6217920" y="2761488"/>
            <a:ext cx="22402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852928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Model doubts previous logic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Hallucinates new rule: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"Terry buys 1 pack daily"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Calculates 30 x $5 = $150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(Flipped from 100% correct to 0%)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8640" y="4206240"/>
            <a:ext cx="8046720" cy="411480"/>
          </a:xfrm>
          <a:prstGeom prst="roundRect">
            <a:avLst>
              <a:gd name="adj" fmla="val 11111"/>
            </a:avLst>
          </a:prstGeom>
          <a:solidFill>
            <a:srgbClr val="FFF1F2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Insight: Asking an LLM to 'find flaws' acts as destructive noise because the model lacks an internal truth verifier.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18/23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Verification Barrier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intrinsic checks are as hard as generation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89888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89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47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Shared Weights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2359152"/>
            <a:ext cx="219456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59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Parity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= Generator.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generate it,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verify it.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508760" y="370332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756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0440" y="1389888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389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1847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Compliance Bias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520440" y="2359152"/>
            <a:ext cx="219456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2359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tuning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20440" y="26974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flaws" biases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to invent errors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sound.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370332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↯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2648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1389888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389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1847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Grounding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309360" y="2359152"/>
            <a:ext cx="219456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359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09360" y="26974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Python/oracle,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tell fix from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86600" y="370332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19/23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 &amp; 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Takeaways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conclusions from Huang et al. (ICLR 2024)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35608"/>
            <a:ext cx="384048" cy="38404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34416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Self-Correction Fails for Reasoning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25880" y="161848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external feedback, accuracy consistently drops across models and tasks.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67712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496312"/>
            <a:ext cx="384048" cy="38404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240487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Prior Gains Were Evaluation Artifacts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325880" y="2679192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leakage, unfair compute, and weak prompts created the illusion of progress.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328416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57016"/>
            <a:ext cx="384048" cy="38404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46557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External Feedback Required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325880" y="3739896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refinement needs tools: code execution, verifiers, or human review.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20/23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 &amp; 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Study Limitations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boundaries of this research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3246120"/>
          </a:xfrm>
          <a:prstGeom prst="roundRect">
            <a:avLst>
              <a:gd name="adj" fmla="val 28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Scope Limitations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7373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Reasoning-Specific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Math/logic only. Not creative writing or translation.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77240" y="260604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5603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Prompting-Only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76148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models. Not fine-tuned for self-correction.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342900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3832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Models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35844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GPT-3.5/4, Llama-2. Newer reasoners need study.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1207008"/>
            <a:ext cx="3886200" cy="3246120"/>
          </a:xfrm>
          <a:prstGeom prst="roundRect">
            <a:avLst>
              <a:gd name="adj" fmla="val 28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Methodological Boundaries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178308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17373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HotpotQA 100 samples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20640" y="19385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by API cost, lower resolution.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260604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25603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Sensitivity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20640" y="276148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prompts tested, but not exhaustive.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37760" y="342900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33832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Closed-Book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20640" y="35844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retrieval (RAG) allowed.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21/23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 &amp; 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Future Directions &amp; Fair Standards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 paths forward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44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Tool-Augmented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88920" y="1344168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3441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682496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solvers, SQL to verify calculations externally.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207008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44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Learned Verifiers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1344168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3441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PRMs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92040" y="1682496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separate discriminators to judge step quality.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Training-Time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88920" y="3017520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30175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&amp; Search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" y="33558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+ MCTS / test-time compute, not prompt loops.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880360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Fair Standards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49440" y="3017520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30175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92040" y="33558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Equal-cost baselines (Self-Consistency), no oracle leakage.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22/23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 &amp; 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023360" y="1920240"/>
            <a:ext cx="10972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48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Discussions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questions from the professor and audience.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97280" y="2944368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81328" y="290779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asking a model to find flaws often make it hallucinate errors where none exist?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356616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81328" y="3529584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we rely on external tools like Python or verifiers instead of prompting alone?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7280" y="4187952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187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81328" y="4151376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design a fair self-correction benchmark that avoids oracle leakage?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Large Language Models Cannot Self-Correct Reasoning Yet</dc:title>
  <dc:subject>PptxGenJS Presentation</dc:subject>
  <dc:creator>Group Presentation</dc:creator>
  <cp:lastModifiedBy>Group Presentation</cp:lastModifiedBy>
  <cp:revision>1</cp:revision>
  <dcterms:created xsi:type="dcterms:W3CDTF">2026-08-28T05:14:16Z</dcterms:created>
  <dcterms:modified xsi:type="dcterms:W3CDTF">2026-08-28T05:14:16Z</dcterms:modified>
</cp:coreProperties>
</file>